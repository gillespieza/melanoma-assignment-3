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4"/>
  </p:sldMasterIdLst>
  <p:notesMasterIdLst>
    <p:notesMasterId r:id="rId45"/>
  </p:notesMasterIdLst>
  <p:sldIdLst>
    <p:sldId id="304" r:id="rId5"/>
    <p:sldId id="303" r:id="rId6"/>
    <p:sldId id="301" r:id="rId7"/>
    <p:sldId id="300" r:id="rId8"/>
    <p:sldId id="315" r:id="rId9"/>
    <p:sldId id="319" r:id="rId10"/>
    <p:sldId id="320" r:id="rId11"/>
    <p:sldId id="321" r:id="rId12"/>
    <p:sldId id="323" r:id="rId13"/>
    <p:sldId id="324" r:id="rId14"/>
    <p:sldId id="325" r:id="rId15"/>
    <p:sldId id="311" r:id="rId16"/>
    <p:sldId id="313" r:id="rId17"/>
    <p:sldId id="292" r:id="rId18"/>
    <p:sldId id="293" r:id="rId19"/>
    <p:sldId id="294" r:id="rId20"/>
    <p:sldId id="307" r:id="rId21"/>
    <p:sldId id="295" r:id="rId22"/>
    <p:sldId id="298" r:id="rId23"/>
    <p:sldId id="305" r:id="rId24"/>
    <p:sldId id="328" r:id="rId25"/>
    <p:sldId id="306" r:id="rId26"/>
    <p:sldId id="268" r:id="rId27"/>
    <p:sldId id="271" r:id="rId28"/>
    <p:sldId id="272" r:id="rId29"/>
    <p:sldId id="291" r:id="rId30"/>
    <p:sldId id="333" r:id="rId31"/>
    <p:sldId id="273" r:id="rId32"/>
    <p:sldId id="334" r:id="rId33"/>
    <p:sldId id="289" r:id="rId34"/>
    <p:sldId id="335" r:id="rId35"/>
    <p:sldId id="290" r:id="rId36"/>
    <p:sldId id="332" r:id="rId37"/>
    <p:sldId id="314" r:id="rId38"/>
    <p:sldId id="275" r:id="rId39"/>
    <p:sldId id="316" r:id="rId40"/>
    <p:sldId id="317" r:id="rId41"/>
    <p:sldId id="302" r:id="rId42"/>
    <p:sldId id="327" r:id="rId43"/>
    <p:sldId id="329" r:id="rId44"/>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F29B1116-3C42-8CD0-2D64-D217626EB296}" name="Hena Adlakha" initials="HA" userId="S::hena.adlakha1@ucdconnect.ie::d6f68f8e-bcfc-4ce7-b297-fd5ffe9ddce4" providerId="AD"/>
  <p188:author id="{8A515D74-4950-6A9B-E2E5-47D57D36D257}" name="JINISH RAJAN" initials="JR" userId="S::jinish.rajan@ucdconnect.ie::6d403f4b-7ada-4f57-8743-3fe0ccb45f46" providerId="AD"/>
  <p188:author id="{83367DB8-5131-4925-C130-6DB37AFBDB11}" name="Meave Graham" initials="MG" userId="S::meave.graham@ucdconnect.ie::4d8fea41-f1c5-4ed6-9025-4f94d738991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53C"/>
    <a:srgbClr val="983C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010CE1-947F-BECC-E1A4-6EFA7A715FAC}" v="75" dt="2026-08-09T20:40:53.087"/>
    <p1510:client id="{62B278A2-2DDD-387E-9B25-73B1975B4610}" v="636" dt="2026-08-09T02:32:29.164"/>
    <p1510:client id="{92D197FB-6E86-5258-F7A5-F0A05C8F96A7}" v="168" dt="2026-08-09T01:53:56.169"/>
    <p1510:client id="{BAD49F82-2179-F83C-8FC7-7A5F6E146E17}" v="223" dt="2026-08-09T14:02:21.8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51"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6CA083-3F80-4075-BF25-F539914E4E39}" type="doc">
      <dgm:prSet loTypeId="urn:microsoft.com/office/officeart/2005/8/layout/orgChart1" loCatId="hierarchy" qsTypeId="urn:microsoft.com/office/officeart/2005/8/quickstyle/simple1#1" qsCatId="simple" csTypeId="urn:microsoft.com/office/officeart/2005/8/colors/accent1_2#1" csCatId="accent1" phldr="1"/>
      <dgm:spPr/>
      <dgm:t>
        <a:bodyPr/>
        <a:lstStyle/>
        <a:p>
          <a:endParaRPr lang="en-IE"/>
        </a:p>
      </dgm:t>
    </dgm:pt>
    <dgm:pt modelId="{41455134-1BA4-44C8-9642-0244549593D8}">
      <dgm:prSet phldrT="[Text]"/>
      <dgm:spPr>
        <a:solidFill>
          <a:srgbClr val="E69F00"/>
        </a:solidFill>
      </dgm:spPr>
      <dgm:t>
        <a:bodyPr/>
        <a:lstStyle/>
        <a:p>
          <a:r>
            <a:rPr lang="en-IE"/>
            <a:t>Advanced</a:t>
          </a:r>
        </a:p>
      </dgm:t>
    </dgm:pt>
    <dgm:pt modelId="{2E75C25A-97C5-4698-B481-08BE31F9B830}" type="parTrans" cxnId="{B05C5DB7-7BB9-4DA2-A156-024654F38EA9}">
      <dgm:prSet/>
      <dgm:spPr/>
      <dgm:t>
        <a:bodyPr/>
        <a:lstStyle/>
        <a:p>
          <a:endParaRPr lang="en-IE"/>
        </a:p>
      </dgm:t>
    </dgm:pt>
    <dgm:pt modelId="{2DD69D6B-21DF-4223-9186-A25DF269E647}" type="sibTrans" cxnId="{B05C5DB7-7BB9-4DA2-A156-024654F38EA9}">
      <dgm:prSet/>
      <dgm:spPr/>
      <dgm:t>
        <a:bodyPr/>
        <a:lstStyle/>
        <a:p>
          <a:endParaRPr lang="en-IE"/>
        </a:p>
      </dgm:t>
    </dgm:pt>
    <dgm:pt modelId="{9B52CEB9-965D-48F7-A263-C7BF58F0BA9C}">
      <dgm:prSet phldrT="[Text]"/>
      <dgm:spPr>
        <a:solidFill>
          <a:srgbClr val="E69F00"/>
        </a:solidFill>
      </dgm:spPr>
      <dgm:t>
        <a:bodyPr/>
        <a:lstStyle/>
        <a:p>
          <a:r>
            <a:rPr lang="en-IE"/>
            <a:t>Immunotherapy</a:t>
          </a:r>
        </a:p>
        <a:p>
          <a:r>
            <a:rPr lang="en-IE"/>
            <a:t>(ICIs)</a:t>
          </a:r>
        </a:p>
      </dgm:t>
    </dgm:pt>
    <dgm:pt modelId="{489D7028-595D-4070-B1E6-54A0F5D9CC28}" type="parTrans" cxnId="{3F52B6F9-E302-4FA5-B7E3-593CF75580D0}">
      <dgm:prSet/>
      <dgm:spPr/>
      <dgm:t>
        <a:bodyPr/>
        <a:lstStyle/>
        <a:p>
          <a:endParaRPr lang="en-IE"/>
        </a:p>
      </dgm:t>
    </dgm:pt>
    <dgm:pt modelId="{8DF3686A-4102-4E2D-8284-CA09F5217EC9}" type="sibTrans" cxnId="{3F52B6F9-E302-4FA5-B7E3-593CF75580D0}">
      <dgm:prSet/>
      <dgm:spPr/>
      <dgm:t>
        <a:bodyPr/>
        <a:lstStyle/>
        <a:p>
          <a:endParaRPr lang="en-IE"/>
        </a:p>
      </dgm:t>
    </dgm:pt>
    <dgm:pt modelId="{7A642AEE-A3F7-4605-95F5-0F5352CB9690}">
      <dgm:prSet phldrT="[Text]"/>
      <dgm:spPr>
        <a:solidFill>
          <a:srgbClr val="E69F00"/>
        </a:solidFill>
      </dgm:spPr>
      <dgm:t>
        <a:bodyPr/>
        <a:lstStyle/>
        <a:p>
          <a:r>
            <a:rPr lang="en-IE"/>
            <a:t>Targeted therapy</a:t>
          </a:r>
        </a:p>
        <a:p>
          <a:r>
            <a:rPr lang="en-IE"/>
            <a:t>(BRAF/MEK inhibitors)</a:t>
          </a:r>
        </a:p>
      </dgm:t>
    </dgm:pt>
    <dgm:pt modelId="{09F8B581-BDE3-45A3-B1CD-C790BD99C162}" type="parTrans" cxnId="{21F8385B-2137-4AD1-B880-56D6AA5D1B37}">
      <dgm:prSet/>
      <dgm:spPr/>
      <dgm:t>
        <a:bodyPr/>
        <a:lstStyle/>
        <a:p>
          <a:endParaRPr lang="en-IE"/>
        </a:p>
      </dgm:t>
    </dgm:pt>
    <dgm:pt modelId="{8AF89835-010F-4F55-BBE6-21427740A53C}" type="sibTrans" cxnId="{21F8385B-2137-4AD1-B880-56D6AA5D1B37}">
      <dgm:prSet/>
      <dgm:spPr/>
      <dgm:t>
        <a:bodyPr/>
        <a:lstStyle/>
        <a:p>
          <a:endParaRPr lang="en-IE"/>
        </a:p>
      </dgm:t>
    </dgm:pt>
    <dgm:pt modelId="{9D20D4AD-6C97-44C1-86D6-C79E035CF123}">
      <dgm:prSet/>
      <dgm:spPr>
        <a:solidFill>
          <a:srgbClr val="E69F00"/>
        </a:solidFill>
      </dgm:spPr>
      <dgm:t>
        <a:bodyPr/>
        <a:lstStyle/>
        <a:p>
          <a:r>
            <a:rPr lang="en-IE"/>
            <a:t>Localised</a:t>
          </a:r>
        </a:p>
      </dgm:t>
    </dgm:pt>
    <dgm:pt modelId="{A1FF275E-FC06-42F8-B073-4E1900C2C66D}" type="parTrans" cxnId="{D18E4D39-F267-4F72-B1A3-6440EF03D73D}">
      <dgm:prSet/>
      <dgm:spPr/>
      <dgm:t>
        <a:bodyPr/>
        <a:lstStyle/>
        <a:p>
          <a:endParaRPr lang="en-IE"/>
        </a:p>
      </dgm:t>
    </dgm:pt>
    <dgm:pt modelId="{8443B80C-3CAE-43EA-A949-B723965C1E3F}" type="sibTrans" cxnId="{D18E4D39-F267-4F72-B1A3-6440EF03D73D}">
      <dgm:prSet/>
      <dgm:spPr/>
      <dgm:t>
        <a:bodyPr/>
        <a:lstStyle/>
        <a:p>
          <a:endParaRPr lang="en-IE"/>
        </a:p>
      </dgm:t>
    </dgm:pt>
    <dgm:pt modelId="{92CADC70-6E87-495B-B516-DF5B833E0AAF}">
      <dgm:prSet/>
      <dgm:spPr>
        <a:solidFill>
          <a:srgbClr val="E69F00"/>
        </a:solidFill>
      </dgm:spPr>
      <dgm:t>
        <a:bodyPr/>
        <a:lstStyle/>
        <a:p>
          <a:r>
            <a:rPr lang="en-IE"/>
            <a:t>Surgery</a:t>
          </a:r>
        </a:p>
      </dgm:t>
    </dgm:pt>
    <dgm:pt modelId="{A5B73425-84C2-4F6E-B66A-319D9691C2E1}" type="parTrans" cxnId="{E2BCA23E-9AC0-4A63-B43E-2EFBBF447D3C}">
      <dgm:prSet/>
      <dgm:spPr/>
      <dgm:t>
        <a:bodyPr/>
        <a:lstStyle/>
        <a:p>
          <a:endParaRPr lang="en-IE"/>
        </a:p>
      </dgm:t>
    </dgm:pt>
    <dgm:pt modelId="{2D457834-DD22-4307-8B5F-2C7A1B0BEB86}" type="sibTrans" cxnId="{E2BCA23E-9AC0-4A63-B43E-2EFBBF447D3C}">
      <dgm:prSet/>
      <dgm:spPr/>
      <dgm:t>
        <a:bodyPr/>
        <a:lstStyle/>
        <a:p>
          <a:endParaRPr lang="en-IE"/>
        </a:p>
      </dgm:t>
    </dgm:pt>
    <dgm:pt modelId="{AB19555C-E21D-4636-BA1C-B4E86F27792E}" type="pres">
      <dgm:prSet presAssocID="{8C6CA083-3F80-4075-BF25-F539914E4E39}" presName="hierChild1" presStyleCnt="0">
        <dgm:presLayoutVars>
          <dgm:orgChart val="1"/>
          <dgm:chPref val="1"/>
          <dgm:dir/>
          <dgm:animOne val="branch"/>
          <dgm:animLvl val="lvl"/>
          <dgm:resizeHandles/>
        </dgm:presLayoutVars>
      </dgm:prSet>
      <dgm:spPr/>
    </dgm:pt>
    <dgm:pt modelId="{8F002346-D0C7-430B-ADC7-0630C3ED396C}" type="pres">
      <dgm:prSet presAssocID="{9D20D4AD-6C97-44C1-86D6-C79E035CF123}" presName="hierRoot1" presStyleCnt="0">
        <dgm:presLayoutVars>
          <dgm:hierBranch val="init"/>
        </dgm:presLayoutVars>
      </dgm:prSet>
      <dgm:spPr/>
    </dgm:pt>
    <dgm:pt modelId="{762B72AC-5463-4218-B2DF-A118A6D6AD50}" type="pres">
      <dgm:prSet presAssocID="{9D20D4AD-6C97-44C1-86D6-C79E035CF123}" presName="rootComposite1" presStyleCnt="0"/>
      <dgm:spPr/>
    </dgm:pt>
    <dgm:pt modelId="{4BCBB86B-3372-48CF-BF94-95B14987E5F3}" type="pres">
      <dgm:prSet presAssocID="{9D20D4AD-6C97-44C1-86D6-C79E035CF123}" presName="rootText1" presStyleLbl="node0" presStyleIdx="0" presStyleCnt="2">
        <dgm:presLayoutVars>
          <dgm:chPref val="3"/>
        </dgm:presLayoutVars>
      </dgm:prSet>
      <dgm:spPr/>
    </dgm:pt>
    <dgm:pt modelId="{8808972D-50E5-440A-B4B6-75E89AEAF0DD}" type="pres">
      <dgm:prSet presAssocID="{9D20D4AD-6C97-44C1-86D6-C79E035CF123}" presName="rootConnector1" presStyleLbl="node1" presStyleIdx="0" presStyleCnt="0"/>
      <dgm:spPr/>
    </dgm:pt>
    <dgm:pt modelId="{99D9F81E-1111-4DAC-BE27-8ED6A520C4C7}" type="pres">
      <dgm:prSet presAssocID="{9D20D4AD-6C97-44C1-86D6-C79E035CF123}" presName="hierChild2" presStyleCnt="0"/>
      <dgm:spPr/>
    </dgm:pt>
    <dgm:pt modelId="{F56D654F-BF78-464F-AFBC-04196106A5FD}" type="pres">
      <dgm:prSet presAssocID="{A5B73425-84C2-4F6E-B66A-319D9691C2E1}" presName="Name37" presStyleLbl="parChTrans1D2" presStyleIdx="0" presStyleCnt="3"/>
      <dgm:spPr/>
    </dgm:pt>
    <dgm:pt modelId="{2BD29E58-48D7-4DD0-9BC6-62A3D1059BE2}" type="pres">
      <dgm:prSet presAssocID="{92CADC70-6E87-495B-B516-DF5B833E0AAF}" presName="hierRoot2" presStyleCnt="0">
        <dgm:presLayoutVars>
          <dgm:hierBranch val="init"/>
        </dgm:presLayoutVars>
      </dgm:prSet>
      <dgm:spPr/>
    </dgm:pt>
    <dgm:pt modelId="{758A1328-0DE9-458B-9F20-389CEEF6A47C}" type="pres">
      <dgm:prSet presAssocID="{92CADC70-6E87-495B-B516-DF5B833E0AAF}" presName="rootComposite" presStyleCnt="0"/>
      <dgm:spPr/>
    </dgm:pt>
    <dgm:pt modelId="{67D8BC3D-BEEE-44BE-903C-5D1299063D4B}" type="pres">
      <dgm:prSet presAssocID="{92CADC70-6E87-495B-B516-DF5B833E0AAF}" presName="rootText" presStyleLbl="node2" presStyleIdx="0" presStyleCnt="3">
        <dgm:presLayoutVars>
          <dgm:chPref val="3"/>
        </dgm:presLayoutVars>
      </dgm:prSet>
      <dgm:spPr/>
    </dgm:pt>
    <dgm:pt modelId="{B9BDD3F8-DEDA-4B5C-9D78-6EB370E5BCB0}" type="pres">
      <dgm:prSet presAssocID="{92CADC70-6E87-495B-B516-DF5B833E0AAF}" presName="rootConnector" presStyleLbl="node2" presStyleIdx="0" presStyleCnt="3"/>
      <dgm:spPr/>
    </dgm:pt>
    <dgm:pt modelId="{E8031F07-6C89-4F91-A879-179DCAA5490D}" type="pres">
      <dgm:prSet presAssocID="{92CADC70-6E87-495B-B516-DF5B833E0AAF}" presName="hierChild4" presStyleCnt="0"/>
      <dgm:spPr/>
    </dgm:pt>
    <dgm:pt modelId="{6ECB0C22-3548-49A4-BD75-5567515E25C1}" type="pres">
      <dgm:prSet presAssocID="{92CADC70-6E87-495B-B516-DF5B833E0AAF}" presName="hierChild5" presStyleCnt="0"/>
      <dgm:spPr/>
    </dgm:pt>
    <dgm:pt modelId="{A60C0363-2951-41AD-B017-4428E1100F1D}" type="pres">
      <dgm:prSet presAssocID="{9D20D4AD-6C97-44C1-86D6-C79E035CF123}" presName="hierChild3" presStyleCnt="0"/>
      <dgm:spPr/>
    </dgm:pt>
    <dgm:pt modelId="{5BA1A740-C167-4659-8341-41B6E32F8E1C}" type="pres">
      <dgm:prSet presAssocID="{41455134-1BA4-44C8-9642-0244549593D8}" presName="hierRoot1" presStyleCnt="0">
        <dgm:presLayoutVars>
          <dgm:hierBranch val="init"/>
        </dgm:presLayoutVars>
      </dgm:prSet>
      <dgm:spPr/>
    </dgm:pt>
    <dgm:pt modelId="{5D812EFD-D8ED-4004-9EA2-7977FCF1AEE8}" type="pres">
      <dgm:prSet presAssocID="{41455134-1BA4-44C8-9642-0244549593D8}" presName="rootComposite1" presStyleCnt="0"/>
      <dgm:spPr/>
    </dgm:pt>
    <dgm:pt modelId="{B1D15FEF-C971-4C6F-B9F1-C65F3481F76C}" type="pres">
      <dgm:prSet presAssocID="{41455134-1BA4-44C8-9642-0244549593D8}" presName="rootText1" presStyleLbl="node0" presStyleIdx="1" presStyleCnt="2">
        <dgm:presLayoutVars>
          <dgm:chPref val="3"/>
        </dgm:presLayoutVars>
      </dgm:prSet>
      <dgm:spPr/>
    </dgm:pt>
    <dgm:pt modelId="{CE55E5AD-62B3-4D1B-9954-AC1C81100607}" type="pres">
      <dgm:prSet presAssocID="{41455134-1BA4-44C8-9642-0244549593D8}" presName="rootConnector1" presStyleLbl="node1" presStyleIdx="0" presStyleCnt="0"/>
      <dgm:spPr/>
    </dgm:pt>
    <dgm:pt modelId="{3146425D-638B-4AF0-B1F8-A6A20E6C4AD0}" type="pres">
      <dgm:prSet presAssocID="{41455134-1BA4-44C8-9642-0244549593D8}" presName="hierChild2" presStyleCnt="0"/>
      <dgm:spPr/>
    </dgm:pt>
    <dgm:pt modelId="{1FFE7BA2-274E-40FF-ABD6-F232D0048C65}" type="pres">
      <dgm:prSet presAssocID="{489D7028-595D-4070-B1E6-54A0F5D9CC28}" presName="Name37" presStyleLbl="parChTrans1D2" presStyleIdx="1" presStyleCnt="3"/>
      <dgm:spPr/>
    </dgm:pt>
    <dgm:pt modelId="{4C1EDE34-F3A2-41F2-8E2A-05D80DF8EF61}" type="pres">
      <dgm:prSet presAssocID="{9B52CEB9-965D-48F7-A263-C7BF58F0BA9C}" presName="hierRoot2" presStyleCnt="0">
        <dgm:presLayoutVars>
          <dgm:hierBranch val="init"/>
        </dgm:presLayoutVars>
      </dgm:prSet>
      <dgm:spPr/>
    </dgm:pt>
    <dgm:pt modelId="{69C74447-1BF0-49AB-BF58-46C9168709FA}" type="pres">
      <dgm:prSet presAssocID="{9B52CEB9-965D-48F7-A263-C7BF58F0BA9C}" presName="rootComposite" presStyleCnt="0"/>
      <dgm:spPr/>
    </dgm:pt>
    <dgm:pt modelId="{57FB1BE0-1E3F-481B-9BD7-DAB32011A22E}" type="pres">
      <dgm:prSet presAssocID="{9B52CEB9-965D-48F7-A263-C7BF58F0BA9C}" presName="rootText" presStyleLbl="node2" presStyleIdx="1" presStyleCnt="3">
        <dgm:presLayoutVars>
          <dgm:chPref val="3"/>
        </dgm:presLayoutVars>
      </dgm:prSet>
      <dgm:spPr/>
    </dgm:pt>
    <dgm:pt modelId="{E313CF5A-1B36-4439-A299-5288F8324584}" type="pres">
      <dgm:prSet presAssocID="{9B52CEB9-965D-48F7-A263-C7BF58F0BA9C}" presName="rootConnector" presStyleLbl="node2" presStyleIdx="1" presStyleCnt="3"/>
      <dgm:spPr/>
    </dgm:pt>
    <dgm:pt modelId="{BF9A7D0F-AE5D-4D4F-AAB2-B71AFA6C7EA2}" type="pres">
      <dgm:prSet presAssocID="{9B52CEB9-965D-48F7-A263-C7BF58F0BA9C}" presName="hierChild4" presStyleCnt="0"/>
      <dgm:spPr/>
    </dgm:pt>
    <dgm:pt modelId="{5A3902A7-AE4D-4F5E-9C72-8BF2B226E7F4}" type="pres">
      <dgm:prSet presAssocID="{9B52CEB9-965D-48F7-A263-C7BF58F0BA9C}" presName="hierChild5" presStyleCnt="0"/>
      <dgm:spPr/>
    </dgm:pt>
    <dgm:pt modelId="{7E149E54-4971-4094-97C6-8AFF456873A9}" type="pres">
      <dgm:prSet presAssocID="{09F8B581-BDE3-45A3-B1CD-C790BD99C162}" presName="Name37" presStyleLbl="parChTrans1D2" presStyleIdx="2" presStyleCnt="3"/>
      <dgm:spPr/>
    </dgm:pt>
    <dgm:pt modelId="{3EA3E0B4-2FE1-4578-BECF-8E03AA53F34C}" type="pres">
      <dgm:prSet presAssocID="{7A642AEE-A3F7-4605-95F5-0F5352CB9690}" presName="hierRoot2" presStyleCnt="0">
        <dgm:presLayoutVars>
          <dgm:hierBranch val="init"/>
        </dgm:presLayoutVars>
      </dgm:prSet>
      <dgm:spPr/>
    </dgm:pt>
    <dgm:pt modelId="{822B76E8-3F57-46C2-9E2E-A933F468B67B}" type="pres">
      <dgm:prSet presAssocID="{7A642AEE-A3F7-4605-95F5-0F5352CB9690}" presName="rootComposite" presStyleCnt="0"/>
      <dgm:spPr/>
    </dgm:pt>
    <dgm:pt modelId="{2D05CED9-9DA3-4700-9091-5ECF721E2E1F}" type="pres">
      <dgm:prSet presAssocID="{7A642AEE-A3F7-4605-95F5-0F5352CB9690}" presName="rootText" presStyleLbl="node2" presStyleIdx="2" presStyleCnt="3">
        <dgm:presLayoutVars>
          <dgm:chPref val="3"/>
        </dgm:presLayoutVars>
      </dgm:prSet>
      <dgm:spPr/>
    </dgm:pt>
    <dgm:pt modelId="{1321A6BE-71DF-47E7-B731-AE932ED659A7}" type="pres">
      <dgm:prSet presAssocID="{7A642AEE-A3F7-4605-95F5-0F5352CB9690}" presName="rootConnector" presStyleLbl="node2" presStyleIdx="2" presStyleCnt="3"/>
      <dgm:spPr/>
    </dgm:pt>
    <dgm:pt modelId="{77D85A53-C94F-49D9-98D6-2D6A89590CFC}" type="pres">
      <dgm:prSet presAssocID="{7A642AEE-A3F7-4605-95F5-0F5352CB9690}" presName="hierChild4" presStyleCnt="0"/>
      <dgm:spPr/>
    </dgm:pt>
    <dgm:pt modelId="{6148DD42-4CBB-4C4A-8E53-7672EE5247D7}" type="pres">
      <dgm:prSet presAssocID="{7A642AEE-A3F7-4605-95F5-0F5352CB9690}" presName="hierChild5" presStyleCnt="0"/>
      <dgm:spPr/>
    </dgm:pt>
    <dgm:pt modelId="{69A1CD94-2FE7-449A-AC30-3BA6FBA2DB73}" type="pres">
      <dgm:prSet presAssocID="{41455134-1BA4-44C8-9642-0244549593D8}" presName="hierChild3" presStyleCnt="0"/>
      <dgm:spPr/>
    </dgm:pt>
  </dgm:ptLst>
  <dgm:cxnLst>
    <dgm:cxn modelId="{8D16F00D-45DD-485F-8307-42627BC27452}" type="presOf" srcId="{489D7028-595D-4070-B1E6-54A0F5D9CC28}" destId="{1FFE7BA2-274E-40FF-ABD6-F232D0048C65}" srcOrd="0" destOrd="0" presId="urn:microsoft.com/office/officeart/2005/8/layout/orgChart1"/>
    <dgm:cxn modelId="{40921C0F-B5E5-4F71-8D34-A22CF593E749}" type="presOf" srcId="{41455134-1BA4-44C8-9642-0244549593D8}" destId="{B1D15FEF-C971-4C6F-B9F1-C65F3481F76C}" srcOrd="0" destOrd="0" presId="urn:microsoft.com/office/officeart/2005/8/layout/orgChart1"/>
    <dgm:cxn modelId="{AD10AB36-6652-4EAA-98B2-908E019F1099}" type="presOf" srcId="{A5B73425-84C2-4F6E-B66A-319D9691C2E1}" destId="{F56D654F-BF78-464F-AFBC-04196106A5FD}" srcOrd="0" destOrd="0" presId="urn:microsoft.com/office/officeart/2005/8/layout/orgChart1"/>
    <dgm:cxn modelId="{D18E4D39-F267-4F72-B1A3-6440EF03D73D}" srcId="{8C6CA083-3F80-4075-BF25-F539914E4E39}" destId="{9D20D4AD-6C97-44C1-86D6-C79E035CF123}" srcOrd="0" destOrd="0" parTransId="{A1FF275E-FC06-42F8-B073-4E1900C2C66D}" sibTransId="{8443B80C-3CAE-43EA-A949-B723965C1E3F}"/>
    <dgm:cxn modelId="{31FB183B-3BD4-4C76-B8E6-9BB8EA63FBD2}" type="presOf" srcId="{9B52CEB9-965D-48F7-A263-C7BF58F0BA9C}" destId="{57FB1BE0-1E3F-481B-9BD7-DAB32011A22E}" srcOrd="0" destOrd="0" presId="urn:microsoft.com/office/officeart/2005/8/layout/orgChart1"/>
    <dgm:cxn modelId="{E2BCA23E-9AC0-4A63-B43E-2EFBBF447D3C}" srcId="{9D20D4AD-6C97-44C1-86D6-C79E035CF123}" destId="{92CADC70-6E87-495B-B516-DF5B833E0AAF}" srcOrd="0" destOrd="0" parTransId="{A5B73425-84C2-4F6E-B66A-319D9691C2E1}" sibTransId="{2D457834-DD22-4307-8B5F-2C7A1B0BEB86}"/>
    <dgm:cxn modelId="{35F18940-48FF-4EB1-9D50-F796C0A8C112}" type="presOf" srcId="{9D20D4AD-6C97-44C1-86D6-C79E035CF123}" destId="{4BCBB86B-3372-48CF-BF94-95B14987E5F3}" srcOrd="0" destOrd="0" presId="urn:microsoft.com/office/officeart/2005/8/layout/orgChart1"/>
    <dgm:cxn modelId="{21F8385B-2137-4AD1-B880-56D6AA5D1B37}" srcId="{41455134-1BA4-44C8-9642-0244549593D8}" destId="{7A642AEE-A3F7-4605-95F5-0F5352CB9690}" srcOrd="1" destOrd="0" parTransId="{09F8B581-BDE3-45A3-B1CD-C790BD99C162}" sibTransId="{8AF89835-010F-4F55-BBE6-21427740A53C}"/>
    <dgm:cxn modelId="{F0E06A43-442D-42A0-9DF0-209FB9C47C5F}" type="presOf" srcId="{9B52CEB9-965D-48F7-A263-C7BF58F0BA9C}" destId="{E313CF5A-1B36-4439-A299-5288F8324584}" srcOrd="1" destOrd="0" presId="urn:microsoft.com/office/officeart/2005/8/layout/orgChart1"/>
    <dgm:cxn modelId="{3B17FD64-0B07-44AD-B2BD-52890339D587}" type="presOf" srcId="{7A642AEE-A3F7-4605-95F5-0F5352CB9690}" destId="{1321A6BE-71DF-47E7-B731-AE932ED659A7}" srcOrd="1" destOrd="0" presId="urn:microsoft.com/office/officeart/2005/8/layout/orgChart1"/>
    <dgm:cxn modelId="{92FF5D70-C05E-4BBD-AE1D-04490C67C4FB}" type="presOf" srcId="{41455134-1BA4-44C8-9642-0244549593D8}" destId="{CE55E5AD-62B3-4D1B-9954-AC1C81100607}" srcOrd="1" destOrd="0" presId="urn:microsoft.com/office/officeart/2005/8/layout/orgChart1"/>
    <dgm:cxn modelId="{2045CF56-89B1-40C2-B60F-8EEBAF84DF19}" type="presOf" srcId="{8C6CA083-3F80-4075-BF25-F539914E4E39}" destId="{AB19555C-E21D-4636-BA1C-B4E86F27792E}" srcOrd="0" destOrd="0" presId="urn:microsoft.com/office/officeart/2005/8/layout/orgChart1"/>
    <dgm:cxn modelId="{15230194-04EE-48BA-9B2B-46FF8DD153FF}" type="presOf" srcId="{9D20D4AD-6C97-44C1-86D6-C79E035CF123}" destId="{8808972D-50E5-440A-B4B6-75E89AEAF0DD}" srcOrd="1" destOrd="0" presId="urn:microsoft.com/office/officeart/2005/8/layout/orgChart1"/>
    <dgm:cxn modelId="{68C3959F-F4F0-4B0A-9432-DDFF7A6C40B5}" type="presOf" srcId="{92CADC70-6E87-495B-B516-DF5B833E0AAF}" destId="{B9BDD3F8-DEDA-4B5C-9D78-6EB370E5BCB0}" srcOrd="1" destOrd="0" presId="urn:microsoft.com/office/officeart/2005/8/layout/orgChart1"/>
    <dgm:cxn modelId="{B05C5DB7-7BB9-4DA2-A156-024654F38EA9}" srcId="{8C6CA083-3F80-4075-BF25-F539914E4E39}" destId="{41455134-1BA4-44C8-9642-0244549593D8}" srcOrd="1" destOrd="0" parTransId="{2E75C25A-97C5-4698-B481-08BE31F9B830}" sibTransId="{2DD69D6B-21DF-4223-9186-A25DF269E647}"/>
    <dgm:cxn modelId="{5E0F23C2-2073-413B-9374-6472EDD62DCC}" type="presOf" srcId="{09F8B581-BDE3-45A3-B1CD-C790BD99C162}" destId="{7E149E54-4971-4094-97C6-8AFF456873A9}" srcOrd="0" destOrd="0" presId="urn:microsoft.com/office/officeart/2005/8/layout/orgChart1"/>
    <dgm:cxn modelId="{08D5EADA-677E-461B-83AB-E46F49042CE0}" type="presOf" srcId="{92CADC70-6E87-495B-B516-DF5B833E0AAF}" destId="{67D8BC3D-BEEE-44BE-903C-5D1299063D4B}" srcOrd="0" destOrd="0" presId="urn:microsoft.com/office/officeart/2005/8/layout/orgChart1"/>
    <dgm:cxn modelId="{3F52B6F9-E302-4FA5-B7E3-593CF75580D0}" srcId="{41455134-1BA4-44C8-9642-0244549593D8}" destId="{9B52CEB9-965D-48F7-A263-C7BF58F0BA9C}" srcOrd="0" destOrd="0" parTransId="{489D7028-595D-4070-B1E6-54A0F5D9CC28}" sibTransId="{8DF3686A-4102-4E2D-8284-CA09F5217EC9}"/>
    <dgm:cxn modelId="{63E5B3FF-AB6F-4C31-AA7B-0B436DBB6538}" type="presOf" srcId="{7A642AEE-A3F7-4605-95F5-0F5352CB9690}" destId="{2D05CED9-9DA3-4700-9091-5ECF721E2E1F}" srcOrd="0" destOrd="0" presId="urn:microsoft.com/office/officeart/2005/8/layout/orgChart1"/>
    <dgm:cxn modelId="{8F3A86C5-888B-424E-B789-9C572ED581D5}" type="presParOf" srcId="{AB19555C-E21D-4636-BA1C-B4E86F27792E}" destId="{8F002346-D0C7-430B-ADC7-0630C3ED396C}" srcOrd="0" destOrd="0" presId="urn:microsoft.com/office/officeart/2005/8/layout/orgChart1"/>
    <dgm:cxn modelId="{963D6B7F-D425-4B1B-804E-5223D2177D7C}" type="presParOf" srcId="{8F002346-D0C7-430B-ADC7-0630C3ED396C}" destId="{762B72AC-5463-4218-B2DF-A118A6D6AD50}" srcOrd="0" destOrd="0" presId="urn:microsoft.com/office/officeart/2005/8/layout/orgChart1"/>
    <dgm:cxn modelId="{27DFA389-1539-46D4-B33C-ADBFF3693B3E}" type="presParOf" srcId="{762B72AC-5463-4218-B2DF-A118A6D6AD50}" destId="{4BCBB86B-3372-48CF-BF94-95B14987E5F3}" srcOrd="0" destOrd="0" presId="urn:microsoft.com/office/officeart/2005/8/layout/orgChart1"/>
    <dgm:cxn modelId="{7E898E55-37B7-4C8D-89D5-D6883405278A}" type="presParOf" srcId="{762B72AC-5463-4218-B2DF-A118A6D6AD50}" destId="{8808972D-50E5-440A-B4B6-75E89AEAF0DD}" srcOrd="1" destOrd="0" presId="urn:microsoft.com/office/officeart/2005/8/layout/orgChart1"/>
    <dgm:cxn modelId="{3C38E603-BC9A-40F1-977A-BE815FA69CE1}" type="presParOf" srcId="{8F002346-D0C7-430B-ADC7-0630C3ED396C}" destId="{99D9F81E-1111-4DAC-BE27-8ED6A520C4C7}" srcOrd="1" destOrd="0" presId="urn:microsoft.com/office/officeart/2005/8/layout/orgChart1"/>
    <dgm:cxn modelId="{EC4B4397-4707-481B-B02C-5BCEE105A409}" type="presParOf" srcId="{99D9F81E-1111-4DAC-BE27-8ED6A520C4C7}" destId="{F56D654F-BF78-464F-AFBC-04196106A5FD}" srcOrd="0" destOrd="0" presId="urn:microsoft.com/office/officeart/2005/8/layout/orgChart1"/>
    <dgm:cxn modelId="{0D7E5798-9144-479E-A0E3-62BFF51E57F9}" type="presParOf" srcId="{99D9F81E-1111-4DAC-BE27-8ED6A520C4C7}" destId="{2BD29E58-48D7-4DD0-9BC6-62A3D1059BE2}" srcOrd="1" destOrd="0" presId="urn:microsoft.com/office/officeart/2005/8/layout/orgChart1"/>
    <dgm:cxn modelId="{6F65D182-E399-4EEF-990B-B4235D81B382}" type="presParOf" srcId="{2BD29E58-48D7-4DD0-9BC6-62A3D1059BE2}" destId="{758A1328-0DE9-458B-9F20-389CEEF6A47C}" srcOrd="0" destOrd="0" presId="urn:microsoft.com/office/officeart/2005/8/layout/orgChart1"/>
    <dgm:cxn modelId="{C092972E-A0FF-4E67-B54C-6D6C53939424}" type="presParOf" srcId="{758A1328-0DE9-458B-9F20-389CEEF6A47C}" destId="{67D8BC3D-BEEE-44BE-903C-5D1299063D4B}" srcOrd="0" destOrd="0" presId="urn:microsoft.com/office/officeart/2005/8/layout/orgChart1"/>
    <dgm:cxn modelId="{ED354AB8-67BA-48B1-88B2-A5FFD06C6E8C}" type="presParOf" srcId="{758A1328-0DE9-458B-9F20-389CEEF6A47C}" destId="{B9BDD3F8-DEDA-4B5C-9D78-6EB370E5BCB0}" srcOrd="1" destOrd="0" presId="urn:microsoft.com/office/officeart/2005/8/layout/orgChart1"/>
    <dgm:cxn modelId="{9EEC86E9-F8FF-4E39-B181-F12EBEDC7928}" type="presParOf" srcId="{2BD29E58-48D7-4DD0-9BC6-62A3D1059BE2}" destId="{E8031F07-6C89-4F91-A879-179DCAA5490D}" srcOrd="1" destOrd="0" presId="urn:microsoft.com/office/officeart/2005/8/layout/orgChart1"/>
    <dgm:cxn modelId="{DC05C5C6-252E-42F2-9601-A9D75219E095}" type="presParOf" srcId="{2BD29E58-48D7-4DD0-9BC6-62A3D1059BE2}" destId="{6ECB0C22-3548-49A4-BD75-5567515E25C1}" srcOrd="2" destOrd="0" presId="urn:microsoft.com/office/officeart/2005/8/layout/orgChart1"/>
    <dgm:cxn modelId="{C29263E5-5387-473C-A525-52FA13EE6D41}" type="presParOf" srcId="{8F002346-D0C7-430B-ADC7-0630C3ED396C}" destId="{A60C0363-2951-41AD-B017-4428E1100F1D}" srcOrd="2" destOrd="0" presId="urn:microsoft.com/office/officeart/2005/8/layout/orgChart1"/>
    <dgm:cxn modelId="{6060D60D-CA50-4DB3-AAD3-ED49D3A00067}" type="presParOf" srcId="{AB19555C-E21D-4636-BA1C-B4E86F27792E}" destId="{5BA1A740-C167-4659-8341-41B6E32F8E1C}" srcOrd="1" destOrd="0" presId="urn:microsoft.com/office/officeart/2005/8/layout/orgChart1"/>
    <dgm:cxn modelId="{BD6CAD27-2C77-4E12-8BFF-C80F56C030C8}" type="presParOf" srcId="{5BA1A740-C167-4659-8341-41B6E32F8E1C}" destId="{5D812EFD-D8ED-4004-9EA2-7977FCF1AEE8}" srcOrd="0" destOrd="0" presId="urn:microsoft.com/office/officeart/2005/8/layout/orgChart1"/>
    <dgm:cxn modelId="{2A85F57A-A8B6-47D3-96BA-F540AAEF4C76}" type="presParOf" srcId="{5D812EFD-D8ED-4004-9EA2-7977FCF1AEE8}" destId="{B1D15FEF-C971-4C6F-B9F1-C65F3481F76C}" srcOrd="0" destOrd="0" presId="urn:microsoft.com/office/officeart/2005/8/layout/orgChart1"/>
    <dgm:cxn modelId="{7B32E71B-60C1-4465-9880-E00B4977288D}" type="presParOf" srcId="{5D812EFD-D8ED-4004-9EA2-7977FCF1AEE8}" destId="{CE55E5AD-62B3-4D1B-9954-AC1C81100607}" srcOrd="1" destOrd="0" presId="urn:microsoft.com/office/officeart/2005/8/layout/orgChart1"/>
    <dgm:cxn modelId="{90334387-DBA2-45A1-A4EA-5CFCEED9B3D3}" type="presParOf" srcId="{5BA1A740-C167-4659-8341-41B6E32F8E1C}" destId="{3146425D-638B-4AF0-B1F8-A6A20E6C4AD0}" srcOrd="1" destOrd="0" presId="urn:microsoft.com/office/officeart/2005/8/layout/orgChart1"/>
    <dgm:cxn modelId="{118C4E77-EF4B-4926-818F-F9167232D1F6}" type="presParOf" srcId="{3146425D-638B-4AF0-B1F8-A6A20E6C4AD0}" destId="{1FFE7BA2-274E-40FF-ABD6-F232D0048C65}" srcOrd="0" destOrd="0" presId="urn:microsoft.com/office/officeart/2005/8/layout/orgChart1"/>
    <dgm:cxn modelId="{F38BF9CA-74E8-4FB7-864D-E5ED8B7A8FB8}" type="presParOf" srcId="{3146425D-638B-4AF0-B1F8-A6A20E6C4AD0}" destId="{4C1EDE34-F3A2-41F2-8E2A-05D80DF8EF61}" srcOrd="1" destOrd="0" presId="urn:microsoft.com/office/officeart/2005/8/layout/orgChart1"/>
    <dgm:cxn modelId="{0F2579F0-787C-4FF6-9A75-6EAEA35C3B29}" type="presParOf" srcId="{4C1EDE34-F3A2-41F2-8E2A-05D80DF8EF61}" destId="{69C74447-1BF0-49AB-BF58-46C9168709FA}" srcOrd="0" destOrd="0" presId="urn:microsoft.com/office/officeart/2005/8/layout/orgChart1"/>
    <dgm:cxn modelId="{3E8607C5-DE2D-486A-9009-4F04D40B97ED}" type="presParOf" srcId="{69C74447-1BF0-49AB-BF58-46C9168709FA}" destId="{57FB1BE0-1E3F-481B-9BD7-DAB32011A22E}" srcOrd="0" destOrd="0" presId="urn:microsoft.com/office/officeart/2005/8/layout/orgChart1"/>
    <dgm:cxn modelId="{A7698D55-892C-4C04-9004-0842CACEA6E8}" type="presParOf" srcId="{69C74447-1BF0-49AB-BF58-46C9168709FA}" destId="{E313CF5A-1B36-4439-A299-5288F8324584}" srcOrd="1" destOrd="0" presId="urn:microsoft.com/office/officeart/2005/8/layout/orgChart1"/>
    <dgm:cxn modelId="{2649609F-F544-467D-B9B7-69CA3FF2EB30}" type="presParOf" srcId="{4C1EDE34-F3A2-41F2-8E2A-05D80DF8EF61}" destId="{BF9A7D0F-AE5D-4D4F-AAB2-B71AFA6C7EA2}" srcOrd="1" destOrd="0" presId="urn:microsoft.com/office/officeart/2005/8/layout/orgChart1"/>
    <dgm:cxn modelId="{5F6D6B04-A997-4E1B-AABC-31DB4AE248EE}" type="presParOf" srcId="{4C1EDE34-F3A2-41F2-8E2A-05D80DF8EF61}" destId="{5A3902A7-AE4D-4F5E-9C72-8BF2B226E7F4}" srcOrd="2" destOrd="0" presId="urn:microsoft.com/office/officeart/2005/8/layout/orgChart1"/>
    <dgm:cxn modelId="{BB53A016-8DFA-4D15-9EFE-4C2CD4F8D6EB}" type="presParOf" srcId="{3146425D-638B-4AF0-B1F8-A6A20E6C4AD0}" destId="{7E149E54-4971-4094-97C6-8AFF456873A9}" srcOrd="2" destOrd="0" presId="urn:microsoft.com/office/officeart/2005/8/layout/orgChart1"/>
    <dgm:cxn modelId="{BB5CB735-DD46-4C8F-ACCC-73F25DC4F35D}" type="presParOf" srcId="{3146425D-638B-4AF0-B1F8-A6A20E6C4AD0}" destId="{3EA3E0B4-2FE1-4578-BECF-8E03AA53F34C}" srcOrd="3" destOrd="0" presId="urn:microsoft.com/office/officeart/2005/8/layout/orgChart1"/>
    <dgm:cxn modelId="{F5E1E684-1DAC-4CCA-9914-CE37A1EE2241}" type="presParOf" srcId="{3EA3E0B4-2FE1-4578-BECF-8E03AA53F34C}" destId="{822B76E8-3F57-46C2-9E2E-A933F468B67B}" srcOrd="0" destOrd="0" presId="urn:microsoft.com/office/officeart/2005/8/layout/orgChart1"/>
    <dgm:cxn modelId="{9F4B9AB1-75C3-47EF-89E7-791F8C121C99}" type="presParOf" srcId="{822B76E8-3F57-46C2-9E2E-A933F468B67B}" destId="{2D05CED9-9DA3-4700-9091-5ECF721E2E1F}" srcOrd="0" destOrd="0" presId="urn:microsoft.com/office/officeart/2005/8/layout/orgChart1"/>
    <dgm:cxn modelId="{F8930C8B-56F9-475D-87E7-8F1565CFA4DE}" type="presParOf" srcId="{822B76E8-3F57-46C2-9E2E-A933F468B67B}" destId="{1321A6BE-71DF-47E7-B731-AE932ED659A7}" srcOrd="1" destOrd="0" presId="urn:microsoft.com/office/officeart/2005/8/layout/orgChart1"/>
    <dgm:cxn modelId="{0F1A3FE6-005E-42D6-9899-0C490C7E5612}" type="presParOf" srcId="{3EA3E0B4-2FE1-4578-BECF-8E03AA53F34C}" destId="{77D85A53-C94F-49D9-98D6-2D6A89590CFC}" srcOrd="1" destOrd="0" presId="urn:microsoft.com/office/officeart/2005/8/layout/orgChart1"/>
    <dgm:cxn modelId="{DCEFD9EB-2722-4D44-BA94-EDE5AFAD596E}" type="presParOf" srcId="{3EA3E0B4-2FE1-4578-BECF-8E03AA53F34C}" destId="{6148DD42-4CBB-4C4A-8E53-7672EE5247D7}" srcOrd="2" destOrd="0" presId="urn:microsoft.com/office/officeart/2005/8/layout/orgChart1"/>
    <dgm:cxn modelId="{03766B58-93FA-4EB9-BE52-2105A2BC9EB3}" type="presParOf" srcId="{5BA1A740-C167-4659-8341-41B6E32F8E1C}" destId="{69A1CD94-2FE7-449A-AC30-3BA6FBA2DB73}" srcOrd="2" destOrd="0" presId="urn:microsoft.com/office/officeart/2005/8/layout/orgChart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149E54-4971-4094-97C6-8AFF456873A9}">
      <dsp:nvSpPr>
        <dsp:cNvPr id="0" name=""/>
        <dsp:cNvSpPr/>
      </dsp:nvSpPr>
      <dsp:spPr>
        <a:xfrm>
          <a:off x="2438883" y="1502236"/>
          <a:ext cx="637312" cy="221215"/>
        </a:xfrm>
        <a:custGeom>
          <a:avLst/>
          <a:gdLst/>
          <a:ahLst/>
          <a:cxnLst/>
          <a:rect l="0" t="0" r="0" b="0"/>
          <a:pathLst>
            <a:path>
              <a:moveTo>
                <a:pt x="0" y="0"/>
              </a:moveTo>
              <a:lnTo>
                <a:pt x="0" y="110607"/>
              </a:lnTo>
              <a:lnTo>
                <a:pt x="637312" y="110607"/>
              </a:lnTo>
              <a:lnTo>
                <a:pt x="637312" y="221215"/>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FE7BA2-274E-40FF-ABD6-F232D0048C65}">
      <dsp:nvSpPr>
        <dsp:cNvPr id="0" name=""/>
        <dsp:cNvSpPr/>
      </dsp:nvSpPr>
      <dsp:spPr>
        <a:xfrm>
          <a:off x="1801570" y="1502236"/>
          <a:ext cx="637312" cy="221215"/>
        </a:xfrm>
        <a:custGeom>
          <a:avLst/>
          <a:gdLst/>
          <a:ahLst/>
          <a:cxnLst/>
          <a:rect l="0" t="0" r="0" b="0"/>
          <a:pathLst>
            <a:path>
              <a:moveTo>
                <a:pt x="637312" y="0"/>
              </a:moveTo>
              <a:lnTo>
                <a:pt x="637312" y="110607"/>
              </a:lnTo>
              <a:lnTo>
                <a:pt x="0" y="110607"/>
              </a:lnTo>
              <a:lnTo>
                <a:pt x="0" y="221215"/>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6D654F-BF78-464F-AFBC-04196106A5FD}">
      <dsp:nvSpPr>
        <dsp:cNvPr id="0" name=""/>
        <dsp:cNvSpPr/>
      </dsp:nvSpPr>
      <dsp:spPr>
        <a:xfrm>
          <a:off x="481226" y="1502236"/>
          <a:ext cx="91440" cy="221215"/>
        </a:xfrm>
        <a:custGeom>
          <a:avLst/>
          <a:gdLst/>
          <a:ahLst/>
          <a:cxnLst/>
          <a:rect l="0" t="0" r="0" b="0"/>
          <a:pathLst>
            <a:path>
              <a:moveTo>
                <a:pt x="45720" y="0"/>
              </a:moveTo>
              <a:lnTo>
                <a:pt x="45720" y="221215"/>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BCBB86B-3372-48CF-BF94-95B14987E5F3}">
      <dsp:nvSpPr>
        <dsp:cNvPr id="0" name=""/>
        <dsp:cNvSpPr/>
      </dsp:nvSpPr>
      <dsp:spPr>
        <a:xfrm>
          <a:off x="241" y="975532"/>
          <a:ext cx="1053408" cy="526704"/>
        </a:xfrm>
        <a:prstGeom prst="rect">
          <a:avLst/>
        </a:prstGeom>
        <a:solidFill>
          <a:srgbClr val="E69F0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IE" sz="1100" kern="1200"/>
            <a:t>Localised</a:t>
          </a:r>
        </a:p>
      </dsp:txBody>
      <dsp:txXfrm>
        <a:off x="241" y="975532"/>
        <a:ext cx="1053408" cy="526704"/>
      </dsp:txXfrm>
    </dsp:sp>
    <dsp:sp modelId="{67D8BC3D-BEEE-44BE-903C-5D1299063D4B}">
      <dsp:nvSpPr>
        <dsp:cNvPr id="0" name=""/>
        <dsp:cNvSpPr/>
      </dsp:nvSpPr>
      <dsp:spPr>
        <a:xfrm>
          <a:off x="241" y="1723452"/>
          <a:ext cx="1053408" cy="526704"/>
        </a:xfrm>
        <a:prstGeom prst="rect">
          <a:avLst/>
        </a:prstGeom>
        <a:solidFill>
          <a:srgbClr val="E69F0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IE" sz="1100" kern="1200"/>
            <a:t>Surgery</a:t>
          </a:r>
        </a:p>
      </dsp:txBody>
      <dsp:txXfrm>
        <a:off x="241" y="1723452"/>
        <a:ext cx="1053408" cy="526704"/>
      </dsp:txXfrm>
    </dsp:sp>
    <dsp:sp modelId="{B1D15FEF-C971-4C6F-B9F1-C65F3481F76C}">
      <dsp:nvSpPr>
        <dsp:cNvPr id="0" name=""/>
        <dsp:cNvSpPr/>
      </dsp:nvSpPr>
      <dsp:spPr>
        <a:xfrm>
          <a:off x="1912178" y="975532"/>
          <a:ext cx="1053408" cy="526704"/>
        </a:xfrm>
        <a:prstGeom prst="rect">
          <a:avLst/>
        </a:prstGeom>
        <a:solidFill>
          <a:srgbClr val="E69F0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IE" sz="1100" kern="1200"/>
            <a:t>Advanced</a:t>
          </a:r>
        </a:p>
      </dsp:txBody>
      <dsp:txXfrm>
        <a:off x="1912178" y="975532"/>
        <a:ext cx="1053408" cy="526704"/>
      </dsp:txXfrm>
    </dsp:sp>
    <dsp:sp modelId="{57FB1BE0-1E3F-481B-9BD7-DAB32011A22E}">
      <dsp:nvSpPr>
        <dsp:cNvPr id="0" name=""/>
        <dsp:cNvSpPr/>
      </dsp:nvSpPr>
      <dsp:spPr>
        <a:xfrm>
          <a:off x="1274866" y="1723452"/>
          <a:ext cx="1053408" cy="526704"/>
        </a:xfrm>
        <a:prstGeom prst="rect">
          <a:avLst/>
        </a:prstGeom>
        <a:solidFill>
          <a:srgbClr val="E69F0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IE" sz="1100" kern="1200"/>
            <a:t>Immunotherapy</a:t>
          </a:r>
        </a:p>
        <a:p>
          <a:pPr marL="0" lvl="0" indent="0" algn="ctr" defTabSz="488950">
            <a:lnSpc>
              <a:spcPct val="90000"/>
            </a:lnSpc>
            <a:spcBef>
              <a:spcPct val="0"/>
            </a:spcBef>
            <a:spcAft>
              <a:spcPct val="35000"/>
            </a:spcAft>
            <a:buNone/>
          </a:pPr>
          <a:r>
            <a:rPr lang="en-IE" sz="1100" kern="1200"/>
            <a:t>(ICIs)</a:t>
          </a:r>
        </a:p>
      </dsp:txBody>
      <dsp:txXfrm>
        <a:off x="1274866" y="1723452"/>
        <a:ext cx="1053408" cy="526704"/>
      </dsp:txXfrm>
    </dsp:sp>
    <dsp:sp modelId="{2D05CED9-9DA3-4700-9091-5ECF721E2E1F}">
      <dsp:nvSpPr>
        <dsp:cNvPr id="0" name=""/>
        <dsp:cNvSpPr/>
      </dsp:nvSpPr>
      <dsp:spPr>
        <a:xfrm>
          <a:off x="2549491" y="1723452"/>
          <a:ext cx="1053408" cy="526704"/>
        </a:xfrm>
        <a:prstGeom prst="rect">
          <a:avLst/>
        </a:prstGeom>
        <a:solidFill>
          <a:srgbClr val="E69F0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IE" sz="1100" kern="1200"/>
            <a:t>Targeted therapy</a:t>
          </a:r>
        </a:p>
        <a:p>
          <a:pPr marL="0" lvl="0" indent="0" algn="ctr" defTabSz="488950">
            <a:lnSpc>
              <a:spcPct val="90000"/>
            </a:lnSpc>
            <a:spcBef>
              <a:spcPct val="0"/>
            </a:spcBef>
            <a:spcAft>
              <a:spcPct val="35000"/>
            </a:spcAft>
            <a:buNone/>
          </a:pPr>
          <a:r>
            <a:rPr lang="en-IE" sz="1100" kern="1200"/>
            <a:t>(BRAF/MEK inhibitors)</a:t>
          </a:r>
        </a:p>
      </dsp:txBody>
      <dsp:txXfrm>
        <a:off x="2549491" y="1723452"/>
        <a:ext cx="1053408" cy="526704"/>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27E18E-197C-4CB8-9832-61EF6AE8D40A}" type="datetimeFigureOut">
              <a:t>8/9/2026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672657-B013-44B9-80BA-EA59481B544C}" type="slidenum">
              <a:t>‹#›</a:t>
            </a:fld>
            <a:endParaRPr lang="en-GB"/>
          </a:p>
        </p:txBody>
      </p:sp>
    </p:spTree>
    <p:extLst>
      <p:ext uri="{BB962C8B-B14F-4D97-AF65-F5344CB8AC3E}">
        <p14:creationId xmlns:p14="http://schemas.microsoft.com/office/powerpoint/2010/main" val="354681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a:ea typeface="Calibri"/>
                <a:cs typeface="Calibri"/>
              </a:rPr>
              <a:t>We are group 2.</a:t>
            </a:r>
          </a:p>
          <a:p>
            <a:r>
              <a:rPr lang="en-IE">
                <a:ea typeface="Calibri"/>
                <a:cs typeface="Calibri"/>
              </a:rPr>
              <a:t>My name is Meave.</a:t>
            </a:r>
          </a:p>
          <a:p>
            <a:r>
              <a:rPr lang="en-IE">
                <a:ea typeface="Calibri"/>
                <a:cs typeface="Calibri"/>
              </a:rPr>
              <a:t>The title of our work is Melanoma Treatment Decision Support: Where Every Method Converges</a:t>
            </a:r>
          </a:p>
        </p:txBody>
      </p:sp>
      <p:sp>
        <p:nvSpPr>
          <p:cNvPr id="4" name="Slide Number Placeholder 3"/>
          <p:cNvSpPr>
            <a:spLocks noGrp="1"/>
          </p:cNvSpPr>
          <p:nvPr>
            <p:ph type="sldNum" sz="quarter" idx="5"/>
          </p:nvPr>
        </p:nvSpPr>
        <p:spPr/>
        <p:txBody>
          <a:bodyPr/>
          <a:lstStyle/>
          <a:p>
            <a:fld id="{E0672657-B013-44B9-80BA-EA59481B544C}" type="slidenum">
              <a:rPr lang="en-IE" smtClean="0"/>
              <a:t>1</a:t>
            </a:fld>
            <a:endParaRPr lang="en-IE"/>
          </a:p>
        </p:txBody>
      </p:sp>
    </p:spTree>
    <p:extLst>
      <p:ext uri="{BB962C8B-B14F-4D97-AF65-F5344CB8AC3E}">
        <p14:creationId xmlns:p14="http://schemas.microsoft.com/office/powerpoint/2010/main" val="37960015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a:ea typeface="Calibri"/>
                <a:cs typeface="Calibri"/>
              </a:rPr>
              <a:t>I am going to introduce our story and why we chose melanoma.</a:t>
            </a:r>
          </a:p>
          <a:p>
            <a:r>
              <a:rPr lang="en-IE">
                <a:ea typeface="Calibri"/>
                <a:cs typeface="Calibri"/>
              </a:rPr>
              <a:t>Next, over 3 chapters, my colleagues will present how they addressed our research questions using ODEs, ML models and target discovery.</a:t>
            </a:r>
          </a:p>
          <a:p>
            <a:r>
              <a:rPr lang="en-IE">
                <a:ea typeface="Calibri"/>
                <a:cs typeface="Calibri"/>
              </a:rPr>
              <a:t>We will then conclude with how we have brought these methods together to support clinicians in making treatment decisions.</a:t>
            </a:r>
          </a:p>
        </p:txBody>
      </p:sp>
      <p:sp>
        <p:nvSpPr>
          <p:cNvPr id="4" name="Slide Number Placeholder 3"/>
          <p:cNvSpPr>
            <a:spLocks noGrp="1"/>
          </p:cNvSpPr>
          <p:nvPr>
            <p:ph type="sldNum" sz="quarter" idx="5"/>
          </p:nvPr>
        </p:nvSpPr>
        <p:spPr/>
        <p:txBody>
          <a:bodyPr/>
          <a:lstStyle/>
          <a:p>
            <a:fld id="{E0672657-B013-44B9-80BA-EA59481B544C}" type="slidenum">
              <a:rPr lang="en-IE" smtClean="0"/>
              <a:t>2</a:t>
            </a:fld>
            <a:endParaRPr lang="en-IE"/>
          </a:p>
        </p:txBody>
      </p:sp>
    </p:spTree>
    <p:extLst>
      <p:ext uri="{BB962C8B-B14F-4D97-AF65-F5344CB8AC3E}">
        <p14:creationId xmlns:p14="http://schemas.microsoft.com/office/powerpoint/2010/main" val="37960015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IE" sz="1200" kern="100">
                <a:effectLst/>
                <a:latin typeface="Aptos"/>
                <a:ea typeface="Aptos" panose="020B0004020202020204" pitchFamily="34" charset="0"/>
                <a:cs typeface="Times New Roman" panose="02020603050405020304" pitchFamily="18" charset="0"/>
              </a:rPr>
              <a:t>Melanoma </a:t>
            </a:r>
            <a:r>
              <a:rPr lang="en-IE" sz="1200" kern="100">
                <a:latin typeface="Aptos"/>
                <a:ea typeface="Aptos" panose="020B0004020202020204" pitchFamily="34" charset="0"/>
                <a:cs typeface="Times New Roman" panose="02020603050405020304" pitchFamily="18" charset="0"/>
              </a:rPr>
              <a:t>is a malignancy arising</a:t>
            </a:r>
            <a:r>
              <a:rPr lang="en-IE" sz="1200" kern="100">
                <a:effectLst/>
                <a:latin typeface="Aptos"/>
                <a:ea typeface="Aptos" panose="020B0004020202020204" pitchFamily="34" charset="0"/>
                <a:cs typeface="Times New Roman" panose="02020603050405020304" pitchFamily="18" charset="0"/>
              </a:rPr>
              <a:t> from </a:t>
            </a:r>
            <a:r>
              <a:rPr lang="en-IE" sz="1200" kern="100">
                <a:latin typeface="Aptos"/>
                <a:ea typeface="Aptos" panose="020B0004020202020204" pitchFamily="34" charset="0"/>
                <a:cs typeface="Times New Roman" panose="02020603050405020304" pitchFamily="18" charset="0"/>
              </a:rPr>
              <a:t>abnormal proliferation of melanocytes</a:t>
            </a:r>
            <a:r>
              <a:rPr lang="en-IE" sz="1200" kern="100">
                <a:effectLst/>
                <a:latin typeface="Aptos"/>
                <a:ea typeface="Aptos" panose="020B0004020202020204" pitchFamily="34" charset="0"/>
                <a:cs typeface="Times New Roman" panose="02020603050405020304" pitchFamily="18" charset="0"/>
              </a:rPr>
              <a:t>, the pigment-producing cells of the </a:t>
            </a:r>
            <a:r>
              <a:rPr lang="en-IE" sz="1200" kern="100">
                <a:latin typeface="Aptos"/>
                <a:ea typeface="Aptos" panose="020B0004020202020204" pitchFamily="34" charset="0"/>
                <a:cs typeface="Times New Roman" panose="02020603050405020304" pitchFamily="18" charset="0"/>
              </a:rPr>
              <a:t>skin.</a:t>
            </a:r>
          </a:p>
          <a:p>
            <a:pPr marL="0" marR="0" lvl="0" indent="0" algn="l" defTabSz="914400" rtl="0" eaLnBrk="1" fontAlgn="auto" latinLnBrk="0" hangingPunct="1">
              <a:lnSpc>
                <a:spcPct val="107000"/>
              </a:lnSpc>
              <a:spcBef>
                <a:spcPts val="0"/>
              </a:spcBef>
              <a:spcAft>
                <a:spcPts val="800"/>
              </a:spcAft>
              <a:buClrTx/>
              <a:buSzTx/>
              <a:buFontTx/>
              <a:buNone/>
              <a:tabLst/>
              <a:defRPr/>
            </a:pPr>
            <a:r>
              <a:rPr lang="en-IE" sz="1200" kern="100">
                <a:latin typeface="Aptos"/>
                <a:ea typeface="Aptos" panose="020B0004020202020204" pitchFamily="34" charset="0"/>
                <a:cs typeface="Times New Roman" panose="02020603050405020304" pitchFamily="18" charset="0"/>
              </a:rPr>
              <a:t>Globally, there are 338k new cases annually and over 58k deaths.</a:t>
            </a:r>
          </a:p>
          <a:p>
            <a:pPr>
              <a:lnSpc>
                <a:spcPct val="107000"/>
              </a:lnSpc>
              <a:spcAft>
                <a:spcPts val="800"/>
              </a:spcAft>
            </a:pPr>
            <a:r>
              <a:rPr lang="en-IE" sz="1200" kern="100">
                <a:latin typeface="Aptos"/>
                <a:ea typeface="Aptos" panose="020B0004020202020204" pitchFamily="34" charset="0"/>
                <a:cs typeface="Times New Roman" panose="02020603050405020304" pitchFamily="18" charset="0"/>
              </a:rPr>
              <a:t>It is the least common but</a:t>
            </a:r>
            <a:r>
              <a:rPr lang="en-IE" sz="1200" kern="100">
                <a:effectLst/>
                <a:latin typeface="Aptos"/>
                <a:ea typeface="Aptos" panose="020B0004020202020204" pitchFamily="34" charset="0"/>
                <a:cs typeface="Times New Roman" panose="02020603050405020304" pitchFamily="18" charset="0"/>
              </a:rPr>
              <a:t> most aggressive form of skin cancer</a:t>
            </a:r>
            <a:r>
              <a:rPr lang="en-IE" kern="100">
                <a:latin typeface="Aptos"/>
                <a:ea typeface="Aptos" panose="020B0004020202020204" pitchFamily="34" charset="0"/>
                <a:cs typeface="Times New Roman" panose="02020603050405020304" pitchFamily="18" charset="0"/>
              </a:rPr>
              <a:t>....for example in</a:t>
            </a:r>
            <a:r>
              <a:rPr lang="en-IE" sz="1200" kern="100">
                <a:latin typeface="Aptos"/>
                <a:ea typeface="Aptos" panose="020B0004020202020204" pitchFamily="34" charset="0"/>
                <a:cs typeface="Times New Roman" panose="02020603050405020304" pitchFamily="18" charset="0"/>
              </a:rPr>
              <a:t> Ireland, </a:t>
            </a:r>
            <a:r>
              <a:rPr lang="en-IE" sz="1200" kern="100">
                <a:effectLst/>
                <a:latin typeface="Aptos"/>
                <a:ea typeface="Aptos" panose="020B0004020202020204" pitchFamily="34" charset="0"/>
                <a:cs typeface="Times New Roman" panose="02020603050405020304" pitchFamily="18" charset="0"/>
              </a:rPr>
              <a:t>it accounts for only around 11 percent of skin cancer cases </a:t>
            </a:r>
            <a:r>
              <a:rPr lang="en-IE" sz="1200" kern="100">
                <a:latin typeface="Aptos"/>
                <a:ea typeface="Aptos" panose="020B0004020202020204" pitchFamily="34" charset="0"/>
                <a:cs typeface="Times New Roman" panose="02020603050405020304" pitchFamily="18" charset="0"/>
              </a:rPr>
              <a:t>but </a:t>
            </a:r>
            <a:r>
              <a:rPr lang="en-IE" sz="1200" kern="100">
                <a:effectLst/>
                <a:latin typeface="Aptos"/>
                <a:ea typeface="Aptos" panose="020B0004020202020204" pitchFamily="34" charset="0"/>
                <a:cs typeface="Times New Roman" panose="02020603050405020304" pitchFamily="18" charset="0"/>
              </a:rPr>
              <a:t>is responsible for approximately 63 percent of skin cancer-related deaths</a:t>
            </a:r>
            <a:r>
              <a:rPr lang="en-IE" sz="1200" kern="100">
                <a:latin typeface="Aptos"/>
                <a:ea typeface="Aptos" panose="020B0004020202020204" pitchFamily="34" charset="0"/>
                <a:cs typeface="Times New Roman" panose="02020603050405020304" pitchFamily="18" charset="0"/>
              </a:rPr>
              <a:t>.</a:t>
            </a:r>
            <a:endParaRPr lang="en-IE" sz="1200">
              <a:latin typeface="Aptos"/>
              <a:ea typeface="Calibri" panose="020F0502020204030204"/>
              <a:cs typeface="Calibri" panose="020F0502020204030204"/>
            </a:endParaRPr>
          </a:p>
          <a:p>
            <a:pPr>
              <a:lnSpc>
                <a:spcPct val="107000"/>
              </a:lnSpc>
              <a:spcAft>
                <a:spcPts val="800"/>
              </a:spcAft>
            </a:pPr>
            <a:endParaRPr lang="en-IE" kern="100">
              <a:latin typeface="Aptos"/>
            </a:endParaRPr>
          </a:p>
          <a:p>
            <a:pPr>
              <a:lnSpc>
                <a:spcPct val="107000"/>
              </a:lnSpc>
              <a:spcAft>
                <a:spcPts val="800"/>
              </a:spcAft>
            </a:pPr>
            <a:r>
              <a:rPr lang="en-IE" sz="1200" kern="100">
                <a:effectLst/>
                <a:latin typeface="Aptos"/>
                <a:ea typeface="Aptos" panose="020B0004020202020204" pitchFamily="34" charset="0"/>
                <a:cs typeface="Times New Roman" panose="02020603050405020304" pitchFamily="18" charset="0"/>
              </a:rPr>
              <a:t>At the molecular level, melanoma is driven by several key </a:t>
            </a:r>
            <a:r>
              <a:rPr lang="en-IE" sz="1200" kern="100">
                <a:latin typeface="Aptos"/>
                <a:ea typeface="Aptos" panose="020B0004020202020204" pitchFamily="34" charset="0"/>
                <a:cs typeface="Times New Roman" panose="02020603050405020304" pitchFamily="18" charset="0"/>
              </a:rPr>
              <a:t>genomic alterations</a:t>
            </a:r>
            <a:r>
              <a:rPr lang="en-IE" sz="1200" kern="100">
                <a:effectLst/>
                <a:latin typeface="Aptos"/>
                <a:ea typeface="Aptos" panose="020B0004020202020204" pitchFamily="34" charset="0"/>
                <a:cs typeface="Times New Roman" panose="02020603050405020304" pitchFamily="18" charset="0"/>
              </a:rPr>
              <a:t>, most notably </a:t>
            </a:r>
            <a:r>
              <a:rPr lang="en-IE" kern="100">
                <a:latin typeface="Aptos"/>
                <a:ea typeface="Aptos" panose="020B0004020202020204" pitchFamily="34" charset="0"/>
                <a:cs typeface="Times New Roman" panose="02020603050405020304" pitchFamily="18" charset="0"/>
              </a:rPr>
              <a:t>B-RAF</a:t>
            </a:r>
            <a:r>
              <a:rPr lang="en-IE" sz="1200" kern="100">
                <a:effectLst/>
                <a:latin typeface="Aptos"/>
                <a:ea typeface="Aptos" panose="020B0004020202020204" pitchFamily="34" charset="0"/>
                <a:cs typeface="Times New Roman" panose="02020603050405020304" pitchFamily="18" charset="0"/>
              </a:rPr>
              <a:t>, NRAS and NF1</a:t>
            </a:r>
            <a:r>
              <a:rPr lang="en-IE" sz="1200" kern="100">
                <a:latin typeface="Aptos"/>
                <a:ea typeface="Aptos" panose="020B0004020202020204" pitchFamily="34" charset="0"/>
                <a:cs typeface="Times New Roman" panose="02020603050405020304" pitchFamily="18" charset="0"/>
              </a:rPr>
              <a:t>, which contribute to dysregulation of the MAPK signalling pathway and promote tumour growth.</a:t>
            </a:r>
            <a:r>
              <a:rPr lang="en-IE" sz="1200" kern="100">
                <a:effectLst/>
                <a:latin typeface="Aptos"/>
                <a:ea typeface="Aptos" panose="020B0004020202020204" pitchFamily="34" charset="0"/>
                <a:cs typeface="Times New Roman" panose="02020603050405020304" pitchFamily="18" charset="0"/>
              </a:rPr>
              <a:t> </a:t>
            </a:r>
            <a:endParaRPr lang="en-IE" sz="1200" kern="100">
              <a:latin typeface="Aptos"/>
              <a:ea typeface="Aptos" panose="020B0004020202020204" pitchFamily="34" charset="0"/>
              <a:cs typeface="Times New Roman" panose="02020603050405020304" pitchFamily="18" charset="0"/>
            </a:endParaRPr>
          </a:p>
          <a:p>
            <a:r>
              <a:rPr lang="en-IE"/>
              <a:t>Treatment depends on disease stage. Localised melanoma is typically managed surgically and can often be cured when detected early. </a:t>
            </a:r>
          </a:p>
          <a:p>
            <a:r>
              <a:rPr lang="en-IE"/>
              <a:t>For advanced disease, there are 2 approaches.</a:t>
            </a:r>
          </a:p>
          <a:p>
            <a:r>
              <a:rPr lang="en-IE"/>
              <a:t>The first is immunotherapy, particularly immune checkpoint inhibitors </a:t>
            </a:r>
            <a:r>
              <a:rPr lang="en-IE" err="1"/>
              <a:t>whic</a:t>
            </a:r>
            <a:r>
              <a:rPr lang="en-IE"/>
              <a:t>h stimulate anti-tumour immune responses and can produce durable long-term benefit. </a:t>
            </a:r>
            <a:endParaRPr lang="en-IE">
              <a:ea typeface="Calibri"/>
              <a:cs typeface="Calibri"/>
            </a:endParaRPr>
          </a:p>
          <a:p>
            <a:r>
              <a:rPr lang="en-IE"/>
              <a:t>The second is targeted therapy for patients with B-RAF mutations. Anthony is going to provide an overview of these pathways. </a:t>
            </a:r>
            <a:endParaRPr lang="en-IE">
              <a:latin typeface="Calibri" panose="020F0502020204030204"/>
              <a:ea typeface="Calibri" panose="020F0502020204030204"/>
              <a:cs typeface="Calibri" panose="020F0502020204030204"/>
            </a:endParaRPr>
          </a:p>
          <a:p>
            <a:r>
              <a:rPr lang="en-IE" b="0" i="0">
                <a:effectLst/>
                <a:latin typeface="Segoe UI"/>
                <a:cs typeface="Segoe UI"/>
              </a:rPr>
              <a:t>While </a:t>
            </a:r>
            <a:r>
              <a:rPr lang="en-IE">
                <a:latin typeface="Segoe UI"/>
                <a:cs typeface="Segoe UI"/>
              </a:rPr>
              <a:t>these therapies have transformed patient outcomes, responses remain highly variable between individuals.</a:t>
            </a:r>
            <a:endParaRPr lang="en-IE" strike="sngStrike">
              <a:latin typeface="Segoe UI"/>
              <a:cs typeface="Segoe UI"/>
            </a:endParaRPr>
          </a:p>
          <a:p>
            <a:endParaRPr lang="en-IE"/>
          </a:p>
        </p:txBody>
      </p:sp>
      <p:sp>
        <p:nvSpPr>
          <p:cNvPr id="4" name="Slide Number Placeholder 3"/>
          <p:cNvSpPr>
            <a:spLocks noGrp="1"/>
          </p:cNvSpPr>
          <p:nvPr>
            <p:ph type="sldNum" sz="quarter" idx="5"/>
          </p:nvPr>
        </p:nvSpPr>
        <p:spPr/>
        <p:txBody>
          <a:bodyPr/>
          <a:lstStyle/>
          <a:p>
            <a:fld id="{E0672657-B013-44B9-80BA-EA59481B544C}" type="slidenum">
              <a:rPr lang="en-IE" smtClean="0"/>
              <a:t>3</a:t>
            </a:fld>
            <a:endParaRPr lang="en-IE"/>
          </a:p>
        </p:txBody>
      </p:sp>
    </p:spTree>
    <p:extLst>
      <p:ext uri="{BB962C8B-B14F-4D97-AF65-F5344CB8AC3E}">
        <p14:creationId xmlns:p14="http://schemas.microsoft.com/office/powerpoint/2010/main" val="3030413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kern="100"/>
              <a:t>Immunotherapy doesn't work for everyone, and targeted therapy doesn't last forever.</a:t>
            </a:r>
            <a:endParaRPr lang="en-US"/>
          </a:p>
          <a:p>
            <a:endParaRPr lang="en-IE" sz="1800" kern="100">
              <a:latin typeface="Aptos"/>
              <a:ea typeface="Aptos" panose="020B0004020202020204" pitchFamily="34" charset="0"/>
              <a:cs typeface="Times New Roman" panose="02020603050405020304" pitchFamily="18" charset="0"/>
            </a:endParaRPr>
          </a:p>
          <a:p>
            <a:r>
              <a:rPr lang="en-GB" kern="100">
                <a:solidFill>
                  <a:srgbClr val="171717"/>
                </a:solidFill>
              </a:rPr>
              <a:t>With anti-PD-1 immunotherapy fewer than 50% of patients experience durable response.</a:t>
            </a:r>
            <a:endParaRPr lang="en-IE">
              <a:ea typeface="Calibri"/>
              <a:cs typeface="Calibri"/>
            </a:endParaRPr>
          </a:p>
          <a:p>
            <a:r>
              <a:rPr lang="en-IE" kern="100"/>
              <a:t>Targeted therapies can produce rapid tumour shrinkage in up to 70% patients with BRAF-mutant disease, but resistance frequently develops over time.</a:t>
            </a:r>
            <a:endParaRPr lang="en-IE"/>
          </a:p>
          <a:p>
            <a:r>
              <a:rPr lang="en-IE" kern="100"/>
              <a:t>Why does this happen?</a:t>
            </a:r>
            <a:endParaRPr lang="en-IE"/>
          </a:p>
          <a:p>
            <a:r>
              <a:rPr lang="en-IE" kern="100"/>
              <a:t>The answer lies in the biological complexity of melanoma, specifically tumour differences and immune response.</a:t>
            </a:r>
            <a:endParaRPr lang="en-IE">
              <a:ea typeface="Calibri"/>
              <a:cs typeface="Calibri"/>
            </a:endParaRPr>
          </a:p>
          <a:p>
            <a:r>
              <a:rPr lang="en-IE" kern="100"/>
              <a:t>Tumour heterogeneity refers to genetic, molecular and cellular differences within tumours. These differences influence response to treatment and disease progression.</a:t>
            </a:r>
            <a:endParaRPr lang="en-IE"/>
          </a:p>
          <a:p>
            <a:r>
              <a:rPr lang="en-IE" kern="100"/>
              <a:t>Differences in the tumour immune microenvironment strongly influence whether the immune system successfully eliminates tumour cells.</a:t>
            </a:r>
            <a:endParaRPr lang="en-IE"/>
          </a:p>
          <a:p>
            <a:r>
              <a:rPr lang="en-IE" kern="100"/>
              <a:t>As a result, patients with apparently similar disease can experience very different outcomes.</a:t>
            </a:r>
            <a:endParaRPr lang="en-IE"/>
          </a:p>
          <a:p>
            <a:r>
              <a:rPr lang="en-IE" kern="100"/>
              <a:t>This raises a key question: can we predict how an individual patient's tumour will respond before treatment begins?</a:t>
            </a:r>
            <a:endParaRPr lang="en-IE"/>
          </a:p>
          <a:p>
            <a:endParaRPr lang="en-IE" kern="100">
              <a:ea typeface="Calibri"/>
              <a:cs typeface="Calibri"/>
            </a:endParaRPr>
          </a:p>
          <a:p>
            <a:r>
              <a:rPr lang="en-IE" kern="100">
                <a:ea typeface="Calibri"/>
                <a:cs typeface="Calibri"/>
              </a:rPr>
              <a:t>I will now hand over to Anthony for chapter 1 of our story.</a:t>
            </a:r>
          </a:p>
          <a:p>
            <a:endParaRPr lang="en-IE">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E0672657-B013-44B9-80BA-EA59481B544C}" type="slidenum">
              <a:rPr lang="en-IE" smtClean="0"/>
              <a:t>4</a:t>
            </a:fld>
            <a:endParaRPr lang="en-IE"/>
          </a:p>
        </p:txBody>
      </p:sp>
    </p:spTree>
    <p:extLst>
      <p:ext uri="{BB962C8B-B14F-4D97-AF65-F5344CB8AC3E}">
        <p14:creationId xmlns:p14="http://schemas.microsoft.com/office/powerpoint/2010/main" val="26439453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I get into the model, this is the biology it's built on. Top row is the MAPK growth pathway — a receptor signal runs through RAS, RAF, MEK, ERK to drive proliferation. In about 45% of melanomas, BRAF is mutated and stuck 'on' — that's the RAF node highlighted here. Vemurafenib and trametinib-class drugs block this cascade at those two points. Bottom row is the separate immune checkpoint, Anthony will talk more about it where PD-L1 on the </a:t>
            </a:r>
            <a:r>
              <a:rPr lang="en-US" err="1"/>
              <a:t>tumour</a:t>
            </a:r>
            <a:r>
              <a:rPr lang="en-US"/>
              <a:t> talks to PD-1 on the T-cell to keep it switched off, and checkpoint drugs block that handshake instead. My model simulates the top pathway mechanistically, as a system of equations, rather than treating it as a black box</a:t>
            </a:r>
          </a:p>
        </p:txBody>
      </p:sp>
      <p:sp>
        <p:nvSpPr>
          <p:cNvPr id="4" name="Slide Number Placeholder 3"/>
          <p:cNvSpPr>
            <a:spLocks noGrp="1"/>
          </p:cNvSpPr>
          <p:nvPr>
            <p:ph type="sldNum" sz="quarter" idx="5"/>
          </p:nvPr>
        </p:nvSpPr>
        <p:spPr/>
        <p:txBody>
          <a:bodyPr/>
          <a:lstStyle/>
          <a:p>
            <a:fld id="{E0672657-B013-44B9-80BA-EA59481B544C}" type="slidenum">
              <a:rPr lang="en-GB"/>
              <a:t>6</a:t>
            </a:fld>
            <a:endParaRPr lang="en-GB"/>
          </a:p>
        </p:txBody>
      </p:sp>
    </p:spTree>
    <p:extLst>
      <p:ext uri="{BB962C8B-B14F-4D97-AF65-F5344CB8AC3E}">
        <p14:creationId xmlns:p14="http://schemas.microsoft.com/office/powerpoint/2010/main" val="22564956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AD633-14E1-A157-5457-901C324C42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417947-B45D-90AA-5367-C623410AF4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675D76-4964-2B11-EB8F-431C669A7AB0}"/>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AF2B9EA1-89A8-41CC-801B-079597970FA5}"/>
              </a:ext>
            </a:extLst>
          </p:cNvPr>
          <p:cNvSpPr>
            <a:spLocks noGrp="1"/>
          </p:cNvSpPr>
          <p:nvPr>
            <p:ph type="sldNum" sz="quarter" idx="5"/>
          </p:nvPr>
        </p:nvSpPr>
        <p:spPr/>
        <p:txBody>
          <a:bodyPr/>
          <a:lstStyle/>
          <a:p>
            <a:fld id="{E0672657-B013-44B9-80BA-EA59481B544C}" type="slidenum">
              <a:rPr lang="en-US"/>
              <a:t>7</a:t>
            </a:fld>
            <a:endParaRPr lang="en-US"/>
          </a:p>
        </p:txBody>
      </p:sp>
    </p:spTree>
    <p:extLst>
      <p:ext uri="{BB962C8B-B14F-4D97-AF65-F5344CB8AC3E}">
        <p14:creationId xmlns:p14="http://schemas.microsoft.com/office/powerpoint/2010/main" val="19001615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A3AF3-3615-B249-9492-45E7E5329E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7B59FB-DB58-F471-F15B-45A78D7199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052B73-960C-F7E5-8391-E76DE8A5C5A0}"/>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70A4809F-C5FD-E8C3-9D79-72A07604C339}"/>
              </a:ext>
            </a:extLst>
          </p:cNvPr>
          <p:cNvSpPr>
            <a:spLocks noGrp="1"/>
          </p:cNvSpPr>
          <p:nvPr>
            <p:ph type="sldNum" sz="quarter" idx="5"/>
          </p:nvPr>
        </p:nvSpPr>
        <p:spPr/>
        <p:txBody>
          <a:bodyPr/>
          <a:lstStyle/>
          <a:p>
            <a:fld id="{E0672657-B013-44B9-80BA-EA59481B544C}" type="slidenum">
              <a:rPr lang="en-GB"/>
              <a:t>8</a:t>
            </a:fld>
            <a:endParaRPr lang="en-GB"/>
          </a:p>
        </p:txBody>
      </p:sp>
    </p:spTree>
    <p:extLst>
      <p:ext uri="{BB962C8B-B14F-4D97-AF65-F5344CB8AC3E}">
        <p14:creationId xmlns:p14="http://schemas.microsoft.com/office/powerpoint/2010/main" val="9135432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B5D1C-EDCF-802C-087E-2E2953D02E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DBEC9-892C-FDFA-848A-1ABE9DD508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D351A0-CA76-75FC-9EF9-A3A315D30110}"/>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4173C3D3-4881-FECB-2D15-F0C7E869C668}"/>
              </a:ext>
            </a:extLst>
          </p:cNvPr>
          <p:cNvSpPr>
            <a:spLocks noGrp="1"/>
          </p:cNvSpPr>
          <p:nvPr>
            <p:ph type="sldNum" sz="quarter" idx="5"/>
          </p:nvPr>
        </p:nvSpPr>
        <p:spPr/>
        <p:txBody>
          <a:bodyPr/>
          <a:lstStyle/>
          <a:p>
            <a:fld id="{E0672657-B013-44B9-80BA-EA59481B544C}" type="slidenum">
              <a:rPr lang="en-GB"/>
              <a:t>9</a:t>
            </a:fld>
            <a:endParaRPr lang="en-GB"/>
          </a:p>
        </p:txBody>
      </p:sp>
    </p:spTree>
    <p:extLst>
      <p:ext uri="{BB962C8B-B14F-4D97-AF65-F5344CB8AC3E}">
        <p14:creationId xmlns:p14="http://schemas.microsoft.com/office/powerpoint/2010/main" val="9253306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AD4DB-D821-0BBF-ED65-D8AD6A8D2E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D85DBA-7A5B-070A-CDE5-ACA439BA1B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728E18-4275-3745-64A9-7A5C383E117A}"/>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AA577CDF-45DF-DF1D-4412-C4B92D851533}"/>
              </a:ext>
            </a:extLst>
          </p:cNvPr>
          <p:cNvSpPr>
            <a:spLocks noGrp="1"/>
          </p:cNvSpPr>
          <p:nvPr>
            <p:ph type="sldNum" sz="quarter" idx="5"/>
          </p:nvPr>
        </p:nvSpPr>
        <p:spPr/>
        <p:txBody>
          <a:bodyPr/>
          <a:lstStyle/>
          <a:p>
            <a:fld id="{E0672657-B013-44B9-80BA-EA59481B544C}" type="slidenum">
              <a:rPr lang="en-GB"/>
              <a:t>10</a:t>
            </a:fld>
            <a:endParaRPr lang="en-GB"/>
          </a:p>
        </p:txBody>
      </p:sp>
    </p:spTree>
    <p:extLst>
      <p:ext uri="{BB962C8B-B14F-4D97-AF65-F5344CB8AC3E}">
        <p14:creationId xmlns:p14="http://schemas.microsoft.com/office/powerpoint/2010/main" val="37931313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1B776-DFF0-3B8C-F08E-74F41CD09F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1F2E7-B8B5-0FB3-25B4-2936752985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DAE7CE-0C98-4D0E-E56E-04CB9DF906F4}"/>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1FE6F877-83BA-723E-E513-85D48A010BAF}"/>
              </a:ext>
            </a:extLst>
          </p:cNvPr>
          <p:cNvSpPr>
            <a:spLocks noGrp="1"/>
          </p:cNvSpPr>
          <p:nvPr>
            <p:ph type="sldNum" sz="quarter" idx="5"/>
          </p:nvPr>
        </p:nvSpPr>
        <p:spPr/>
        <p:txBody>
          <a:bodyPr/>
          <a:lstStyle/>
          <a:p>
            <a:fld id="{E0672657-B013-44B9-80BA-EA59481B544C}" type="slidenum">
              <a:rPr lang="en-GB"/>
              <a:t>11</a:t>
            </a:fld>
            <a:endParaRPr lang="en-GB"/>
          </a:p>
        </p:txBody>
      </p:sp>
    </p:spTree>
    <p:extLst>
      <p:ext uri="{BB962C8B-B14F-4D97-AF65-F5344CB8AC3E}">
        <p14:creationId xmlns:p14="http://schemas.microsoft.com/office/powerpoint/2010/main" val="21151943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Both the targeted &amp; immunotherapy arms use the same tumor-immune equation with the phases: tumor growth, offset by CD8 T-cell killing and a rate of cell death </a:t>
            </a:r>
          </a:p>
          <a:p>
            <a:br>
              <a:rPr lang="en-US"/>
            </a:br>
            <a:endParaRPr lang="en-US"/>
          </a:p>
          <a:p>
            <a:r>
              <a:rPr lang="en-US"/>
              <a:t>The targeted arms reduces proliferation with the BRAF inhibitor while the immunotherapy arm dials killing </a:t>
            </a:r>
          </a:p>
          <a:p>
            <a:br>
              <a:rPr lang="en-US"/>
            </a:br>
            <a:endParaRPr lang="en-US"/>
          </a:p>
          <a:p>
            <a:r>
              <a:rPr lang="en-US"/>
              <a:t>The checkpoint modeling adds a PD-1 &amp; PD-L1 checkpoint gate where anti-PD-1 depletes PD-1 and unlocks the CD8 killing effect - and this effect is capped by each patient's own cytolytic score </a:t>
            </a:r>
          </a:p>
          <a:p>
            <a:br>
              <a:rPr lang="en-US"/>
            </a:br>
            <a:endParaRPr lang="en-US"/>
          </a:p>
          <a:p>
            <a:r>
              <a:rPr lang="en-US"/>
              <a:t>The immunotherapy arm is based on the same 421 TCGA-SKCM patients with the addition of their PD-1, PD-L1, and CYT expression.</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E0672657-B013-44B9-80BA-EA59481B544C}" type="slidenum">
              <a:rPr lang="en-GB"/>
              <a:t>12</a:t>
            </a:fld>
            <a:endParaRPr lang="en-GB"/>
          </a:p>
        </p:txBody>
      </p:sp>
    </p:spTree>
    <p:extLst>
      <p:ext uri="{BB962C8B-B14F-4D97-AF65-F5344CB8AC3E}">
        <p14:creationId xmlns:p14="http://schemas.microsoft.com/office/powerpoint/2010/main" val="17342488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53F37-8D38-79F6-0176-CD65B5584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5CE814-B9AA-6033-9A11-0196812CC9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27DB44-97D0-153E-A30A-F128CB432C77}"/>
              </a:ext>
            </a:extLst>
          </p:cNvPr>
          <p:cNvSpPr>
            <a:spLocks noGrp="1"/>
          </p:cNvSpPr>
          <p:nvPr>
            <p:ph type="body" idx="1"/>
          </p:nvPr>
        </p:nvSpPr>
        <p:spPr/>
        <p:txBody>
          <a:bodyPr/>
          <a:lstStyle/>
          <a:p>
            <a:r>
              <a:rPr lang="en-US"/>
              <a:t>Stratification by PD-L1 status shows this in action</a:t>
            </a:r>
          </a:p>
          <a:p>
            <a:br>
              <a:rPr lang="en-US"/>
            </a:br>
            <a:endParaRPr lang="en-US"/>
          </a:p>
          <a:p>
            <a:r>
              <a:rPr lang="en-US"/>
              <a:t>Where in high-PD-L1 tumors, anti-PD-1 depletes PD-1 and releases CD8 killing resulting in modelled tumor burden dropping around 33 percent</a:t>
            </a:r>
          </a:p>
          <a:p>
            <a:br>
              <a:rPr lang="en-US"/>
            </a:br>
            <a:endParaRPr lang="en-US"/>
          </a:p>
          <a:p>
            <a:r>
              <a:rPr lang="en-US"/>
              <a:t>While in low-PD-L1 tumors, there's little checkpoint to block in the first place, so tumor burden barely moves and the model behaves as expected for poor-checkpoint tumor which is likely non-responsive </a:t>
            </a:r>
          </a:p>
          <a:p>
            <a:br>
              <a:rPr lang="en-US"/>
            </a:br>
            <a:endParaRPr lang="en-US"/>
          </a:p>
          <a:p>
            <a:r>
              <a:rPr lang="en-US"/>
              <a:t>This modeled checkpoint of tumor burden separates real survival where patients with low burden live a median 148 months versus 66 months for high burden and is statistically significant </a:t>
            </a:r>
          </a:p>
          <a:p>
            <a:br>
              <a:rPr lang="en-US"/>
            </a:br>
            <a:endParaRPr lang="en-US"/>
          </a:p>
          <a:p>
            <a:r>
              <a:rPr lang="en-US"/>
              <a:t>These dose-response and this survival split are how we indirectly validate the immunotherapy arm since RPPA cannot be used</a:t>
            </a:r>
          </a:p>
          <a:p>
            <a:endParaRPr lang="en-US">
              <a:ea typeface="Calibri"/>
              <a:cs typeface="Calibri"/>
            </a:endParaRPr>
          </a:p>
        </p:txBody>
      </p:sp>
      <p:sp>
        <p:nvSpPr>
          <p:cNvPr id="4" name="Slide Number Placeholder 3">
            <a:extLst>
              <a:ext uri="{FF2B5EF4-FFF2-40B4-BE49-F238E27FC236}">
                <a16:creationId xmlns:a16="http://schemas.microsoft.com/office/drawing/2014/main" id="{5500BAFF-6732-A2C7-5E32-048AFC84B03C}"/>
              </a:ext>
            </a:extLst>
          </p:cNvPr>
          <p:cNvSpPr>
            <a:spLocks noGrp="1"/>
          </p:cNvSpPr>
          <p:nvPr>
            <p:ph type="sldNum" sz="quarter" idx="5"/>
          </p:nvPr>
        </p:nvSpPr>
        <p:spPr/>
        <p:txBody>
          <a:bodyPr/>
          <a:lstStyle/>
          <a:p>
            <a:fld id="{E0672657-B013-44B9-80BA-EA59481B544C}" type="slidenum">
              <a:rPr lang="en-GB"/>
              <a:t>13</a:t>
            </a:fld>
            <a:endParaRPr lang="en-GB"/>
          </a:p>
        </p:txBody>
      </p:sp>
    </p:spTree>
    <p:extLst>
      <p:ext uri="{BB962C8B-B14F-4D97-AF65-F5344CB8AC3E}">
        <p14:creationId xmlns:p14="http://schemas.microsoft.com/office/powerpoint/2010/main" val="11100245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that's the immunotherapy arm. Now the other half of the same twin — targeted therapy. Same 421 patients, same equation, but here the drug acts on proliferation instead of checkpoint killing: vemurafenib binding RAF and cascading through MAPK </a:t>
            </a:r>
            <a:r>
              <a:rPr lang="en-US" err="1"/>
              <a:t>signalling</a:t>
            </a:r>
            <a:r>
              <a:rPr lang="en-US"/>
              <a:t>.</a:t>
            </a:r>
          </a:p>
          <a:p>
            <a:r>
              <a:rPr lang="en-US"/>
              <a:t> </a:t>
            </a:r>
            <a:endParaRPr lang="en-US">
              <a:ea typeface="Calibri"/>
              <a:cs typeface="Calibri"/>
            </a:endParaRPr>
          </a:p>
          <a:p>
            <a:r>
              <a:rPr lang="en-US"/>
              <a:t>Start with what we'd expect: in BRAF-mutant </a:t>
            </a:r>
            <a:r>
              <a:rPr lang="en-US" err="1"/>
              <a:t>tumours</a:t>
            </a:r>
            <a:r>
              <a:rPr lang="en-US"/>
              <a:t> — the red line — vemurafenib blocks the constitutively active signal, and </a:t>
            </a:r>
            <a:r>
              <a:rPr lang="en-US" err="1"/>
              <a:t>pERK</a:t>
            </a:r>
            <a:r>
              <a:rPr lang="en-US"/>
              <a:t> drops by about 49% as dose increases. The drug does what it's supposed to do.</a:t>
            </a:r>
            <a:endParaRPr lang="en-US">
              <a:ea typeface="Calibri"/>
              <a:cs typeface="Calibri"/>
            </a:endParaRPr>
          </a:p>
          <a:p>
            <a:r>
              <a:rPr lang="en-US"/>
              <a:t> </a:t>
            </a:r>
            <a:endParaRPr lang="en-US">
              <a:ea typeface="Calibri"/>
              <a:cs typeface="Calibri"/>
            </a:endParaRPr>
          </a:p>
          <a:p>
            <a:r>
              <a:rPr lang="en-US"/>
              <a:t>But watch BRAF-wild-type and NRAS-mutant </a:t>
            </a:r>
            <a:r>
              <a:rPr lang="en-US" err="1"/>
              <a:t>tumours</a:t>
            </a:r>
            <a:r>
              <a:rPr lang="en-US"/>
              <a:t> — blue and green. Same drug, opposite direction — </a:t>
            </a:r>
            <a:r>
              <a:rPr lang="en-US" err="1"/>
              <a:t>pERK</a:t>
            </a:r>
            <a:r>
              <a:rPr lang="en-US"/>
              <a:t> actually rises at low-to-moderate dose before flattening. That's the real, published RAF-inhibitor paradox: without the V600E mutation, vemurafenib binds one half of a RAF dimer and drives the other half to transactivate. Our mechanism reproduces this without ever being told to</a:t>
            </a:r>
            <a:endParaRPr lang="en-US">
              <a:ea typeface="Calibri"/>
              <a:cs typeface="Calibri"/>
            </a:endParaRPr>
          </a:p>
        </p:txBody>
      </p:sp>
      <p:sp>
        <p:nvSpPr>
          <p:cNvPr id="4" name="Slide Number Placeholder 3"/>
          <p:cNvSpPr>
            <a:spLocks noGrp="1"/>
          </p:cNvSpPr>
          <p:nvPr>
            <p:ph type="sldNum" sz="quarter" idx="5"/>
          </p:nvPr>
        </p:nvSpPr>
        <p:spPr/>
        <p:txBody>
          <a:bodyPr/>
          <a:lstStyle/>
          <a:p>
            <a:fld id="{E0672657-B013-44B9-80BA-EA59481B544C}" type="slidenum">
              <a:rPr lang="en-GB"/>
              <a:t>14</a:t>
            </a:fld>
            <a:endParaRPr lang="en-GB"/>
          </a:p>
        </p:txBody>
      </p:sp>
    </p:spTree>
    <p:extLst>
      <p:ext uri="{BB962C8B-B14F-4D97-AF65-F5344CB8AC3E}">
        <p14:creationId xmlns:p14="http://schemas.microsoft.com/office/powerpoint/2010/main" val="17342488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model that just fits its own training data isn't worth much, so we validated baseline </a:t>
            </a:r>
            <a:r>
              <a:rPr lang="en-US" err="1"/>
              <a:t>pERK</a:t>
            </a:r>
            <a:r>
              <a:rPr lang="en-US"/>
              <a:t> against something the model never saw: TCGA's RPPA data — direct, independent protein measurements, from a completely different assay.</a:t>
            </a:r>
          </a:p>
          <a:p>
            <a:endParaRPr lang="en-US"/>
          </a:p>
          <a:p>
            <a:r>
              <a:rPr lang="en-US"/>
              <a:t>Predicted </a:t>
            </a:r>
            <a:r>
              <a:rPr lang="en-US" err="1"/>
              <a:t>pERK</a:t>
            </a:r>
            <a:r>
              <a:rPr lang="en-US"/>
              <a:t> correlates with measured </a:t>
            </a:r>
            <a:r>
              <a:rPr lang="en-US" err="1"/>
              <a:t>pERK</a:t>
            </a:r>
            <a:r>
              <a:rPr lang="en-US"/>
              <a:t> — Pearson r=0.175, p=0.002, across 310 patients. Not huge, but real, and in the right direction.</a:t>
            </a:r>
            <a:endParaRPr lang="en-GB">
              <a:ea typeface="Calibri"/>
              <a:cs typeface="Calibri"/>
            </a:endParaRPr>
          </a:p>
          <a:p>
            <a:r>
              <a:rPr lang="en-US"/>
              <a:t>More convincing: the genotype ranking. Both the model and the actual measured protein agree that NRAS-mutant </a:t>
            </a:r>
            <a:r>
              <a:rPr lang="en-US" err="1"/>
              <a:t>tumours</a:t>
            </a:r>
            <a:r>
              <a:rPr lang="en-US"/>
              <a:t> have the highest </a:t>
            </a:r>
            <a:r>
              <a:rPr lang="en-US" err="1"/>
              <a:t>pERK</a:t>
            </a:r>
            <a:r>
              <a:rPr lang="en-US"/>
              <a:t>, then BRAF-mutant, then wild-type — p=3.2×10⁻⁹. The mechanism doesn't just correlate, it gets the biology's ordering right, independently confirmed."</a:t>
            </a:r>
            <a:endParaRPr lang="en-GB"/>
          </a:p>
        </p:txBody>
      </p:sp>
      <p:sp>
        <p:nvSpPr>
          <p:cNvPr id="4" name="Slide Number Placeholder 3"/>
          <p:cNvSpPr>
            <a:spLocks noGrp="1"/>
          </p:cNvSpPr>
          <p:nvPr>
            <p:ph type="sldNum" sz="quarter" idx="5"/>
          </p:nvPr>
        </p:nvSpPr>
        <p:spPr/>
        <p:txBody>
          <a:bodyPr/>
          <a:lstStyle/>
          <a:p>
            <a:fld id="{E0672657-B013-44B9-80BA-EA59481B544C}" type="slidenum">
              <a:rPr lang="en-GB"/>
              <a:t>15</a:t>
            </a:fld>
            <a:endParaRPr lang="en-GB"/>
          </a:p>
        </p:txBody>
      </p:sp>
    </p:spTree>
    <p:extLst>
      <p:ext uri="{BB962C8B-B14F-4D97-AF65-F5344CB8AC3E}">
        <p14:creationId xmlns:p14="http://schemas.microsoft.com/office/powerpoint/2010/main" val="2637289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1F2328"/>
                </a:solidFill>
              </a:rPr>
              <a:t>Same test we just saw for the immunotherapy arm — does any of this matter clinically? We stratified real TCGA overall survival by two ODE readouts for the targeted-therapy arm.</a:t>
            </a:r>
            <a:endParaRPr lang="en-US"/>
          </a:p>
          <a:p>
            <a:r>
              <a:rPr lang="en-US">
                <a:solidFill>
                  <a:srgbClr val="1F2328"/>
                </a:solidFill>
              </a:rPr>
              <a:t>Simulated tumour burden: high vs low burden splits patients into 68 versus 105 months median survival, log-rank p=0.027. Baseline pERK does the same — 68 versus 103 months, p=0.025. </a:t>
            </a:r>
            <a:endParaRPr lang="en-US"/>
          </a:p>
          <a:p>
            <a:r>
              <a:rPr lang="en-US">
                <a:solidFill>
                  <a:srgbClr val="1F2328"/>
                </a:solidFill>
              </a:rPr>
              <a:t> </a:t>
            </a:r>
            <a:endParaRPr lang="en-US"/>
          </a:p>
          <a:p>
            <a:r>
              <a:rPr lang="en-US">
                <a:solidFill>
                  <a:srgbClr val="1F2328"/>
                </a:solidFill>
              </a:rPr>
              <a:t>Two independent mechanistic readouts, from the same underlying model, both significantly separating real patient outcomes. That's genuine prognostic signal and we can actually explain why a given patient is high-risk, not just flag that they are. </a:t>
            </a:r>
            <a:endParaRPr lang="en-US"/>
          </a:p>
          <a:p>
            <a:endParaRPr lang="en-US">
              <a:ea typeface="Calibri"/>
              <a:cs typeface="Calibri"/>
            </a:endParaRPr>
          </a:p>
        </p:txBody>
      </p:sp>
      <p:sp>
        <p:nvSpPr>
          <p:cNvPr id="4" name="Slide Number Placeholder 3"/>
          <p:cNvSpPr>
            <a:spLocks noGrp="1"/>
          </p:cNvSpPr>
          <p:nvPr>
            <p:ph type="sldNum" sz="quarter" idx="5"/>
          </p:nvPr>
        </p:nvSpPr>
        <p:spPr/>
        <p:txBody>
          <a:bodyPr/>
          <a:lstStyle/>
          <a:p>
            <a:fld id="{E0672657-B013-44B9-80BA-EA59481B544C}" type="slidenum">
              <a:rPr lang="en-GB"/>
              <a:t>16</a:t>
            </a:fld>
            <a:endParaRPr lang="en-GB"/>
          </a:p>
        </p:txBody>
      </p:sp>
    </p:spTree>
    <p:extLst>
      <p:ext uri="{BB962C8B-B14F-4D97-AF65-F5344CB8AC3E}">
        <p14:creationId xmlns:p14="http://schemas.microsoft.com/office/powerpoint/2010/main" val="28691457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333333"/>
                </a:solidFill>
                <a:highlight>
                  <a:srgbClr val="FFFFFF"/>
                </a:highlight>
              </a:rPr>
              <a:t>This chapter asks a simple but important question: can we use machine learning to predict which melanoma patients benefit from which treatment, and do those predictions reflect the underlying biology of treatment response? </a:t>
            </a:r>
            <a:endParaRPr lang="en-US"/>
          </a:p>
          <a:p>
            <a:br>
              <a:rPr lang="en-US"/>
            </a:br>
            <a:endParaRPr lang="en-US"/>
          </a:p>
        </p:txBody>
      </p:sp>
      <p:sp>
        <p:nvSpPr>
          <p:cNvPr id="4" name="Slide Number Placeholder 3"/>
          <p:cNvSpPr>
            <a:spLocks noGrp="1"/>
          </p:cNvSpPr>
          <p:nvPr>
            <p:ph type="sldNum" sz="quarter" idx="5"/>
          </p:nvPr>
        </p:nvSpPr>
        <p:spPr/>
        <p:txBody>
          <a:bodyPr/>
          <a:lstStyle/>
          <a:p>
            <a:fld id="{E0672657-B013-44B9-80BA-EA59481B544C}" type="slidenum">
              <a:rPr lang="en-GB"/>
              <a:t>17</a:t>
            </a:fld>
            <a:endParaRPr lang="en-GB"/>
          </a:p>
        </p:txBody>
      </p:sp>
    </p:spTree>
    <p:extLst>
      <p:ext uri="{BB962C8B-B14F-4D97-AF65-F5344CB8AC3E}">
        <p14:creationId xmlns:p14="http://schemas.microsoft.com/office/powerpoint/2010/main" val="29558842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4C8F1-CB80-66FE-73BD-E614207566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AC033F-3CE5-5C36-59C0-E6EF549357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CD1DF8-9E98-4D2E-7F4D-405159720E9F}"/>
              </a:ext>
            </a:extLst>
          </p:cNvPr>
          <p:cNvSpPr>
            <a:spLocks noGrp="1"/>
          </p:cNvSpPr>
          <p:nvPr>
            <p:ph type="body" idx="1"/>
          </p:nvPr>
        </p:nvSpPr>
        <p:spPr/>
        <p:txBody>
          <a:bodyPr/>
          <a:lstStyle/>
          <a:p>
            <a:pPr lvl="1"/>
            <a:r>
              <a:rPr lang="en-GB">
                <a:solidFill>
                  <a:srgbClr val="333333"/>
                </a:solidFill>
                <a:highlight>
                  <a:srgbClr val="FFFFFF"/>
                </a:highlight>
              </a:rPr>
              <a:t>The reason this matters becomes clear in the clinic. Anti-PD-1 checkpoint inhibitors can be life-changing for some patients, but nearly 60% of metastatic melanoma patients don't respond.</a:t>
            </a:r>
            <a:endParaRPr lang="en-US"/>
          </a:p>
          <a:p>
            <a:pPr lvl="1"/>
            <a:r>
              <a:rPr lang="en-GB">
                <a:solidFill>
                  <a:srgbClr val="333333"/>
                </a:solidFill>
                <a:highlight>
                  <a:srgbClr val="FFFFFF"/>
                </a:highlight>
              </a:rPr>
              <a:t>Non-responders have a median overall survival of just 9.2 months. Meanwhile, responders have dramatically improved survival, with a 95% reduction in mortality risk and a 77% gap in 2-year survival compared with non-responders.</a:t>
            </a:r>
            <a:endParaRPr lang="en-GB"/>
          </a:p>
          <a:p>
            <a:pPr lvl="1"/>
            <a:r>
              <a:rPr lang="en-GB">
                <a:solidFill>
                  <a:srgbClr val="333333"/>
                </a:solidFill>
                <a:highlight>
                  <a:srgbClr val="FFFFFF"/>
                </a:highlight>
              </a:rPr>
              <a:t>Predicting response before treatment could help patients avoid ineffective therapies and ensure they receive the most appropriate treatment earlier.</a:t>
            </a:r>
            <a:endParaRPr lang="en-US"/>
          </a:p>
          <a:p>
            <a:pPr lvl="1"/>
            <a:br>
              <a:rPr lang="en-US"/>
            </a:br>
            <a:endParaRPr lang="en-US"/>
          </a:p>
        </p:txBody>
      </p:sp>
      <p:sp>
        <p:nvSpPr>
          <p:cNvPr id="4" name="Slide Number Placeholder 3">
            <a:extLst>
              <a:ext uri="{FF2B5EF4-FFF2-40B4-BE49-F238E27FC236}">
                <a16:creationId xmlns:a16="http://schemas.microsoft.com/office/drawing/2014/main" id="{B9D38CBD-FDE7-0B8C-D632-275C58EAC404}"/>
              </a:ext>
            </a:extLst>
          </p:cNvPr>
          <p:cNvSpPr>
            <a:spLocks noGrp="1"/>
          </p:cNvSpPr>
          <p:nvPr>
            <p:ph type="sldNum" sz="quarter" idx="5"/>
          </p:nvPr>
        </p:nvSpPr>
        <p:spPr/>
        <p:txBody>
          <a:bodyPr/>
          <a:lstStyle/>
          <a:p>
            <a:fld id="{E0672657-B013-44B9-80BA-EA59481B544C}" type="slidenum">
              <a:rPr lang="en-GB"/>
              <a:t>18</a:t>
            </a:fld>
            <a:endParaRPr lang="en-GB"/>
          </a:p>
        </p:txBody>
      </p:sp>
    </p:spTree>
    <p:extLst>
      <p:ext uri="{BB962C8B-B14F-4D97-AF65-F5344CB8AC3E}">
        <p14:creationId xmlns:p14="http://schemas.microsoft.com/office/powerpoint/2010/main" val="20667639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0195C-3D9F-ADF1-D7D4-A37639C33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2BC355-500F-F00A-DE8D-09E5AC0B06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C634F5-2091-D2A6-17EE-B9037C2C9CA6}"/>
              </a:ext>
            </a:extLst>
          </p:cNvPr>
          <p:cNvSpPr>
            <a:spLocks noGrp="1"/>
          </p:cNvSpPr>
          <p:nvPr>
            <p:ph type="body" idx="1"/>
          </p:nvPr>
        </p:nvSpPr>
        <p:spPr/>
        <p:txBody>
          <a:bodyPr/>
          <a:lstStyle/>
          <a:p>
            <a:r>
              <a:rPr lang="en-US"/>
              <a:t>Rather than feeding 20,000 noisy, raw genes directly into models, we engineered a compact 12-feature biological profile. This combined six immune-related transcriptomic signatures with </a:t>
            </a:r>
            <a:r>
              <a:rPr lang="en-US" err="1"/>
              <a:t>tumour</a:t>
            </a:r>
            <a:r>
              <a:rPr lang="en-US"/>
              <a:t> mutational burden, macrophage activity, and key melanoma driver mutations.</a:t>
            </a:r>
          </a:p>
          <a:p>
            <a:endParaRPr lang="en-US">
              <a:ea typeface="Calibri"/>
              <a:cs typeface="Calibri"/>
            </a:endParaRPr>
          </a:p>
          <a:p>
            <a:r>
              <a:rPr lang="en-US"/>
              <a:t>Curated features improved performance for SVM, Random Forest, and </a:t>
            </a:r>
            <a:r>
              <a:rPr lang="en-US" err="1"/>
              <a:t>XGBoost</a:t>
            </a:r>
            <a:r>
              <a:rPr lang="en-US"/>
              <a:t>, with SVM achieving the best CV AUC (0.684). </a:t>
            </a:r>
            <a:r>
              <a:rPr lang="en-US" err="1"/>
              <a:t>Regularised</a:t>
            </a:r>
            <a:r>
              <a:rPr lang="en-US"/>
              <a:t> linear models (Elastic Net, L1 Lasso) performed similarly with either feature strategy, suggesting that biological knowledge provides the greatest benefit for capturing complex non-linear patterns</a:t>
            </a:r>
            <a:endParaRPr lang="en-US">
              <a:ea typeface="Calibri"/>
              <a:cs typeface="Calibri"/>
            </a:endParaRPr>
          </a:p>
        </p:txBody>
      </p:sp>
      <p:sp>
        <p:nvSpPr>
          <p:cNvPr id="4" name="Slide Number Placeholder 3">
            <a:extLst>
              <a:ext uri="{FF2B5EF4-FFF2-40B4-BE49-F238E27FC236}">
                <a16:creationId xmlns:a16="http://schemas.microsoft.com/office/drawing/2014/main" id="{C7C6B56B-586A-B1D6-46E7-1CD698919960}"/>
              </a:ext>
            </a:extLst>
          </p:cNvPr>
          <p:cNvSpPr>
            <a:spLocks noGrp="1"/>
          </p:cNvSpPr>
          <p:nvPr>
            <p:ph type="sldNum" sz="quarter" idx="5"/>
          </p:nvPr>
        </p:nvSpPr>
        <p:spPr/>
        <p:txBody>
          <a:bodyPr/>
          <a:lstStyle/>
          <a:p>
            <a:fld id="{E0672657-B013-44B9-80BA-EA59481B544C}" type="slidenum">
              <a:rPr lang="en-GB"/>
              <a:t>19</a:t>
            </a:fld>
            <a:endParaRPr lang="en-GB"/>
          </a:p>
        </p:txBody>
      </p:sp>
    </p:spTree>
    <p:extLst>
      <p:ext uri="{BB962C8B-B14F-4D97-AF65-F5344CB8AC3E}">
        <p14:creationId xmlns:p14="http://schemas.microsoft.com/office/powerpoint/2010/main" val="10806442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6D0CE-9F57-5C8F-EAF0-08AC9351BA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02D1F8-0184-0B6D-CD90-0177E743D8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283A8D-7806-6BEB-5F9E-14F03753F27D}"/>
              </a:ext>
            </a:extLst>
          </p:cNvPr>
          <p:cNvSpPr>
            <a:spLocks noGrp="1"/>
          </p:cNvSpPr>
          <p:nvPr>
            <p:ph type="body" idx="1"/>
          </p:nvPr>
        </p:nvSpPr>
        <p:spPr/>
        <p:txBody>
          <a:bodyPr/>
          <a:lstStyle/>
          <a:p>
            <a:r>
              <a:rPr lang="en-US">
                <a:solidFill>
                  <a:srgbClr val="000000"/>
                </a:solidFill>
              </a:rPr>
              <a:t>T</a:t>
            </a:r>
            <a:r>
              <a:rPr lang="en-US">
                <a:solidFill>
                  <a:srgbClr val="333333"/>
                </a:solidFill>
                <a:highlight>
                  <a:srgbClr val="FFFFFF"/>
                </a:highlight>
              </a:rPr>
              <a:t>o assess real-world deployment, we tested our 5 models using Leave-One-Cohort-Out (LOCO) validation, where an entire clinical trial cohort is held out during training. Unlike standard 5-fold cross-validation, LOCO tests how well a model transfers to a completely new clinical setting. </a:t>
            </a:r>
            <a:endParaRPr lang="en-US">
              <a:solidFill>
                <a:srgbClr val="000000"/>
              </a:solidFill>
            </a:endParaRPr>
          </a:p>
          <a:p>
            <a:r>
              <a:rPr lang="en-US">
                <a:solidFill>
                  <a:srgbClr val="333333"/>
                </a:solidFill>
                <a:highlight>
                  <a:srgbClr val="FFFFFF"/>
                </a:highlight>
              </a:rPr>
              <a:t> As expected, performance decreased, reflecting differences between clinical </a:t>
            </a:r>
            <a:r>
              <a:rPr lang="en-US" err="1">
                <a:solidFill>
                  <a:srgbClr val="333333"/>
                </a:solidFill>
                <a:highlight>
                  <a:srgbClr val="FFFFFF"/>
                </a:highlight>
              </a:rPr>
              <a:t>centres</a:t>
            </a:r>
            <a:r>
              <a:rPr lang="en-US">
                <a:solidFill>
                  <a:srgbClr val="333333"/>
                </a:solidFill>
                <a:highlight>
                  <a:srgbClr val="FFFFFF"/>
                </a:highlight>
              </a:rPr>
              <a:t> and patient populations. </a:t>
            </a:r>
            <a:endParaRPr lang="en-US"/>
          </a:p>
          <a:p>
            <a:r>
              <a:rPr lang="en-US">
                <a:solidFill>
                  <a:srgbClr val="333333"/>
                </a:solidFill>
                <a:highlight>
                  <a:srgbClr val="FFFFFF"/>
                </a:highlight>
              </a:rPr>
              <a:t>SVM achieved the strongest out-of-cohort result on the Riaz data while </a:t>
            </a:r>
            <a:r>
              <a:rPr lang="en-US" err="1">
                <a:solidFill>
                  <a:srgbClr val="333333"/>
                </a:solidFill>
                <a:highlight>
                  <a:srgbClr val="FFFFFF"/>
                </a:highlight>
              </a:rPr>
              <a:t>ElasticNet</a:t>
            </a:r>
            <a:r>
              <a:rPr lang="en-US">
                <a:solidFill>
                  <a:srgbClr val="333333"/>
                </a:solidFill>
                <a:highlight>
                  <a:srgbClr val="FFFFFF"/>
                </a:highlight>
              </a:rPr>
              <a:t> showed the most consistent performance across unseen cohorts </a:t>
            </a:r>
            <a:endParaRPr lang="en-US">
              <a:ea typeface="Calibri" panose="020F0502020204030204"/>
              <a:cs typeface="Calibri" panose="020F0502020204030204"/>
            </a:endParaRPr>
          </a:p>
          <a:p>
            <a:r>
              <a:rPr lang="en-US">
                <a:solidFill>
                  <a:srgbClr val="333333"/>
                </a:solidFill>
                <a:highlight>
                  <a:srgbClr val="FFFFFF"/>
                </a:highlight>
              </a:rPr>
              <a:t>Small cohorts such as Hugo introduced a lot of variability</a:t>
            </a:r>
            <a:endParaRPr lang="en-US"/>
          </a:p>
          <a:p>
            <a:endParaRPr lang="en-US">
              <a:ea typeface="Calibri"/>
              <a:cs typeface="Calibri"/>
            </a:endParaRPr>
          </a:p>
        </p:txBody>
      </p:sp>
      <p:sp>
        <p:nvSpPr>
          <p:cNvPr id="4" name="Slide Number Placeholder 3">
            <a:extLst>
              <a:ext uri="{FF2B5EF4-FFF2-40B4-BE49-F238E27FC236}">
                <a16:creationId xmlns:a16="http://schemas.microsoft.com/office/drawing/2014/main" id="{61352168-C9C3-05A1-07A3-328B889D964E}"/>
              </a:ext>
            </a:extLst>
          </p:cNvPr>
          <p:cNvSpPr>
            <a:spLocks noGrp="1"/>
          </p:cNvSpPr>
          <p:nvPr>
            <p:ph type="sldNum" sz="quarter" idx="5"/>
          </p:nvPr>
        </p:nvSpPr>
        <p:spPr/>
        <p:txBody>
          <a:bodyPr/>
          <a:lstStyle/>
          <a:p>
            <a:fld id="{E0672657-B013-44B9-80BA-EA59481B544C}" type="slidenum">
              <a:rPr lang="en-GB"/>
              <a:t>20</a:t>
            </a:fld>
            <a:endParaRPr lang="en-GB"/>
          </a:p>
        </p:txBody>
      </p:sp>
    </p:spTree>
    <p:extLst>
      <p:ext uri="{BB962C8B-B14F-4D97-AF65-F5344CB8AC3E}">
        <p14:creationId xmlns:p14="http://schemas.microsoft.com/office/powerpoint/2010/main" val="32864560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9677E-D55E-1CC0-AC7C-E07D95CF12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2D592-E405-EAD2-9CBE-16A0C0B80E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EF1767-FBAD-4515-A29B-D6959B455FF1}"/>
              </a:ext>
            </a:extLst>
          </p:cNvPr>
          <p:cNvSpPr>
            <a:spLocks noGrp="1"/>
          </p:cNvSpPr>
          <p:nvPr>
            <p:ph type="body" idx="1"/>
          </p:nvPr>
        </p:nvSpPr>
        <p:spPr/>
        <p:txBody>
          <a:bodyPr/>
          <a:lstStyle/>
          <a:p>
            <a:endParaRPr lang="en-US">
              <a:solidFill>
                <a:srgbClr val="333333"/>
              </a:solidFill>
              <a:highlight>
                <a:srgbClr val="FFFFFF"/>
              </a:highlight>
              <a:ea typeface="Calibri"/>
              <a:cs typeface="Calibri"/>
            </a:endParaRPr>
          </a:p>
        </p:txBody>
      </p:sp>
      <p:sp>
        <p:nvSpPr>
          <p:cNvPr id="4" name="Slide Number Placeholder 3">
            <a:extLst>
              <a:ext uri="{FF2B5EF4-FFF2-40B4-BE49-F238E27FC236}">
                <a16:creationId xmlns:a16="http://schemas.microsoft.com/office/drawing/2014/main" id="{60845BB8-C636-16D8-6196-939260702E5E}"/>
              </a:ext>
            </a:extLst>
          </p:cNvPr>
          <p:cNvSpPr>
            <a:spLocks noGrp="1"/>
          </p:cNvSpPr>
          <p:nvPr>
            <p:ph type="sldNum" sz="quarter" idx="5"/>
          </p:nvPr>
        </p:nvSpPr>
        <p:spPr/>
        <p:txBody>
          <a:bodyPr/>
          <a:lstStyle/>
          <a:p>
            <a:fld id="{E0672657-B013-44B9-80BA-EA59481B544C}" type="slidenum">
              <a:rPr lang="en-GB"/>
              <a:t>21</a:t>
            </a:fld>
            <a:endParaRPr lang="en-GB"/>
          </a:p>
        </p:txBody>
      </p:sp>
    </p:spTree>
    <p:extLst>
      <p:ext uri="{BB962C8B-B14F-4D97-AF65-F5344CB8AC3E}">
        <p14:creationId xmlns:p14="http://schemas.microsoft.com/office/powerpoint/2010/main" val="15328377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15C03-A1D4-AD2E-B193-6D8CA27590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3B204A-3747-5ADA-9470-0AC7F97A90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2EAE96-396F-0824-8833-3F6C8C814C3A}"/>
              </a:ext>
            </a:extLst>
          </p:cNvPr>
          <p:cNvSpPr>
            <a:spLocks noGrp="1"/>
          </p:cNvSpPr>
          <p:nvPr>
            <p:ph type="body" idx="1"/>
          </p:nvPr>
        </p:nvSpPr>
        <p:spPr/>
        <p:txBody>
          <a:bodyPr/>
          <a:lstStyle/>
          <a:p>
            <a:pPr lvl="1"/>
            <a:r>
              <a:rPr lang="en-GB">
                <a:solidFill>
                  <a:srgbClr val="171717"/>
                </a:solidFill>
              </a:rPr>
              <a:t>This table brings together the key benchmarking results.. Looking beyond predictive performance alone, we considered both accuracy and clinical interpretability.   </a:t>
            </a:r>
            <a:endParaRPr lang="en-US"/>
          </a:p>
          <a:p>
            <a:pPr lvl="1"/>
            <a:r>
              <a:rPr lang="en-GB">
                <a:solidFill>
                  <a:srgbClr val="171717"/>
                </a:solidFill>
              </a:rPr>
              <a:t> </a:t>
            </a:r>
            <a:endParaRPr lang="en-GB"/>
          </a:p>
          <a:p>
            <a:pPr lvl="1"/>
            <a:r>
              <a:rPr lang="en-GB">
                <a:solidFill>
                  <a:srgbClr val="171717"/>
                </a:solidFill>
              </a:rPr>
              <a:t>SVM achieved the strongest predictive performance, benefiting from its ability to capture complex patterns in the feature space. But, ElasticNet provided the best balance between performance, interpretability, and stability across unseen cohorts, making it the more practical candidate for clinical translation and ethics committee approvals. </a:t>
            </a:r>
            <a:endParaRPr lang="en-GB"/>
          </a:p>
          <a:p>
            <a:pPr lvl="1"/>
            <a:r>
              <a:rPr lang="en-GB">
                <a:solidFill>
                  <a:srgbClr val="171717"/>
                </a:solidFill>
              </a:rPr>
              <a:t> </a:t>
            </a:r>
            <a:endParaRPr lang="en-GB"/>
          </a:p>
          <a:p>
            <a:pPr marL="914400" lvl="1">
              <a:lnSpc>
                <a:spcPct val="120000"/>
              </a:lnSpc>
              <a:spcBef>
                <a:spcPts val="500"/>
              </a:spcBef>
            </a:pPr>
            <a:r>
              <a:rPr lang="en-GB">
                <a:solidFill>
                  <a:srgbClr val="171717"/>
                </a:solidFill>
              </a:rPr>
              <a:t>I’ll now hand over to Gift to discuss her drug-response analysis. </a:t>
            </a:r>
            <a:endParaRPr lang="en-GB"/>
          </a:p>
        </p:txBody>
      </p:sp>
      <p:sp>
        <p:nvSpPr>
          <p:cNvPr id="4" name="Slide Number Placeholder 3">
            <a:extLst>
              <a:ext uri="{FF2B5EF4-FFF2-40B4-BE49-F238E27FC236}">
                <a16:creationId xmlns:a16="http://schemas.microsoft.com/office/drawing/2014/main" id="{A9187538-9DFC-4445-CAE5-F277497B6AC4}"/>
              </a:ext>
            </a:extLst>
          </p:cNvPr>
          <p:cNvSpPr>
            <a:spLocks noGrp="1"/>
          </p:cNvSpPr>
          <p:nvPr>
            <p:ph type="sldNum" sz="quarter" idx="5"/>
          </p:nvPr>
        </p:nvSpPr>
        <p:spPr/>
        <p:txBody>
          <a:bodyPr/>
          <a:lstStyle/>
          <a:p>
            <a:fld id="{E0672657-B013-44B9-80BA-EA59481B544C}" type="slidenum">
              <a:rPr lang="en-GB"/>
              <a:t>22</a:t>
            </a:fld>
            <a:endParaRPr lang="en-GB"/>
          </a:p>
        </p:txBody>
      </p:sp>
    </p:spTree>
    <p:extLst>
      <p:ext uri="{BB962C8B-B14F-4D97-AF65-F5344CB8AC3E}">
        <p14:creationId xmlns:p14="http://schemas.microsoft.com/office/powerpoint/2010/main" val="22836485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five drugs, ranked by how well each model predicted on cells it had never seen. Two are BRAF inhibitors, one's a MEK inhibitor, and two are chemo. Dacarbazine came out highest at 0.797, then Dabrafenib at 0.751, down to PLX-4720 at 0.136.</a:t>
            </a:r>
          </a:p>
          <a:p>
            <a:r>
              <a:rPr lang="en-US"/>
              <a:t>But only one of these five is statistically significant, and it isn't the top one. Working out why is the interesting part.</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E0672657-B013-44B9-80BA-EA59481B544C}" type="slidenum">
              <a:rPr lang="en-US"/>
              <a:t>23</a:t>
            </a:fld>
            <a:endParaRPr lang="en-US"/>
          </a:p>
        </p:txBody>
      </p:sp>
    </p:spTree>
    <p:extLst>
      <p:ext uri="{BB962C8B-B14F-4D97-AF65-F5344CB8AC3E}">
        <p14:creationId xmlns:p14="http://schemas.microsoft.com/office/powerpoint/2010/main" val="1253594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FF598-F675-4756-1CA6-21BEB2B201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725737-8507-5157-3241-4F43821F38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09E8BF-3136-B15C-97E9-35761A307091}"/>
              </a:ext>
            </a:extLst>
          </p:cNvPr>
          <p:cNvSpPr>
            <a:spLocks noGrp="1"/>
          </p:cNvSpPr>
          <p:nvPr>
            <p:ph type="body" idx="1"/>
          </p:nvPr>
        </p:nvSpPr>
        <p:spPr/>
        <p:txBody>
          <a:bodyPr/>
          <a:lstStyle/>
          <a:p>
            <a:r>
              <a:rPr lang="en-US"/>
              <a:t>The aim here was to use </a:t>
            </a:r>
            <a:r>
              <a:rPr lang="en-US" err="1"/>
              <a:t>DepMap</a:t>
            </a:r>
            <a:r>
              <a:rPr lang="en-US"/>
              <a:t> data to find potential new targets for melanoma.</a:t>
            </a:r>
          </a:p>
          <a:p>
            <a:r>
              <a:rPr lang="en-US"/>
              <a:t>I filtered out genes that are essential across most cancers, and focused on genes that melanoma cells depend on much more strongly than other cancer types.</a:t>
            </a:r>
            <a:endParaRPr lang="en-US">
              <a:ea typeface="Calibri"/>
              <a:cs typeface="Calibri"/>
            </a:endParaRPr>
          </a:p>
          <a:p>
            <a:r>
              <a:rPr lang="en-US"/>
              <a:t>SOX10 came out as the top result. Its average Chronos score was minus 1.37 in melanoma, compared with only minus 0.19 in other cancers. Around 84% of melanoma cell lines were dependent on SOX10, compared with less than 3% of non-melanoma models.</a:t>
            </a:r>
          </a:p>
          <a:p>
            <a:r>
              <a:rPr lang="en-US"/>
              <a:t>The analysis also picked up known melanoma genes, including BRAF and MAPK1. These acted as useful positive controls and gave us more confidence that the screen was identifying real melanoma biology.</a:t>
            </a:r>
          </a:p>
          <a:p>
            <a:endParaRPr lang="en-US">
              <a:ea typeface="Calibri"/>
              <a:cs typeface="Calibri"/>
            </a:endParaRPr>
          </a:p>
        </p:txBody>
      </p:sp>
      <p:sp>
        <p:nvSpPr>
          <p:cNvPr id="4" name="Slide Number Placeholder 3">
            <a:extLst>
              <a:ext uri="{FF2B5EF4-FFF2-40B4-BE49-F238E27FC236}">
                <a16:creationId xmlns:a16="http://schemas.microsoft.com/office/drawing/2014/main" id="{CCA873DB-2BDF-4668-3738-5F5EEE8B713A}"/>
              </a:ext>
            </a:extLst>
          </p:cNvPr>
          <p:cNvSpPr>
            <a:spLocks noGrp="1"/>
          </p:cNvSpPr>
          <p:nvPr>
            <p:ph type="sldNum" sz="quarter" idx="5"/>
          </p:nvPr>
        </p:nvSpPr>
        <p:spPr/>
        <p:txBody>
          <a:bodyPr/>
          <a:lstStyle/>
          <a:p>
            <a:fld id="{E0672657-B013-44B9-80BA-EA59481B544C}" type="slidenum">
              <a:rPr lang="en-US"/>
              <a:t>27</a:t>
            </a:fld>
            <a:endParaRPr lang="en-US"/>
          </a:p>
        </p:txBody>
      </p:sp>
    </p:spTree>
    <p:extLst>
      <p:ext uri="{BB962C8B-B14F-4D97-AF65-F5344CB8AC3E}">
        <p14:creationId xmlns:p14="http://schemas.microsoft.com/office/powerpoint/2010/main" val="18707260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aim here was to use </a:t>
            </a:r>
            <a:r>
              <a:rPr lang="en-US" err="1"/>
              <a:t>DepMap</a:t>
            </a:r>
            <a:r>
              <a:rPr lang="en-US"/>
              <a:t> data to find potential new targets for melanoma.</a:t>
            </a:r>
          </a:p>
          <a:p>
            <a:r>
              <a:rPr lang="en-US"/>
              <a:t>I filtered out genes that are essential across most cancers, and focused on genes that melanoma cells depend on much more strongly than other cancer types.</a:t>
            </a:r>
            <a:endParaRPr lang="en-US">
              <a:ea typeface="Calibri"/>
              <a:cs typeface="Calibri"/>
            </a:endParaRPr>
          </a:p>
          <a:p>
            <a:r>
              <a:rPr lang="en-US"/>
              <a:t>SOX10 came out as the top result. Its average Chronos score was minus 1.37 in melanoma, compared with only minus 0.19 in other cancers. Around 84% of melanoma cell lines were dependent on SOX10, compared with less than 3% of non-melanoma models.</a:t>
            </a:r>
          </a:p>
          <a:p>
            <a:r>
              <a:rPr lang="en-US"/>
              <a:t>The analysis also picked up known melanoma genes, including BRAF and MAPK1. These acted as useful positive controls and gave us more confidence that the screen was identifying real melanoma biology.</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E0672657-B013-44B9-80BA-EA59481B544C}" type="slidenum">
              <a:rPr lang="en-US"/>
              <a:t>28</a:t>
            </a:fld>
            <a:endParaRPr lang="en-US"/>
          </a:p>
        </p:txBody>
      </p:sp>
    </p:spTree>
    <p:extLst>
      <p:ext uri="{BB962C8B-B14F-4D97-AF65-F5344CB8AC3E}">
        <p14:creationId xmlns:p14="http://schemas.microsoft.com/office/powerpoint/2010/main" val="24776238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75B84-0AD6-1625-E8D7-E900EC0190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7B79AC-1244-2E46-1BD2-660E987232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4D70F8-08D8-CB30-95C3-8A38F4AF0241}"/>
              </a:ext>
            </a:extLst>
          </p:cNvPr>
          <p:cNvSpPr>
            <a:spLocks noGrp="1"/>
          </p:cNvSpPr>
          <p:nvPr>
            <p:ph type="body" idx="1"/>
          </p:nvPr>
        </p:nvSpPr>
        <p:spPr/>
        <p:txBody>
          <a:bodyPr/>
          <a:lstStyle/>
          <a:p>
            <a:r>
              <a:rPr lang="en-US"/>
              <a:t>The aim here was to use </a:t>
            </a:r>
            <a:r>
              <a:rPr lang="en-US" err="1"/>
              <a:t>DepMap</a:t>
            </a:r>
            <a:r>
              <a:rPr lang="en-US"/>
              <a:t> data to find potential new targets for melanoma.</a:t>
            </a:r>
          </a:p>
          <a:p>
            <a:r>
              <a:rPr lang="en-US"/>
              <a:t>I filtered out genes that are essential across most cancers, and focused on genes that melanoma cells depend on much more strongly than other cancer types.</a:t>
            </a:r>
            <a:endParaRPr lang="en-US">
              <a:ea typeface="Calibri"/>
              <a:cs typeface="Calibri"/>
            </a:endParaRPr>
          </a:p>
          <a:p>
            <a:r>
              <a:rPr lang="en-US"/>
              <a:t>SOX10 came out as the top result. Its average Chronos score was minus 1.37 in melanoma, compared with only minus 0.19 in other cancers. Around 84% of melanoma cell lines were dependent on SOX10, compared with less than 3% of non-melanoma models.</a:t>
            </a:r>
          </a:p>
          <a:p>
            <a:r>
              <a:rPr lang="en-US"/>
              <a:t>The analysis also picked up known melanoma genes, including BRAF and MAPK1. These acted as useful positive controls and gave us more confidence that the screen was identifying real melanoma biology.</a:t>
            </a:r>
          </a:p>
          <a:p>
            <a:endParaRPr lang="en-US">
              <a:ea typeface="Calibri"/>
              <a:cs typeface="Calibri"/>
            </a:endParaRPr>
          </a:p>
        </p:txBody>
      </p:sp>
      <p:sp>
        <p:nvSpPr>
          <p:cNvPr id="4" name="Slide Number Placeholder 3">
            <a:extLst>
              <a:ext uri="{FF2B5EF4-FFF2-40B4-BE49-F238E27FC236}">
                <a16:creationId xmlns:a16="http://schemas.microsoft.com/office/drawing/2014/main" id="{8A1F45E9-87F7-B730-8C27-D83CAB8828F2}"/>
              </a:ext>
            </a:extLst>
          </p:cNvPr>
          <p:cNvSpPr>
            <a:spLocks noGrp="1"/>
          </p:cNvSpPr>
          <p:nvPr>
            <p:ph type="sldNum" sz="quarter" idx="5"/>
          </p:nvPr>
        </p:nvSpPr>
        <p:spPr/>
        <p:txBody>
          <a:bodyPr/>
          <a:lstStyle/>
          <a:p>
            <a:fld id="{E0672657-B013-44B9-80BA-EA59481B544C}" type="slidenum">
              <a:rPr lang="en-US"/>
              <a:t>29</a:t>
            </a:fld>
            <a:endParaRPr lang="en-US"/>
          </a:p>
        </p:txBody>
      </p:sp>
    </p:spTree>
    <p:extLst>
      <p:ext uri="{BB962C8B-B14F-4D97-AF65-F5344CB8AC3E}">
        <p14:creationId xmlns:p14="http://schemas.microsoft.com/office/powerpoint/2010/main" val="20607369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then checked how robust this result was.</a:t>
            </a:r>
          </a:p>
          <a:p>
            <a:r>
              <a:rPr lang="en-US"/>
              <a:t>Most melanoma cell lines showed strong SOX10 dependency, although there was a smaller group that appeared less dependent.</a:t>
            </a:r>
          </a:p>
          <a:p>
            <a:r>
              <a:rPr lang="en-US"/>
              <a:t>Higher SOX10 expression was also linked to stronger dependency, but the relationship was only moderate. So expression may help identify sensitive </a:t>
            </a:r>
            <a:r>
              <a:rPr lang="en-US" err="1"/>
              <a:t>tumours</a:t>
            </a:r>
            <a:r>
              <a:rPr lang="en-US"/>
              <a:t>, but it would probably not work as a biomarker on its own.</a:t>
            </a:r>
            <a:endParaRPr lang="en-US">
              <a:ea typeface="Calibri"/>
              <a:cs typeface="Calibri"/>
            </a:endParaRPr>
          </a:p>
          <a:p>
            <a:r>
              <a:rPr lang="en-US"/>
              <a:t>Importantly, SOX10 remained the top selective dependency across different filtering thresholds and after removing individual cell lines. So the result was not being driven by one outlier or one particular cut-off.</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E0672657-B013-44B9-80BA-EA59481B544C}" type="slidenum">
              <a:rPr lang="en-US"/>
              <a:t>30</a:t>
            </a:fld>
            <a:endParaRPr lang="en-US"/>
          </a:p>
        </p:txBody>
      </p:sp>
    </p:spTree>
    <p:extLst>
      <p:ext uri="{BB962C8B-B14F-4D97-AF65-F5344CB8AC3E}">
        <p14:creationId xmlns:p14="http://schemas.microsoft.com/office/powerpoint/2010/main" val="27042926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53901-0FDB-3602-7555-8184A18F14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464AEE-09EC-91C8-F43A-A62A620A21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E706A2-FEB6-9C87-79BB-6C50EDB51F11}"/>
              </a:ext>
            </a:extLst>
          </p:cNvPr>
          <p:cNvSpPr>
            <a:spLocks noGrp="1"/>
          </p:cNvSpPr>
          <p:nvPr>
            <p:ph type="body" idx="1"/>
          </p:nvPr>
        </p:nvSpPr>
        <p:spPr/>
        <p:txBody>
          <a:bodyPr/>
          <a:lstStyle/>
          <a:p>
            <a:r>
              <a:rPr lang="en-US"/>
              <a:t>The aim here was to use </a:t>
            </a:r>
            <a:r>
              <a:rPr lang="en-US" err="1"/>
              <a:t>DepMap</a:t>
            </a:r>
            <a:r>
              <a:rPr lang="en-US"/>
              <a:t> data to find potential new targets for melanoma.</a:t>
            </a:r>
          </a:p>
          <a:p>
            <a:r>
              <a:rPr lang="en-US"/>
              <a:t>I filtered out genes that are essential across most cancers, and focused on genes that melanoma cells depend on much more strongly than other cancer types.</a:t>
            </a:r>
            <a:endParaRPr lang="en-US">
              <a:ea typeface="Calibri"/>
              <a:cs typeface="Calibri"/>
            </a:endParaRPr>
          </a:p>
          <a:p>
            <a:r>
              <a:rPr lang="en-US"/>
              <a:t>SOX10 came out as the top result. Its average Chronos score was minus 1.37 in melanoma, compared with only minus 0.19 in other cancers. Around 84% of melanoma cell lines were dependent on SOX10, compared with less than 3% of non-melanoma models.</a:t>
            </a:r>
          </a:p>
          <a:p>
            <a:r>
              <a:rPr lang="en-US"/>
              <a:t>The analysis also picked up known melanoma genes, including BRAF and MAPK1. These acted as useful positive controls and gave us more confidence that the screen was identifying real melanoma biology.</a:t>
            </a:r>
          </a:p>
          <a:p>
            <a:endParaRPr lang="en-US">
              <a:ea typeface="Calibri"/>
              <a:cs typeface="Calibri"/>
            </a:endParaRPr>
          </a:p>
        </p:txBody>
      </p:sp>
      <p:sp>
        <p:nvSpPr>
          <p:cNvPr id="4" name="Slide Number Placeholder 3">
            <a:extLst>
              <a:ext uri="{FF2B5EF4-FFF2-40B4-BE49-F238E27FC236}">
                <a16:creationId xmlns:a16="http://schemas.microsoft.com/office/drawing/2014/main" id="{ED82BED7-BA86-A3CE-1DB8-1EAD87C54A9E}"/>
              </a:ext>
            </a:extLst>
          </p:cNvPr>
          <p:cNvSpPr>
            <a:spLocks noGrp="1"/>
          </p:cNvSpPr>
          <p:nvPr>
            <p:ph type="sldNum" sz="quarter" idx="5"/>
          </p:nvPr>
        </p:nvSpPr>
        <p:spPr/>
        <p:txBody>
          <a:bodyPr/>
          <a:lstStyle/>
          <a:p>
            <a:fld id="{E0672657-B013-44B9-80BA-EA59481B544C}" type="slidenum">
              <a:rPr lang="en-US"/>
              <a:t>31</a:t>
            </a:fld>
            <a:endParaRPr lang="en-US"/>
          </a:p>
        </p:txBody>
      </p:sp>
    </p:spTree>
    <p:extLst>
      <p:ext uri="{BB962C8B-B14F-4D97-AF65-F5344CB8AC3E}">
        <p14:creationId xmlns:p14="http://schemas.microsoft.com/office/powerpoint/2010/main" val="9998313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main limitation is that SOX10 is a transcription factor, so it may be difficult to target directly with a drug.</a:t>
            </a:r>
          </a:p>
          <a:p>
            <a:r>
              <a:rPr lang="en-US"/>
              <a:t>I therefore searched for more druggable genes that showed similar dependency patterns to SOX10 across around 1,150 cancer models.</a:t>
            </a:r>
          </a:p>
          <a:p>
            <a:r>
              <a:rPr lang="en-US"/>
              <a:t>After filtering for co-dependency, melanoma selectivity, expression and essentiality, 18 candidates remained. I then considered their biological relevance, novelty and </a:t>
            </a:r>
            <a:r>
              <a:rPr lang="en-US" err="1"/>
              <a:t>druggability</a:t>
            </a:r>
            <a:r>
              <a:rPr lang="en-US"/>
              <a:t>, which gave a final shortlist of AMD1, PGM3 and LCMT1.</a:t>
            </a:r>
            <a:endParaRPr lang="en-US">
              <a:ea typeface="Calibri"/>
              <a:cs typeface="Calibri"/>
            </a:endParaRPr>
          </a:p>
          <a:p>
            <a:r>
              <a:rPr lang="en-US"/>
              <a:t>AMD1 already has a direct inhibitor, PGM3 has been inhibited in preclinical studies in other cancers, and LCMT1 regulates PP2A and may also be targetable.</a:t>
            </a:r>
          </a:p>
          <a:p>
            <a:r>
              <a:rPr lang="en-US"/>
              <a:t>These genes may provide indirect ways of targeting the SOX10-dependent melanoma state, although they would still need experimental validation.</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E0672657-B013-44B9-80BA-EA59481B544C}" type="slidenum">
              <a:rPr lang="en-US"/>
              <a:t>32</a:t>
            </a:fld>
            <a:endParaRPr lang="en-US"/>
          </a:p>
        </p:txBody>
      </p:sp>
    </p:spTree>
    <p:extLst>
      <p:ext uri="{BB962C8B-B14F-4D97-AF65-F5344CB8AC3E}">
        <p14:creationId xmlns:p14="http://schemas.microsoft.com/office/powerpoint/2010/main" val="26637547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70893-4901-E867-5B79-A23CD283C2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28B215-1D47-A0B2-0E26-710F438598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17E48D-1AA0-B433-FDDF-FA1DEC158233}"/>
              </a:ext>
            </a:extLst>
          </p:cNvPr>
          <p:cNvSpPr>
            <a:spLocks noGrp="1"/>
          </p:cNvSpPr>
          <p:nvPr>
            <p:ph type="body" idx="1"/>
          </p:nvPr>
        </p:nvSpPr>
        <p:spPr/>
        <p:txBody>
          <a:bodyPr/>
          <a:lstStyle/>
          <a:p>
            <a:r>
              <a:rPr lang="en-US"/>
              <a:t>The aim here was to use </a:t>
            </a:r>
            <a:r>
              <a:rPr lang="en-US" err="1"/>
              <a:t>DepMap</a:t>
            </a:r>
            <a:r>
              <a:rPr lang="en-US"/>
              <a:t> data to find potential new targets for melanoma.</a:t>
            </a:r>
          </a:p>
          <a:p>
            <a:r>
              <a:rPr lang="en-US"/>
              <a:t>I filtered out genes that are essential across most cancers, and focused on genes that melanoma cells depend on much more strongly than other cancer types.</a:t>
            </a:r>
            <a:endParaRPr lang="en-US">
              <a:ea typeface="Calibri"/>
              <a:cs typeface="Calibri"/>
            </a:endParaRPr>
          </a:p>
          <a:p>
            <a:r>
              <a:rPr lang="en-US"/>
              <a:t>SOX10 came out as the top result. Its average Chronos score was minus 1.37 in melanoma, compared with only minus 0.19 in other cancers. Around 84% of melanoma cell lines were dependent on SOX10, compared with less than 3% of non-melanoma models.</a:t>
            </a:r>
          </a:p>
          <a:p>
            <a:r>
              <a:rPr lang="en-US"/>
              <a:t>The analysis also picked up known melanoma genes, including BRAF and MAPK1. These acted as useful positive controls and gave us more confidence that the screen was identifying real melanoma biology.</a:t>
            </a:r>
          </a:p>
          <a:p>
            <a:endParaRPr lang="en-US">
              <a:ea typeface="Calibri"/>
              <a:cs typeface="Calibri"/>
            </a:endParaRPr>
          </a:p>
        </p:txBody>
      </p:sp>
      <p:sp>
        <p:nvSpPr>
          <p:cNvPr id="4" name="Slide Number Placeholder 3">
            <a:extLst>
              <a:ext uri="{FF2B5EF4-FFF2-40B4-BE49-F238E27FC236}">
                <a16:creationId xmlns:a16="http://schemas.microsoft.com/office/drawing/2014/main" id="{0C1666DC-4403-6A27-7093-0B998E733390}"/>
              </a:ext>
            </a:extLst>
          </p:cNvPr>
          <p:cNvSpPr>
            <a:spLocks noGrp="1"/>
          </p:cNvSpPr>
          <p:nvPr>
            <p:ph type="sldNum" sz="quarter" idx="5"/>
          </p:nvPr>
        </p:nvSpPr>
        <p:spPr/>
        <p:txBody>
          <a:bodyPr/>
          <a:lstStyle/>
          <a:p>
            <a:fld id="{E0672657-B013-44B9-80BA-EA59481B544C}" type="slidenum">
              <a:rPr lang="en-US"/>
              <a:t>33</a:t>
            </a:fld>
            <a:endParaRPr lang="en-US"/>
          </a:p>
        </p:txBody>
      </p:sp>
    </p:spTree>
    <p:extLst>
      <p:ext uri="{BB962C8B-B14F-4D97-AF65-F5344CB8AC3E}">
        <p14:creationId xmlns:p14="http://schemas.microsoft.com/office/powerpoint/2010/main" val="1046285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Finally, I used LINCS as an exploratory drug-repurposing step.</a:t>
            </a:r>
          </a:p>
          <a:p>
            <a:r>
              <a:rPr lang="en-US"/>
              <a:t>I took the gene-expression changes caused by SOX10 knockdown and searched for drugs that produced a similar expression pattern.</a:t>
            </a:r>
          </a:p>
          <a:p>
            <a:r>
              <a:rPr lang="en-US"/>
              <a:t>This returned 50 signatures representing 34 compounds, including several results from melanoma cell lines. Some of the top A375 hits were </a:t>
            </a:r>
            <a:r>
              <a:rPr lang="en-US" err="1"/>
              <a:t>vorinostat</a:t>
            </a:r>
            <a:r>
              <a:rPr lang="en-US"/>
              <a:t>, mitoxantrone and quinacrine.</a:t>
            </a:r>
            <a:endParaRPr lang="en-US">
              <a:ea typeface="Calibri"/>
              <a:cs typeface="Calibri"/>
            </a:endParaRPr>
          </a:p>
          <a:p>
            <a:r>
              <a:rPr lang="en-US"/>
              <a:t>However, the similarity scores were quite modest. So this does not show that these drugs directly inhibit SOX10, or that they selectively kill melanoma cells.</a:t>
            </a:r>
            <a:endParaRPr lang="en-US">
              <a:ea typeface="Calibri"/>
              <a:cs typeface="Calibri"/>
            </a:endParaRPr>
          </a:p>
          <a:p>
            <a:r>
              <a:rPr lang="en-US"/>
              <a:t>Instead, these are early drug hypotheses that could be </a:t>
            </a:r>
            <a:r>
              <a:rPr lang="en-US" err="1"/>
              <a:t>prioritised</a:t>
            </a:r>
            <a:r>
              <a:rPr lang="en-US"/>
              <a:t> for further testing using PRISM, GDSC or wet-lab experiments.</a:t>
            </a:r>
            <a:endParaRPr lang="en-US">
              <a:ea typeface="Calibri"/>
              <a:cs typeface="Calibri"/>
            </a:endParaRPr>
          </a:p>
        </p:txBody>
      </p:sp>
      <p:sp>
        <p:nvSpPr>
          <p:cNvPr id="4" name="Slide Number Placeholder 3"/>
          <p:cNvSpPr>
            <a:spLocks noGrp="1"/>
          </p:cNvSpPr>
          <p:nvPr>
            <p:ph type="sldNum" sz="quarter" idx="5"/>
          </p:nvPr>
        </p:nvSpPr>
        <p:spPr/>
        <p:txBody>
          <a:bodyPr/>
          <a:lstStyle/>
          <a:p>
            <a:fld id="{E0672657-B013-44B9-80BA-EA59481B544C}" type="slidenum">
              <a:rPr lang="en-US"/>
              <a:t>34</a:t>
            </a:fld>
            <a:endParaRPr lang="en-US"/>
          </a:p>
        </p:txBody>
      </p:sp>
    </p:spTree>
    <p:extLst>
      <p:ext uri="{BB962C8B-B14F-4D97-AF65-F5344CB8AC3E}">
        <p14:creationId xmlns:p14="http://schemas.microsoft.com/office/powerpoint/2010/main" val="7535083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E0672657-B013-44B9-80BA-EA59481B544C}" type="slidenum">
              <a:rPr lang="en-IE" smtClean="0"/>
              <a:t>36</a:t>
            </a:fld>
            <a:endParaRPr lang="en-IE"/>
          </a:p>
        </p:txBody>
      </p:sp>
    </p:spTree>
    <p:extLst>
      <p:ext uri="{BB962C8B-B14F-4D97-AF65-F5344CB8AC3E}">
        <p14:creationId xmlns:p14="http://schemas.microsoft.com/office/powerpoint/2010/main" val="37960015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E0672657-B013-44B9-80BA-EA59481B544C}" type="slidenum">
              <a:rPr lang="en-IE" smtClean="0"/>
              <a:t>37</a:t>
            </a:fld>
            <a:endParaRPr lang="en-IE"/>
          </a:p>
        </p:txBody>
      </p:sp>
    </p:spTree>
    <p:extLst>
      <p:ext uri="{BB962C8B-B14F-4D97-AF65-F5344CB8AC3E}">
        <p14:creationId xmlns:p14="http://schemas.microsoft.com/office/powerpoint/2010/main" val="38536963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E0672657-B013-44B9-80BA-EA59481B544C}" type="slidenum">
              <a:rPr lang="en-IE" smtClean="0"/>
              <a:t>38</a:t>
            </a:fld>
            <a:endParaRPr lang="en-IE"/>
          </a:p>
        </p:txBody>
      </p:sp>
    </p:spTree>
    <p:extLst>
      <p:ext uri="{BB962C8B-B14F-4D97-AF65-F5344CB8AC3E}">
        <p14:creationId xmlns:p14="http://schemas.microsoft.com/office/powerpoint/2010/main" val="37960015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9D918-2DED-3BF6-9DC7-0A5BC69AFC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16A95E-8F19-AC91-BB80-70690EF313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9B9F6E-FADB-C020-AA56-1B46D81686F0}"/>
              </a:ext>
            </a:extLst>
          </p:cNvPr>
          <p:cNvSpPr>
            <a:spLocks noGrp="1"/>
          </p:cNvSpPr>
          <p:nvPr>
            <p:ph type="body" idx="1"/>
          </p:nvPr>
        </p:nvSpPr>
        <p:spPr/>
        <p:txBody>
          <a:bodyPr/>
          <a:lstStyle/>
          <a:p>
            <a:endParaRPr lang="en-IE"/>
          </a:p>
        </p:txBody>
      </p:sp>
      <p:sp>
        <p:nvSpPr>
          <p:cNvPr id="4" name="Slide Number Placeholder 3">
            <a:extLst>
              <a:ext uri="{FF2B5EF4-FFF2-40B4-BE49-F238E27FC236}">
                <a16:creationId xmlns:a16="http://schemas.microsoft.com/office/drawing/2014/main" id="{AD327A29-4B9A-09D1-3561-A19E238DB9B1}"/>
              </a:ext>
            </a:extLst>
          </p:cNvPr>
          <p:cNvSpPr>
            <a:spLocks noGrp="1"/>
          </p:cNvSpPr>
          <p:nvPr>
            <p:ph type="sldNum" sz="quarter" idx="5"/>
          </p:nvPr>
        </p:nvSpPr>
        <p:spPr/>
        <p:txBody>
          <a:bodyPr/>
          <a:lstStyle/>
          <a:p>
            <a:fld id="{E0672657-B013-44B9-80BA-EA59481B544C}" type="slidenum">
              <a:rPr lang="en-IE" smtClean="0"/>
              <a:t>39</a:t>
            </a:fld>
            <a:endParaRPr lang="en-IE"/>
          </a:p>
        </p:txBody>
      </p:sp>
    </p:spTree>
    <p:extLst>
      <p:ext uri="{BB962C8B-B14F-4D97-AF65-F5344CB8AC3E}">
        <p14:creationId xmlns:p14="http://schemas.microsoft.com/office/powerpoint/2010/main" val="41244683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E5684-2AA3-F5DB-4624-0623534E35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F36DF8-5371-B8CF-03D4-C47B79F523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81D874-8917-A64B-95DF-60EC0814424C}"/>
              </a:ext>
            </a:extLst>
          </p:cNvPr>
          <p:cNvSpPr>
            <a:spLocks noGrp="1"/>
          </p:cNvSpPr>
          <p:nvPr>
            <p:ph type="body" idx="1"/>
          </p:nvPr>
        </p:nvSpPr>
        <p:spPr/>
        <p:txBody>
          <a:bodyPr/>
          <a:lstStyle/>
          <a:p>
            <a:endParaRPr lang="en-IE"/>
          </a:p>
        </p:txBody>
      </p:sp>
      <p:sp>
        <p:nvSpPr>
          <p:cNvPr id="4" name="Slide Number Placeholder 3">
            <a:extLst>
              <a:ext uri="{FF2B5EF4-FFF2-40B4-BE49-F238E27FC236}">
                <a16:creationId xmlns:a16="http://schemas.microsoft.com/office/drawing/2014/main" id="{B4A27FF8-86C4-1A22-55F4-E290E80D219E}"/>
              </a:ext>
            </a:extLst>
          </p:cNvPr>
          <p:cNvSpPr>
            <a:spLocks noGrp="1"/>
          </p:cNvSpPr>
          <p:nvPr>
            <p:ph type="sldNum" sz="quarter" idx="5"/>
          </p:nvPr>
        </p:nvSpPr>
        <p:spPr/>
        <p:txBody>
          <a:bodyPr/>
          <a:lstStyle/>
          <a:p>
            <a:fld id="{E0672657-B013-44B9-80BA-EA59481B544C}" type="slidenum">
              <a:rPr lang="en-IE" smtClean="0"/>
              <a:t>40</a:t>
            </a:fld>
            <a:endParaRPr lang="en-IE"/>
          </a:p>
        </p:txBody>
      </p:sp>
    </p:spTree>
    <p:extLst>
      <p:ext uri="{BB962C8B-B14F-4D97-AF65-F5344CB8AC3E}">
        <p14:creationId xmlns:p14="http://schemas.microsoft.com/office/powerpoint/2010/main" val="39228479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a:t>
              </a:t>
            </a:r>
          </a:p>
        </p:txBody>
      </p:sp>
      <p:sp>
        <p:nvSpPr>
          <p:cNvPr id="11" name="Picture Placeholder 10">
            <a:extLst>
              <a:ext uri="{FF2B5EF4-FFF2-40B4-BE49-F238E27FC236}">
                <a16:creationId xmlns:a16="http://schemas.microsoft.com/office/drawing/2014/main" id="{1F08B46D-341A-2502-FE91-2C5EF771037B}"/>
              </a:ext>
            </a:extLst>
          </p:cNvPr>
          <p:cNvSpPr>
            <a:spLocks noGrp="1" noChangeAspect="1"/>
          </p:cNvSpPr>
          <p:nvPr>
            <p:ph type="pic" sz="quarter" idx="13" hasCustomPrompt="1"/>
          </p:nvPr>
        </p:nvSpPr>
        <p:spPr>
          <a:xfrm>
            <a:off x="6931152" y="793817"/>
            <a:ext cx="5260848" cy="6064181"/>
          </a:xfrm>
          <a:blipFill>
            <a:blip r:embed="rId2">
              <a:alphaModFix amt="80000"/>
            </a:blip>
            <a:stretch>
              <a:fillRect/>
            </a:stretch>
          </a:blipFill>
        </p:spPr>
        <p:txBody>
          <a:bodyPr anchor="t"/>
          <a:lstStyle>
            <a:lvl1pPr marL="0" indent="0">
              <a:buNone/>
              <a:defRPr/>
            </a:lvl1pPr>
          </a:lstStyle>
          <a:p>
            <a:endParaRP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38587" y="207982"/>
            <a:ext cx="2662798" cy="413360"/>
          </a:xfrm>
        </p:spPr>
        <p:txBody>
          <a:bodyPr/>
          <a:lstStyle>
            <a:lvl1pPr>
              <a:defRPr>
                <a:solidFill>
                  <a:schemeClr val="tx2"/>
                </a:solidFill>
              </a:defRPr>
            </a:lvl1pPr>
          </a:lstStyle>
          <a:p>
            <a:fld id="{BBB8170F-0370-4A38-8BF3-83D69476AE62}" type="datetimeFigureOut">
              <a:rPr lang="en-US" dirty="0"/>
              <a:t>8/9/2026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dirty="0"/>
              <a:t>‹#›</a:t>
            </a:fld>
            <a:endParaRPr lang="en-US"/>
          </a:p>
        </p:txBody>
      </p:sp>
      <p:cxnSp>
        <p:nvCxnSpPr>
          <p:cNvPr id="9" name="Straight Connector 8">
            <a:extLst>
              <a:ext uri="{FF2B5EF4-FFF2-40B4-BE49-F238E27FC236}">
                <a16:creationId xmlns:a16="http://schemas.microsoft.com/office/drawing/2014/main" id="{CF2C2C7B-6B47-4A5B-B24C-B316964ABE62}"/>
              </a:ext>
            </a:extLst>
          </p:cNvPr>
          <p:cNvCxnSpPr>
            <a:cxnSpLocks/>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F32355F-80FD-3956-F8D4-9DF4073D0E2E}"/>
              </a:ext>
            </a:extLst>
          </p:cNvPr>
          <p:cNvCxnSpPr>
            <a:cxnSpLocks/>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4DD8B2-0D73-EB9B-9708-67DF28E40F96}"/>
              </a:ext>
            </a:extLst>
          </p:cNvPr>
          <p:cNvCxnSpPr>
            <a:cxnSpLocks/>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7384656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612648"/>
            <a:ext cx="11253668" cy="1106424"/>
          </a:xfrm>
        </p:spPr>
        <p:txBody>
          <a:bodyPr/>
          <a:lstStyle>
            <a:lvl1pPr>
              <a:defRPr sz="66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139696"/>
            <a:ext cx="11253668" cy="4288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D457B6E-DC25-9A54-64F7-98703149B156}"/>
              </a:ext>
            </a:extLst>
          </p:cNvPr>
          <p:cNvSpPr>
            <a:spLocks noGrp="1"/>
          </p:cNvSpPr>
          <p:nvPr>
            <p:ph type="ftr" sz="quarter" idx="11"/>
          </p:nvPr>
        </p:nvSpPr>
        <p:spPr/>
        <p:txBody>
          <a:bodyPr/>
          <a:lstStyle/>
          <a:p>
            <a:r>
              <a:rPr lang="en-US"/>
              <a:t>
              </a:t>
            </a:r>
          </a:p>
        </p:txBody>
      </p:sp>
      <p:sp>
        <p:nvSpPr>
          <p:cNvPr id="8" name="Date Placeholder 7">
            <a:extLst>
              <a:ext uri="{FF2B5EF4-FFF2-40B4-BE49-F238E27FC236}">
                <a16:creationId xmlns:a16="http://schemas.microsoft.com/office/drawing/2014/main" id="{D49DF708-DA4E-D117-5CE8-7401A836F675}"/>
              </a:ext>
            </a:extLst>
          </p:cNvPr>
          <p:cNvSpPr>
            <a:spLocks noGrp="1"/>
          </p:cNvSpPr>
          <p:nvPr>
            <p:ph type="dt" sz="half" idx="10"/>
          </p:nvPr>
        </p:nvSpPr>
        <p:spPr/>
        <p:txBody>
          <a:bodyPr/>
          <a:lstStyle/>
          <a:p>
            <a:fld id="{20D15516-589F-487D-BF51-9635DCEA90D5}" type="datetimeFigureOut">
              <a:rPr lang="en-US" dirty="0"/>
              <a:t>8/9/2026</a:t>
            </a:fld>
            <a:endParaRPr lang="en-US"/>
          </a:p>
        </p:txBody>
      </p:sp>
      <p:sp>
        <p:nvSpPr>
          <p:cNvPr id="10" name="Slide Number Placeholder 9">
            <a:extLst>
              <a:ext uri="{FF2B5EF4-FFF2-40B4-BE49-F238E27FC236}">
                <a16:creationId xmlns:a16="http://schemas.microsoft.com/office/drawing/2014/main" id="{D1AE2728-8254-BE0F-89AB-2D5352D66F0D}"/>
              </a:ext>
            </a:extLst>
          </p:cNvPr>
          <p:cNvSpPr>
            <a:spLocks noGrp="1"/>
          </p:cNvSpPr>
          <p:nvPr>
            <p:ph type="sldNum" sz="quarter" idx="12"/>
          </p:nvPr>
        </p:nvSpPr>
        <p:spPr/>
        <p:txBody>
          <a:bodyPr/>
          <a:lstStyle/>
          <a:p>
            <a:fld id="{753D0FD4-819D-4187-8797-C35567B41C78}" type="slidenum">
              <a:rPr lang="en-US" dirty="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00631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1F08B46D-341A-2502-FE91-2C5EF771037B}"/>
              </a:ext>
            </a:extLst>
          </p:cNvPr>
          <p:cNvSpPr>
            <a:spLocks noGrp="1" noChangeAspect="1"/>
          </p:cNvSpPr>
          <p:nvPr>
            <p:ph type="pic" sz="quarter" idx="13" hasCustomPrompt="1"/>
          </p:nvPr>
        </p:nvSpPr>
        <p:spPr>
          <a:xfrm>
            <a:off x="0" y="0"/>
            <a:ext cx="12192000" cy="5069400"/>
          </a:xfrm>
          <a:blipFill>
            <a:blip r:embed="rId2">
              <a:alphaModFix amt="80000"/>
            </a:blip>
            <a:stretch>
              <a:fillRect/>
            </a:stretch>
          </a:blipFill>
        </p:spPr>
        <p:txBody>
          <a:bodyPr anchor="t"/>
          <a:lstStyle>
            <a:lvl1pPr marL="0" indent="0">
              <a:buNone/>
              <a:defRPr/>
            </a:lvl1pPr>
          </a:lstStyle>
          <a:p>
            <a:endParaRP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fld id="{BD5D1244-0536-4076-95F8-65E3144966FF}" type="datetimeFigureOut">
              <a:rPr lang="en-US" dirty="0"/>
              <a:t>8/9/2026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dirty="0"/>
              <a:t>‹#›</a:t>
            </a:fld>
            <a:endParaRPr lang="en-US"/>
          </a:p>
        </p:txBody>
      </p:sp>
      <p:cxnSp>
        <p:nvCxnSpPr>
          <p:cNvPr id="7" name="Straight Connector 6">
            <a:extLst>
              <a:ext uri="{FF2B5EF4-FFF2-40B4-BE49-F238E27FC236}">
                <a16:creationId xmlns:a16="http://schemas.microsoft.com/office/drawing/2014/main" id="{8ABE8472-319C-7663-7B71-2A6549DED7EF}"/>
              </a:ext>
            </a:extLst>
          </p:cNvPr>
          <p:cNvCxnSpPr>
            <a:cxnSpLocks/>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781892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r>
              <a:rPr lang="en-US"/>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fld id="{E8F94E15-B448-489B-871D-A40527BFA7B7}" type="datetimeFigureOut">
              <a:rPr lang="en-US" dirty="0"/>
              <a:t>8/9/2026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fld id="{753D0FD4-819D-4187-8797-C35567B41C78}" type="slidenum">
              <a:rPr lang="en-US" dirty="0"/>
              <a:t>‹#›</a:t>
            </a:fld>
            <a:endParaRPr lang="en-US"/>
          </a:p>
        </p:txBody>
      </p:sp>
      <p:cxnSp>
        <p:nvCxnSpPr>
          <p:cNvPr id="8" name="Straight Connector 7">
            <a:extLst>
              <a:ext uri="{FF2B5EF4-FFF2-40B4-BE49-F238E27FC236}">
                <a16:creationId xmlns:a16="http://schemas.microsoft.com/office/drawing/2014/main" id="{F05C310B-ED34-BA33-630C-F8D5EB2A41A2}"/>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6B77E3C-9D50-9277-C646-D9B5AB8122B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7500488"/>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rgbClr val="C8350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r>
              <a:rPr lang="en-US"/>
              <a:t>
              </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fld id="{CE994A23-0EFF-404D-A2C5-6B54939039AD}" type="datetimeFigureOut">
              <a:rPr lang="en-US" dirty="0"/>
              <a:t>8/9/2026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dirty="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1449037"/>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886968"/>
            <a:ext cx="11405277" cy="1170432"/>
          </a:xfrm>
        </p:spPr>
        <p:txBody>
          <a:bodyPr>
            <a:normAutofit/>
          </a:bodyPr>
          <a:lstStyle>
            <a:lvl1pPr>
              <a:defRPr sz="8800">
                <a:solidFill>
                  <a:schemeClr val="accent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07599C6D-D164-AA94-72F8-241C187199F2}"/>
              </a:ext>
            </a:extLst>
          </p:cNvPr>
          <p:cNvSpPr>
            <a:spLocks noGrp="1"/>
          </p:cNvSpPr>
          <p:nvPr>
            <p:ph type="ftr" sz="quarter" idx="11"/>
          </p:nvPr>
        </p:nvSpPr>
        <p:spPr/>
        <p:txBody>
          <a:body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B50CAA-07B2-F8CA-1425-4249CE17A802}"/>
              </a:ext>
            </a:extLst>
          </p:cNvPr>
          <p:cNvSpPr>
            <a:spLocks noGrp="1"/>
          </p:cNvSpPr>
          <p:nvPr>
            <p:ph type="dt" sz="half" idx="10"/>
          </p:nvPr>
        </p:nvSpPr>
        <p:spPr/>
        <p:txBody>
          <a:bodyPr/>
          <a:lstStyle/>
          <a:p>
            <a:fld id="{D9D311C3-93DB-42DC-917F-4386F19A1E3B}" type="datetimeFigureOut">
              <a:rPr lang="en-US" dirty="0"/>
              <a:t>8/9/2026</a:t>
            </a:fld>
            <a:endParaRPr lang="en-US"/>
          </a:p>
        </p:txBody>
      </p:sp>
      <p:sp>
        <p:nvSpPr>
          <p:cNvPr id="11" name="Slide Number Placeholder 10">
            <a:extLst>
              <a:ext uri="{FF2B5EF4-FFF2-40B4-BE49-F238E27FC236}">
                <a16:creationId xmlns:a16="http://schemas.microsoft.com/office/drawing/2014/main" id="{5DEAD866-E26E-BF23-7B5D-9F689B2FA881}"/>
              </a:ext>
            </a:extLst>
          </p:cNvPr>
          <p:cNvSpPr>
            <a:spLocks noGrp="1"/>
          </p:cNvSpPr>
          <p:nvPr>
            <p:ph type="sldNum" sz="quarter" idx="12"/>
          </p:nvPr>
        </p:nvSpPr>
        <p:spPr/>
        <p:txBody>
          <a:bodyPr/>
          <a:lstStyle/>
          <a:p>
            <a:fld id="{753D0FD4-819D-4187-8797-C35567B41C78}" type="slidenum">
              <a:rPr lang="en-US" dirty="0"/>
              <a:t>‹#›</a:t>
            </a:fld>
            <a:endParaRPr lang="en-US"/>
          </a:p>
        </p:txBody>
      </p:sp>
      <p:cxnSp>
        <p:nvCxnSpPr>
          <p:cNvPr id="9" name="Straight Connector 8">
            <a:extLst>
              <a:ext uri="{FF2B5EF4-FFF2-40B4-BE49-F238E27FC236}">
                <a16:creationId xmlns:a16="http://schemas.microsoft.com/office/drawing/2014/main" id="{E8AC7CAE-FC19-2728-AA3B-1D2FE7879B25}"/>
              </a:ext>
            </a:extLst>
          </p:cNvPr>
          <p:cNvCxnSpPr>
            <a:cxnSpLocks/>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1B3592-91FB-05F4-B422-A40D7CD4DE2D}"/>
              </a:ext>
            </a:extLst>
          </p:cNvPr>
          <p:cNvCxnSpPr>
            <a:cxnSpLocks/>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24166547"/>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266944" y="521208"/>
            <a:ext cx="6647688" cy="1865376"/>
          </a:xfrm>
        </p:spPr>
        <p:txBody>
          <a:bodyPr>
            <a:normAutofit/>
          </a:bodyPr>
          <a:lstStyle>
            <a:lvl1pPr>
              <a:defRPr sz="8000">
                <a:solidFill>
                  <a:schemeClr val="accent1"/>
                </a:solidFill>
              </a:defRPr>
            </a:lvl1pPr>
          </a:lstStyle>
          <a:p>
            <a:r>
              <a:rPr lang="en-US"/>
              <a:t>Click to edit Master title style</a:t>
            </a:r>
          </a:p>
        </p:txBody>
      </p:sp>
      <p:sp>
        <p:nvSpPr>
          <p:cNvPr id="12" name="Picture Placeholder 11">
            <a:extLst>
              <a:ext uri="{FF2B5EF4-FFF2-40B4-BE49-F238E27FC236}">
                <a16:creationId xmlns:a16="http://schemas.microsoft.com/office/drawing/2014/main" id="{AD3A4126-4E48-DD2C-1468-6A36AE6C1D14}"/>
              </a:ext>
            </a:extLst>
          </p:cNvPr>
          <p:cNvSpPr>
            <a:spLocks noGrp="1" noChangeAspect="1"/>
          </p:cNvSpPr>
          <p:nvPr>
            <p:ph type="pic" sz="quarter" idx="13" hasCustomPrompt="1"/>
          </p:nvPr>
        </p:nvSpPr>
        <p:spPr>
          <a:xfrm>
            <a:off x="0" y="0"/>
            <a:ext cx="4917320" cy="6858000"/>
          </a:xfrm>
          <a:blipFill>
            <a:blip r:embed="rId2">
              <a:alphaModFix amt="80000"/>
            </a:blip>
            <a:stretch>
              <a:fillRect/>
            </a:stretch>
          </a:blipFill>
        </p:spPr>
        <p:txBody>
          <a:bodyPr anchor="t"/>
          <a:lstStyle>
            <a:lvl1pPr marL="0" indent="0">
              <a:buNone/>
              <a:defRPr/>
            </a:lvl1pPr>
          </a:lstStyle>
          <a:p>
            <a:endParaRP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271899" y="210312"/>
            <a:ext cx="2962656" cy="411480"/>
          </a:xfrm>
        </p:spPr>
        <p:txBody>
          <a:bodyPr/>
          <a:lstStyle/>
          <a:p>
            <a:r>
              <a:rPr lang="en-US"/>
              <a:t>
              </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573511" y="210312"/>
            <a:ext cx="1679642" cy="411480"/>
          </a:xfrm>
        </p:spPr>
        <p:txBody>
          <a:bodyPr/>
          <a:lstStyle/>
          <a:p>
            <a:fld id="{948C47DC-C479-4517-B1B0-94DB01BA76E7}" type="datetimeFigureOut">
              <a:rPr lang="en-US" dirty="0"/>
              <a:t>8/9/2026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dirty="0"/>
              <a:t>‹#›</a:t>
            </a:fld>
            <a:endParaRPr lang="en-US"/>
          </a:p>
        </p:txBody>
      </p:sp>
      <p:cxnSp>
        <p:nvCxnSpPr>
          <p:cNvPr id="9" name="Straight Connector 8">
            <a:extLst>
              <a:ext uri="{FF2B5EF4-FFF2-40B4-BE49-F238E27FC236}">
                <a16:creationId xmlns:a16="http://schemas.microsoft.com/office/drawing/2014/main" id="{E7633BE4-C9B9-310C-1EAE-191B5D344B59}"/>
              </a:ext>
            </a:extLst>
          </p:cNvPr>
          <p:cNvCxnSpPr>
            <a:cxnSpLocks/>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A010762-96A4-4E1C-CD5D-EE1C1D1FC6E2}"/>
              </a:ext>
            </a:extLst>
          </p:cNvPr>
          <p:cNvCxnSpPr>
            <a:cxnSpLocks/>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26097997"/>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en-US"/>
              <a:t>Click to edit Master title style</a:t>
            </a:r>
          </a:p>
        </p:txBody>
      </p:sp>
      <p:sp>
        <p:nvSpPr>
          <p:cNvPr id="10" name="Footer Placeholder 9">
            <a:extLst>
              <a:ext uri="{FF2B5EF4-FFF2-40B4-BE49-F238E27FC236}">
                <a16:creationId xmlns:a16="http://schemas.microsoft.com/office/drawing/2014/main" id="{F7DEB5EF-910B-9B2B-CB95-1AD374FECAFB}"/>
              </a:ext>
            </a:extLst>
          </p:cNvPr>
          <p:cNvSpPr>
            <a:spLocks noGrp="1"/>
          </p:cNvSpPr>
          <p:nvPr>
            <p:ph type="ftr" sz="quarter" idx="11"/>
          </p:nvPr>
        </p:nvSpPr>
        <p:spPr/>
        <p:txBody>
          <a:body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2210542"/>
            <a:ext cx="5869293" cy="243247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5FD4BD0F-0EF0-D5B9-5485-1ECB765DC5D9}"/>
              </a:ext>
            </a:extLst>
          </p:cNvPr>
          <p:cNvSpPr>
            <a:spLocks noGrp="1"/>
          </p:cNvSpPr>
          <p:nvPr>
            <p:ph type="dt" sz="half" idx="10"/>
          </p:nvPr>
        </p:nvSpPr>
        <p:spPr>
          <a:xfrm>
            <a:off x="5751577" y="207982"/>
            <a:ext cx="1921315" cy="413360"/>
          </a:xfrm>
        </p:spPr>
        <p:txBody>
          <a:bodyPr/>
          <a:lstStyle/>
          <a:p>
            <a:fld id="{F92C9D0B-C1A3-434D-9CF9-A666A14DD8A1}" type="datetimeFigureOut">
              <a:rPr lang="en-US" dirty="0"/>
              <a:t>8/9/2026</a:t>
            </a:fld>
            <a:endParaRPr lang="en-US"/>
          </a:p>
        </p:txBody>
      </p:sp>
      <p:sp>
        <p:nvSpPr>
          <p:cNvPr id="12" name="Slide Number Placeholder 11">
            <a:extLst>
              <a:ext uri="{FF2B5EF4-FFF2-40B4-BE49-F238E27FC236}">
                <a16:creationId xmlns:a16="http://schemas.microsoft.com/office/drawing/2014/main" id="{8566B317-2D55-4797-E621-551FCA482D78}"/>
              </a:ext>
            </a:extLst>
          </p:cNvPr>
          <p:cNvSpPr>
            <a:spLocks noGrp="1"/>
          </p:cNvSpPr>
          <p:nvPr>
            <p:ph type="sldNum" sz="quarter" idx="12"/>
          </p:nvPr>
        </p:nvSpPr>
        <p:spPr/>
        <p:txBody>
          <a:bodyPr/>
          <a:lstStyle/>
          <a:p>
            <a:fld id="{753D0FD4-819D-4187-8797-C35567B41C78}" type="slidenum">
              <a:rPr lang="en-US" dirty="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F6F1415-3933-6D89-472D-2FA4BBB279E7}"/>
              </a:ext>
            </a:extLst>
          </p:cNvPr>
          <p:cNvCxnSpPr>
            <a:cxnSpLocks/>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71076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2A5B8121-E925-2131-A76A-FBDAB0BC9C80}"/>
              </a:ext>
            </a:extLst>
          </p:cNvPr>
          <p:cNvSpPr>
            <a:spLocks noGrp="1"/>
          </p:cNvSpPr>
          <p:nvPr>
            <p:ph type="ftr" sz="quarter" idx="11"/>
          </p:nvPr>
        </p:nvSpPr>
        <p:spPr/>
        <p:txBody>
          <a:body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249959"/>
            <a:ext cx="6440424" cy="5238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DBA5BEFD-7245-BB4D-0F86-F1C3A32E0676}"/>
              </a:ext>
            </a:extLst>
          </p:cNvPr>
          <p:cNvSpPr>
            <a:spLocks noGrp="1"/>
          </p:cNvSpPr>
          <p:nvPr>
            <p:ph type="dt" sz="half" idx="10"/>
          </p:nvPr>
        </p:nvSpPr>
        <p:spPr>
          <a:xfrm>
            <a:off x="5363852" y="207982"/>
            <a:ext cx="1921315" cy="413360"/>
          </a:xfrm>
        </p:spPr>
        <p:txBody>
          <a:bodyPr/>
          <a:lstStyle/>
          <a:p>
            <a:fld id="{742A22FE-7CAA-4561-B3B2-F8D8C37BE3D2}" type="datetimeFigureOut">
              <a:rPr lang="en-US" dirty="0"/>
              <a:t>8/9/2026</a:t>
            </a:fld>
            <a:endParaRPr lang="en-US"/>
          </a:p>
        </p:txBody>
      </p:sp>
      <p:sp>
        <p:nvSpPr>
          <p:cNvPr id="10" name="Slide Number Placeholder 9">
            <a:extLst>
              <a:ext uri="{FF2B5EF4-FFF2-40B4-BE49-F238E27FC236}">
                <a16:creationId xmlns:a16="http://schemas.microsoft.com/office/drawing/2014/main" id="{85879897-4AF6-4B38-AB30-8DD979DC52CE}"/>
              </a:ext>
            </a:extLst>
          </p:cNvPr>
          <p:cNvSpPr>
            <a:spLocks noGrp="1"/>
          </p:cNvSpPr>
          <p:nvPr>
            <p:ph type="sldNum" sz="quarter" idx="12"/>
          </p:nvPr>
        </p:nvSpPr>
        <p:spPr/>
        <p:txBody>
          <a:bodyPr/>
          <a:lstStyle/>
          <a:p>
            <a:fld id="{753D0FD4-819D-4187-8797-C35567B41C78}" type="slidenum">
              <a:rPr lang="en-US" dirty="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7455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noChangeAspect="1"/>
          </p:cNvSpPr>
          <p:nvPr>
            <p:ph type="pic" sz="quarter" idx="13" hasCustomPrompt="1"/>
          </p:nvPr>
        </p:nvSpPr>
        <p:spPr>
          <a:xfrm>
            <a:off x="0" y="0"/>
            <a:ext cx="4910328" cy="6858000"/>
          </a:xfrm>
          <a:blipFill>
            <a:blip r:embed="rId2">
              <a:alphaModFix amt="80000"/>
            </a:blip>
            <a:stretch>
              <a:fillRect/>
            </a:stretch>
          </a:blipFill>
        </p:spPr>
        <p:txBody>
          <a:bodyPr anchor="t"/>
          <a:lstStyle>
            <a:lvl1pPr marL="0" indent="0">
              <a:buNone/>
              <a:defRPr/>
            </a:lvl1pPr>
          </a:lstStyle>
          <a:p>
            <a:endParaRP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r>
              <a:rPr lang="en-US"/>
              <a:t>
              </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fld id="{491FA625-EDE8-4CCD-93F2-36B8EAED6AA1}" type="datetimeFigureOut">
              <a:rPr lang="en-US" dirty="0"/>
              <a:t>8/9/2026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dirty="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3139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noChangeAspect="1"/>
          </p:cNvSpPr>
          <p:nvPr>
            <p:ph type="pic" sz="quarter" idx="13" hasCustomPrompt="1"/>
          </p:nvPr>
        </p:nvSpPr>
        <p:spPr>
          <a:xfrm>
            <a:off x="0" y="0"/>
            <a:ext cx="4342584" cy="6858000"/>
          </a:xfrm>
          <a:blipFill>
            <a:blip r:embed="rId2">
              <a:alphaModFix amt="80000"/>
            </a:blip>
            <a:stretch>
              <a:fillRect/>
            </a:stretch>
          </a:blipFill>
        </p:spPr>
        <p:txBody>
          <a:bodyPr anchor="t"/>
          <a:lstStyle>
            <a:lvl1pPr marL="0" indent="0">
              <a:buNone/>
              <a:defRPr/>
            </a:lvl1pPr>
          </a:lstStyle>
          <a:p>
            <a:endParaRP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r>
              <a:rPr lang="en-US"/>
              <a:t>
              </a:t>
            </a:r>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fld id="{5824A7B9-17B9-4425-9158-739F678A55EB}" type="datetimeFigureOut">
              <a:rPr lang="en-US" dirty="0"/>
              <a:t>8/9/2026</a:t>
            </a:fld>
            <a:endParaRPr lang="en-US"/>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fld id="{753D0FD4-819D-4187-8797-C35567B41C78}" type="slidenum">
              <a:rPr lang="en-US" dirty="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930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r>
              <a:rPr lang="en-US"/>
              <a:t>
              </a:t>
            </a:r>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fld id="{28E8FF4C-7F6A-4962-9270-F797B8959287}" type="datetimeFigureOut">
              <a:rPr lang="en-US" dirty="0"/>
              <a:t>8/9/2026</a:t>
            </a:fld>
            <a:endParaRPr lang="en-US"/>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fld id="{753D0FD4-819D-4187-8797-C35567B41C78}" type="slidenum">
              <a:rPr lang="en-US" dirty="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noChangeAspect="1"/>
          </p:cNvSpPr>
          <p:nvPr>
            <p:ph type="pic" sz="quarter" idx="13" hasCustomPrompt="1"/>
          </p:nvPr>
        </p:nvSpPr>
        <p:spPr>
          <a:xfrm>
            <a:off x="7773592" y="0"/>
            <a:ext cx="4417215" cy="6858000"/>
          </a:xfrm>
          <a:blipFill>
            <a:blip r:embed="rId2">
              <a:alphaModFix amt="80000"/>
            </a:blip>
            <a:stretch>
              <a:fillRect/>
            </a:stretch>
          </a:blipFill>
        </p:spPr>
        <p:txBody>
          <a:bodyPr anchor="t"/>
          <a:lstStyle>
            <a:lvl1pPr marL="0" indent="0">
              <a:buNone/>
              <a:defRPr/>
            </a:lvl1pPr>
          </a:lstStyle>
          <a:p>
            <a:endParaRP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76883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38638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a:t>
              </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fld id="{064F86E1-145A-4683-AD05-97E7E41B4995}" type="datetimeFigureOut">
              <a:rPr lang="en-US" dirty="0"/>
              <a:t>8/9/2026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fld id="{753D0FD4-819D-4187-8797-C35567B41C78}" type="slidenum">
              <a:rPr lang="en-US" dirty="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noChangeAspect="1"/>
          </p:cNvSpPr>
          <p:nvPr>
            <p:ph type="pic" sz="quarter" idx="13" hasCustomPrompt="1"/>
          </p:nvPr>
        </p:nvSpPr>
        <p:spPr>
          <a:xfrm>
            <a:off x="6575416" y="0"/>
            <a:ext cx="5616584" cy="6858000"/>
          </a:xfrm>
          <a:blipFill>
            <a:blip r:embed="rId2">
              <a:alphaModFix amt="80000"/>
            </a:blip>
            <a:stretch>
              <a:fillRect/>
            </a:stretch>
          </a:blipFill>
        </p:spPr>
        <p:txBody>
          <a:bodyPr anchor="t"/>
          <a:lstStyle>
            <a:lvl1pPr marL="0" indent="0">
              <a:buNone/>
              <a:defRPr/>
            </a:lvl1pPr>
          </a:lstStyle>
          <a:p>
            <a:endParaRPr/>
          </a:p>
        </p:txBody>
      </p:sp>
      <p:cxnSp>
        <p:nvCxnSpPr>
          <p:cNvPr id="8" name="Straight Connector 7">
            <a:extLst>
              <a:ext uri="{FF2B5EF4-FFF2-40B4-BE49-F238E27FC236}">
                <a16:creationId xmlns:a16="http://schemas.microsoft.com/office/drawing/2014/main" id="{AF4034EB-F498-D527-195A-D17B85027774}"/>
              </a:ext>
            </a:extLst>
          </p:cNvPr>
          <p:cNvCxnSpPr>
            <a:cxnSpLocks/>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782371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3" y="210312"/>
            <a:ext cx="2260057" cy="411480"/>
          </a:xfrm>
        </p:spPr>
        <p:txBody>
          <a:bodyPr/>
          <a:lstStyle/>
          <a:p>
            <a:r>
              <a:rPr lang="en-US"/>
              <a:t>
              </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29329" y="210312"/>
            <a:ext cx="1058111" cy="411480"/>
          </a:xfrm>
        </p:spPr>
        <p:txBody>
          <a:bodyPr/>
          <a:lstStyle/>
          <a:p>
            <a:fld id="{96B14CE5-CB23-4F24-AF40-FFA10F25B799}" type="datetimeFigureOut">
              <a:rPr lang="en-US" dirty="0"/>
              <a:t>8/9/2026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10197" y="210312"/>
            <a:ext cx="440969" cy="413360"/>
          </a:xfrm>
        </p:spPr>
        <p:txBody>
          <a:bodyPr/>
          <a:lstStyle/>
          <a:p>
            <a:fld id="{753D0FD4-819D-4187-8797-C35567B41C78}" type="slidenum">
              <a:rPr lang="en-US" dirty="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9704" y="2578609"/>
            <a:ext cx="4130606" cy="3712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noChangeAspect="1"/>
          </p:cNvSpPr>
          <p:nvPr>
            <p:ph type="pic" sz="quarter" idx="13" hasCustomPrompt="1"/>
          </p:nvPr>
        </p:nvSpPr>
        <p:spPr>
          <a:xfrm>
            <a:off x="4912658" y="0"/>
            <a:ext cx="7279341" cy="6858000"/>
          </a:xfrm>
          <a:blipFill>
            <a:blip r:embed="rId2">
              <a:alphaModFix amt="80000"/>
            </a:blip>
            <a:stretch>
              <a:fillRect/>
            </a:stretch>
          </a:blipFill>
        </p:spPr>
        <p:txBody>
          <a:bodyPr anchor="t"/>
          <a:lstStyle>
            <a:lvl1pPr marL="0" indent="0">
              <a:buNone/>
              <a:defRPr/>
            </a:lvl1pPr>
          </a:lstStyle>
          <a:p>
            <a:endParaRP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538208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F8890DBE-0DD3-8504-F95F-4225535FB1B9}"/>
              </a:ext>
            </a:extLst>
          </p:cNvPr>
          <p:cNvSpPr>
            <a:spLocks noGrp="1"/>
          </p:cNvSpPr>
          <p:nvPr>
            <p:ph type="ftr" sz="quarter" idx="15"/>
          </p:nvPr>
        </p:nvSpPr>
        <p:spPr/>
        <p:txBody>
          <a:bodyPr/>
          <a:lstStyle/>
          <a:p>
            <a:r>
              <a:rPr lang="en-US"/>
              <a:t>
              </a:t>
            </a:r>
          </a:p>
        </p:txBody>
      </p:sp>
      <p:sp>
        <p:nvSpPr>
          <p:cNvPr id="7" name="Date Placeholder 6">
            <a:extLst>
              <a:ext uri="{FF2B5EF4-FFF2-40B4-BE49-F238E27FC236}">
                <a16:creationId xmlns:a16="http://schemas.microsoft.com/office/drawing/2014/main" id="{734BB28A-95D9-4CE6-DA59-520BA3C61CDB}"/>
              </a:ext>
            </a:extLst>
          </p:cNvPr>
          <p:cNvSpPr>
            <a:spLocks noGrp="1"/>
          </p:cNvSpPr>
          <p:nvPr>
            <p:ph type="dt" sz="half" idx="14"/>
          </p:nvPr>
        </p:nvSpPr>
        <p:spPr/>
        <p:txBody>
          <a:bodyPr/>
          <a:lstStyle/>
          <a:p>
            <a:fld id="{C939A3FF-4925-4C53-B6D9-F2B1807D4179}" type="datetimeFigureOut">
              <a:rPr lang="en-US" dirty="0"/>
              <a:t>8/9/2026</a:t>
            </a:fld>
            <a:endParaRPr lang="en-US"/>
          </a:p>
        </p:txBody>
      </p:sp>
      <p:sp>
        <p:nvSpPr>
          <p:cNvPr id="12" name="Slide Number Placeholder 11">
            <a:extLst>
              <a:ext uri="{FF2B5EF4-FFF2-40B4-BE49-F238E27FC236}">
                <a16:creationId xmlns:a16="http://schemas.microsoft.com/office/drawing/2014/main" id="{E1FA0A0C-CE55-CB7D-174D-D77937630A9D}"/>
              </a:ext>
            </a:extLst>
          </p:cNvPr>
          <p:cNvSpPr>
            <a:spLocks noGrp="1"/>
          </p:cNvSpPr>
          <p:nvPr>
            <p:ph type="sldNum" sz="quarter" idx="16"/>
          </p:nvPr>
        </p:nvSpPr>
        <p:spPr/>
        <p:txBody>
          <a:bodyPr/>
          <a:lstStyle/>
          <a:p>
            <a:fld id="{753D0FD4-819D-4187-8797-C35567B41C78}" type="slidenum">
              <a:rPr lang="en-US" dirty="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noChangeAspect="1"/>
          </p:cNvSpPr>
          <p:nvPr>
            <p:ph type="pic" sz="quarter" idx="13" hasCustomPrompt="1"/>
          </p:nvPr>
        </p:nvSpPr>
        <p:spPr>
          <a:xfrm>
            <a:off x="5822674" y="1834524"/>
            <a:ext cx="6378722" cy="5023476"/>
          </a:xfrm>
          <a:blipFill>
            <a:blip r:embed="rId2">
              <a:alphaModFix amt="80000"/>
            </a:blip>
            <a:stretch>
              <a:fillRect/>
            </a:stretch>
          </a:blipFill>
        </p:spPr>
        <p:txBody>
          <a:bodyPr anchor="t"/>
          <a:lstStyle>
            <a:lvl1pPr marL="0" indent="0">
              <a:buNone/>
              <a:defRPr/>
            </a:lvl1pPr>
          </a:lstStyle>
          <a:p>
            <a:endParaRP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427430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noChangeAspect="1"/>
          </p:cNvSpPr>
          <p:nvPr>
            <p:ph type="pic" sz="quarter" idx="13" hasCustomPrompt="1"/>
          </p:nvPr>
        </p:nvSpPr>
        <p:spPr>
          <a:xfrm>
            <a:off x="0" y="0"/>
            <a:ext cx="12198096" cy="4837176"/>
          </a:xfrm>
          <a:blipFill>
            <a:blip r:embed="rId2">
              <a:alphaModFix amt="80000"/>
            </a:blip>
            <a:stretch>
              <a:fillRect/>
            </a:stretch>
          </a:blipFill>
        </p:spPr>
        <p:txBody>
          <a:bodyPr anchor="t"/>
          <a:lstStyle>
            <a:lvl1pPr marL="0" indent="0">
              <a:buNone/>
              <a:defRPr/>
            </a:lvl1pPr>
          </a:lstStyle>
          <a:p>
            <a:endParaRP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6"/>
            <a:ext cx="2962656" cy="365125"/>
          </a:xfrm>
        </p:spPr>
        <p:txBody>
          <a:bodyPr/>
          <a:lstStyle/>
          <a:p>
            <a:r>
              <a:rPr lang="en-US"/>
              <a:t>
              </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6437193"/>
            <a:ext cx="4549413" cy="365125"/>
          </a:xfrm>
        </p:spPr>
        <p:txBody>
          <a:bodyPr/>
          <a:lstStyle/>
          <a:p>
            <a:fld id="{220747AD-BB60-464B-B16B-6CC7DCEAA31E}" type="datetimeFigureOut">
              <a:rPr lang="en-US" dirty="0"/>
              <a:t>8/9/2026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413360"/>
          </a:xfrm>
        </p:spPr>
        <p:txBody>
          <a:bodyPr/>
          <a:lstStyle/>
          <a:p>
            <a:fld id="{753D0FD4-819D-4187-8797-C35567B41C78}" type="slidenum">
              <a:rPr lang="en-US" dirty="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024795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r>
              <a:rPr lang="en-US"/>
              <a:t>
              </a:t>
            </a:r>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fld id="{B340F08F-40FA-4D3B-96CF-F8FAF483E9A7}" type="datetimeFigureOut">
              <a:rPr lang="en-US" dirty="0"/>
              <a:t>8/9/2026</a:t>
            </a:fld>
            <a:endParaRPr lang="en-US"/>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fld id="{753D0FD4-819D-4187-8797-C35567B41C78}" type="slidenum">
              <a:rPr lang="en-US" dirty="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noChangeAspect="1"/>
          </p:cNvSpPr>
          <p:nvPr>
            <p:ph type="pic" sz="quarter" idx="13" hasCustomPrompt="1"/>
          </p:nvPr>
        </p:nvSpPr>
        <p:spPr>
          <a:xfrm>
            <a:off x="-6627" y="2435966"/>
            <a:ext cx="7283725" cy="4422032"/>
          </a:xfrm>
          <a:blipFill>
            <a:blip r:embed="rId2">
              <a:alphaModFix amt="80000"/>
            </a:blip>
            <a:stretch>
              <a:fillRect/>
            </a:stretch>
          </a:blipFill>
        </p:spPr>
        <p:txBody>
          <a:bodyPr anchor="t"/>
          <a:lstStyle>
            <a:lvl1pPr marL="0" indent="0">
              <a:buNone/>
              <a:defRPr/>
            </a:lvl1pPr>
          </a:lstStyle>
          <a:p>
            <a:endParaRP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103390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a:t>
              </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EB5EDF0F-3515-4895-B663-882304741893}" type="datetimeFigureOut">
              <a:rPr lang="en-US" dirty="0"/>
              <a:t>8/9/2026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07982"/>
            <a:ext cx="546447" cy="411480"/>
          </a:xfrm>
        </p:spPr>
        <p:txBody>
          <a:bodyPr/>
          <a:lstStyle/>
          <a:p>
            <a:fld id="{753D0FD4-819D-4187-8797-C35567B41C78}" type="slidenum">
              <a:rPr lang="en-US" dirty="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noChangeAspect="1"/>
          </p:cNvSpPr>
          <p:nvPr>
            <p:ph type="pic" sz="quarter" idx="13" hasCustomPrompt="1"/>
          </p:nvPr>
        </p:nvSpPr>
        <p:spPr>
          <a:xfrm>
            <a:off x="-3614" y="1700784"/>
            <a:ext cx="3318170" cy="5157216"/>
          </a:xfrm>
          <a:blipFill>
            <a:blip r:embed="rId2">
              <a:alphaModFix amt="80000"/>
            </a:blip>
            <a:stretch>
              <a:fillRect/>
            </a:stretch>
          </a:blipFill>
        </p:spPr>
        <p:txBody>
          <a:bodyPr anchor="t"/>
          <a:lstStyle>
            <a:lvl1pPr marL="0" indent="0">
              <a:buNone/>
              <a:defRPr/>
            </a:lvl1pPr>
          </a:lstStyle>
          <a:p>
            <a:endParaRP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801441" y="2130553"/>
            <a:ext cx="7971459" cy="4422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6C347961-3E7C-FAAC-2283-DA751A80201C}"/>
              </a:ext>
            </a:extLst>
          </p:cNvPr>
          <p:cNvCxnSpPr>
            <a:cxnSpLocks/>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4B3C03-E31F-77F7-02F0-8C25E1C62792}"/>
              </a:ext>
            </a:extLst>
          </p:cNvPr>
          <p:cNvCxnSpPr>
            <a:cxnSpLocks/>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78005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r>
              <a:rPr lang="en-US"/>
              <a:t>
              </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05B29ED0-7871-4976-8402-1756C1FAC1EA}" type="datetimeFigureOut">
              <a:rPr lang="en-US" dirty="0"/>
              <a:t>8/9/2026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fld id="{753D0FD4-819D-4187-8797-C35567B41C78}" type="slidenum">
              <a:rPr lang="en-US" dirty="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5444171"/>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3640"/>
            <a:ext cx="2963692" cy="413360"/>
          </a:xfrm>
        </p:spPr>
        <p:txBody>
          <a:bodyPr/>
          <a:lstStyle/>
          <a:p>
            <a:r>
              <a:rPr lang="en-US"/>
              <a:t>
              </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680069" y="6263640"/>
            <a:ext cx="1921315" cy="413360"/>
          </a:xfrm>
        </p:spPr>
        <p:txBody>
          <a:bodyPr/>
          <a:lstStyle/>
          <a:p>
            <a:fld id="{453B8C54-B76A-4DD8-BD0B-11200408342B}" type="datetimeFigureOut">
              <a:rPr lang="en-US" dirty="0"/>
              <a:t>8/9/2026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3640"/>
            <a:ext cx="546447" cy="413360"/>
          </a:xfrm>
        </p:spPr>
        <p:txBody>
          <a:bodyPr/>
          <a:lstStyle/>
          <a:p>
            <a:fld id="{753D0FD4-819D-4187-8797-C35567B41C78}" type="slidenum">
              <a:rPr lang="en-US" dirty="0"/>
              <a:t>‹#›</a:t>
            </a:fld>
            <a:endParaRPr lang="en-US"/>
          </a:p>
        </p:txBody>
      </p:sp>
      <p:cxnSp>
        <p:nvCxnSpPr>
          <p:cNvPr id="6" name="Straight Connector 5">
            <a:extLst>
              <a:ext uri="{FF2B5EF4-FFF2-40B4-BE49-F238E27FC236}">
                <a16:creationId xmlns:a16="http://schemas.microsoft.com/office/drawing/2014/main" id="{1A935D4C-A027-60A0-BEB8-B1A89C1C5E3A}"/>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2389253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a:t>
              </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15448BDD-274C-4BED-8350-833672089118}" type="datetimeFigureOut">
              <a:rPr lang="en-US" dirty="0"/>
              <a:t>8/9/2026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dirty="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5D9130-12F6-DFB8-70EF-9ACBA9FDECB0}"/>
              </a:ext>
            </a:extLst>
          </p:cNvPr>
          <p:cNvCxnSpPr>
            <a:cxnSpLocks/>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09501160"/>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94AB-EF90-9591-5954-F617B83D139F}"/>
              </a:ext>
            </a:extLst>
          </p:cNvPr>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0" name="Footer Placeholder 9">
            <a:extLst>
              <a:ext uri="{FF2B5EF4-FFF2-40B4-BE49-F238E27FC236}">
                <a16:creationId xmlns:a16="http://schemas.microsoft.com/office/drawing/2014/main" id="{96A57BED-3AFE-6AA9-E0D5-586748D61F6A}"/>
              </a:ext>
            </a:extLst>
          </p:cNvPr>
          <p:cNvSpPr>
            <a:spLocks noGrp="1"/>
          </p:cNvSpPr>
          <p:nvPr>
            <p:ph type="ftr" sz="quarter" idx="11"/>
          </p:nvPr>
        </p:nvSpPr>
        <p:spPr/>
        <p:txBody>
          <a:bodyPr/>
          <a:lstStyle/>
          <a:p>
            <a:r>
              <a:rPr lang="en-US"/>
              <a:t>
              </a:t>
            </a:r>
          </a:p>
        </p:txBody>
      </p:sp>
      <p:sp>
        <p:nvSpPr>
          <p:cNvPr id="9" name="Date Placeholder 8">
            <a:extLst>
              <a:ext uri="{FF2B5EF4-FFF2-40B4-BE49-F238E27FC236}">
                <a16:creationId xmlns:a16="http://schemas.microsoft.com/office/drawing/2014/main" id="{47C21221-DC95-273B-0C4F-43B35ADA1C0E}"/>
              </a:ext>
            </a:extLst>
          </p:cNvPr>
          <p:cNvSpPr>
            <a:spLocks noGrp="1"/>
          </p:cNvSpPr>
          <p:nvPr>
            <p:ph type="dt" sz="half" idx="10"/>
          </p:nvPr>
        </p:nvSpPr>
        <p:spPr/>
        <p:txBody>
          <a:bodyPr/>
          <a:lstStyle/>
          <a:p>
            <a:fld id="{9EAD527F-9C49-4481-A18C-80BA2EA99E79}" type="datetimeFigureOut">
              <a:rPr lang="en-US" dirty="0"/>
              <a:t>8/9/2026</a:t>
            </a:fld>
            <a:endParaRPr lang="en-US"/>
          </a:p>
        </p:txBody>
      </p:sp>
      <p:sp>
        <p:nvSpPr>
          <p:cNvPr id="11" name="Slide Number Placeholder 10">
            <a:extLst>
              <a:ext uri="{FF2B5EF4-FFF2-40B4-BE49-F238E27FC236}">
                <a16:creationId xmlns:a16="http://schemas.microsoft.com/office/drawing/2014/main" id="{2E44E859-99AA-D46F-1AD8-4C0F287F3783}"/>
              </a:ext>
            </a:extLst>
          </p:cNvPr>
          <p:cNvSpPr>
            <a:spLocks noGrp="1"/>
          </p:cNvSpPr>
          <p:nvPr>
            <p:ph type="sldNum" sz="quarter" idx="12"/>
          </p:nvPr>
        </p:nvSpPr>
        <p:spPr/>
        <p:txBody>
          <a:bodyPr/>
          <a:lstStyle/>
          <a:p>
            <a:fld id="{753D0FD4-819D-4187-8797-C35567B41C78}" type="slidenum">
              <a:rPr lang="en-US" dirty="0"/>
              <a:t>‹#›</a:t>
            </a:fld>
            <a:endParaRPr lang="en-US"/>
          </a:p>
        </p:txBody>
      </p:sp>
      <p:sp>
        <p:nvSpPr>
          <p:cNvPr id="3" name="Content Placeholder 2">
            <a:extLst>
              <a:ext uri="{FF2B5EF4-FFF2-40B4-BE49-F238E27FC236}">
                <a16:creationId xmlns:a16="http://schemas.microsoft.com/office/drawing/2014/main" id="{F2C3231F-0FFC-E2BB-36F8-9816E4DECEB6}"/>
              </a:ext>
            </a:extLst>
          </p:cNvPr>
          <p:cNvSpPr>
            <a:spLocks noGrp="1"/>
          </p:cNvSpPr>
          <p:nvPr>
            <p:ph sz="half" idx="1"/>
          </p:nvPr>
        </p:nvSpPr>
        <p:spPr>
          <a:xfrm>
            <a:off x="317773" y="1773857"/>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3CC2C1-ED8C-D52E-BEF5-671EDC62385A}"/>
              </a:ext>
            </a:extLst>
          </p:cNvPr>
          <p:cNvSpPr>
            <a:spLocks noGrp="1"/>
          </p:cNvSpPr>
          <p:nvPr>
            <p:ph sz="half" idx="2"/>
          </p:nvPr>
        </p:nvSpPr>
        <p:spPr>
          <a:xfrm>
            <a:off x="6224987" y="1773858"/>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2397169B-5226-712F-36F4-352E56B637D4}"/>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215771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
              </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F38039EB-95FD-42A0-BF06-87A9D15142C9}" type="datetimeFigureOut">
              <a:rPr lang="en-US" dirty="0"/>
              <a:t>8/9/2026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753D0FD4-819D-4187-8797-C35567B41C78}" type="slidenum">
              <a:rPr lang="en-US" dirty="0"/>
              <a:t>‹#›</a:t>
            </a:fld>
            <a:endParaRPr lang="en-US"/>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4D3C6A-509A-8CB1-B220-1CE755BE2FE8}"/>
              </a:ext>
            </a:extLst>
          </p:cNvPr>
          <p:cNvSpPr>
            <a:spLocks noGrp="1"/>
          </p:cNvSpPr>
          <p:nvPr>
            <p:ph sz="half" idx="2"/>
          </p:nvPr>
        </p:nvSpPr>
        <p:spPr>
          <a:xfrm>
            <a:off x="317773" y="2368476"/>
            <a:ext cx="5349064"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1ECFD5-92D0-1854-D18E-8BC5DF56A70E}"/>
              </a:ext>
            </a:extLst>
          </p:cNvPr>
          <p:cNvSpPr>
            <a:spLocks noGrp="1"/>
          </p:cNvSpPr>
          <p:nvPr>
            <p:ph sz="quarter" idx="4"/>
          </p:nvPr>
        </p:nvSpPr>
        <p:spPr>
          <a:xfrm>
            <a:off x="6224796" y="2368476"/>
            <a:ext cx="5349240"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3D1AC07E-A077-E2A6-1718-DDDA542A8A98}"/>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61367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7042-CDCB-3B2F-8C5B-24B17903E7D2}"/>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p>
        </p:txBody>
      </p:sp>
      <p:sp>
        <p:nvSpPr>
          <p:cNvPr id="4" name="Footer Placeholder 3">
            <a:extLst>
              <a:ext uri="{FF2B5EF4-FFF2-40B4-BE49-F238E27FC236}">
                <a16:creationId xmlns:a16="http://schemas.microsoft.com/office/drawing/2014/main" id="{3BA4C6AE-702E-258F-EA5E-02906C70DFD8}"/>
              </a:ext>
            </a:extLst>
          </p:cNvPr>
          <p:cNvSpPr>
            <a:spLocks noGrp="1"/>
          </p:cNvSpPr>
          <p:nvPr>
            <p:ph type="ftr" sz="quarter" idx="11"/>
          </p:nvPr>
        </p:nvSpPr>
        <p:spPr/>
        <p:txBody>
          <a:bodyPr/>
          <a:lstStyle/>
          <a:p>
            <a:r>
              <a:rPr lang="en-US"/>
              <a:t>
              </a:t>
            </a:r>
          </a:p>
        </p:txBody>
      </p:sp>
      <p:sp>
        <p:nvSpPr>
          <p:cNvPr id="3" name="Date Placeholder 2">
            <a:extLst>
              <a:ext uri="{FF2B5EF4-FFF2-40B4-BE49-F238E27FC236}">
                <a16:creationId xmlns:a16="http://schemas.microsoft.com/office/drawing/2014/main" id="{12339AE3-ADB1-728F-9FBA-2FD43A0AC300}"/>
              </a:ext>
            </a:extLst>
          </p:cNvPr>
          <p:cNvSpPr>
            <a:spLocks noGrp="1"/>
          </p:cNvSpPr>
          <p:nvPr>
            <p:ph type="dt" sz="half" idx="10"/>
          </p:nvPr>
        </p:nvSpPr>
        <p:spPr/>
        <p:txBody>
          <a:bodyPr/>
          <a:lstStyle/>
          <a:p>
            <a:fld id="{6819701D-AA71-4F6F-B74A-236E07E9ABE4}" type="datetimeFigureOut">
              <a:rPr lang="en-US" dirty="0"/>
              <a:t>8/9/2026</a:t>
            </a:fld>
            <a:endParaRPr lang="en-US"/>
          </a:p>
        </p:txBody>
      </p:sp>
      <p:sp>
        <p:nvSpPr>
          <p:cNvPr id="5" name="Slide Number Placeholder 4">
            <a:extLst>
              <a:ext uri="{FF2B5EF4-FFF2-40B4-BE49-F238E27FC236}">
                <a16:creationId xmlns:a16="http://schemas.microsoft.com/office/drawing/2014/main" id="{FD965F4B-E6CF-D83A-1F1B-81274FD57428}"/>
              </a:ext>
            </a:extLst>
          </p:cNvPr>
          <p:cNvSpPr>
            <a:spLocks noGrp="1"/>
          </p:cNvSpPr>
          <p:nvPr>
            <p:ph type="sldNum" sz="quarter" idx="12"/>
          </p:nvPr>
        </p:nvSpPr>
        <p:spPr/>
        <p:txBody>
          <a:bodyPr/>
          <a:lstStyle/>
          <a:p>
            <a:fld id="{753D0FD4-819D-4187-8797-C35567B41C78}" type="slidenum">
              <a:rPr lang="en-US" dirty="0"/>
              <a:t>‹#›</a:t>
            </a:fld>
            <a:endParaRPr lang="en-US"/>
          </a:p>
        </p:txBody>
      </p:sp>
    </p:spTree>
    <p:extLst>
      <p:ext uri="{BB962C8B-B14F-4D97-AF65-F5344CB8AC3E}">
        <p14:creationId xmlns:p14="http://schemas.microsoft.com/office/powerpoint/2010/main" val="14371712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E52550-02A6-D7FB-DD57-70C87BAA4FE2}"/>
              </a:ext>
            </a:extLst>
          </p:cNvPr>
          <p:cNvSpPr>
            <a:spLocks noGrp="1"/>
          </p:cNvSpPr>
          <p:nvPr>
            <p:ph type="ftr" sz="quarter" idx="11"/>
          </p:nvPr>
        </p:nvSpPr>
        <p:spPr/>
        <p:txBody>
          <a:bodyPr/>
          <a:lstStyle/>
          <a:p>
            <a:r>
              <a:rPr lang="en-US"/>
              <a:t>
              </a:t>
            </a:r>
          </a:p>
        </p:txBody>
      </p:sp>
      <p:sp>
        <p:nvSpPr>
          <p:cNvPr id="2" name="Date Placeholder 1">
            <a:extLst>
              <a:ext uri="{FF2B5EF4-FFF2-40B4-BE49-F238E27FC236}">
                <a16:creationId xmlns:a16="http://schemas.microsoft.com/office/drawing/2014/main" id="{B402D272-B561-7F82-06FB-C5DE719AAE9A}"/>
              </a:ext>
            </a:extLst>
          </p:cNvPr>
          <p:cNvSpPr>
            <a:spLocks noGrp="1"/>
          </p:cNvSpPr>
          <p:nvPr>
            <p:ph type="dt" sz="half" idx="10"/>
          </p:nvPr>
        </p:nvSpPr>
        <p:spPr/>
        <p:txBody>
          <a:bodyPr/>
          <a:lstStyle/>
          <a:p>
            <a:fld id="{A886D589-8B08-4190-9F3B-BA01ED2999CB}" type="datetimeFigureOut">
              <a:rPr lang="en-US" dirty="0"/>
              <a:t>8/9/2026</a:t>
            </a:fld>
            <a:endParaRPr lang="en-US"/>
          </a:p>
        </p:txBody>
      </p:sp>
      <p:sp>
        <p:nvSpPr>
          <p:cNvPr id="4" name="Slide Number Placeholder 3">
            <a:extLst>
              <a:ext uri="{FF2B5EF4-FFF2-40B4-BE49-F238E27FC236}">
                <a16:creationId xmlns:a16="http://schemas.microsoft.com/office/drawing/2014/main" id="{A7EF0FF0-3A36-A128-D75E-71A4B54CB6CD}"/>
              </a:ext>
            </a:extLst>
          </p:cNvPr>
          <p:cNvSpPr>
            <a:spLocks noGrp="1"/>
          </p:cNvSpPr>
          <p:nvPr>
            <p:ph type="sldNum" sz="quarter" idx="12"/>
          </p:nvPr>
        </p:nvSpPr>
        <p:spPr/>
        <p:txBody>
          <a:bodyPr/>
          <a:lstStyle/>
          <a:p>
            <a:fld id="{753D0FD4-819D-4187-8797-C35567B41C78}" type="slidenum">
              <a:rPr lang="en-US" dirty="0"/>
              <a:t>‹#›</a:t>
            </a:fld>
            <a:endParaRPr lang="en-US"/>
          </a:p>
        </p:txBody>
      </p:sp>
    </p:spTree>
    <p:extLst>
      <p:ext uri="{BB962C8B-B14F-4D97-AF65-F5344CB8AC3E}">
        <p14:creationId xmlns:p14="http://schemas.microsoft.com/office/powerpoint/2010/main" val="18995793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8A45ECA-9413-0F81-085A-48CF6F23E1DC}"/>
              </a:ext>
            </a:extLst>
          </p:cNvPr>
          <p:cNvCxnSpPr>
            <a:cxnSpLocks/>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63640"/>
            <a:ext cx="2962656" cy="411480"/>
          </a:xfrm>
        </p:spPr>
        <p:txBody>
          <a:bodyPr/>
          <a:lstStyle>
            <a:lvl1pPr>
              <a:defRPr>
                <a:solidFill>
                  <a:schemeClr val="tx2"/>
                </a:solidFill>
              </a:defRPr>
            </a:lvl1pPr>
          </a:lstStyle>
          <a:p>
            <a:r>
              <a:rPr lang="en-US"/>
              <a:t>
              </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1" y="6263640"/>
            <a:ext cx="1933553" cy="411480"/>
          </a:xfrm>
        </p:spPr>
        <p:txBody>
          <a:bodyPr/>
          <a:lstStyle>
            <a:lvl1pPr>
              <a:defRPr>
                <a:solidFill>
                  <a:schemeClr val="tx2"/>
                </a:solidFill>
              </a:defRPr>
            </a:lvl1pPr>
          </a:lstStyle>
          <a:p>
            <a:fld id="{12A08923-D58E-4822-B554-6A1173FCE25D}" type="datetimeFigureOut">
              <a:rPr lang="en-US" dirty="0"/>
              <a:t>8/9/2026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3360"/>
          </a:xfrm>
        </p:spPr>
        <p:txBody>
          <a:bodyPr/>
          <a:lstStyle>
            <a:lvl1pPr>
              <a:defRPr>
                <a:solidFill>
                  <a:schemeClr val="tx2"/>
                </a:solidFill>
              </a:defRPr>
            </a:lvl1pPr>
          </a:lstStyle>
          <a:p>
            <a:fld id="{753D0FD4-819D-4187-8797-C35567B41C78}" type="slidenum">
              <a:rPr lang="en-US" dirty="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307677"/>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a:t>
              </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F50BF9E0-60DA-4D6D-8F14-825F152220D6}" type="datetimeFigureOut">
              <a:rPr lang="en-US" dirty="0"/>
              <a:t>8/9/2026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dirty="0"/>
              <a:t>‹#›</a:t>
            </a:fld>
            <a:endParaRPr lang="en-US"/>
          </a:p>
        </p:txBody>
      </p:sp>
      <p:cxnSp>
        <p:nvCxnSpPr>
          <p:cNvPr id="7" name="Straight Connector 6">
            <a:extLst>
              <a:ext uri="{FF2B5EF4-FFF2-40B4-BE49-F238E27FC236}">
                <a16:creationId xmlns:a16="http://schemas.microsoft.com/office/drawing/2014/main" id="{F4D168F9-DE00-B9C1-AD77-139DA8AF3364}"/>
              </a:ext>
            </a:extLst>
          </p:cNvPr>
          <p:cNvCxnSpPr>
            <a:cxnSpLocks/>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8809951"/>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62319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0D069-F065-C75D-98AE-01427B4D131E}"/>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539E5F67-AA6C-9EC2-5B92-852848DDCA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2ACBFFB4-03CC-072C-4C75-3B5060929A09}"/>
              </a:ext>
            </a:extLst>
          </p:cNvPr>
          <p:cNvSpPr>
            <a:spLocks noGrp="1"/>
          </p:cNvSpPr>
          <p:nvPr>
            <p:ph type="dt" sz="half" idx="10"/>
          </p:nvPr>
        </p:nvSpPr>
        <p:spPr/>
        <p:txBody>
          <a:bodyPr/>
          <a:lstStyle/>
          <a:p>
            <a:fld id="{843B378F-92F2-4D75-BB66-2788BF9DEE1D}" type="datetimeFigureOut">
              <a:rPr lang="en-IE" smtClean="0"/>
              <a:t>09/08/2026</a:t>
            </a:fld>
            <a:endParaRPr lang="en-IE"/>
          </a:p>
        </p:txBody>
      </p:sp>
      <p:sp>
        <p:nvSpPr>
          <p:cNvPr id="5" name="Footer Placeholder 4">
            <a:extLst>
              <a:ext uri="{FF2B5EF4-FFF2-40B4-BE49-F238E27FC236}">
                <a16:creationId xmlns:a16="http://schemas.microsoft.com/office/drawing/2014/main" id="{355C4B2D-492C-91B7-A9CF-F7D4A98B0997}"/>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DF7B2E66-84F5-389F-185D-954961C6EC88}"/>
              </a:ext>
            </a:extLst>
          </p:cNvPr>
          <p:cNvSpPr>
            <a:spLocks noGrp="1"/>
          </p:cNvSpPr>
          <p:nvPr>
            <p:ph type="sldNum" sz="quarter" idx="12"/>
          </p:nvPr>
        </p:nvSpPr>
        <p:spPr/>
        <p:txBody>
          <a:bodyPr/>
          <a:lstStyle/>
          <a:p>
            <a:fld id="{4E91270E-52ED-4F66-BF66-C0206B456D66}" type="slidenum">
              <a:rPr lang="en-IE" smtClean="0"/>
              <a:t>‹#›</a:t>
            </a:fld>
            <a:endParaRPr lang="en-IE"/>
          </a:p>
        </p:txBody>
      </p:sp>
      <p:sp>
        <p:nvSpPr>
          <p:cNvPr id="7" name="Rectangle 6">
            <a:extLst>
              <a:ext uri="{FF2B5EF4-FFF2-40B4-BE49-F238E27FC236}">
                <a16:creationId xmlns:a16="http://schemas.microsoft.com/office/drawing/2014/main" id="{A535C778-0D6C-841F-D177-551A511F07AC}"/>
              </a:ext>
            </a:extLst>
          </p:cNvPr>
          <p:cNvSpPr/>
          <p:nvPr userDrawn="1"/>
        </p:nvSpPr>
        <p:spPr>
          <a:xfrm>
            <a:off x="0" y="0"/>
            <a:ext cx="12192000" cy="1119499"/>
          </a:xfrm>
          <a:prstGeom prst="rect">
            <a:avLst/>
          </a:prstGeom>
          <a:solidFill>
            <a:srgbClr val="0072B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334686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4398EFF-E3C5-E79D-1BD3-016E84949F9C}"/>
              </a:ext>
            </a:extLst>
          </p:cNvPr>
          <p:cNvCxnSpPr>
            <a:cxnSpLocks/>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r>
              <a:rPr lang="en-US"/>
              <a:t>
              </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fld id="{18A4B20A-718A-4149-B5D2-676E857EB828}" type="datetimeFigureOut">
              <a:rPr lang="en-US" dirty="0"/>
              <a:t>8/9/2026</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fld id="{753D0FD4-819D-4187-8797-C35567B41C78}" type="slidenum">
              <a:rPr lang="en-US" dirty="0"/>
              <a:t>‹#›</a:t>
            </a:fld>
            <a:endParaRPr lang="en-US"/>
          </a:p>
        </p:txBody>
      </p:sp>
      <p:sp>
        <p:nvSpPr>
          <p:cNvPr id="8" name="TextBox 7">
            <a:extLst>
              <a:ext uri="{FF2B5EF4-FFF2-40B4-BE49-F238E27FC236}">
                <a16:creationId xmlns:a16="http://schemas.microsoft.com/office/drawing/2014/main" id="{5F143C14-E680-3360-0E4D-DA502AF50E85}"/>
              </a:ext>
            </a:extLst>
          </p:cNvPr>
          <p:cNvSpPr txBox="1"/>
          <p:nvPr>
            <p:extLst>
              <p:ext uri="{1162E1C5-73C7-4A58-AE30-91384D911F3F}">
                <p184:classification xmlns:p184="http://schemas.microsoft.com/office/powerpoint/2018/4/main" val="ftr"/>
              </p:ext>
            </p:extLst>
          </p:nvPr>
        </p:nvSpPr>
        <p:spPr>
          <a:xfrm>
            <a:off x="63500" y="6642100"/>
            <a:ext cx="197802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Classified as Microsoft Confidential</a:t>
            </a:r>
          </a:p>
        </p:txBody>
      </p:sp>
    </p:spTree>
    <p:extLst>
      <p:ext uri="{BB962C8B-B14F-4D97-AF65-F5344CB8AC3E}">
        <p14:creationId xmlns:p14="http://schemas.microsoft.com/office/powerpoint/2010/main" val="4106865066"/>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 id="2147483743" r:id="rId18"/>
    <p:sldLayoutId id="2147483744" r:id="rId19"/>
    <p:sldLayoutId id="2147483745" r:id="rId20"/>
    <p:sldLayoutId id="2147483746" r:id="rId21"/>
    <p:sldLayoutId id="2147483747" r:id="rId22"/>
    <p:sldLayoutId id="2147483748" r:id="rId23"/>
    <p:sldLayoutId id="2147483749" r:id="rId24"/>
    <p:sldLayoutId id="2147483750" r:id="rId25"/>
    <p:sldLayoutId id="2147483751" r:id="rId26"/>
    <p:sldLayoutId id="2147483752" r:id="rId27"/>
    <p:sldLayoutId id="2147483753" r:id="rId28"/>
    <p:sldLayoutId id="2147483754" r:id="rId29"/>
  </p:sldLayoutIdLst>
  <p:hf hdr="0"/>
  <p:txStyles>
    <p:titleStyle>
      <a:lvl1pPr algn="l" defTabSz="914400" rtl="0" eaLnBrk="1" latinLnBrk="0" hangingPunct="1">
        <a:lnSpc>
          <a:spcPct val="70000"/>
        </a:lnSpc>
        <a:spcBef>
          <a:spcPct val="0"/>
        </a:spcBef>
        <a:buNone/>
        <a:defRPr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userDrawn="1">
          <p15:clr>
            <a:srgbClr val="F26B43"/>
          </p15:clr>
        </p15:guide>
        <p15:guide id="2" pos="264" userDrawn="1">
          <p15:clr>
            <a:srgbClr val="F26B43"/>
          </p15:clr>
        </p15:guide>
        <p15:guide id="3" pos="7416" userDrawn="1">
          <p15:clr>
            <a:srgbClr val="F26B43"/>
          </p15:clr>
        </p15:guide>
        <p15:guide id="4" orient="horz" pos="3816" userDrawn="1">
          <p15:clr>
            <a:srgbClr val="F26B43"/>
          </p15:clr>
        </p15:guide>
        <p15:guide id="5" pos="7200" userDrawn="1">
          <p15:clr>
            <a:srgbClr val="F26B43"/>
          </p15:clr>
        </p15:guide>
        <p15:guide id="6" pos="504" userDrawn="1">
          <p15:clr>
            <a:srgbClr val="F26B43"/>
          </p15:clr>
        </p15:guide>
        <p15:guide id="7" orient="horz" pos="4128" userDrawn="1">
          <p15:clr>
            <a:srgbClr val="F26B43"/>
          </p15:clr>
        </p15:guide>
        <p15:guide id="8" orient="horz" pos="1056" userDrawn="1">
          <p15:clr>
            <a:srgbClr val="F26B43"/>
          </p15:clr>
        </p15:guide>
        <p15:guide id="9" pos="45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7.jpeg"/><Relationship Id="rId7" Type="http://schemas.openxmlformats.org/officeDocument/2006/relationships/diagramLayout" Target="../diagrams/layout1.xml"/><Relationship Id="rId12"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5.xml"/><Relationship Id="rId6" Type="http://schemas.openxmlformats.org/officeDocument/2006/relationships/diagramData" Target="../diagrams/data1.xml"/><Relationship Id="rId11" Type="http://schemas.openxmlformats.org/officeDocument/2006/relationships/image" Target="../media/image10.png"/><Relationship Id="rId5" Type="http://schemas.openxmlformats.org/officeDocument/2006/relationships/image" Target="../media/image9.jpeg"/><Relationship Id="rId10" Type="http://schemas.microsoft.com/office/2007/relationships/diagramDrawing" Target="../diagrams/drawing1.xml"/><Relationship Id="rId4" Type="http://schemas.openxmlformats.org/officeDocument/2006/relationships/image" Target="../media/image8.jpeg"/><Relationship Id="rId9" Type="http://schemas.openxmlformats.org/officeDocument/2006/relationships/diagramColors" Target="../diagrams/colors1.xml"/></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25.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5.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5.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5.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5.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2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25.xml"/><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25.xml"/><Relationship Id="rId5" Type="http://schemas.openxmlformats.org/officeDocument/2006/relationships/image" Target="../media/image39.png"/><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25.xml"/><Relationship Id="rId5" Type="http://schemas.openxmlformats.org/officeDocument/2006/relationships/image" Target="../media/image42.png"/><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25.xml"/><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25.xml"/><Relationship Id="rId6" Type="http://schemas.openxmlformats.org/officeDocument/2006/relationships/image" Target="../media/image48.svg"/><Relationship Id="rId5" Type="http://schemas.openxmlformats.org/officeDocument/2006/relationships/image" Target="../media/image47.svg"/><Relationship Id="rId4" Type="http://schemas.openxmlformats.org/officeDocument/2006/relationships/image" Target="../media/image46.png"/></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9.xml"/><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3" Type="http://schemas.openxmlformats.org/officeDocument/2006/relationships/hyperlink" Target="https://gco.iarc.who.int/media/globocan/factsheets/cancers/16-melanoma-of-skin-fact-sheet.pdf" TargetMode="External"/><Relationship Id="rId2" Type="http://schemas.openxmlformats.org/officeDocument/2006/relationships/notesSlide" Target="../notesSlides/notesSlide33.xml"/><Relationship Id="rId1" Type="http://schemas.openxmlformats.org/officeDocument/2006/relationships/slideLayout" Target="../slideLayouts/slideLayout25.xml"/><Relationship Id="rId4" Type="http://schemas.openxmlformats.org/officeDocument/2006/relationships/hyperlink" Target="https://www.ncri.ie/en/reports-publications/reports/cancer-trends-no-42-skin-cancer"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4.xml"/><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0E39CF-8A6A-240F-F28F-B7FE597DF0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34786A5-DD0B-B23F-533E-83603C8DB406}"/>
              </a:ext>
            </a:extLst>
          </p:cNvPr>
          <p:cNvSpPr/>
          <p:nvPr/>
        </p:nvSpPr>
        <p:spPr>
          <a:xfrm>
            <a:off x="320040" y="91440"/>
            <a:ext cx="11521440" cy="54864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700" b="1">
                <a:solidFill>
                  <a:srgbClr val="1B2A4A"/>
                </a:solidFill>
                <a:latin typeface="Calibri" pitchFamily="34" charset="0"/>
                <a:cs typeface="Calibri" pitchFamily="34" charset="-120"/>
              </a:rPr>
              <a:t>MEIN40330 Final Project</a:t>
            </a:r>
            <a:endParaRPr lang="en-US" sz="2700"/>
          </a:p>
        </p:txBody>
      </p:sp>
      <p:sp>
        <p:nvSpPr>
          <p:cNvPr id="3" name="Shape 1">
            <a:extLst>
              <a:ext uri="{FF2B5EF4-FFF2-40B4-BE49-F238E27FC236}">
                <a16:creationId xmlns:a16="http://schemas.microsoft.com/office/drawing/2014/main" id="{413AB849-0B3A-D9C4-1084-425D7D0F55B5}"/>
              </a:ext>
            </a:extLst>
          </p:cNvPr>
          <p:cNvSpPr/>
          <p:nvPr/>
        </p:nvSpPr>
        <p:spPr>
          <a:xfrm>
            <a:off x="320040" y="667512"/>
            <a:ext cx="1371600" cy="41148"/>
          </a:xfrm>
          <a:prstGeom prst="rect">
            <a:avLst/>
          </a:prstGeom>
          <a:solidFill>
            <a:srgbClr val="E07B39"/>
          </a:solidFill>
          <a:ln w="12700">
            <a:solidFill>
              <a:srgbClr val="E07B39"/>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 name="Text 10">
            <a:extLst>
              <a:ext uri="{FF2B5EF4-FFF2-40B4-BE49-F238E27FC236}">
                <a16:creationId xmlns:a16="http://schemas.microsoft.com/office/drawing/2014/main" id="{686D5F25-474B-1F27-7CAC-C08D403FB009}"/>
              </a:ext>
            </a:extLst>
          </p:cNvPr>
          <p:cNvSpPr/>
          <p:nvPr/>
        </p:nvSpPr>
        <p:spPr>
          <a:xfrm>
            <a:off x="2642616"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14" name="Text 11">
            <a:extLst>
              <a:ext uri="{FF2B5EF4-FFF2-40B4-BE49-F238E27FC236}">
                <a16:creationId xmlns:a16="http://schemas.microsoft.com/office/drawing/2014/main" id="{EFF75D6A-AA18-A29A-4C5E-CD97CBFD930C}"/>
              </a:ext>
            </a:extLst>
          </p:cNvPr>
          <p:cNvSpPr/>
          <p:nvPr/>
        </p:nvSpPr>
        <p:spPr>
          <a:xfrm>
            <a:off x="3063240" y="1060704"/>
            <a:ext cx="1682496" cy="219456"/>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800"/>
          </a:p>
        </p:txBody>
      </p:sp>
      <p:sp>
        <p:nvSpPr>
          <p:cNvPr id="15" name="Text 12">
            <a:extLst>
              <a:ext uri="{FF2B5EF4-FFF2-40B4-BE49-F238E27FC236}">
                <a16:creationId xmlns:a16="http://schemas.microsoft.com/office/drawing/2014/main" id="{5D5086FF-7A6C-46FE-66CD-343BFAEC4558}"/>
              </a:ext>
            </a:extLst>
          </p:cNvPr>
          <p:cNvSpPr/>
          <p:nvPr/>
        </p:nvSpPr>
        <p:spPr>
          <a:xfrm>
            <a:off x="3099816" y="1261872"/>
            <a:ext cx="1682496" cy="237744"/>
          </a:xfrm>
          <a:prstGeom prst="rect">
            <a:avLst/>
          </a:prstGeom>
          <a:noFill/>
          <a:ln/>
        </p:spPr>
        <p:txBody>
          <a:bodyPr wrap="square" lIns="0" tIns="0" rIns="0" bIns="0" rtlCol="0" anchor="t"/>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300" b="1">
              <a:solidFill>
                <a:srgbClr val="E07B39"/>
              </a:solidFill>
            </a:endParaRPr>
          </a:p>
        </p:txBody>
      </p:sp>
      <p:sp>
        <p:nvSpPr>
          <p:cNvPr id="18" name="Text 15">
            <a:extLst>
              <a:ext uri="{FF2B5EF4-FFF2-40B4-BE49-F238E27FC236}">
                <a16:creationId xmlns:a16="http://schemas.microsoft.com/office/drawing/2014/main" id="{16014260-70A3-412B-A403-EDF093F351AC}"/>
              </a:ext>
            </a:extLst>
          </p:cNvPr>
          <p:cNvSpPr/>
          <p:nvPr/>
        </p:nvSpPr>
        <p:spPr>
          <a:xfrm>
            <a:off x="4946904"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23" name="Text 20">
            <a:extLst>
              <a:ext uri="{FF2B5EF4-FFF2-40B4-BE49-F238E27FC236}">
                <a16:creationId xmlns:a16="http://schemas.microsoft.com/office/drawing/2014/main" id="{37F16815-F406-CBAB-8192-001CDC0EC8B3}"/>
              </a:ext>
            </a:extLst>
          </p:cNvPr>
          <p:cNvSpPr/>
          <p:nvPr/>
        </p:nvSpPr>
        <p:spPr>
          <a:xfrm>
            <a:off x="7251192"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29" name="Text 26">
            <a:extLst>
              <a:ext uri="{FF2B5EF4-FFF2-40B4-BE49-F238E27FC236}">
                <a16:creationId xmlns:a16="http://schemas.microsoft.com/office/drawing/2014/main" id="{4C59508E-6DB2-659E-E9F0-17C5F73F294F}"/>
              </a:ext>
            </a:extLst>
          </p:cNvPr>
          <p:cNvSpPr/>
          <p:nvPr/>
        </p:nvSpPr>
        <p:spPr>
          <a:xfrm>
            <a:off x="10012680" y="1060704"/>
            <a:ext cx="1682496" cy="219456"/>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800"/>
          </a:p>
        </p:txBody>
      </p:sp>
      <p:sp>
        <p:nvSpPr>
          <p:cNvPr id="35" name="Text 32">
            <a:extLst>
              <a:ext uri="{FF2B5EF4-FFF2-40B4-BE49-F238E27FC236}">
                <a16:creationId xmlns:a16="http://schemas.microsoft.com/office/drawing/2014/main" id="{F5A89E35-A750-8C7D-D56D-71520B66AAA7}"/>
              </a:ext>
            </a:extLst>
          </p:cNvPr>
          <p:cNvSpPr/>
          <p:nvPr/>
        </p:nvSpPr>
        <p:spPr>
          <a:xfrm>
            <a:off x="411480" y="1844968"/>
            <a:ext cx="370332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38" name="Text 35">
            <a:extLst>
              <a:ext uri="{FF2B5EF4-FFF2-40B4-BE49-F238E27FC236}">
                <a16:creationId xmlns:a16="http://schemas.microsoft.com/office/drawing/2014/main" id="{A2CCA8A8-7C9A-9489-5335-67036735C68B}"/>
              </a:ext>
            </a:extLst>
          </p:cNvPr>
          <p:cNvSpPr/>
          <p:nvPr/>
        </p:nvSpPr>
        <p:spPr>
          <a:xfrm>
            <a:off x="4119530" y="1844968"/>
            <a:ext cx="411480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41" name="Text 38">
            <a:extLst>
              <a:ext uri="{FF2B5EF4-FFF2-40B4-BE49-F238E27FC236}">
                <a16:creationId xmlns:a16="http://schemas.microsoft.com/office/drawing/2014/main" id="{B209B3F3-3C20-FCBF-DFFC-EAD294F3EE3B}"/>
              </a:ext>
            </a:extLst>
          </p:cNvPr>
          <p:cNvSpPr/>
          <p:nvPr/>
        </p:nvSpPr>
        <p:spPr>
          <a:xfrm>
            <a:off x="8554370" y="1844968"/>
            <a:ext cx="288036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44" name="Text 41">
            <a:extLst>
              <a:ext uri="{FF2B5EF4-FFF2-40B4-BE49-F238E27FC236}">
                <a16:creationId xmlns:a16="http://schemas.microsoft.com/office/drawing/2014/main" id="{60E60437-2DE9-102E-081A-26CCABC6D796}"/>
              </a:ext>
            </a:extLst>
          </p:cNvPr>
          <p:cNvSpPr/>
          <p:nvPr/>
        </p:nvSpPr>
        <p:spPr>
          <a:xfrm>
            <a:off x="8563514" y="4414432"/>
            <a:ext cx="292608" cy="292608"/>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50" name="Shape 47">
            <a:extLst>
              <a:ext uri="{FF2B5EF4-FFF2-40B4-BE49-F238E27FC236}">
                <a16:creationId xmlns:a16="http://schemas.microsoft.com/office/drawing/2014/main" id="{0E8F6AED-C775-EE34-2B68-6C85C9A91FC0}"/>
              </a:ext>
            </a:extLst>
          </p:cNvPr>
          <p:cNvSpPr/>
          <p:nvPr/>
        </p:nvSpPr>
        <p:spPr>
          <a:xfrm>
            <a:off x="-12350" y="6336792"/>
            <a:ext cx="12219327" cy="521208"/>
          </a:xfrm>
          <a:prstGeom prst="rect">
            <a:avLst/>
          </a:prstGeom>
          <a:solidFill>
            <a:srgbClr val="1B2A4A"/>
          </a:solidFill>
          <a:ln/>
        </p:spPr>
        <p:txBody>
          <a:bodyPr lIns="91440" tIns="45720" rIns="91440" bIns="4572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r>
              <a:rPr lang="en-US" sz="1400" b="1">
                <a:solidFill>
                  <a:schemeClr val="bg1"/>
                </a:solidFill>
              </a:rPr>
              <a:t>    4</a:t>
            </a:r>
            <a:r>
              <a:rPr lang="en-US" sz="1400" b="1" baseline="30000">
                <a:solidFill>
                  <a:schemeClr val="bg1"/>
                </a:solidFill>
              </a:rPr>
              <a:t>th</a:t>
            </a:r>
            <a:r>
              <a:rPr lang="en-US" sz="1400" b="1">
                <a:solidFill>
                  <a:schemeClr val="bg1"/>
                </a:solidFill>
              </a:rPr>
              <a:t> August 2026</a:t>
            </a:r>
            <a:endParaRPr lang="en-US"/>
          </a:p>
        </p:txBody>
      </p:sp>
      <p:sp>
        <p:nvSpPr>
          <p:cNvPr id="52" name="Text 49">
            <a:extLst>
              <a:ext uri="{FF2B5EF4-FFF2-40B4-BE49-F238E27FC236}">
                <a16:creationId xmlns:a16="http://schemas.microsoft.com/office/drawing/2014/main" id="{6AC84ECB-4DAD-B8A3-2FD2-1257E57CDAD2}"/>
              </a:ext>
            </a:extLst>
          </p:cNvPr>
          <p:cNvSpPr/>
          <p:nvPr/>
        </p:nvSpPr>
        <p:spPr>
          <a:xfrm>
            <a:off x="228600" y="6441948"/>
            <a:ext cx="310896" cy="310896"/>
          </a:xfrm>
          <a:prstGeom prst="rect">
            <a:avLst/>
          </a:prstGeom>
          <a:noFill/>
          <a:ln/>
        </p:spPr>
        <p:txBody>
          <a:bodyPr wrap="square"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400"/>
          </a:p>
        </p:txBody>
      </p:sp>
      <p:sp>
        <p:nvSpPr>
          <p:cNvPr id="53" name="Text 50">
            <a:extLst>
              <a:ext uri="{FF2B5EF4-FFF2-40B4-BE49-F238E27FC236}">
                <a16:creationId xmlns:a16="http://schemas.microsoft.com/office/drawing/2014/main" id="{AEDB3417-66C2-2771-75B3-30DF9E6870EC}"/>
              </a:ext>
            </a:extLst>
          </p:cNvPr>
          <p:cNvSpPr/>
          <p:nvPr/>
        </p:nvSpPr>
        <p:spPr>
          <a:xfrm>
            <a:off x="658368" y="6336792"/>
            <a:ext cx="11356848" cy="521208"/>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400" b="1"/>
          </a:p>
        </p:txBody>
      </p:sp>
      <p:sp>
        <p:nvSpPr>
          <p:cNvPr id="54" name="Text 51">
            <a:extLst>
              <a:ext uri="{FF2B5EF4-FFF2-40B4-BE49-F238E27FC236}">
                <a16:creationId xmlns:a16="http://schemas.microsoft.com/office/drawing/2014/main" id="{BF883919-02A5-B784-F661-E33A7363DD7F}"/>
              </a:ext>
            </a:extLst>
          </p:cNvPr>
          <p:cNvSpPr/>
          <p:nvPr/>
        </p:nvSpPr>
        <p:spPr>
          <a:xfrm>
            <a:off x="658368" y="6336792"/>
            <a:ext cx="1371600" cy="521208"/>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50" b="1">
              <a:solidFill>
                <a:srgbClr val="FFFFFF"/>
              </a:solidFill>
            </a:endParaRPr>
          </a:p>
        </p:txBody>
      </p:sp>
      <p:sp>
        <p:nvSpPr>
          <p:cNvPr id="9" name="TextBox 8">
            <a:extLst>
              <a:ext uri="{FF2B5EF4-FFF2-40B4-BE49-F238E27FC236}">
                <a16:creationId xmlns:a16="http://schemas.microsoft.com/office/drawing/2014/main" id="{5EAD8D3D-FE51-F6C6-36D6-7265E2F74340}"/>
              </a:ext>
            </a:extLst>
          </p:cNvPr>
          <p:cNvSpPr txBox="1"/>
          <p:nvPr/>
        </p:nvSpPr>
        <p:spPr>
          <a:xfrm>
            <a:off x="-24403" y="1379938"/>
            <a:ext cx="5483476" cy="3325978"/>
          </a:xfrm>
          <a:prstGeom prst="rect">
            <a:avLst/>
          </a:prstGeom>
          <a:noFill/>
        </p:spPr>
        <p:txBody>
          <a:bodyPr wrap="square" lIns="91440" tIns="45720" rIns="91440" bIns="45720" anchor="t">
            <a:spAutoFit/>
          </a:bodyPr>
          <a:lstStyle/>
          <a:p>
            <a:pPr algn="r" fontAlgn="base">
              <a:lnSpc>
                <a:spcPct val="150000"/>
              </a:lnSpc>
            </a:pPr>
            <a:r>
              <a:rPr lang="en-US" sz="3600" b="1" i="0" u="none" strike="noStrike">
                <a:solidFill>
                  <a:srgbClr val="002060"/>
                </a:solidFill>
                <a:effectLst/>
                <a:latin typeface="Aptos"/>
              </a:rPr>
              <a:t>Melanoma Treatment Decision Support</a:t>
            </a:r>
            <a:r>
              <a:rPr lang="en-US" sz="3600" b="1">
                <a:solidFill>
                  <a:srgbClr val="002060"/>
                </a:solidFill>
                <a:latin typeface="Aptos"/>
              </a:rPr>
              <a:t>:​</a:t>
            </a:r>
            <a:endParaRPr lang="en-US" sz="3600">
              <a:solidFill>
                <a:srgbClr val="002060"/>
              </a:solidFill>
              <a:latin typeface="Trade Gothic Next Light"/>
            </a:endParaRPr>
          </a:p>
          <a:p>
            <a:pPr algn="r">
              <a:lnSpc>
                <a:spcPct val="150000"/>
              </a:lnSpc>
            </a:pPr>
            <a:r>
              <a:rPr lang="en-US" sz="3600" b="1">
                <a:solidFill>
                  <a:srgbClr val="0072B2"/>
                </a:solidFill>
                <a:latin typeface="Aptos"/>
              </a:rPr>
              <a:t>Where Every Method Converges</a:t>
            </a:r>
            <a:r>
              <a:rPr lang="en-US" sz="3600" b="1">
                <a:solidFill>
                  <a:srgbClr val="000000"/>
                </a:solidFill>
                <a:latin typeface="Aptos"/>
              </a:rPr>
              <a:t>​</a:t>
            </a:r>
            <a:endParaRPr lang="en-US" sz="3600" b="1" i="0">
              <a:solidFill>
                <a:srgbClr val="000000"/>
              </a:solidFill>
              <a:effectLst/>
              <a:latin typeface="Segoe UI"/>
              <a:cs typeface="Segoe UI" panose="020B0502040204020203" pitchFamily="34" charset="0"/>
            </a:endParaRPr>
          </a:p>
        </p:txBody>
      </p:sp>
      <p:sp>
        <p:nvSpPr>
          <p:cNvPr id="11" name="TextBox 10">
            <a:extLst>
              <a:ext uri="{FF2B5EF4-FFF2-40B4-BE49-F238E27FC236}">
                <a16:creationId xmlns:a16="http://schemas.microsoft.com/office/drawing/2014/main" id="{1906C25A-2BAB-29A5-B721-DE6412C607F8}"/>
              </a:ext>
            </a:extLst>
          </p:cNvPr>
          <p:cNvSpPr txBox="1"/>
          <p:nvPr/>
        </p:nvSpPr>
        <p:spPr>
          <a:xfrm>
            <a:off x="400492" y="4950212"/>
            <a:ext cx="11491599" cy="968470"/>
          </a:xfrm>
          <a:prstGeom prst="rect">
            <a:avLst/>
          </a:prstGeom>
          <a:noFill/>
        </p:spPr>
        <p:txBody>
          <a:bodyPr wrap="square" lIns="91440" tIns="45720" rIns="91440" bIns="45720" anchor="t">
            <a:spAutoFit/>
          </a:bodyPr>
          <a:lstStyle/>
          <a:p>
            <a:pPr rtl="0" fontAlgn="base">
              <a:lnSpc>
                <a:spcPct val="150000"/>
              </a:lnSpc>
            </a:pPr>
            <a:r>
              <a:rPr lang="en-GB" sz="2000" b="1" i="1" u="none" strike="noStrike">
                <a:solidFill>
                  <a:schemeClr val="accent5"/>
                </a:solidFill>
                <a:effectLst/>
                <a:latin typeface="Aptos"/>
              </a:rPr>
              <a:t>Presented by:</a:t>
            </a:r>
            <a:r>
              <a:rPr lang="en-US" sz="2000" b="1" i="1" u="none" strike="noStrike">
                <a:solidFill>
                  <a:schemeClr val="accent5"/>
                </a:solidFill>
                <a:effectLst/>
                <a:latin typeface="Aptos"/>
              </a:rPr>
              <a:t>​</a:t>
            </a:r>
            <a:r>
              <a:rPr lang="en-US" sz="2000" b="1" i="0">
                <a:solidFill>
                  <a:schemeClr val="accent5"/>
                </a:solidFill>
                <a:effectLst/>
                <a:latin typeface="Aptos"/>
              </a:rPr>
              <a:t>​</a:t>
            </a:r>
          </a:p>
          <a:p>
            <a:pPr fontAlgn="base">
              <a:lnSpc>
                <a:spcPct val="150000"/>
              </a:lnSpc>
            </a:pPr>
            <a:r>
              <a:rPr lang="en-GB" sz="2000" i="0" u="none" strike="noStrike">
                <a:solidFill>
                  <a:schemeClr val="accent5"/>
                </a:solidFill>
                <a:effectLst/>
                <a:latin typeface="Aptos"/>
              </a:rPr>
              <a:t>Amanda </a:t>
            </a:r>
            <a:r>
              <a:rPr lang="en-GB" sz="2000" i="0" u="none" strike="noStrike" err="1">
                <a:solidFill>
                  <a:schemeClr val="accent5"/>
                </a:solidFill>
                <a:effectLst/>
                <a:latin typeface="Aptos"/>
              </a:rPr>
              <a:t>Dominy</a:t>
            </a:r>
            <a:r>
              <a:rPr lang="en-GB" sz="2000" i="0" u="none" strike="noStrike">
                <a:solidFill>
                  <a:schemeClr val="accent5"/>
                </a:solidFill>
                <a:effectLst/>
                <a:latin typeface="Aptos"/>
              </a:rPr>
              <a:t>  |  Anthony </a:t>
            </a:r>
            <a:r>
              <a:rPr lang="en-GB" sz="2000" i="0" u="none" strike="noStrike" err="1">
                <a:solidFill>
                  <a:schemeClr val="accent5"/>
                </a:solidFill>
                <a:effectLst/>
                <a:latin typeface="Aptos"/>
              </a:rPr>
              <a:t>Smaldore</a:t>
            </a:r>
            <a:r>
              <a:rPr lang="en-GB" sz="2000" i="0" u="none" strike="noStrike">
                <a:solidFill>
                  <a:schemeClr val="accent5"/>
                </a:solidFill>
                <a:effectLst/>
                <a:latin typeface="Aptos"/>
              </a:rPr>
              <a:t>  |  Gift </a:t>
            </a:r>
            <a:r>
              <a:rPr lang="en-GB" sz="2000" i="0" u="none" strike="noStrike" err="1">
                <a:solidFill>
                  <a:schemeClr val="accent5"/>
                </a:solidFill>
                <a:effectLst/>
                <a:latin typeface="Aptos"/>
              </a:rPr>
              <a:t>Ndukwu</a:t>
            </a:r>
            <a:r>
              <a:rPr lang="en-GB" sz="2000" i="0">
                <a:solidFill>
                  <a:schemeClr val="accent5"/>
                </a:solidFill>
                <a:effectLst/>
                <a:latin typeface="Aptos"/>
              </a:rPr>
              <a:t>​</a:t>
            </a:r>
            <a:r>
              <a:rPr lang="en-GB" sz="2000">
                <a:solidFill>
                  <a:schemeClr val="accent5"/>
                </a:solidFill>
                <a:latin typeface="Aptos"/>
              </a:rPr>
              <a:t> |  </a:t>
            </a:r>
            <a:r>
              <a:rPr lang="en-GB" sz="2000" i="0" u="none" strike="noStrike">
                <a:solidFill>
                  <a:schemeClr val="accent5"/>
                </a:solidFill>
                <a:effectLst/>
                <a:latin typeface="Aptos"/>
              </a:rPr>
              <a:t>Hena Adlakha  |  </a:t>
            </a:r>
            <a:r>
              <a:rPr lang="en-GB" sz="2000" i="0" u="none" strike="noStrike" err="1">
                <a:solidFill>
                  <a:schemeClr val="accent5"/>
                </a:solidFill>
                <a:effectLst/>
                <a:latin typeface="Aptos"/>
              </a:rPr>
              <a:t>Jinish</a:t>
            </a:r>
            <a:r>
              <a:rPr lang="en-GB" sz="2000" i="0" u="none" strike="noStrike">
                <a:solidFill>
                  <a:schemeClr val="accent5"/>
                </a:solidFill>
                <a:effectLst/>
                <a:latin typeface="Aptos"/>
              </a:rPr>
              <a:t> Rajan  |  Meave Graham</a:t>
            </a:r>
            <a:r>
              <a:rPr lang="en-US" sz="2000" i="0" u="none" strike="noStrike">
                <a:solidFill>
                  <a:schemeClr val="accent5"/>
                </a:solidFill>
                <a:effectLst/>
                <a:latin typeface="Aptos"/>
              </a:rPr>
              <a:t>​</a:t>
            </a:r>
            <a:r>
              <a:rPr lang="en-US" sz="2000" i="0">
                <a:solidFill>
                  <a:schemeClr val="accent5"/>
                </a:solidFill>
                <a:effectLst/>
                <a:latin typeface="Aptos"/>
              </a:rPr>
              <a:t>​</a:t>
            </a:r>
          </a:p>
        </p:txBody>
      </p:sp>
      <p:pic>
        <p:nvPicPr>
          <p:cNvPr id="10" name="Picture 9">
            <a:extLst>
              <a:ext uri="{FF2B5EF4-FFF2-40B4-BE49-F238E27FC236}">
                <a16:creationId xmlns:a16="http://schemas.microsoft.com/office/drawing/2014/main" id="{8C8BBFA0-43A6-A74B-9FB5-D03A48C729B0}"/>
              </a:ext>
            </a:extLst>
          </p:cNvPr>
          <p:cNvPicPr>
            <a:picLocks noChangeAspect="1"/>
          </p:cNvPicPr>
          <p:nvPr/>
        </p:nvPicPr>
        <p:blipFill>
          <a:blip r:embed="rId3"/>
          <a:stretch>
            <a:fillRect/>
          </a:stretch>
        </p:blipFill>
        <p:spPr>
          <a:xfrm>
            <a:off x="5521169" y="1497267"/>
            <a:ext cx="6062870" cy="3316814"/>
          </a:xfrm>
          <a:prstGeom prst="rect">
            <a:avLst/>
          </a:prstGeom>
          <a:ln>
            <a:noFill/>
          </a:ln>
          <a:effectLst>
            <a:softEdge rad="112500"/>
          </a:effectLst>
        </p:spPr>
      </p:pic>
    </p:spTree>
    <p:extLst>
      <p:ext uri="{BB962C8B-B14F-4D97-AF65-F5344CB8AC3E}">
        <p14:creationId xmlns:p14="http://schemas.microsoft.com/office/powerpoint/2010/main" val="170018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0E39CF-8A6A-240F-F28F-B7FE597DF0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34786A5-DD0B-B23F-533E-83603C8DB406}"/>
              </a:ext>
            </a:extLst>
          </p:cNvPr>
          <p:cNvSpPr/>
          <p:nvPr/>
        </p:nvSpPr>
        <p:spPr>
          <a:xfrm>
            <a:off x="320040" y="91440"/>
            <a:ext cx="11521440" cy="54864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700" b="1">
                <a:solidFill>
                  <a:srgbClr val="1B2A4A"/>
                </a:solidFill>
                <a:latin typeface="Calibri"/>
                <a:ea typeface="Calibri"/>
                <a:cs typeface="Calibri"/>
              </a:rPr>
              <a:t>Our Story</a:t>
            </a:r>
          </a:p>
        </p:txBody>
      </p:sp>
      <p:sp>
        <p:nvSpPr>
          <p:cNvPr id="3" name="Shape 1">
            <a:extLst>
              <a:ext uri="{FF2B5EF4-FFF2-40B4-BE49-F238E27FC236}">
                <a16:creationId xmlns:a16="http://schemas.microsoft.com/office/drawing/2014/main" id="{413AB849-0B3A-D9C4-1084-425D7D0F55B5}"/>
              </a:ext>
            </a:extLst>
          </p:cNvPr>
          <p:cNvSpPr/>
          <p:nvPr/>
        </p:nvSpPr>
        <p:spPr>
          <a:xfrm>
            <a:off x="320040" y="667512"/>
            <a:ext cx="1371600" cy="41148"/>
          </a:xfrm>
          <a:prstGeom prst="rect">
            <a:avLst/>
          </a:prstGeom>
          <a:solidFill>
            <a:srgbClr val="E07B39"/>
          </a:solidFill>
          <a:ln w="12700">
            <a:solidFill>
              <a:srgbClr val="E07B39"/>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 name="Text 10">
            <a:extLst>
              <a:ext uri="{FF2B5EF4-FFF2-40B4-BE49-F238E27FC236}">
                <a16:creationId xmlns:a16="http://schemas.microsoft.com/office/drawing/2014/main" id="{686D5F25-474B-1F27-7CAC-C08D403FB009}"/>
              </a:ext>
            </a:extLst>
          </p:cNvPr>
          <p:cNvSpPr/>
          <p:nvPr/>
        </p:nvSpPr>
        <p:spPr>
          <a:xfrm>
            <a:off x="2642616"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14" name="Text 11">
            <a:extLst>
              <a:ext uri="{FF2B5EF4-FFF2-40B4-BE49-F238E27FC236}">
                <a16:creationId xmlns:a16="http://schemas.microsoft.com/office/drawing/2014/main" id="{EFF75D6A-AA18-A29A-4C5E-CD97CBFD930C}"/>
              </a:ext>
            </a:extLst>
          </p:cNvPr>
          <p:cNvSpPr/>
          <p:nvPr/>
        </p:nvSpPr>
        <p:spPr>
          <a:xfrm>
            <a:off x="3063240" y="1060704"/>
            <a:ext cx="1682496" cy="219456"/>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800"/>
          </a:p>
        </p:txBody>
      </p:sp>
      <p:sp>
        <p:nvSpPr>
          <p:cNvPr id="15" name="Text 12">
            <a:extLst>
              <a:ext uri="{FF2B5EF4-FFF2-40B4-BE49-F238E27FC236}">
                <a16:creationId xmlns:a16="http://schemas.microsoft.com/office/drawing/2014/main" id="{5D5086FF-7A6C-46FE-66CD-343BFAEC4558}"/>
              </a:ext>
            </a:extLst>
          </p:cNvPr>
          <p:cNvSpPr/>
          <p:nvPr/>
        </p:nvSpPr>
        <p:spPr>
          <a:xfrm>
            <a:off x="3099816" y="1261872"/>
            <a:ext cx="1682496" cy="237744"/>
          </a:xfrm>
          <a:prstGeom prst="rect">
            <a:avLst/>
          </a:prstGeom>
          <a:noFill/>
          <a:ln/>
        </p:spPr>
        <p:txBody>
          <a:bodyPr wrap="square" lIns="0" tIns="0" rIns="0" bIns="0" rtlCol="0" anchor="t"/>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300" b="1">
              <a:solidFill>
                <a:srgbClr val="E07B39"/>
              </a:solidFill>
            </a:endParaRPr>
          </a:p>
        </p:txBody>
      </p:sp>
      <p:sp>
        <p:nvSpPr>
          <p:cNvPr id="18" name="Text 15">
            <a:extLst>
              <a:ext uri="{FF2B5EF4-FFF2-40B4-BE49-F238E27FC236}">
                <a16:creationId xmlns:a16="http://schemas.microsoft.com/office/drawing/2014/main" id="{16014260-70A3-412B-A403-EDF093F351AC}"/>
              </a:ext>
            </a:extLst>
          </p:cNvPr>
          <p:cNvSpPr/>
          <p:nvPr/>
        </p:nvSpPr>
        <p:spPr>
          <a:xfrm>
            <a:off x="4946904"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23" name="Text 20">
            <a:extLst>
              <a:ext uri="{FF2B5EF4-FFF2-40B4-BE49-F238E27FC236}">
                <a16:creationId xmlns:a16="http://schemas.microsoft.com/office/drawing/2014/main" id="{37F16815-F406-CBAB-8192-001CDC0EC8B3}"/>
              </a:ext>
            </a:extLst>
          </p:cNvPr>
          <p:cNvSpPr/>
          <p:nvPr/>
        </p:nvSpPr>
        <p:spPr>
          <a:xfrm>
            <a:off x="7251192"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29" name="Text 26">
            <a:extLst>
              <a:ext uri="{FF2B5EF4-FFF2-40B4-BE49-F238E27FC236}">
                <a16:creationId xmlns:a16="http://schemas.microsoft.com/office/drawing/2014/main" id="{4C59508E-6DB2-659E-E9F0-17C5F73F294F}"/>
              </a:ext>
            </a:extLst>
          </p:cNvPr>
          <p:cNvSpPr/>
          <p:nvPr/>
        </p:nvSpPr>
        <p:spPr>
          <a:xfrm>
            <a:off x="10012680" y="1060704"/>
            <a:ext cx="1682496" cy="219456"/>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800"/>
          </a:p>
        </p:txBody>
      </p:sp>
      <p:sp>
        <p:nvSpPr>
          <p:cNvPr id="35" name="Text 32">
            <a:extLst>
              <a:ext uri="{FF2B5EF4-FFF2-40B4-BE49-F238E27FC236}">
                <a16:creationId xmlns:a16="http://schemas.microsoft.com/office/drawing/2014/main" id="{F5A89E35-A750-8C7D-D56D-71520B66AAA7}"/>
              </a:ext>
            </a:extLst>
          </p:cNvPr>
          <p:cNvSpPr/>
          <p:nvPr/>
        </p:nvSpPr>
        <p:spPr>
          <a:xfrm>
            <a:off x="411480" y="2176272"/>
            <a:ext cx="370332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38" name="Text 35">
            <a:extLst>
              <a:ext uri="{FF2B5EF4-FFF2-40B4-BE49-F238E27FC236}">
                <a16:creationId xmlns:a16="http://schemas.microsoft.com/office/drawing/2014/main" id="{A2CCA8A8-7C9A-9489-5335-67036735C68B}"/>
              </a:ext>
            </a:extLst>
          </p:cNvPr>
          <p:cNvSpPr/>
          <p:nvPr/>
        </p:nvSpPr>
        <p:spPr>
          <a:xfrm>
            <a:off x="4434840" y="2176272"/>
            <a:ext cx="411480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41" name="Text 38">
            <a:extLst>
              <a:ext uri="{FF2B5EF4-FFF2-40B4-BE49-F238E27FC236}">
                <a16:creationId xmlns:a16="http://schemas.microsoft.com/office/drawing/2014/main" id="{B209B3F3-3C20-FCBF-DFFC-EAD294F3EE3B}"/>
              </a:ext>
            </a:extLst>
          </p:cNvPr>
          <p:cNvSpPr/>
          <p:nvPr/>
        </p:nvSpPr>
        <p:spPr>
          <a:xfrm>
            <a:off x="8869680" y="2176272"/>
            <a:ext cx="288036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44" name="Text 41">
            <a:extLst>
              <a:ext uri="{FF2B5EF4-FFF2-40B4-BE49-F238E27FC236}">
                <a16:creationId xmlns:a16="http://schemas.microsoft.com/office/drawing/2014/main" id="{60E60437-2DE9-102E-081A-26CCABC6D796}"/>
              </a:ext>
            </a:extLst>
          </p:cNvPr>
          <p:cNvSpPr/>
          <p:nvPr/>
        </p:nvSpPr>
        <p:spPr>
          <a:xfrm>
            <a:off x="8878824" y="4745736"/>
            <a:ext cx="292608" cy="292608"/>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50" name="Shape 47">
            <a:extLst>
              <a:ext uri="{FF2B5EF4-FFF2-40B4-BE49-F238E27FC236}">
                <a16:creationId xmlns:a16="http://schemas.microsoft.com/office/drawing/2014/main" id="{0E8F6AED-C775-EE34-2B68-6C85C9A91FC0}"/>
              </a:ext>
            </a:extLst>
          </p:cNvPr>
          <p:cNvSpPr/>
          <p:nvPr/>
        </p:nvSpPr>
        <p:spPr>
          <a:xfrm>
            <a:off x="15886" y="6336792"/>
            <a:ext cx="12161520" cy="521208"/>
          </a:xfrm>
          <a:prstGeom prst="rect">
            <a:avLst/>
          </a:prstGeom>
          <a:solidFill>
            <a:srgbClr val="1B2A4A"/>
          </a:solidFill>
          <a:ln/>
        </p:spPr>
        <p:txBody>
          <a:bodyPr lIns="91440" tIns="45720" rIns="91440" bIns="45720" anchor="t"/>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 </a:t>
            </a:r>
            <a:r>
              <a:rPr lang="en-US" sz="1400" b="1">
                <a:solidFill>
                  <a:schemeClr val="bg1"/>
                </a:solidFill>
              </a:rPr>
              <a:t>Goal: to move from understanding melanoma biology to supporting </a:t>
            </a:r>
            <a:r>
              <a:rPr lang="en-US" sz="1400" b="1" err="1">
                <a:solidFill>
                  <a:schemeClr val="bg1"/>
                </a:solidFill>
              </a:rPr>
              <a:t>personalised</a:t>
            </a:r>
            <a:r>
              <a:rPr lang="en-US" sz="1400" b="1">
                <a:solidFill>
                  <a:schemeClr val="bg1"/>
                </a:solidFill>
              </a:rPr>
              <a:t> treatment decisions</a:t>
            </a:r>
          </a:p>
        </p:txBody>
      </p:sp>
      <p:sp>
        <p:nvSpPr>
          <p:cNvPr id="52" name="Text 49">
            <a:extLst>
              <a:ext uri="{FF2B5EF4-FFF2-40B4-BE49-F238E27FC236}">
                <a16:creationId xmlns:a16="http://schemas.microsoft.com/office/drawing/2014/main" id="{6AC84ECB-4DAD-B8A3-2FD2-1257E57CDAD2}"/>
              </a:ext>
            </a:extLst>
          </p:cNvPr>
          <p:cNvSpPr/>
          <p:nvPr/>
        </p:nvSpPr>
        <p:spPr>
          <a:xfrm>
            <a:off x="228600" y="6441948"/>
            <a:ext cx="310896" cy="310896"/>
          </a:xfrm>
          <a:prstGeom prst="rect">
            <a:avLst/>
          </a:prstGeom>
          <a:noFill/>
          <a:ln/>
        </p:spPr>
        <p:txBody>
          <a:bodyPr wrap="square"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400"/>
          </a:p>
        </p:txBody>
      </p:sp>
      <p:sp>
        <p:nvSpPr>
          <p:cNvPr id="53" name="Text 50">
            <a:extLst>
              <a:ext uri="{FF2B5EF4-FFF2-40B4-BE49-F238E27FC236}">
                <a16:creationId xmlns:a16="http://schemas.microsoft.com/office/drawing/2014/main" id="{AEDB3417-66C2-2771-75B3-30DF9E6870EC}"/>
              </a:ext>
            </a:extLst>
          </p:cNvPr>
          <p:cNvSpPr/>
          <p:nvPr/>
        </p:nvSpPr>
        <p:spPr>
          <a:xfrm>
            <a:off x="658368" y="6336792"/>
            <a:ext cx="11356848" cy="521208"/>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400" b="1"/>
          </a:p>
        </p:txBody>
      </p:sp>
      <p:sp>
        <p:nvSpPr>
          <p:cNvPr id="54" name="Text 51">
            <a:extLst>
              <a:ext uri="{FF2B5EF4-FFF2-40B4-BE49-F238E27FC236}">
                <a16:creationId xmlns:a16="http://schemas.microsoft.com/office/drawing/2014/main" id="{BF883919-02A5-B784-F661-E33A7363DD7F}"/>
              </a:ext>
            </a:extLst>
          </p:cNvPr>
          <p:cNvSpPr/>
          <p:nvPr/>
        </p:nvSpPr>
        <p:spPr>
          <a:xfrm>
            <a:off x="658368" y="6336792"/>
            <a:ext cx="1371600" cy="521208"/>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50" b="1">
              <a:solidFill>
                <a:srgbClr val="FFFFFF"/>
              </a:solidFill>
            </a:endParaRPr>
          </a:p>
        </p:txBody>
      </p:sp>
      <p:graphicFrame>
        <p:nvGraphicFramePr>
          <p:cNvPr id="7" name="Table 6">
            <a:extLst>
              <a:ext uri="{FF2B5EF4-FFF2-40B4-BE49-F238E27FC236}">
                <a16:creationId xmlns:a16="http://schemas.microsoft.com/office/drawing/2014/main" id="{B3CAD197-58A5-9CDD-29FD-6696024EED0F}"/>
              </a:ext>
            </a:extLst>
          </p:cNvPr>
          <p:cNvGraphicFramePr>
            <a:graphicFrameLocks noGrp="1"/>
          </p:cNvGraphicFramePr>
          <p:nvPr>
            <p:extLst>
              <p:ext uri="{D42A27DB-BD31-4B8C-83A1-F6EECF244321}">
                <p14:modId xmlns:p14="http://schemas.microsoft.com/office/powerpoint/2010/main" val="3729451574"/>
              </p:ext>
            </p:extLst>
          </p:nvPr>
        </p:nvGraphicFramePr>
        <p:xfrm>
          <a:off x="914400" y="1008993"/>
          <a:ext cx="10915284" cy="4903567"/>
        </p:xfrm>
        <a:graphic>
          <a:graphicData uri="http://schemas.openxmlformats.org/drawingml/2006/table">
            <a:tbl>
              <a:tblPr firstRow="1" bandRow="1">
                <a:tableStyleId>{E8B1032C-EA38-4F05-BA0D-38AFFFC7BED3}</a:tableStyleId>
              </a:tblPr>
              <a:tblGrid>
                <a:gridCol w="1296536">
                  <a:extLst>
                    <a:ext uri="{9D8B030D-6E8A-4147-A177-3AD203B41FA5}">
                      <a16:colId xmlns:a16="http://schemas.microsoft.com/office/drawing/2014/main" val="697768273"/>
                    </a:ext>
                  </a:extLst>
                </a:gridCol>
                <a:gridCol w="4572000">
                  <a:extLst>
                    <a:ext uri="{9D8B030D-6E8A-4147-A177-3AD203B41FA5}">
                      <a16:colId xmlns:a16="http://schemas.microsoft.com/office/drawing/2014/main" val="1140534713"/>
                    </a:ext>
                  </a:extLst>
                </a:gridCol>
                <a:gridCol w="5046748">
                  <a:extLst>
                    <a:ext uri="{9D8B030D-6E8A-4147-A177-3AD203B41FA5}">
                      <a16:colId xmlns:a16="http://schemas.microsoft.com/office/drawing/2014/main" val="2786878590"/>
                    </a:ext>
                  </a:extLst>
                </a:gridCol>
              </a:tblGrid>
              <a:tr h="701422">
                <a:tc>
                  <a:txBody>
                    <a:bodyPr/>
                    <a:lstStyle/>
                    <a:p>
                      <a:r>
                        <a:rPr lang="en-IE" b="1"/>
                        <a:t>Speaker</a:t>
                      </a:r>
                    </a:p>
                  </a:txBody>
                  <a:tcPr/>
                </a:tc>
                <a:tc>
                  <a:txBody>
                    <a:bodyPr/>
                    <a:lstStyle/>
                    <a:p>
                      <a:pPr lvl="0">
                        <a:buNone/>
                      </a:pPr>
                      <a:r>
                        <a:rPr lang="en-IE" b="1"/>
                        <a:t>Content / Research Question</a:t>
                      </a:r>
                    </a:p>
                  </a:txBody>
                  <a:tcPr/>
                </a:tc>
                <a:tc>
                  <a:txBody>
                    <a:bodyPr/>
                    <a:lstStyle/>
                    <a:p>
                      <a:pPr lvl="0">
                        <a:buNone/>
                      </a:pPr>
                      <a:r>
                        <a:rPr lang="en-IE" b="1"/>
                        <a:t>Source</a:t>
                      </a:r>
                    </a:p>
                  </a:txBody>
                  <a:tcPr/>
                </a:tc>
                <a:extLst>
                  <a:ext uri="{0D108BD9-81ED-4DB2-BD59-A6C34878D82A}">
                    <a16:rowId xmlns:a16="http://schemas.microsoft.com/office/drawing/2014/main" val="1614804167"/>
                  </a:ext>
                </a:extLst>
              </a:tr>
              <a:tr h="625522">
                <a:tc>
                  <a:txBody>
                    <a:bodyPr/>
                    <a:lstStyle/>
                    <a:p>
                      <a:pPr lvl="0">
                        <a:buNone/>
                      </a:pPr>
                      <a:r>
                        <a:rPr lang="en-IE" sz="1400"/>
                        <a:t>Meave</a:t>
                      </a:r>
                    </a:p>
                  </a:txBody>
                  <a:tcPr/>
                </a:tc>
                <a:tc>
                  <a:txBody>
                    <a:bodyPr/>
                    <a:lstStyle/>
                    <a:p>
                      <a:pPr lvl="0">
                        <a:buNone/>
                      </a:pPr>
                      <a:r>
                        <a:rPr lang="en-IE" sz="1400" b="1"/>
                        <a:t>Why Melanoma?</a:t>
                      </a:r>
                    </a:p>
                  </a:txBody>
                  <a:tcPr/>
                </a:tc>
                <a:tc>
                  <a:txBody>
                    <a:bodyPr/>
                    <a:lstStyle/>
                    <a:p>
                      <a:pPr lvl="0">
                        <a:buNone/>
                      </a:pPr>
                      <a:r>
                        <a:rPr lang="en-IE" sz="1400"/>
                        <a:t>Literature Overview</a:t>
                      </a:r>
                    </a:p>
                  </a:txBody>
                  <a:tcPr/>
                </a:tc>
                <a:extLst>
                  <a:ext uri="{0D108BD9-81ED-4DB2-BD59-A6C34878D82A}">
                    <a16:rowId xmlns:a16="http://schemas.microsoft.com/office/drawing/2014/main" val="2300707936"/>
                  </a:ext>
                </a:extLst>
              </a:tr>
              <a:tr h="955343">
                <a:tc>
                  <a:txBody>
                    <a:bodyPr/>
                    <a:lstStyle/>
                    <a:p>
                      <a:pPr lvl="0">
                        <a:buNone/>
                      </a:pPr>
                      <a:r>
                        <a:rPr lang="en-IE" sz="1400" b="0"/>
                        <a:t>Anthony &amp; Jinish</a:t>
                      </a:r>
                    </a:p>
                  </a:txBody>
                  <a:tcPr/>
                </a:tc>
                <a:tc>
                  <a:txBody>
                    <a:bodyPr/>
                    <a:lstStyle/>
                    <a:p>
                      <a:pPr lvl="0" algn="l">
                        <a:lnSpc>
                          <a:spcPct val="100000"/>
                        </a:lnSpc>
                        <a:spcBef>
                          <a:spcPts val="0"/>
                        </a:spcBef>
                        <a:spcAft>
                          <a:spcPts val="0"/>
                        </a:spcAft>
                        <a:buNone/>
                      </a:pPr>
                      <a:r>
                        <a:rPr lang="en-IE" sz="1400" b="1" i="0" u="none" strike="noStrike" noProof="0">
                          <a:latin typeface="Trade Gothic Next Light"/>
                        </a:rPr>
                        <a:t>Can a mechanistic ODE model predict how melanoma patients respond to targeted therapy and immunotherapy?</a:t>
                      </a:r>
                      <a:endParaRPr lang="en-US" sz="1400" b="1"/>
                    </a:p>
                  </a:txBody>
                  <a:tcPr/>
                </a:tc>
                <a:tc>
                  <a:txBody>
                    <a:bodyPr/>
                    <a:lstStyle/>
                    <a:p>
                      <a:pPr lvl="0" algn="l">
                        <a:lnSpc>
                          <a:spcPct val="100000"/>
                        </a:lnSpc>
                        <a:spcBef>
                          <a:spcPts val="0"/>
                        </a:spcBef>
                        <a:spcAft>
                          <a:spcPts val="0"/>
                        </a:spcAft>
                        <a:buNone/>
                      </a:pPr>
                      <a:r>
                        <a:rPr lang="en-IE" sz="1400" b="0" i="0" u="none" strike="noStrike" noProof="0">
                          <a:latin typeface="Trade Gothic Next Light"/>
                        </a:rPr>
                        <a:t>TCGA-SKCM (PanCancer Atlas 2018): RNA-seq expression, mutation, clinical/survival, and proteomics data.</a:t>
                      </a:r>
                      <a:endParaRPr lang="en-IE" sz="1400" b="0"/>
                    </a:p>
                  </a:txBody>
                  <a:tcPr/>
                </a:tc>
                <a:extLst>
                  <a:ext uri="{0D108BD9-81ED-4DB2-BD59-A6C34878D82A}">
                    <a16:rowId xmlns:a16="http://schemas.microsoft.com/office/drawing/2014/main" val="2282935651"/>
                  </a:ext>
                </a:extLst>
              </a:tr>
              <a:tr h="701422">
                <a:tc>
                  <a:txBody>
                    <a:bodyPr/>
                    <a:lstStyle/>
                    <a:p>
                      <a:r>
                        <a:rPr lang="en-IE" sz="1400" b="0"/>
                        <a:t>Amanda</a:t>
                      </a:r>
                    </a:p>
                  </a:txBody>
                  <a:tcPr/>
                </a:tc>
                <a:tc>
                  <a:txBody>
                    <a:bodyPr/>
                    <a:lstStyle/>
                    <a:p>
                      <a:pPr lvl="0" algn="l">
                        <a:lnSpc>
                          <a:spcPct val="100000"/>
                        </a:lnSpc>
                        <a:spcBef>
                          <a:spcPts val="0"/>
                        </a:spcBef>
                        <a:spcAft>
                          <a:spcPts val="0"/>
                        </a:spcAft>
                        <a:buNone/>
                      </a:pPr>
                      <a:r>
                        <a:rPr lang="en-US" sz="1400" b="1" i="0" u="none" strike="noStrike" noProof="0">
                          <a:solidFill>
                            <a:srgbClr val="000000"/>
                          </a:solidFill>
                          <a:latin typeface="Trade Gothic Next Light"/>
                        </a:rPr>
                        <a:t>Can a biologically grounded machine learning framework accurately predict immunotherapy response and generalise across clinical trial cohorts?</a:t>
                      </a:r>
                      <a:endParaRPr lang="en-IE" sz="1400" b="0" i="0" u="none" strike="noStrike" noProof="0">
                        <a:latin typeface="Trade Gothic Next Light"/>
                      </a:endParaRPr>
                    </a:p>
                  </a:txBody>
                  <a:tcPr/>
                </a:tc>
                <a:tc>
                  <a:txBody>
                    <a:bodyPr/>
                    <a:lstStyle/>
                    <a:p>
                      <a:pPr lvl="0">
                        <a:buNone/>
                      </a:pPr>
                      <a:r>
                        <a:rPr lang="en-IE" sz="1400" b="0" i="0" u="none" strike="noStrike" noProof="0"/>
                        <a:t>3 iAtlas cohorts</a:t>
                      </a:r>
                      <a:endParaRPr lang="en-US"/>
                    </a:p>
                  </a:txBody>
                  <a:tcPr/>
                </a:tc>
                <a:extLst>
                  <a:ext uri="{0D108BD9-81ED-4DB2-BD59-A6C34878D82A}">
                    <a16:rowId xmlns:a16="http://schemas.microsoft.com/office/drawing/2014/main" val="3071413749"/>
                  </a:ext>
                </a:extLst>
              </a:tr>
              <a:tr h="701422">
                <a:tc>
                  <a:txBody>
                    <a:bodyPr/>
                    <a:lstStyle/>
                    <a:p>
                      <a:r>
                        <a:rPr lang="en-IE" sz="1400" b="0"/>
                        <a:t>Gift</a:t>
                      </a:r>
                    </a:p>
                  </a:txBody>
                  <a:tcPr/>
                </a:tc>
                <a:tc>
                  <a:txBody>
                    <a:bodyPr/>
                    <a:lstStyle/>
                    <a:p>
                      <a:pPr lvl="0" algn="l">
                        <a:lnSpc>
                          <a:spcPct val="100000"/>
                        </a:lnSpc>
                        <a:spcBef>
                          <a:spcPts val="0"/>
                        </a:spcBef>
                        <a:spcAft>
                          <a:spcPts val="0"/>
                        </a:spcAft>
                        <a:buNone/>
                      </a:pPr>
                      <a:r>
                        <a:rPr lang="en-IE" sz="1400" b="1" i="0" u="none" strike="noStrike" noProof="0">
                          <a:solidFill>
                            <a:srgbClr val="000000"/>
                          </a:solidFill>
                        </a:rPr>
                        <a:t>Can we predict melanoma cell viability under standard-of-care drug treatment from gene expression, and does it align with predicted immunotherapy response?</a:t>
                      </a:r>
                      <a:endParaRPr lang="en-US" b="1"/>
                    </a:p>
                  </a:txBody>
                  <a:tcPr/>
                </a:tc>
                <a:tc>
                  <a:txBody>
                    <a:bodyPr/>
                    <a:lstStyle/>
                    <a:p>
                      <a:pPr lvl="0" algn="l">
                        <a:lnSpc>
                          <a:spcPct val="100000"/>
                        </a:lnSpc>
                        <a:spcBef>
                          <a:spcPts val="0"/>
                        </a:spcBef>
                        <a:spcAft>
                          <a:spcPts val="0"/>
                        </a:spcAft>
                        <a:buNone/>
                      </a:pPr>
                      <a:r>
                        <a:rPr lang="en-IE" sz="1400" b="0" i="0" u="none" strike="noStrike" noProof="0">
                          <a:solidFill>
                            <a:srgbClr val="000000"/>
                          </a:solidFill>
                          <a:latin typeface="Trade Gothic Next Light"/>
                        </a:rPr>
                        <a:t>GDSC2 drug response (AUC), DepMap RNA expression, </a:t>
                      </a:r>
                      <a:br>
                        <a:rPr lang="en-IE" sz="1400" b="0" i="0" u="none" strike="noStrike" noProof="0">
                          <a:solidFill>
                            <a:srgbClr val="000000"/>
                          </a:solidFill>
                          <a:latin typeface="Trade Gothic Next Light"/>
                        </a:rPr>
                      </a:br>
                      <a:r>
                        <a:rPr lang="en-IE" sz="1400" b="0" i="0" u="none" strike="noStrike" noProof="0">
                          <a:solidFill>
                            <a:srgbClr val="000000"/>
                          </a:solidFill>
                          <a:latin typeface="Trade Gothic Next Light"/>
                        </a:rPr>
                        <a:t>TCGA-SKCM (cBioPortal) patient expression</a:t>
                      </a:r>
                    </a:p>
                    <a:p>
                      <a:pPr lvl="0">
                        <a:buNone/>
                      </a:pPr>
                      <a:endParaRPr lang="en-IE" sz="1400" b="0"/>
                    </a:p>
                  </a:txBody>
                  <a:tcPr/>
                </a:tc>
                <a:extLst>
                  <a:ext uri="{0D108BD9-81ED-4DB2-BD59-A6C34878D82A}">
                    <a16:rowId xmlns:a16="http://schemas.microsoft.com/office/drawing/2014/main" val="1843430423"/>
                  </a:ext>
                </a:extLst>
              </a:tr>
              <a:tr h="1068834">
                <a:tc>
                  <a:txBody>
                    <a:bodyPr/>
                    <a:lstStyle/>
                    <a:p>
                      <a:r>
                        <a:rPr lang="en-IE" sz="1400" b="0"/>
                        <a:t>Hena</a:t>
                      </a:r>
                    </a:p>
                  </a:txBody>
                  <a:tcPr/>
                </a:tc>
                <a:tc>
                  <a:txBody>
                    <a:bodyPr/>
                    <a:lstStyle/>
                    <a:p>
                      <a:pPr lvl="0" algn="l">
                        <a:lnSpc>
                          <a:spcPct val="100000"/>
                        </a:lnSpc>
                        <a:spcBef>
                          <a:spcPts val="0"/>
                        </a:spcBef>
                        <a:spcAft>
                          <a:spcPts val="0"/>
                        </a:spcAft>
                        <a:buNone/>
                      </a:pPr>
                      <a:r>
                        <a:rPr lang="en-US" sz="1400" b="1" i="0" u="none" strike="noStrike" noProof="0">
                          <a:solidFill>
                            <a:srgbClr val="000000"/>
                          </a:solidFill>
                          <a:latin typeface="Trade Gothic Next Light"/>
                        </a:rPr>
                        <a:t>Can DepMap dependency and expression data identify melanoma-selective vulnerabilities and nominate potential new drug targets?</a:t>
                      </a:r>
                      <a:endParaRPr lang="en-IE" sz="1400" b="1" i="0" u="none" strike="noStrike" noProof="0">
                        <a:latin typeface="Trade Gothic Next Light"/>
                      </a:endParaRPr>
                    </a:p>
                  </a:txBody>
                  <a:tcPr/>
                </a:tc>
                <a:tc>
                  <a:txBody>
                    <a:bodyPr/>
                    <a:lstStyle/>
                    <a:p>
                      <a:pPr marL="285750" lvl="0" indent="-285750" algn="l">
                        <a:lnSpc>
                          <a:spcPct val="100000"/>
                        </a:lnSpc>
                        <a:spcBef>
                          <a:spcPts val="0"/>
                        </a:spcBef>
                        <a:spcAft>
                          <a:spcPts val="0"/>
                        </a:spcAft>
                        <a:buClr>
                          <a:srgbClr val="000000"/>
                        </a:buClr>
                        <a:buFont typeface="Arial"/>
                        <a:buChar char="•"/>
                      </a:pPr>
                      <a:r>
                        <a:rPr lang="en-US" sz="1400" b="0" i="0" u="none" strike="noStrike" kern="1200" noProof="0" err="1">
                          <a:solidFill>
                            <a:schemeClr val="tx1"/>
                          </a:solidFill>
                          <a:latin typeface="Trade Gothic Next Light"/>
                          <a:ea typeface="+mn-ea"/>
                          <a:cs typeface="+mn-cs"/>
                        </a:rPr>
                        <a:t>DepMap</a:t>
                      </a:r>
                      <a:r>
                        <a:rPr lang="en-US" sz="1400" b="0" i="0" u="none" strike="noStrike" kern="1200" noProof="0">
                          <a:solidFill>
                            <a:schemeClr val="tx1"/>
                          </a:solidFill>
                          <a:latin typeface="Trade Gothic Next Light"/>
                          <a:ea typeface="+mn-ea"/>
                          <a:cs typeface="+mn-cs"/>
                        </a:rPr>
                        <a:t> 24Q2: CRISPR dependency, RNA expression and cell-line metadata.</a:t>
                      </a:r>
                      <a:endParaRPr lang="en-US" sz="1400" b="0" i="0" u="none" strike="noStrike" noProof="0">
                        <a:solidFill>
                          <a:srgbClr val="000000"/>
                        </a:solidFill>
                        <a:latin typeface="Arial"/>
                        <a:cs typeface="Arial"/>
                      </a:endParaRPr>
                    </a:p>
                    <a:p>
                      <a:pPr marL="285750" lvl="0" indent="-285750" algn="l">
                        <a:lnSpc>
                          <a:spcPct val="100000"/>
                        </a:lnSpc>
                        <a:spcBef>
                          <a:spcPts val="0"/>
                        </a:spcBef>
                        <a:spcAft>
                          <a:spcPts val="0"/>
                        </a:spcAft>
                        <a:buFont typeface="Arial"/>
                        <a:buChar char="•"/>
                      </a:pPr>
                      <a:r>
                        <a:rPr lang="en-IE" sz="1400" b="0" i="0" u="none" strike="noStrike" noProof="0">
                          <a:latin typeface="Trade Gothic Next Light"/>
                        </a:rPr>
                        <a:t>CRISPR Chronos gene-effect data</a:t>
                      </a:r>
                      <a:endParaRPr lang="en-IE" sz="1400" b="0"/>
                    </a:p>
                    <a:p>
                      <a:pPr marL="285750" lvl="0" indent="-285750" algn="l">
                        <a:lnSpc>
                          <a:spcPct val="100000"/>
                        </a:lnSpc>
                        <a:spcBef>
                          <a:spcPts val="0"/>
                        </a:spcBef>
                        <a:spcAft>
                          <a:spcPts val="0"/>
                        </a:spcAft>
                        <a:buFont typeface="Arial"/>
                        <a:buChar char="•"/>
                      </a:pPr>
                      <a:r>
                        <a:rPr lang="en-IE" sz="1400" b="0" i="0" u="none" strike="noStrike" noProof="0">
                          <a:latin typeface="Trade Gothic Next Light"/>
                        </a:rPr>
                        <a:t>Dependency probability data</a:t>
                      </a:r>
                      <a:endParaRPr lang="en-IE" sz="1400" b="0"/>
                    </a:p>
                    <a:p>
                      <a:pPr marL="285750" lvl="0" indent="-285750" algn="l">
                        <a:lnSpc>
                          <a:spcPct val="100000"/>
                        </a:lnSpc>
                        <a:spcBef>
                          <a:spcPts val="0"/>
                        </a:spcBef>
                        <a:spcAft>
                          <a:spcPts val="0"/>
                        </a:spcAft>
                        <a:buFont typeface="Arial"/>
                        <a:buChar char="•"/>
                      </a:pPr>
                      <a:r>
                        <a:rPr lang="en-IE" sz="1400" b="0" i="0" u="none" strike="noStrike" noProof="0">
                          <a:latin typeface="Trade Gothic Next Light"/>
                        </a:rPr>
                        <a:t>CCLE expression data</a:t>
                      </a:r>
                      <a:endParaRPr lang="en-IE" sz="1400" b="0"/>
                    </a:p>
                  </a:txBody>
                  <a:tcPr/>
                </a:tc>
                <a:extLst>
                  <a:ext uri="{0D108BD9-81ED-4DB2-BD59-A6C34878D82A}">
                    <a16:rowId xmlns:a16="http://schemas.microsoft.com/office/drawing/2014/main" val="3831252766"/>
                  </a:ext>
                </a:extLst>
              </a:tr>
            </a:tbl>
          </a:graphicData>
        </a:graphic>
      </p:graphicFrame>
      <p:sp>
        <p:nvSpPr>
          <p:cNvPr id="4" name="TextBox 3">
            <a:extLst>
              <a:ext uri="{FF2B5EF4-FFF2-40B4-BE49-F238E27FC236}">
                <a16:creationId xmlns:a16="http://schemas.microsoft.com/office/drawing/2014/main" id="{95D319A2-AFD5-7896-8A26-88A7749D0D63}"/>
              </a:ext>
            </a:extLst>
          </p:cNvPr>
          <p:cNvSpPr txBox="1"/>
          <p:nvPr/>
        </p:nvSpPr>
        <p:spPr>
          <a:xfrm rot="-5400000">
            <a:off x="170597" y="2013044"/>
            <a:ext cx="2743200" cy="3657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5" name="TextBox 4">
            <a:extLst>
              <a:ext uri="{FF2B5EF4-FFF2-40B4-BE49-F238E27FC236}">
                <a16:creationId xmlns:a16="http://schemas.microsoft.com/office/drawing/2014/main" id="{EC17A81B-D67B-86D7-3650-93B107E0000A}"/>
              </a:ext>
            </a:extLst>
          </p:cNvPr>
          <p:cNvSpPr txBox="1"/>
          <p:nvPr/>
        </p:nvSpPr>
        <p:spPr>
          <a:xfrm rot="-5400000">
            <a:off x="109122" y="2694254"/>
            <a:ext cx="115096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0853C"/>
                </a:solidFill>
              </a:rPr>
              <a:t>Chapter 1</a:t>
            </a:r>
          </a:p>
        </p:txBody>
      </p:sp>
      <p:sp>
        <p:nvSpPr>
          <p:cNvPr id="8" name="TextBox 7">
            <a:extLst>
              <a:ext uri="{FF2B5EF4-FFF2-40B4-BE49-F238E27FC236}">
                <a16:creationId xmlns:a16="http://schemas.microsoft.com/office/drawing/2014/main" id="{45C29A82-E7CD-0CD6-A72F-591CF942E7B4}"/>
              </a:ext>
            </a:extLst>
          </p:cNvPr>
          <p:cNvSpPr txBox="1"/>
          <p:nvPr/>
        </p:nvSpPr>
        <p:spPr>
          <a:xfrm rot="16200000">
            <a:off x="109123" y="5423451"/>
            <a:ext cx="115096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0853C"/>
                </a:solidFill>
              </a:rPr>
              <a:t>Chapter 3</a:t>
            </a:r>
          </a:p>
        </p:txBody>
      </p:sp>
      <p:sp>
        <p:nvSpPr>
          <p:cNvPr id="9" name="TextBox 8">
            <a:extLst>
              <a:ext uri="{FF2B5EF4-FFF2-40B4-BE49-F238E27FC236}">
                <a16:creationId xmlns:a16="http://schemas.microsoft.com/office/drawing/2014/main" id="{BFE78448-60FF-8FFE-20B1-99985D9C06D6}"/>
              </a:ext>
            </a:extLst>
          </p:cNvPr>
          <p:cNvSpPr txBox="1"/>
          <p:nvPr/>
        </p:nvSpPr>
        <p:spPr>
          <a:xfrm rot="16200000">
            <a:off x="101346" y="3992913"/>
            <a:ext cx="115096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accent5"/>
                </a:solidFill>
              </a:rPr>
              <a:t>Chapter 2</a:t>
            </a:r>
          </a:p>
        </p:txBody>
      </p:sp>
      <p:sp>
        <p:nvSpPr>
          <p:cNvPr id="11" name="TextBox 10">
            <a:extLst>
              <a:ext uri="{FF2B5EF4-FFF2-40B4-BE49-F238E27FC236}">
                <a16:creationId xmlns:a16="http://schemas.microsoft.com/office/drawing/2014/main" id="{83B97E69-CF5D-D723-1849-A8097CA91206}"/>
              </a:ext>
            </a:extLst>
          </p:cNvPr>
          <p:cNvSpPr txBox="1"/>
          <p:nvPr/>
        </p:nvSpPr>
        <p:spPr>
          <a:xfrm rot="-5400000">
            <a:off x="340349" y="1819740"/>
            <a:ext cx="68325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accent5"/>
                </a:solidFill>
              </a:rPr>
              <a:t>Intro</a:t>
            </a:r>
            <a:endParaRPr lang="en-US"/>
          </a:p>
        </p:txBody>
      </p:sp>
      <p:sp>
        <p:nvSpPr>
          <p:cNvPr id="12" name="Shape 1">
            <a:extLst>
              <a:ext uri="{FF2B5EF4-FFF2-40B4-BE49-F238E27FC236}">
                <a16:creationId xmlns:a16="http://schemas.microsoft.com/office/drawing/2014/main" id="{6D317B07-77E4-A4B5-EAA7-EB5E5D0C9427}"/>
              </a:ext>
            </a:extLst>
          </p:cNvPr>
          <p:cNvSpPr/>
          <p:nvPr/>
        </p:nvSpPr>
        <p:spPr>
          <a:xfrm rot="16200000">
            <a:off x="144488" y="4092903"/>
            <a:ext cx="1579425" cy="49301"/>
          </a:xfrm>
          <a:prstGeom prst="rect">
            <a:avLst/>
          </a:prstGeom>
          <a:solidFill>
            <a:srgbClr val="E07B39"/>
          </a:solidFill>
          <a:ln w="12700">
            <a:solidFill>
              <a:srgbClr val="E07B39"/>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 name="Shape 1">
            <a:extLst>
              <a:ext uri="{FF2B5EF4-FFF2-40B4-BE49-F238E27FC236}">
                <a16:creationId xmlns:a16="http://schemas.microsoft.com/office/drawing/2014/main" id="{F7CA4E7B-B5A9-6371-9AC1-60770CB1F766}"/>
              </a:ext>
            </a:extLst>
          </p:cNvPr>
          <p:cNvSpPr/>
          <p:nvPr/>
        </p:nvSpPr>
        <p:spPr>
          <a:xfrm rot="16200000">
            <a:off x="622211" y="2020717"/>
            <a:ext cx="635876" cy="25384"/>
          </a:xfrm>
          <a:prstGeom prst="rect">
            <a:avLst/>
          </a:prstGeom>
          <a:solidFill>
            <a:srgbClr val="E07B39"/>
          </a:solidFill>
          <a:ln w="12700">
            <a:solidFill>
              <a:srgbClr val="E07B39"/>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Shape 1">
            <a:extLst>
              <a:ext uri="{FF2B5EF4-FFF2-40B4-BE49-F238E27FC236}">
                <a16:creationId xmlns:a16="http://schemas.microsoft.com/office/drawing/2014/main" id="{95E28CAB-E000-B4DF-6598-158FD0FE8300}"/>
              </a:ext>
            </a:extLst>
          </p:cNvPr>
          <p:cNvSpPr/>
          <p:nvPr/>
        </p:nvSpPr>
        <p:spPr>
          <a:xfrm rot="16200000">
            <a:off x="454045" y="2798484"/>
            <a:ext cx="961696" cy="46403"/>
          </a:xfrm>
          <a:prstGeom prst="rect">
            <a:avLst/>
          </a:prstGeom>
          <a:solidFill>
            <a:srgbClr val="00853C"/>
          </a:solidFill>
          <a:ln w="12700">
            <a:solidFill>
              <a:srgbClr val="00853C"/>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Shape 1">
            <a:extLst>
              <a:ext uri="{FF2B5EF4-FFF2-40B4-BE49-F238E27FC236}">
                <a16:creationId xmlns:a16="http://schemas.microsoft.com/office/drawing/2014/main" id="{E865ABA8-D26C-A224-60B4-4C885C66FC65}"/>
              </a:ext>
            </a:extLst>
          </p:cNvPr>
          <p:cNvSpPr/>
          <p:nvPr/>
        </p:nvSpPr>
        <p:spPr>
          <a:xfrm rot="16200000">
            <a:off x="367120" y="5458223"/>
            <a:ext cx="1156137" cy="35893"/>
          </a:xfrm>
          <a:prstGeom prst="rect">
            <a:avLst/>
          </a:prstGeom>
          <a:solidFill>
            <a:srgbClr val="00853C"/>
          </a:solidFill>
          <a:ln w="12700">
            <a:solidFill>
              <a:srgbClr val="00853C"/>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2345378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0E39CF-8A6A-240F-F28F-B7FE597DF0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34786A5-DD0B-B23F-533E-83603C8DB406}"/>
              </a:ext>
            </a:extLst>
          </p:cNvPr>
          <p:cNvSpPr/>
          <p:nvPr/>
        </p:nvSpPr>
        <p:spPr>
          <a:xfrm>
            <a:off x="348262" y="80152"/>
            <a:ext cx="6108418" cy="571216"/>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700" b="1">
                <a:solidFill>
                  <a:srgbClr val="1B2A4A"/>
                </a:solidFill>
                <a:latin typeface="Calibri" pitchFamily="34" charset="0"/>
                <a:cs typeface="Calibri" pitchFamily="34" charset="-120"/>
              </a:rPr>
              <a:t>Melanoma: Current Treatment Landscape</a:t>
            </a:r>
            <a:endParaRPr lang="en-US" sz="2700"/>
          </a:p>
        </p:txBody>
      </p:sp>
      <p:sp>
        <p:nvSpPr>
          <p:cNvPr id="3" name="Shape 1">
            <a:extLst>
              <a:ext uri="{FF2B5EF4-FFF2-40B4-BE49-F238E27FC236}">
                <a16:creationId xmlns:a16="http://schemas.microsoft.com/office/drawing/2014/main" id="{413AB849-0B3A-D9C4-1084-425D7D0F55B5}"/>
              </a:ext>
            </a:extLst>
          </p:cNvPr>
          <p:cNvSpPr/>
          <p:nvPr/>
        </p:nvSpPr>
        <p:spPr>
          <a:xfrm>
            <a:off x="320040" y="667512"/>
            <a:ext cx="1371600" cy="41148"/>
          </a:xfrm>
          <a:prstGeom prst="rect">
            <a:avLst/>
          </a:prstGeom>
          <a:solidFill>
            <a:srgbClr val="E07B39"/>
          </a:solidFill>
          <a:ln w="12700">
            <a:solidFill>
              <a:srgbClr val="E07B39"/>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 name="Text 10">
            <a:extLst>
              <a:ext uri="{FF2B5EF4-FFF2-40B4-BE49-F238E27FC236}">
                <a16:creationId xmlns:a16="http://schemas.microsoft.com/office/drawing/2014/main" id="{686D5F25-474B-1F27-7CAC-C08D403FB009}"/>
              </a:ext>
            </a:extLst>
          </p:cNvPr>
          <p:cNvSpPr/>
          <p:nvPr/>
        </p:nvSpPr>
        <p:spPr>
          <a:xfrm>
            <a:off x="2642616"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14" name="Text 11">
            <a:extLst>
              <a:ext uri="{FF2B5EF4-FFF2-40B4-BE49-F238E27FC236}">
                <a16:creationId xmlns:a16="http://schemas.microsoft.com/office/drawing/2014/main" id="{EFF75D6A-AA18-A29A-4C5E-CD97CBFD930C}"/>
              </a:ext>
            </a:extLst>
          </p:cNvPr>
          <p:cNvSpPr/>
          <p:nvPr/>
        </p:nvSpPr>
        <p:spPr>
          <a:xfrm>
            <a:off x="3063240" y="1060704"/>
            <a:ext cx="1682496" cy="219456"/>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800"/>
          </a:p>
        </p:txBody>
      </p:sp>
      <p:sp>
        <p:nvSpPr>
          <p:cNvPr id="15" name="Text 12">
            <a:extLst>
              <a:ext uri="{FF2B5EF4-FFF2-40B4-BE49-F238E27FC236}">
                <a16:creationId xmlns:a16="http://schemas.microsoft.com/office/drawing/2014/main" id="{5D5086FF-7A6C-46FE-66CD-343BFAEC4558}"/>
              </a:ext>
            </a:extLst>
          </p:cNvPr>
          <p:cNvSpPr/>
          <p:nvPr/>
        </p:nvSpPr>
        <p:spPr>
          <a:xfrm>
            <a:off x="3099816" y="1261872"/>
            <a:ext cx="1682496" cy="237744"/>
          </a:xfrm>
          <a:prstGeom prst="rect">
            <a:avLst/>
          </a:prstGeom>
          <a:noFill/>
          <a:ln/>
        </p:spPr>
        <p:txBody>
          <a:bodyPr wrap="square" lIns="0" tIns="0" rIns="0" bIns="0" rtlCol="0" anchor="t"/>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300" b="1">
              <a:solidFill>
                <a:srgbClr val="E07B39"/>
              </a:solidFill>
            </a:endParaRPr>
          </a:p>
        </p:txBody>
      </p:sp>
      <p:sp>
        <p:nvSpPr>
          <p:cNvPr id="18" name="Text 15">
            <a:extLst>
              <a:ext uri="{FF2B5EF4-FFF2-40B4-BE49-F238E27FC236}">
                <a16:creationId xmlns:a16="http://schemas.microsoft.com/office/drawing/2014/main" id="{16014260-70A3-412B-A403-EDF093F351AC}"/>
              </a:ext>
            </a:extLst>
          </p:cNvPr>
          <p:cNvSpPr/>
          <p:nvPr/>
        </p:nvSpPr>
        <p:spPr>
          <a:xfrm>
            <a:off x="4946904"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23" name="Text 20">
            <a:extLst>
              <a:ext uri="{FF2B5EF4-FFF2-40B4-BE49-F238E27FC236}">
                <a16:creationId xmlns:a16="http://schemas.microsoft.com/office/drawing/2014/main" id="{37F16815-F406-CBAB-8192-001CDC0EC8B3}"/>
              </a:ext>
            </a:extLst>
          </p:cNvPr>
          <p:cNvSpPr/>
          <p:nvPr/>
        </p:nvSpPr>
        <p:spPr>
          <a:xfrm>
            <a:off x="7189103" y="1368213"/>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29" name="Text 26">
            <a:extLst>
              <a:ext uri="{FF2B5EF4-FFF2-40B4-BE49-F238E27FC236}">
                <a16:creationId xmlns:a16="http://schemas.microsoft.com/office/drawing/2014/main" id="{4C59508E-6DB2-659E-E9F0-17C5F73F294F}"/>
              </a:ext>
            </a:extLst>
          </p:cNvPr>
          <p:cNvSpPr/>
          <p:nvPr/>
        </p:nvSpPr>
        <p:spPr>
          <a:xfrm>
            <a:off x="10012680" y="1060704"/>
            <a:ext cx="1682496" cy="219456"/>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800"/>
          </a:p>
        </p:txBody>
      </p:sp>
      <p:sp>
        <p:nvSpPr>
          <p:cNvPr id="33" name="Shape 30">
            <a:extLst>
              <a:ext uri="{FF2B5EF4-FFF2-40B4-BE49-F238E27FC236}">
                <a16:creationId xmlns:a16="http://schemas.microsoft.com/office/drawing/2014/main" id="{D2DBD7F2-381A-094E-1F72-8DB14BD0A662}"/>
              </a:ext>
            </a:extLst>
          </p:cNvPr>
          <p:cNvSpPr/>
          <p:nvPr/>
        </p:nvSpPr>
        <p:spPr>
          <a:xfrm>
            <a:off x="245186" y="1865054"/>
            <a:ext cx="3880556" cy="4145141"/>
          </a:xfrm>
          <a:prstGeom prst="roundRect">
            <a:avLst>
              <a:gd name="adj" fmla="val 2118"/>
            </a:avLst>
          </a:prstGeom>
          <a:solidFill>
            <a:srgbClr val="FFFFFF"/>
          </a:solidFill>
          <a:ln w="9525">
            <a:solidFill>
              <a:srgbClr val="D4DDE8"/>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 name="Shape 31">
            <a:extLst>
              <a:ext uri="{FF2B5EF4-FFF2-40B4-BE49-F238E27FC236}">
                <a16:creationId xmlns:a16="http://schemas.microsoft.com/office/drawing/2014/main" id="{DADDBD7F-E4F5-75A5-3497-93E076B4DBD6}"/>
              </a:ext>
            </a:extLst>
          </p:cNvPr>
          <p:cNvSpPr/>
          <p:nvPr/>
        </p:nvSpPr>
        <p:spPr>
          <a:xfrm>
            <a:off x="237076" y="1871274"/>
            <a:ext cx="3873475" cy="473584"/>
          </a:xfrm>
          <a:prstGeom prst="round2SameRect">
            <a:avLst/>
          </a:prstGeom>
          <a:solidFill>
            <a:srgbClr val="1B2A4A"/>
          </a:solidFill>
          <a:ln w="12700">
            <a:solidFill>
              <a:srgbClr val="1B2A4A"/>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Most aggressive skin cancer</a:t>
            </a:r>
          </a:p>
        </p:txBody>
      </p:sp>
      <p:sp>
        <p:nvSpPr>
          <p:cNvPr id="35" name="Text 32">
            <a:extLst>
              <a:ext uri="{FF2B5EF4-FFF2-40B4-BE49-F238E27FC236}">
                <a16:creationId xmlns:a16="http://schemas.microsoft.com/office/drawing/2014/main" id="{F5A89E35-A750-8C7D-D56D-71520B66AAA7}"/>
              </a:ext>
            </a:extLst>
          </p:cNvPr>
          <p:cNvSpPr/>
          <p:nvPr/>
        </p:nvSpPr>
        <p:spPr>
          <a:xfrm>
            <a:off x="411480" y="2176272"/>
            <a:ext cx="370332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38" name="Text 35">
            <a:extLst>
              <a:ext uri="{FF2B5EF4-FFF2-40B4-BE49-F238E27FC236}">
                <a16:creationId xmlns:a16="http://schemas.microsoft.com/office/drawing/2014/main" id="{A2CCA8A8-7C9A-9489-5335-67036735C68B}"/>
              </a:ext>
            </a:extLst>
          </p:cNvPr>
          <p:cNvSpPr/>
          <p:nvPr/>
        </p:nvSpPr>
        <p:spPr>
          <a:xfrm>
            <a:off x="4434840" y="2176272"/>
            <a:ext cx="411480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41" name="Text 38">
            <a:extLst>
              <a:ext uri="{FF2B5EF4-FFF2-40B4-BE49-F238E27FC236}">
                <a16:creationId xmlns:a16="http://schemas.microsoft.com/office/drawing/2014/main" id="{B209B3F3-3C20-FCBF-DFFC-EAD294F3EE3B}"/>
              </a:ext>
            </a:extLst>
          </p:cNvPr>
          <p:cNvSpPr/>
          <p:nvPr/>
        </p:nvSpPr>
        <p:spPr>
          <a:xfrm>
            <a:off x="8869680" y="2176272"/>
            <a:ext cx="288036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44" name="Text 41">
            <a:extLst>
              <a:ext uri="{FF2B5EF4-FFF2-40B4-BE49-F238E27FC236}">
                <a16:creationId xmlns:a16="http://schemas.microsoft.com/office/drawing/2014/main" id="{60E60437-2DE9-102E-081A-26CCABC6D796}"/>
              </a:ext>
            </a:extLst>
          </p:cNvPr>
          <p:cNvSpPr/>
          <p:nvPr/>
        </p:nvSpPr>
        <p:spPr>
          <a:xfrm>
            <a:off x="8878824" y="4745736"/>
            <a:ext cx="292608" cy="292608"/>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50" name="Shape 47">
            <a:extLst>
              <a:ext uri="{FF2B5EF4-FFF2-40B4-BE49-F238E27FC236}">
                <a16:creationId xmlns:a16="http://schemas.microsoft.com/office/drawing/2014/main" id="{0E8F6AED-C775-EE34-2B68-6C85C9A91FC0}"/>
              </a:ext>
            </a:extLst>
          </p:cNvPr>
          <p:cNvSpPr/>
          <p:nvPr/>
        </p:nvSpPr>
        <p:spPr>
          <a:xfrm>
            <a:off x="0" y="6336792"/>
            <a:ext cx="12161520" cy="521208"/>
          </a:xfrm>
          <a:prstGeom prst="rect">
            <a:avLst/>
          </a:prstGeom>
          <a:solidFill>
            <a:srgbClr val="1B2A4A"/>
          </a:solidFill>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1" name="Shape 48">
            <a:extLst>
              <a:ext uri="{FF2B5EF4-FFF2-40B4-BE49-F238E27FC236}">
                <a16:creationId xmlns:a16="http://schemas.microsoft.com/office/drawing/2014/main" id="{B21D99FE-4857-6F57-9B57-8D22A6E031FC}"/>
              </a:ext>
            </a:extLst>
          </p:cNvPr>
          <p:cNvSpPr/>
          <p:nvPr/>
        </p:nvSpPr>
        <p:spPr>
          <a:xfrm>
            <a:off x="228600" y="6441948"/>
            <a:ext cx="310896" cy="310896"/>
          </a:xfrm>
          <a:prstGeom prst="ellipse">
            <a:avLst/>
          </a:prstGeom>
          <a:solidFill>
            <a:srgbClr val="0E6B7C"/>
          </a:solidFill>
          <a:ln w="12700">
            <a:solidFill>
              <a:srgbClr val="0E6B7C"/>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 name="Text 49">
            <a:extLst>
              <a:ext uri="{FF2B5EF4-FFF2-40B4-BE49-F238E27FC236}">
                <a16:creationId xmlns:a16="http://schemas.microsoft.com/office/drawing/2014/main" id="{6AC84ECB-4DAD-B8A3-2FD2-1257E57CDAD2}"/>
              </a:ext>
            </a:extLst>
          </p:cNvPr>
          <p:cNvSpPr/>
          <p:nvPr/>
        </p:nvSpPr>
        <p:spPr>
          <a:xfrm>
            <a:off x="228600" y="6441948"/>
            <a:ext cx="310896" cy="310896"/>
          </a:xfrm>
          <a:prstGeom prst="rect">
            <a:avLst/>
          </a:prstGeom>
          <a:noFill/>
          <a:ln/>
        </p:spPr>
        <p:txBody>
          <a:bodyPr wrap="square"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400">
                <a:solidFill>
                  <a:srgbClr val="000000"/>
                </a:solidFill>
              </a:rPr>
              <a:t>🎯</a:t>
            </a:r>
            <a:endParaRPr lang="en-US" sz="400"/>
          </a:p>
        </p:txBody>
      </p:sp>
      <p:sp>
        <p:nvSpPr>
          <p:cNvPr id="53" name="Text 50">
            <a:extLst>
              <a:ext uri="{FF2B5EF4-FFF2-40B4-BE49-F238E27FC236}">
                <a16:creationId xmlns:a16="http://schemas.microsoft.com/office/drawing/2014/main" id="{AEDB3417-66C2-2771-75B3-30DF9E6870EC}"/>
              </a:ext>
            </a:extLst>
          </p:cNvPr>
          <p:cNvSpPr/>
          <p:nvPr/>
        </p:nvSpPr>
        <p:spPr>
          <a:xfrm>
            <a:off x="658368" y="6336792"/>
            <a:ext cx="11356848" cy="521208"/>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a:solidFill>
                  <a:srgbClr val="FFFFFF"/>
                </a:solidFill>
              </a:rPr>
              <a:t>Takeaway: Multiple treatment options are available for advanced melanoma.</a:t>
            </a:r>
            <a:endParaRPr lang="en-US" sz="1400" b="1"/>
          </a:p>
        </p:txBody>
      </p:sp>
      <p:sp>
        <p:nvSpPr>
          <p:cNvPr id="54" name="Text 51">
            <a:extLst>
              <a:ext uri="{FF2B5EF4-FFF2-40B4-BE49-F238E27FC236}">
                <a16:creationId xmlns:a16="http://schemas.microsoft.com/office/drawing/2014/main" id="{BF883919-02A5-B784-F661-E33A7363DD7F}"/>
              </a:ext>
            </a:extLst>
          </p:cNvPr>
          <p:cNvSpPr/>
          <p:nvPr/>
        </p:nvSpPr>
        <p:spPr>
          <a:xfrm>
            <a:off x="658368" y="6336792"/>
            <a:ext cx="1371600" cy="521208"/>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50" b="1">
              <a:solidFill>
                <a:srgbClr val="FFFFFF"/>
              </a:solidFill>
            </a:endParaRPr>
          </a:p>
        </p:txBody>
      </p:sp>
      <p:pic>
        <p:nvPicPr>
          <p:cNvPr id="59" name="Picture 58">
            <a:extLst>
              <a:ext uri="{FF2B5EF4-FFF2-40B4-BE49-F238E27FC236}">
                <a16:creationId xmlns:a16="http://schemas.microsoft.com/office/drawing/2014/main" id="{4EFE79EC-7618-9D7D-6A6A-00C0AAF77119}"/>
              </a:ext>
            </a:extLst>
          </p:cNvPr>
          <p:cNvPicPr>
            <a:picLocks noChangeAspect="1"/>
          </p:cNvPicPr>
          <p:nvPr/>
        </p:nvPicPr>
        <p:blipFill>
          <a:blip r:embed="rId3">
            <a:extLst>
              <a:ext uri="{28A0092B-C50C-407E-A947-70E740481C1C}">
                <a14:useLocalDpi xmlns:a14="http://schemas.microsoft.com/office/drawing/2010/main" val="0"/>
              </a:ext>
            </a:extLst>
          </a:blip>
          <a:srcRect l="53620" t="51182" r="6957" b="21434"/>
          <a:stretch/>
        </p:blipFill>
        <p:spPr>
          <a:xfrm>
            <a:off x="1191072" y="3212571"/>
            <a:ext cx="1827890" cy="1781260"/>
          </a:xfrm>
          <a:prstGeom prst="rect">
            <a:avLst/>
          </a:prstGeom>
          <a:ln>
            <a:noFill/>
          </a:ln>
          <a:effectLst>
            <a:outerShdw blurRad="292100" dist="139700" dir="2700000" algn="tl" rotWithShape="0">
              <a:srgbClr val="333333">
                <a:alpha val="65000"/>
              </a:srgbClr>
            </a:outerShdw>
          </a:effectLst>
        </p:spPr>
      </p:pic>
      <p:pic>
        <p:nvPicPr>
          <p:cNvPr id="60" name="Content Placeholder 4">
            <a:extLst>
              <a:ext uri="{FF2B5EF4-FFF2-40B4-BE49-F238E27FC236}">
                <a16:creationId xmlns:a16="http://schemas.microsoft.com/office/drawing/2014/main" id="{14D892C9-C6F6-4038-67A6-42984943BBBC}"/>
              </a:ext>
            </a:extLst>
          </p:cNvPr>
          <p:cNvPicPr>
            <a:picLocks noChangeAspect="1"/>
          </p:cNvPicPr>
          <p:nvPr/>
        </p:nvPicPr>
        <p:blipFill>
          <a:blip r:embed="rId4">
            <a:extLst>
              <a:ext uri="{28A0092B-C50C-407E-A947-70E740481C1C}">
                <a14:useLocalDpi xmlns:a14="http://schemas.microsoft.com/office/drawing/2010/main" val="0"/>
              </a:ext>
            </a:extLst>
          </a:blip>
          <a:srcRect l="68971" r="4432" b="88399"/>
          <a:stretch/>
        </p:blipFill>
        <p:spPr>
          <a:xfrm>
            <a:off x="539496" y="4844983"/>
            <a:ext cx="1033272" cy="632273"/>
          </a:xfrm>
          <a:prstGeom prst="rect">
            <a:avLst/>
          </a:prstGeom>
          <a:ln>
            <a:noFill/>
          </a:ln>
          <a:effectLst>
            <a:outerShdw blurRad="292100" dist="139700" dir="2700000" algn="tl" rotWithShape="0">
              <a:srgbClr val="333333">
                <a:alpha val="65000"/>
              </a:srgbClr>
            </a:outerShdw>
          </a:effectLst>
        </p:spPr>
      </p:pic>
      <p:sp>
        <p:nvSpPr>
          <p:cNvPr id="62" name="Shape 30">
            <a:extLst>
              <a:ext uri="{FF2B5EF4-FFF2-40B4-BE49-F238E27FC236}">
                <a16:creationId xmlns:a16="http://schemas.microsoft.com/office/drawing/2014/main" id="{7A9B6224-C2AB-DE03-6786-AC2D583E61E5}"/>
              </a:ext>
            </a:extLst>
          </p:cNvPr>
          <p:cNvSpPr/>
          <p:nvPr/>
        </p:nvSpPr>
        <p:spPr>
          <a:xfrm>
            <a:off x="4230673" y="1874709"/>
            <a:ext cx="3863623" cy="4185520"/>
          </a:xfrm>
          <a:prstGeom prst="roundRect">
            <a:avLst>
              <a:gd name="adj" fmla="val 2118"/>
            </a:avLst>
          </a:prstGeom>
          <a:solidFill>
            <a:srgbClr val="FFFFFF"/>
          </a:solidFill>
          <a:ln w="9525">
            <a:solidFill>
              <a:srgbClr val="D4DDE8"/>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3" name="Shape 30">
            <a:extLst>
              <a:ext uri="{FF2B5EF4-FFF2-40B4-BE49-F238E27FC236}">
                <a16:creationId xmlns:a16="http://schemas.microsoft.com/office/drawing/2014/main" id="{0C577C70-3AB8-B912-7028-08FACAC9B89B}"/>
              </a:ext>
            </a:extLst>
          </p:cNvPr>
          <p:cNvSpPr/>
          <p:nvPr/>
        </p:nvSpPr>
        <p:spPr>
          <a:xfrm>
            <a:off x="8202562" y="1862498"/>
            <a:ext cx="3857979" cy="4206537"/>
          </a:xfrm>
          <a:prstGeom prst="roundRect">
            <a:avLst>
              <a:gd name="adj" fmla="val 2118"/>
            </a:avLst>
          </a:prstGeom>
          <a:solidFill>
            <a:srgbClr val="FFFFFF"/>
          </a:solidFill>
          <a:ln w="9525">
            <a:solidFill>
              <a:srgbClr val="D4DDE8"/>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4" name="Shape 31">
            <a:extLst>
              <a:ext uri="{FF2B5EF4-FFF2-40B4-BE49-F238E27FC236}">
                <a16:creationId xmlns:a16="http://schemas.microsoft.com/office/drawing/2014/main" id="{FA293178-4C3C-9602-05D9-1B5CBF2EF7D1}"/>
              </a:ext>
            </a:extLst>
          </p:cNvPr>
          <p:cNvSpPr/>
          <p:nvPr/>
        </p:nvSpPr>
        <p:spPr>
          <a:xfrm>
            <a:off x="4244243" y="1886159"/>
            <a:ext cx="3866077" cy="443992"/>
          </a:xfrm>
          <a:prstGeom prst="round2SameRect">
            <a:avLst/>
          </a:prstGeom>
          <a:solidFill>
            <a:srgbClr val="1B2A4A"/>
          </a:solidFill>
          <a:ln w="12700">
            <a:solidFill>
              <a:srgbClr val="1B2A4A"/>
            </a:solidFill>
            <a:prstDash val="solid"/>
          </a:ln>
        </p:spPr>
        <p:txBody>
          <a:bodyPr lIns="91440" tIns="45720" rIns="91440" bIns="45720" anchor="t"/>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Major molecular drivers</a:t>
            </a:r>
          </a:p>
        </p:txBody>
      </p:sp>
      <p:sp>
        <p:nvSpPr>
          <p:cNvPr id="65" name="Shape 31">
            <a:extLst>
              <a:ext uri="{FF2B5EF4-FFF2-40B4-BE49-F238E27FC236}">
                <a16:creationId xmlns:a16="http://schemas.microsoft.com/office/drawing/2014/main" id="{DB21A1C4-FFF3-EC23-306B-A8749B3DAD97}"/>
              </a:ext>
            </a:extLst>
          </p:cNvPr>
          <p:cNvSpPr/>
          <p:nvPr/>
        </p:nvSpPr>
        <p:spPr>
          <a:xfrm>
            <a:off x="8216759" y="1891188"/>
            <a:ext cx="3843883" cy="407002"/>
          </a:xfrm>
          <a:prstGeom prst="round2SameRect">
            <a:avLst/>
          </a:prstGeom>
          <a:solidFill>
            <a:srgbClr val="1B2A4A"/>
          </a:solidFill>
          <a:ln w="12700">
            <a:solidFill>
              <a:srgbClr val="1B2A4A"/>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Stage-dependent treatment</a:t>
            </a:r>
          </a:p>
        </p:txBody>
      </p:sp>
      <p:pic>
        <p:nvPicPr>
          <p:cNvPr id="1032" name="Picture 8">
            <a:extLst>
              <a:ext uri="{FF2B5EF4-FFF2-40B4-BE49-F238E27FC236}">
                <a16:creationId xmlns:a16="http://schemas.microsoft.com/office/drawing/2014/main" id="{53CB72BE-F1DF-17DC-80C3-5CC9373CD4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6686" y="3110276"/>
            <a:ext cx="2842435" cy="2420525"/>
          </a:xfrm>
          <a:prstGeom prst="rect">
            <a:avLst/>
          </a:prstGeom>
          <a:noFill/>
          <a:extLst>
            <a:ext uri="{909E8E84-426E-40DD-AFC4-6F175D3DCCD1}">
              <a14:hiddenFill xmlns:a14="http://schemas.microsoft.com/office/drawing/2010/main">
                <a:solidFill>
                  <a:srgbClr val="FFFFFF"/>
                </a:solidFill>
              </a14:hiddenFill>
            </a:ext>
          </a:extLst>
        </p:spPr>
      </p:pic>
      <p:sp>
        <p:nvSpPr>
          <p:cNvPr id="31" name="Shape 28">
            <a:extLst>
              <a:ext uri="{FF2B5EF4-FFF2-40B4-BE49-F238E27FC236}">
                <a16:creationId xmlns:a16="http://schemas.microsoft.com/office/drawing/2014/main" id="{33EE54FF-104D-2A0B-2ADC-EF838F5F3F1E}"/>
              </a:ext>
            </a:extLst>
          </p:cNvPr>
          <p:cNvSpPr/>
          <p:nvPr/>
        </p:nvSpPr>
        <p:spPr>
          <a:xfrm>
            <a:off x="6530737" y="339757"/>
            <a:ext cx="2103299" cy="1430792"/>
          </a:xfrm>
          <a:prstGeom prst="roundRect">
            <a:avLst>
              <a:gd name="adj" fmla="val 16667"/>
            </a:avLst>
          </a:prstGeom>
          <a:noFill/>
          <a:ln w="19050">
            <a:solidFill>
              <a:srgbClr val="D4900A"/>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aphicFrame>
        <p:nvGraphicFramePr>
          <p:cNvPr id="69" name="Diagram 68">
            <a:extLst>
              <a:ext uri="{FF2B5EF4-FFF2-40B4-BE49-F238E27FC236}">
                <a16:creationId xmlns:a16="http://schemas.microsoft.com/office/drawing/2014/main" id="{55F3B480-9B7A-EDF2-A7F7-303CD66E8E77}"/>
              </a:ext>
            </a:extLst>
          </p:cNvPr>
          <p:cNvGraphicFramePr/>
          <p:nvPr>
            <p:extLst>
              <p:ext uri="{D42A27DB-BD31-4B8C-83A1-F6EECF244321}">
                <p14:modId xmlns:p14="http://schemas.microsoft.com/office/powerpoint/2010/main" val="833656081"/>
              </p:ext>
            </p:extLst>
          </p:nvPr>
        </p:nvGraphicFramePr>
        <p:xfrm>
          <a:off x="8322802" y="2606499"/>
          <a:ext cx="3603142" cy="3225689"/>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70" name="Picture 69">
            <a:extLst>
              <a:ext uri="{FF2B5EF4-FFF2-40B4-BE49-F238E27FC236}">
                <a16:creationId xmlns:a16="http://schemas.microsoft.com/office/drawing/2014/main" id="{44C04069-4B0D-AD6A-71B4-5A4E70C20A4D}"/>
              </a:ext>
            </a:extLst>
          </p:cNvPr>
          <p:cNvPicPr>
            <a:picLocks noChangeAspect="1"/>
          </p:cNvPicPr>
          <p:nvPr/>
        </p:nvPicPr>
        <p:blipFill>
          <a:blip r:embed="rId11"/>
          <a:stretch>
            <a:fillRect/>
          </a:stretch>
        </p:blipFill>
        <p:spPr>
          <a:xfrm>
            <a:off x="6677223" y="436785"/>
            <a:ext cx="1810328" cy="1253304"/>
          </a:xfrm>
          <a:prstGeom prst="rect">
            <a:avLst/>
          </a:prstGeom>
        </p:spPr>
      </p:pic>
      <p:sp>
        <p:nvSpPr>
          <p:cNvPr id="71" name="TextBox 70">
            <a:extLst>
              <a:ext uri="{FF2B5EF4-FFF2-40B4-BE49-F238E27FC236}">
                <a16:creationId xmlns:a16="http://schemas.microsoft.com/office/drawing/2014/main" id="{EC992621-BB07-CCA9-E2B3-E5E103732455}"/>
              </a:ext>
            </a:extLst>
          </p:cNvPr>
          <p:cNvSpPr txBox="1"/>
          <p:nvPr/>
        </p:nvSpPr>
        <p:spPr>
          <a:xfrm>
            <a:off x="4259039" y="5894276"/>
            <a:ext cx="1318801" cy="215444"/>
          </a:xfrm>
          <a:prstGeom prst="rect">
            <a:avLst/>
          </a:prstGeom>
          <a:noFill/>
        </p:spPr>
        <p:txBody>
          <a:bodyPr wrap="square" rtlCol="0">
            <a:spAutoFit/>
          </a:bodyPr>
          <a:lstStyle/>
          <a:p>
            <a:r>
              <a:rPr lang="en-IE" sz="800"/>
              <a:t>Lazic &amp; Medeiros 2024</a:t>
            </a:r>
          </a:p>
        </p:txBody>
      </p:sp>
      <p:sp>
        <p:nvSpPr>
          <p:cNvPr id="73" name="Rectangle: Rounded Corners 72">
            <a:extLst>
              <a:ext uri="{FF2B5EF4-FFF2-40B4-BE49-F238E27FC236}">
                <a16:creationId xmlns:a16="http://schemas.microsoft.com/office/drawing/2014/main" id="{A5BC3E46-BA1B-001A-B441-E99972D4D632}"/>
              </a:ext>
            </a:extLst>
          </p:cNvPr>
          <p:cNvSpPr/>
          <p:nvPr/>
        </p:nvSpPr>
        <p:spPr>
          <a:xfrm>
            <a:off x="9061447" y="347433"/>
            <a:ext cx="2941526" cy="1433103"/>
          </a:xfrm>
          <a:prstGeom prst="roundRect">
            <a:avLst/>
          </a:prstGeom>
          <a:noFill/>
          <a:ln>
            <a:solidFill>
              <a:srgbClr val="56B4E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E"/>
          </a:p>
        </p:txBody>
      </p:sp>
      <p:pic>
        <p:nvPicPr>
          <p:cNvPr id="75" name="Picture 74">
            <a:extLst>
              <a:ext uri="{FF2B5EF4-FFF2-40B4-BE49-F238E27FC236}">
                <a16:creationId xmlns:a16="http://schemas.microsoft.com/office/drawing/2014/main" id="{529D3D10-AABF-926D-1326-EE0716B20CBD}"/>
              </a:ext>
            </a:extLst>
          </p:cNvPr>
          <p:cNvPicPr>
            <a:picLocks noChangeAspect="1"/>
          </p:cNvPicPr>
          <p:nvPr/>
        </p:nvPicPr>
        <p:blipFill>
          <a:blip r:embed="rId12"/>
          <a:stretch>
            <a:fillRect/>
          </a:stretch>
        </p:blipFill>
        <p:spPr>
          <a:xfrm>
            <a:off x="9213529" y="452913"/>
            <a:ext cx="2644032" cy="1221668"/>
          </a:xfrm>
          <a:prstGeom prst="roundRect">
            <a:avLst/>
          </a:prstGeom>
        </p:spPr>
      </p:pic>
    </p:spTree>
    <p:extLst>
      <p:ext uri="{BB962C8B-B14F-4D97-AF65-F5344CB8AC3E}">
        <p14:creationId xmlns:p14="http://schemas.microsoft.com/office/powerpoint/2010/main" val="1338162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0E39CF-8A6A-240F-F28F-B7FE597DF0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34786A5-DD0B-B23F-533E-83603C8DB406}"/>
              </a:ext>
            </a:extLst>
          </p:cNvPr>
          <p:cNvSpPr/>
          <p:nvPr/>
        </p:nvSpPr>
        <p:spPr>
          <a:xfrm>
            <a:off x="320040" y="91440"/>
            <a:ext cx="11521440" cy="54864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700" b="1">
                <a:solidFill>
                  <a:srgbClr val="1B2A4A"/>
                </a:solidFill>
                <a:latin typeface="Calibri" pitchFamily="34" charset="0"/>
                <a:cs typeface="Calibri" pitchFamily="34" charset="-120"/>
              </a:rPr>
              <a:t>Same Diagnosis. Different Outcomes.</a:t>
            </a:r>
            <a:endParaRPr lang="en-US" sz="2700"/>
          </a:p>
        </p:txBody>
      </p:sp>
      <p:sp>
        <p:nvSpPr>
          <p:cNvPr id="3" name="Shape 1">
            <a:extLst>
              <a:ext uri="{FF2B5EF4-FFF2-40B4-BE49-F238E27FC236}">
                <a16:creationId xmlns:a16="http://schemas.microsoft.com/office/drawing/2014/main" id="{413AB849-0B3A-D9C4-1084-425D7D0F55B5}"/>
              </a:ext>
            </a:extLst>
          </p:cNvPr>
          <p:cNvSpPr/>
          <p:nvPr/>
        </p:nvSpPr>
        <p:spPr>
          <a:xfrm>
            <a:off x="320040" y="667512"/>
            <a:ext cx="1371600" cy="41148"/>
          </a:xfrm>
          <a:prstGeom prst="rect">
            <a:avLst/>
          </a:prstGeom>
          <a:solidFill>
            <a:srgbClr val="E07B39"/>
          </a:solidFill>
          <a:ln w="12700">
            <a:solidFill>
              <a:srgbClr val="E07B39"/>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 name="Text 10">
            <a:extLst>
              <a:ext uri="{FF2B5EF4-FFF2-40B4-BE49-F238E27FC236}">
                <a16:creationId xmlns:a16="http://schemas.microsoft.com/office/drawing/2014/main" id="{686D5F25-474B-1F27-7CAC-C08D403FB009}"/>
              </a:ext>
            </a:extLst>
          </p:cNvPr>
          <p:cNvSpPr/>
          <p:nvPr/>
        </p:nvSpPr>
        <p:spPr>
          <a:xfrm>
            <a:off x="2642616"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14" name="Text 11">
            <a:extLst>
              <a:ext uri="{FF2B5EF4-FFF2-40B4-BE49-F238E27FC236}">
                <a16:creationId xmlns:a16="http://schemas.microsoft.com/office/drawing/2014/main" id="{EFF75D6A-AA18-A29A-4C5E-CD97CBFD930C}"/>
              </a:ext>
            </a:extLst>
          </p:cNvPr>
          <p:cNvSpPr/>
          <p:nvPr/>
        </p:nvSpPr>
        <p:spPr>
          <a:xfrm>
            <a:off x="3063240" y="1060704"/>
            <a:ext cx="1682496" cy="219456"/>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800"/>
          </a:p>
        </p:txBody>
      </p:sp>
      <p:sp>
        <p:nvSpPr>
          <p:cNvPr id="15" name="Text 12">
            <a:extLst>
              <a:ext uri="{FF2B5EF4-FFF2-40B4-BE49-F238E27FC236}">
                <a16:creationId xmlns:a16="http://schemas.microsoft.com/office/drawing/2014/main" id="{5D5086FF-7A6C-46FE-66CD-343BFAEC4558}"/>
              </a:ext>
            </a:extLst>
          </p:cNvPr>
          <p:cNvSpPr/>
          <p:nvPr/>
        </p:nvSpPr>
        <p:spPr>
          <a:xfrm>
            <a:off x="3099816" y="1261872"/>
            <a:ext cx="1682496" cy="237744"/>
          </a:xfrm>
          <a:prstGeom prst="rect">
            <a:avLst/>
          </a:prstGeom>
          <a:noFill/>
          <a:ln/>
        </p:spPr>
        <p:txBody>
          <a:bodyPr wrap="square" lIns="0" tIns="0" rIns="0" bIns="0" rtlCol="0" anchor="t"/>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300" b="1">
              <a:solidFill>
                <a:srgbClr val="E07B39"/>
              </a:solidFill>
            </a:endParaRPr>
          </a:p>
        </p:txBody>
      </p:sp>
      <p:sp>
        <p:nvSpPr>
          <p:cNvPr id="18" name="Text 15">
            <a:extLst>
              <a:ext uri="{FF2B5EF4-FFF2-40B4-BE49-F238E27FC236}">
                <a16:creationId xmlns:a16="http://schemas.microsoft.com/office/drawing/2014/main" id="{16014260-70A3-412B-A403-EDF093F351AC}"/>
              </a:ext>
            </a:extLst>
          </p:cNvPr>
          <p:cNvSpPr/>
          <p:nvPr/>
        </p:nvSpPr>
        <p:spPr>
          <a:xfrm>
            <a:off x="4946904"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23" name="Text 20">
            <a:extLst>
              <a:ext uri="{FF2B5EF4-FFF2-40B4-BE49-F238E27FC236}">
                <a16:creationId xmlns:a16="http://schemas.microsoft.com/office/drawing/2014/main" id="{37F16815-F406-CBAB-8192-001CDC0EC8B3}"/>
              </a:ext>
            </a:extLst>
          </p:cNvPr>
          <p:cNvSpPr/>
          <p:nvPr/>
        </p:nvSpPr>
        <p:spPr>
          <a:xfrm>
            <a:off x="7251192"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29" name="Text 26">
            <a:extLst>
              <a:ext uri="{FF2B5EF4-FFF2-40B4-BE49-F238E27FC236}">
                <a16:creationId xmlns:a16="http://schemas.microsoft.com/office/drawing/2014/main" id="{4C59508E-6DB2-659E-E9F0-17C5F73F294F}"/>
              </a:ext>
            </a:extLst>
          </p:cNvPr>
          <p:cNvSpPr/>
          <p:nvPr/>
        </p:nvSpPr>
        <p:spPr>
          <a:xfrm>
            <a:off x="10012680" y="1060704"/>
            <a:ext cx="1682496" cy="219456"/>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800"/>
          </a:p>
        </p:txBody>
      </p:sp>
      <p:sp>
        <p:nvSpPr>
          <p:cNvPr id="33" name="Shape 30">
            <a:extLst>
              <a:ext uri="{FF2B5EF4-FFF2-40B4-BE49-F238E27FC236}">
                <a16:creationId xmlns:a16="http://schemas.microsoft.com/office/drawing/2014/main" id="{D2DBD7F2-381A-094E-1F72-8DB14BD0A662}"/>
              </a:ext>
            </a:extLst>
          </p:cNvPr>
          <p:cNvSpPr/>
          <p:nvPr/>
        </p:nvSpPr>
        <p:spPr>
          <a:xfrm>
            <a:off x="647469" y="1397915"/>
            <a:ext cx="5405859" cy="4821124"/>
          </a:xfrm>
          <a:prstGeom prst="roundRect">
            <a:avLst>
              <a:gd name="adj" fmla="val 2118"/>
            </a:avLst>
          </a:prstGeom>
          <a:solidFill>
            <a:srgbClr val="FFFFFF"/>
          </a:solidFill>
          <a:ln w="9525">
            <a:solidFill>
              <a:srgbClr val="D4DDE8"/>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 name="Shape 31">
            <a:extLst>
              <a:ext uri="{FF2B5EF4-FFF2-40B4-BE49-F238E27FC236}">
                <a16:creationId xmlns:a16="http://schemas.microsoft.com/office/drawing/2014/main" id="{DADDBD7F-E4F5-75A5-3497-93E076B4DBD6}"/>
              </a:ext>
            </a:extLst>
          </p:cNvPr>
          <p:cNvSpPr/>
          <p:nvPr/>
        </p:nvSpPr>
        <p:spPr>
          <a:xfrm>
            <a:off x="648751" y="1401392"/>
            <a:ext cx="5403226" cy="466186"/>
          </a:xfrm>
          <a:prstGeom prst="round2SameRect">
            <a:avLst/>
          </a:prstGeom>
          <a:solidFill>
            <a:srgbClr val="1B2A4A"/>
          </a:solidFill>
          <a:ln w="12700">
            <a:solidFill>
              <a:srgbClr val="1B2A4A"/>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err="1">
                <a:solidFill>
                  <a:schemeClr val="bg1"/>
                </a:solidFill>
              </a:rPr>
              <a:t>Tumour</a:t>
            </a:r>
            <a:r>
              <a:rPr lang="en-US">
                <a:solidFill>
                  <a:schemeClr val="bg1"/>
                </a:solidFill>
              </a:rPr>
              <a:t> heterogeneity</a:t>
            </a:r>
          </a:p>
        </p:txBody>
      </p:sp>
      <p:sp>
        <p:nvSpPr>
          <p:cNvPr id="35" name="Text 32">
            <a:extLst>
              <a:ext uri="{FF2B5EF4-FFF2-40B4-BE49-F238E27FC236}">
                <a16:creationId xmlns:a16="http://schemas.microsoft.com/office/drawing/2014/main" id="{F5A89E35-A750-8C7D-D56D-71520B66AAA7}"/>
              </a:ext>
            </a:extLst>
          </p:cNvPr>
          <p:cNvSpPr/>
          <p:nvPr/>
        </p:nvSpPr>
        <p:spPr>
          <a:xfrm>
            <a:off x="411480" y="2176272"/>
            <a:ext cx="370332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38" name="Text 35">
            <a:extLst>
              <a:ext uri="{FF2B5EF4-FFF2-40B4-BE49-F238E27FC236}">
                <a16:creationId xmlns:a16="http://schemas.microsoft.com/office/drawing/2014/main" id="{A2CCA8A8-7C9A-9489-5335-67036735C68B}"/>
              </a:ext>
            </a:extLst>
          </p:cNvPr>
          <p:cNvSpPr/>
          <p:nvPr/>
        </p:nvSpPr>
        <p:spPr>
          <a:xfrm>
            <a:off x="4434840" y="2176272"/>
            <a:ext cx="411480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41" name="Text 38">
            <a:extLst>
              <a:ext uri="{FF2B5EF4-FFF2-40B4-BE49-F238E27FC236}">
                <a16:creationId xmlns:a16="http://schemas.microsoft.com/office/drawing/2014/main" id="{B209B3F3-3C20-FCBF-DFFC-EAD294F3EE3B}"/>
              </a:ext>
            </a:extLst>
          </p:cNvPr>
          <p:cNvSpPr/>
          <p:nvPr/>
        </p:nvSpPr>
        <p:spPr>
          <a:xfrm>
            <a:off x="8869680" y="2176272"/>
            <a:ext cx="288036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44" name="Text 41">
            <a:extLst>
              <a:ext uri="{FF2B5EF4-FFF2-40B4-BE49-F238E27FC236}">
                <a16:creationId xmlns:a16="http://schemas.microsoft.com/office/drawing/2014/main" id="{60E60437-2DE9-102E-081A-26CCABC6D796}"/>
              </a:ext>
            </a:extLst>
          </p:cNvPr>
          <p:cNvSpPr/>
          <p:nvPr/>
        </p:nvSpPr>
        <p:spPr>
          <a:xfrm>
            <a:off x="8878824" y="4745736"/>
            <a:ext cx="292608" cy="292608"/>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50" name="Shape 47">
            <a:extLst>
              <a:ext uri="{FF2B5EF4-FFF2-40B4-BE49-F238E27FC236}">
                <a16:creationId xmlns:a16="http://schemas.microsoft.com/office/drawing/2014/main" id="{0E8F6AED-C775-EE34-2B68-6C85C9A91FC0}"/>
              </a:ext>
            </a:extLst>
          </p:cNvPr>
          <p:cNvSpPr/>
          <p:nvPr/>
        </p:nvSpPr>
        <p:spPr>
          <a:xfrm>
            <a:off x="0" y="6336792"/>
            <a:ext cx="12161520" cy="521208"/>
          </a:xfrm>
          <a:prstGeom prst="rect">
            <a:avLst/>
          </a:prstGeom>
          <a:solidFill>
            <a:srgbClr val="1B2A4A"/>
          </a:solidFill>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1" name="Shape 48">
            <a:extLst>
              <a:ext uri="{FF2B5EF4-FFF2-40B4-BE49-F238E27FC236}">
                <a16:creationId xmlns:a16="http://schemas.microsoft.com/office/drawing/2014/main" id="{B21D99FE-4857-6F57-9B57-8D22A6E031FC}"/>
              </a:ext>
            </a:extLst>
          </p:cNvPr>
          <p:cNvSpPr/>
          <p:nvPr/>
        </p:nvSpPr>
        <p:spPr>
          <a:xfrm>
            <a:off x="228600" y="6441948"/>
            <a:ext cx="310896" cy="310896"/>
          </a:xfrm>
          <a:prstGeom prst="ellipse">
            <a:avLst/>
          </a:prstGeom>
          <a:solidFill>
            <a:srgbClr val="0E6B7C"/>
          </a:solidFill>
          <a:ln w="12700">
            <a:solidFill>
              <a:srgbClr val="0E6B7C"/>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 name="Text 49">
            <a:extLst>
              <a:ext uri="{FF2B5EF4-FFF2-40B4-BE49-F238E27FC236}">
                <a16:creationId xmlns:a16="http://schemas.microsoft.com/office/drawing/2014/main" id="{6AC84ECB-4DAD-B8A3-2FD2-1257E57CDAD2}"/>
              </a:ext>
            </a:extLst>
          </p:cNvPr>
          <p:cNvSpPr/>
          <p:nvPr/>
        </p:nvSpPr>
        <p:spPr>
          <a:xfrm>
            <a:off x="228600" y="6441948"/>
            <a:ext cx="310896" cy="310896"/>
          </a:xfrm>
          <a:prstGeom prst="rect">
            <a:avLst/>
          </a:prstGeom>
          <a:noFill/>
          <a:ln/>
        </p:spPr>
        <p:txBody>
          <a:bodyPr wrap="square"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400">
                <a:solidFill>
                  <a:srgbClr val="000000"/>
                </a:solidFill>
              </a:rPr>
              <a:t>🎯</a:t>
            </a:r>
            <a:endParaRPr lang="en-US" sz="400"/>
          </a:p>
        </p:txBody>
      </p:sp>
      <p:sp>
        <p:nvSpPr>
          <p:cNvPr id="53" name="Text 50">
            <a:extLst>
              <a:ext uri="{FF2B5EF4-FFF2-40B4-BE49-F238E27FC236}">
                <a16:creationId xmlns:a16="http://schemas.microsoft.com/office/drawing/2014/main" id="{AEDB3417-66C2-2771-75B3-30DF9E6870EC}"/>
              </a:ext>
            </a:extLst>
          </p:cNvPr>
          <p:cNvSpPr/>
          <p:nvPr/>
        </p:nvSpPr>
        <p:spPr>
          <a:xfrm>
            <a:off x="658368" y="6336792"/>
            <a:ext cx="11356848" cy="521208"/>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a:solidFill>
                  <a:srgbClr val="FFFFFF"/>
                </a:solidFill>
              </a:rPr>
              <a:t>Takeaway: Different </a:t>
            </a:r>
            <a:r>
              <a:rPr lang="en-US" sz="1400" b="1" err="1">
                <a:solidFill>
                  <a:srgbClr val="FFFFFF"/>
                </a:solidFill>
              </a:rPr>
              <a:t>tumour</a:t>
            </a:r>
            <a:r>
              <a:rPr lang="en-US" sz="1400" b="1">
                <a:solidFill>
                  <a:srgbClr val="FFFFFF"/>
                </a:solidFill>
              </a:rPr>
              <a:t> characteristics lead to different </a:t>
            </a:r>
            <a:r>
              <a:rPr lang="en-US" sz="1400" b="1" err="1">
                <a:solidFill>
                  <a:srgbClr val="FFFFFF"/>
                </a:solidFill>
              </a:rPr>
              <a:t>tumour</a:t>
            </a:r>
            <a:r>
              <a:rPr lang="en-US" sz="1400" b="1">
                <a:solidFill>
                  <a:srgbClr val="FFFFFF"/>
                </a:solidFill>
              </a:rPr>
              <a:t> responses.</a:t>
            </a:r>
            <a:endParaRPr lang="en-US" sz="1400"/>
          </a:p>
        </p:txBody>
      </p:sp>
      <p:sp>
        <p:nvSpPr>
          <p:cNvPr id="54" name="Text 51">
            <a:extLst>
              <a:ext uri="{FF2B5EF4-FFF2-40B4-BE49-F238E27FC236}">
                <a16:creationId xmlns:a16="http://schemas.microsoft.com/office/drawing/2014/main" id="{BF883919-02A5-B784-F661-E33A7363DD7F}"/>
              </a:ext>
            </a:extLst>
          </p:cNvPr>
          <p:cNvSpPr/>
          <p:nvPr/>
        </p:nvSpPr>
        <p:spPr>
          <a:xfrm>
            <a:off x="658368" y="6336792"/>
            <a:ext cx="1371600" cy="521208"/>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50" b="1">
              <a:solidFill>
                <a:srgbClr val="FFFFFF"/>
              </a:solidFill>
            </a:endParaRPr>
          </a:p>
        </p:txBody>
      </p:sp>
      <p:sp>
        <p:nvSpPr>
          <p:cNvPr id="4" name="Shape 30">
            <a:extLst>
              <a:ext uri="{FF2B5EF4-FFF2-40B4-BE49-F238E27FC236}">
                <a16:creationId xmlns:a16="http://schemas.microsoft.com/office/drawing/2014/main" id="{4230443D-924C-6DAF-9AA1-9216C52C53AE}"/>
              </a:ext>
            </a:extLst>
          </p:cNvPr>
          <p:cNvSpPr/>
          <p:nvPr/>
        </p:nvSpPr>
        <p:spPr>
          <a:xfrm>
            <a:off x="6648981" y="1397913"/>
            <a:ext cx="5044901" cy="4821125"/>
          </a:xfrm>
          <a:prstGeom prst="roundRect">
            <a:avLst>
              <a:gd name="adj" fmla="val 2118"/>
            </a:avLst>
          </a:prstGeom>
          <a:solidFill>
            <a:srgbClr val="FFFFFF"/>
          </a:solidFill>
          <a:ln w="9525">
            <a:solidFill>
              <a:srgbClr val="D4DDE8"/>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 name="Shape 31">
            <a:extLst>
              <a:ext uri="{FF2B5EF4-FFF2-40B4-BE49-F238E27FC236}">
                <a16:creationId xmlns:a16="http://schemas.microsoft.com/office/drawing/2014/main" id="{15D17483-A4BF-B03A-BC5F-0E919E957DE0}"/>
              </a:ext>
            </a:extLst>
          </p:cNvPr>
          <p:cNvSpPr/>
          <p:nvPr/>
        </p:nvSpPr>
        <p:spPr>
          <a:xfrm>
            <a:off x="6655303" y="1392001"/>
            <a:ext cx="5025925" cy="473584"/>
          </a:xfrm>
          <a:prstGeom prst="round2SameRect">
            <a:avLst/>
          </a:prstGeom>
          <a:solidFill>
            <a:srgbClr val="1B2A4A"/>
          </a:solidFill>
          <a:ln w="12700">
            <a:solidFill>
              <a:srgbClr val="1B2A4A"/>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Complex immune reactions</a:t>
            </a:r>
          </a:p>
        </p:txBody>
      </p:sp>
      <p:pic>
        <p:nvPicPr>
          <p:cNvPr id="2050" name="Picture 2">
            <a:extLst>
              <a:ext uri="{FF2B5EF4-FFF2-40B4-BE49-F238E27FC236}">
                <a16:creationId xmlns:a16="http://schemas.microsoft.com/office/drawing/2014/main" id="{53F02615-3971-6A2E-E127-E31B3D839C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7659" y="1948319"/>
            <a:ext cx="3782148" cy="410834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40E7F3EE-DDFF-A6A7-6401-28B82F39CB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39749" y="2207376"/>
            <a:ext cx="3570758" cy="3516089"/>
          </a:xfrm>
          <a:prstGeom prst="rect">
            <a:avLst/>
          </a:prstGeom>
        </p:spPr>
      </p:pic>
      <p:sp>
        <p:nvSpPr>
          <p:cNvPr id="9" name="TextBox 8">
            <a:extLst>
              <a:ext uri="{FF2B5EF4-FFF2-40B4-BE49-F238E27FC236}">
                <a16:creationId xmlns:a16="http://schemas.microsoft.com/office/drawing/2014/main" id="{59FF42D6-4ACA-4407-FCFC-45CD3A8A564F}"/>
              </a:ext>
            </a:extLst>
          </p:cNvPr>
          <p:cNvSpPr txBox="1"/>
          <p:nvPr/>
        </p:nvSpPr>
        <p:spPr>
          <a:xfrm>
            <a:off x="6823710" y="5841218"/>
            <a:ext cx="2228850" cy="215444"/>
          </a:xfrm>
          <a:prstGeom prst="rect">
            <a:avLst/>
          </a:prstGeom>
          <a:noFill/>
        </p:spPr>
        <p:txBody>
          <a:bodyPr wrap="square" rtlCol="0">
            <a:spAutoFit/>
          </a:bodyPr>
          <a:lstStyle/>
          <a:p>
            <a:r>
              <a:rPr lang="en-IE" sz="800"/>
              <a:t>Pasquali et al 2020</a:t>
            </a:r>
          </a:p>
        </p:txBody>
      </p:sp>
      <p:sp>
        <p:nvSpPr>
          <p:cNvPr id="10" name="TextBox 9">
            <a:extLst>
              <a:ext uri="{FF2B5EF4-FFF2-40B4-BE49-F238E27FC236}">
                <a16:creationId xmlns:a16="http://schemas.microsoft.com/office/drawing/2014/main" id="{C3FACDC5-4989-DFFE-E8DE-CA51C55C8C39}"/>
              </a:ext>
            </a:extLst>
          </p:cNvPr>
          <p:cNvSpPr txBox="1"/>
          <p:nvPr/>
        </p:nvSpPr>
        <p:spPr>
          <a:xfrm>
            <a:off x="754380" y="6056662"/>
            <a:ext cx="1097280" cy="215444"/>
          </a:xfrm>
          <a:prstGeom prst="rect">
            <a:avLst/>
          </a:prstGeom>
          <a:noFill/>
        </p:spPr>
        <p:txBody>
          <a:bodyPr wrap="square" rtlCol="0">
            <a:spAutoFit/>
          </a:bodyPr>
          <a:lstStyle/>
          <a:p>
            <a:r>
              <a:rPr lang="en-IE" sz="800" err="1"/>
              <a:t>Mroz</a:t>
            </a:r>
            <a:r>
              <a:rPr lang="en-IE" sz="800"/>
              <a:t> &amp; Rocco 2017</a:t>
            </a:r>
          </a:p>
        </p:txBody>
      </p:sp>
      <p:sp>
        <p:nvSpPr>
          <p:cNvPr id="16" name="TextBox 15">
            <a:extLst>
              <a:ext uri="{FF2B5EF4-FFF2-40B4-BE49-F238E27FC236}">
                <a16:creationId xmlns:a16="http://schemas.microsoft.com/office/drawing/2014/main" id="{ECB1BD26-95B4-0873-9FA1-2C302F121C81}"/>
              </a:ext>
            </a:extLst>
          </p:cNvPr>
          <p:cNvSpPr txBox="1"/>
          <p:nvPr/>
        </p:nvSpPr>
        <p:spPr>
          <a:xfrm>
            <a:off x="4052085" y="1211471"/>
            <a:ext cx="3610587" cy="215444"/>
          </a:xfrm>
          <a:prstGeom prst="rect">
            <a:avLst/>
          </a:prstGeom>
          <a:noFill/>
        </p:spPr>
        <p:txBody>
          <a:bodyPr wrap="square" rtlCol="0">
            <a:spAutoFit/>
          </a:bodyPr>
          <a:lstStyle/>
          <a:p>
            <a:r>
              <a:rPr lang="en-IE" sz="800"/>
              <a:t>Boutros et at, 2024; Sade-Feldman et al, 2018</a:t>
            </a:r>
          </a:p>
        </p:txBody>
      </p:sp>
      <p:sp>
        <p:nvSpPr>
          <p:cNvPr id="17" name="Rectangle: Rounded Corners 16">
            <a:extLst>
              <a:ext uri="{FF2B5EF4-FFF2-40B4-BE49-F238E27FC236}">
                <a16:creationId xmlns:a16="http://schemas.microsoft.com/office/drawing/2014/main" id="{B58FB255-25B1-811A-990F-09433C6C8DCB}"/>
              </a:ext>
            </a:extLst>
          </p:cNvPr>
          <p:cNvSpPr/>
          <p:nvPr/>
        </p:nvSpPr>
        <p:spPr>
          <a:xfrm>
            <a:off x="547649" y="764546"/>
            <a:ext cx="5506985" cy="459718"/>
          </a:xfrm>
          <a:prstGeom prst="roundRect">
            <a:avLst/>
          </a:prstGeom>
          <a:noFill/>
          <a:ln>
            <a:solidFill>
              <a:srgbClr val="E69F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1400" b="1">
                <a:solidFill>
                  <a:schemeClr val="tx1"/>
                </a:solidFill>
              </a:rPr>
              <a:t>&lt;50% durable response to anti-PD-1 immunotherapy</a:t>
            </a:r>
          </a:p>
        </p:txBody>
      </p:sp>
      <p:sp>
        <p:nvSpPr>
          <p:cNvPr id="19" name="Rectangle: Rounded Corners 18">
            <a:extLst>
              <a:ext uri="{FF2B5EF4-FFF2-40B4-BE49-F238E27FC236}">
                <a16:creationId xmlns:a16="http://schemas.microsoft.com/office/drawing/2014/main" id="{00F962FB-8762-1E4A-4F56-1565067A6D0A}"/>
              </a:ext>
            </a:extLst>
          </p:cNvPr>
          <p:cNvSpPr/>
          <p:nvPr/>
        </p:nvSpPr>
        <p:spPr>
          <a:xfrm>
            <a:off x="6530082" y="760974"/>
            <a:ext cx="5162167" cy="504250"/>
          </a:xfrm>
          <a:prstGeom prst="roundRect">
            <a:avLst/>
          </a:prstGeom>
          <a:noFill/>
          <a:ln>
            <a:solidFill>
              <a:srgbClr val="E69F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E" sz="1400" b="1">
                <a:solidFill>
                  <a:schemeClr val="tx1"/>
                </a:solidFill>
              </a:rPr>
              <a:t>BRAF/MEK-targeted therapy response up to ~70%, but resistance can develop</a:t>
            </a:r>
            <a:endParaRPr lang="en-US"/>
          </a:p>
        </p:txBody>
      </p:sp>
    </p:spTree>
    <p:extLst>
      <p:ext uri="{BB962C8B-B14F-4D97-AF65-F5344CB8AC3E}">
        <p14:creationId xmlns:p14="http://schemas.microsoft.com/office/powerpoint/2010/main" val="3023997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D6591F-EEBC-284E-75FB-E1F11E14D2E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C205D8E-41D3-1D71-1D9A-FAE1CFD9621D}"/>
              </a:ext>
            </a:extLst>
          </p:cNvPr>
          <p:cNvSpPr>
            <a:spLocks noGrp="1"/>
          </p:cNvSpPr>
          <p:nvPr>
            <p:ph type="ftr" sz="quarter" idx="11"/>
          </p:nvPr>
        </p:nvSpPr>
        <p:spPr/>
        <p:txBody>
          <a:bodyPr/>
          <a:lstStyle/>
          <a:p>
            <a:r>
              <a:rPr lang="en-US"/>
              <a:t>
</a:t>
            </a:r>
          </a:p>
        </p:txBody>
      </p:sp>
      <p:sp>
        <p:nvSpPr>
          <p:cNvPr id="3" name="Date Placeholder 2">
            <a:extLst>
              <a:ext uri="{FF2B5EF4-FFF2-40B4-BE49-F238E27FC236}">
                <a16:creationId xmlns:a16="http://schemas.microsoft.com/office/drawing/2014/main" id="{4DCB62E8-985F-F58C-6250-9E518D27FCC7}"/>
              </a:ext>
            </a:extLst>
          </p:cNvPr>
          <p:cNvSpPr>
            <a:spLocks noGrp="1"/>
          </p:cNvSpPr>
          <p:nvPr>
            <p:ph type="dt" sz="half" idx="10"/>
          </p:nvPr>
        </p:nvSpPr>
        <p:spPr/>
        <p:txBody>
          <a:bodyPr/>
          <a:lstStyle/>
          <a:p>
            <a:fld id="{8D0AFB9A-218D-47B3-804F-AED8F3B5451D}" type="datetime1">
              <a:t>8/9/2026</a:t>
            </a:fld>
            <a:endParaRPr lang="en-US"/>
          </a:p>
        </p:txBody>
      </p:sp>
      <p:sp>
        <p:nvSpPr>
          <p:cNvPr id="4" name="Slide Number Placeholder 3">
            <a:extLst>
              <a:ext uri="{FF2B5EF4-FFF2-40B4-BE49-F238E27FC236}">
                <a16:creationId xmlns:a16="http://schemas.microsoft.com/office/drawing/2014/main" id="{CDA4087A-A84D-9510-09DF-514B02BC9416}"/>
              </a:ext>
            </a:extLst>
          </p:cNvPr>
          <p:cNvSpPr>
            <a:spLocks noGrp="1"/>
          </p:cNvSpPr>
          <p:nvPr>
            <p:ph type="sldNum" sz="quarter" idx="12"/>
          </p:nvPr>
        </p:nvSpPr>
        <p:spPr/>
        <p:txBody>
          <a:bodyPr/>
          <a:lstStyle/>
          <a:p>
            <a:fld id="{753D0FD4-819D-4187-8797-C35567B41C78}" type="slidenum">
              <a:rPr lang="en-US" dirty="0"/>
              <a:t>5</a:t>
            </a:fld>
            <a:endParaRPr lang="en-US"/>
          </a:p>
        </p:txBody>
      </p:sp>
      <p:sp>
        <p:nvSpPr>
          <p:cNvPr id="5" name="Text 0">
            <a:extLst>
              <a:ext uri="{FF2B5EF4-FFF2-40B4-BE49-F238E27FC236}">
                <a16:creationId xmlns:a16="http://schemas.microsoft.com/office/drawing/2014/main" id="{6E2E9502-CBA1-34DD-8452-C8F6C91B338C}"/>
              </a:ext>
            </a:extLst>
          </p:cNvPr>
          <p:cNvSpPr/>
          <p:nvPr/>
        </p:nvSpPr>
        <p:spPr>
          <a:xfrm>
            <a:off x="1296005" y="2898559"/>
            <a:ext cx="9607432" cy="105689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E" sz="2700" b="1">
                <a:solidFill>
                  <a:srgbClr val="000000"/>
                </a:solidFill>
                <a:ea typeface="+mn-lt"/>
                <a:cs typeface="+mn-lt"/>
              </a:rPr>
              <a:t>Can a mechanistic ODE model predict how melanoma patients respond to targeted therapy and immunotherapy?</a:t>
            </a:r>
            <a:endParaRPr lang="en-IE" sz="2700" b="1">
              <a:solidFill>
                <a:srgbClr val="000000"/>
              </a:solidFill>
            </a:endParaRPr>
          </a:p>
        </p:txBody>
      </p:sp>
      <p:sp>
        <p:nvSpPr>
          <p:cNvPr id="6" name="Shape 1">
            <a:extLst>
              <a:ext uri="{FF2B5EF4-FFF2-40B4-BE49-F238E27FC236}">
                <a16:creationId xmlns:a16="http://schemas.microsoft.com/office/drawing/2014/main" id="{E8227555-2FF5-F13D-696E-1892FA28CF73}"/>
              </a:ext>
            </a:extLst>
          </p:cNvPr>
          <p:cNvSpPr/>
          <p:nvPr/>
        </p:nvSpPr>
        <p:spPr>
          <a:xfrm>
            <a:off x="5175819" y="2385953"/>
            <a:ext cx="1371600" cy="41148"/>
          </a:xfrm>
          <a:prstGeom prst="rect">
            <a:avLst/>
          </a:prstGeom>
          <a:solidFill>
            <a:srgbClr val="E07B39"/>
          </a:solidFill>
          <a:ln w="12700">
            <a:solidFill>
              <a:srgbClr val="E07B39"/>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4" name="TextBox 83">
            <a:extLst>
              <a:ext uri="{FF2B5EF4-FFF2-40B4-BE49-F238E27FC236}">
                <a16:creationId xmlns:a16="http://schemas.microsoft.com/office/drawing/2014/main" id="{277E58B3-5562-B1C2-A8C2-E52731D5FE5C}"/>
              </a:ext>
            </a:extLst>
          </p:cNvPr>
          <p:cNvSpPr txBox="1"/>
          <p:nvPr/>
        </p:nvSpPr>
        <p:spPr>
          <a:xfrm>
            <a:off x="4861034" y="1715814"/>
            <a:ext cx="212140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solidFill>
                  <a:srgbClr val="1B2A4A"/>
                </a:solidFill>
                <a:latin typeface="Calibri"/>
              </a:rPr>
              <a:t>Chapter 1</a:t>
            </a:r>
            <a:endParaRPr lang="en-US" sz="3600"/>
          </a:p>
          <a:p>
            <a:pPr algn="ctr"/>
            <a:endParaRPr lang="en-US"/>
          </a:p>
        </p:txBody>
      </p:sp>
      <p:sp>
        <p:nvSpPr>
          <p:cNvPr id="7" name="Arrow: Pentagon 6">
            <a:extLst>
              <a:ext uri="{FF2B5EF4-FFF2-40B4-BE49-F238E27FC236}">
                <a16:creationId xmlns:a16="http://schemas.microsoft.com/office/drawing/2014/main" id="{E6F8DC98-BCEF-E4ED-C794-74973D6A71E1}"/>
              </a:ext>
            </a:extLst>
          </p:cNvPr>
          <p:cNvSpPr/>
          <p:nvPr/>
        </p:nvSpPr>
        <p:spPr>
          <a:xfrm rot="5400000">
            <a:off x="9524999" y="567612"/>
            <a:ext cx="2328333" cy="1199444"/>
          </a:xfrm>
          <a:prstGeom prst="homePlate">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77607E82-7D70-8577-CE43-2B9AC51D707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238342" y="621535"/>
            <a:ext cx="914400" cy="914400"/>
          </a:xfrm>
          <a:prstGeom prst="rect">
            <a:avLst/>
          </a:prstGeom>
        </p:spPr>
      </p:pic>
    </p:spTree>
    <p:extLst>
      <p:ext uri="{BB962C8B-B14F-4D97-AF65-F5344CB8AC3E}">
        <p14:creationId xmlns:p14="http://schemas.microsoft.com/office/powerpoint/2010/main" val="3246850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A864404-5A4B-54D8-9E43-E5034FA28DA3}"/>
              </a:ext>
            </a:extLst>
          </p:cNvPr>
          <p:cNvSpPr>
            <a:spLocks noGrp="1"/>
          </p:cNvSpPr>
          <p:nvPr>
            <p:ph type="ftr" sz="quarter" idx="11"/>
          </p:nvPr>
        </p:nvSpPr>
        <p:spPr/>
        <p:txBody>
          <a:bodyPr/>
          <a:lstStyle/>
          <a:p>
            <a:r>
              <a:rPr lang="en-US"/>
              <a:t>
              </a:t>
            </a:r>
          </a:p>
        </p:txBody>
      </p:sp>
      <p:sp>
        <p:nvSpPr>
          <p:cNvPr id="3" name="Date Placeholder 2">
            <a:extLst>
              <a:ext uri="{FF2B5EF4-FFF2-40B4-BE49-F238E27FC236}">
                <a16:creationId xmlns:a16="http://schemas.microsoft.com/office/drawing/2014/main" id="{06CEBF18-B791-F52D-3312-E620CBF7F2AF}"/>
              </a:ext>
            </a:extLst>
          </p:cNvPr>
          <p:cNvSpPr>
            <a:spLocks noGrp="1"/>
          </p:cNvSpPr>
          <p:nvPr>
            <p:ph type="dt" sz="half" idx="10"/>
          </p:nvPr>
        </p:nvSpPr>
        <p:spPr/>
        <p:txBody>
          <a:bodyPr/>
          <a:lstStyle/>
          <a:p>
            <a:fld id="{5EEC37E5-7516-4347-9DD6-D2F7C3F8BF6D}" type="datetime1">
              <a:rPr lang="en-US"/>
              <a:t>8/9/2026</a:t>
            </a:fld>
            <a:endParaRPr lang="en-US"/>
          </a:p>
        </p:txBody>
      </p:sp>
      <p:sp>
        <p:nvSpPr>
          <p:cNvPr id="4" name="Slide Number Placeholder 3">
            <a:extLst>
              <a:ext uri="{FF2B5EF4-FFF2-40B4-BE49-F238E27FC236}">
                <a16:creationId xmlns:a16="http://schemas.microsoft.com/office/drawing/2014/main" id="{B117F491-1321-EB63-0F9C-55441DB47F5C}"/>
              </a:ext>
            </a:extLst>
          </p:cNvPr>
          <p:cNvSpPr>
            <a:spLocks noGrp="1"/>
          </p:cNvSpPr>
          <p:nvPr>
            <p:ph type="sldNum" sz="quarter" idx="12"/>
          </p:nvPr>
        </p:nvSpPr>
        <p:spPr/>
        <p:txBody>
          <a:bodyPr/>
          <a:lstStyle/>
          <a:p>
            <a:fld id="{753D0FD4-819D-4187-8797-C35567B41C78}" type="slidenum">
              <a:rPr lang="en-US" dirty="0"/>
              <a:t>6</a:t>
            </a:fld>
            <a:endParaRPr lang="en-US"/>
          </a:p>
        </p:txBody>
      </p:sp>
      <p:sp>
        <p:nvSpPr>
          <p:cNvPr id="5" name="TextBox 1">
            <a:extLst>
              <a:ext uri="{FF2B5EF4-FFF2-40B4-BE49-F238E27FC236}">
                <a16:creationId xmlns:a16="http://schemas.microsoft.com/office/drawing/2014/main" id="{8A0AF316-7047-A7B7-BB61-8D49F2B0F811}"/>
              </a:ext>
            </a:extLst>
          </p:cNvPr>
          <p:cNvSpPr txBox="1"/>
          <p:nvPr/>
        </p:nvSpPr>
        <p:spPr>
          <a:xfrm>
            <a:off x="457200" y="201168"/>
            <a:ext cx="11247120" cy="502920"/>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2400" b="1" i="0">
                <a:solidFill>
                  <a:srgbClr val="1B2A4A"/>
                </a:solidFill>
                <a:latin typeface="Calibri"/>
              </a:rPr>
              <a:t>Melanoma Signalling Pathways</a:t>
            </a:r>
          </a:p>
        </p:txBody>
      </p:sp>
      <p:sp>
        <p:nvSpPr>
          <p:cNvPr id="6" name="TextBox 2">
            <a:extLst>
              <a:ext uri="{FF2B5EF4-FFF2-40B4-BE49-F238E27FC236}">
                <a16:creationId xmlns:a16="http://schemas.microsoft.com/office/drawing/2014/main" id="{56C9B27F-D8DD-3A14-4379-590693F1FF5E}"/>
              </a:ext>
            </a:extLst>
          </p:cNvPr>
          <p:cNvSpPr txBox="1"/>
          <p:nvPr/>
        </p:nvSpPr>
        <p:spPr>
          <a:xfrm>
            <a:off x="457200" y="658368"/>
            <a:ext cx="11247120" cy="365760"/>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1300" b="0" i="1">
                <a:solidFill>
                  <a:srgbClr val="6B6B6B"/>
                </a:solidFill>
                <a:latin typeface="Calibri"/>
              </a:rPr>
              <a:t>MAPK growth signalling (top) and the PD-1/PD-L1 immune checkpoint (bottom)</a:t>
            </a:r>
          </a:p>
        </p:txBody>
      </p:sp>
      <p:grpSp>
        <p:nvGrpSpPr>
          <p:cNvPr id="44" name="Group 43">
            <a:extLst>
              <a:ext uri="{FF2B5EF4-FFF2-40B4-BE49-F238E27FC236}">
                <a16:creationId xmlns:a16="http://schemas.microsoft.com/office/drawing/2014/main" id="{B033B710-8386-348E-85A4-D518185065C2}"/>
              </a:ext>
            </a:extLst>
          </p:cNvPr>
          <p:cNvGrpSpPr/>
          <p:nvPr/>
        </p:nvGrpSpPr>
        <p:grpSpPr>
          <a:xfrm>
            <a:off x="964732" y="1141435"/>
            <a:ext cx="10597815" cy="5072234"/>
            <a:chOff x="548640" y="1367028"/>
            <a:chExt cx="11429999" cy="5518404"/>
          </a:xfrm>
        </p:grpSpPr>
        <p:sp>
          <p:nvSpPr>
            <p:cNvPr id="7" name="Rectangle 6">
              <a:extLst>
                <a:ext uri="{FF2B5EF4-FFF2-40B4-BE49-F238E27FC236}">
                  <a16:creationId xmlns:a16="http://schemas.microsoft.com/office/drawing/2014/main" id="{3B3E639D-4F84-916B-BCAA-3DAD6B1A1A0B}"/>
                </a:ext>
              </a:extLst>
            </p:cNvPr>
            <p:cNvSpPr/>
            <p:nvPr/>
          </p:nvSpPr>
          <p:spPr>
            <a:xfrm>
              <a:off x="548640" y="1691640"/>
              <a:ext cx="11064240" cy="128016"/>
            </a:xfrm>
            <a:prstGeom prst="rect">
              <a:avLst/>
            </a:prstGeom>
            <a:solidFill>
              <a:srgbClr val="F0D9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 name="TextBox 4">
              <a:extLst>
                <a:ext uri="{FF2B5EF4-FFF2-40B4-BE49-F238E27FC236}">
                  <a16:creationId xmlns:a16="http://schemas.microsoft.com/office/drawing/2014/main" id="{73CF0F7F-C916-B980-D514-DA4744042A29}"/>
                </a:ext>
              </a:extLst>
            </p:cNvPr>
            <p:cNvSpPr txBox="1"/>
            <p:nvPr/>
          </p:nvSpPr>
          <p:spPr>
            <a:xfrm>
              <a:off x="2194560" y="1417320"/>
              <a:ext cx="2011680" cy="228600"/>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950" b="0" i="1">
                  <a:solidFill>
                    <a:srgbClr val="6B6B6B"/>
                  </a:solidFill>
                  <a:latin typeface="Calibri"/>
                </a:rPr>
                <a:t>Cell membrane</a:t>
              </a:r>
            </a:p>
          </p:txBody>
        </p:sp>
        <p:sp>
          <p:nvSpPr>
            <p:cNvPr id="9" name="Oval 8">
              <a:extLst>
                <a:ext uri="{FF2B5EF4-FFF2-40B4-BE49-F238E27FC236}">
                  <a16:creationId xmlns:a16="http://schemas.microsoft.com/office/drawing/2014/main" id="{C8B4E821-830C-86CE-8030-0B34B8A872BC}"/>
                </a:ext>
              </a:extLst>
            </p:cNvPr>
            <p:cNvSpPr/>
            <p:nvPr/>
          </p:nvSpPr>
          <p:spPr>
            <a:xfrm>
              <a:off x="754380" y="1367028"/>
              <a:ext cx="960120" cy="685800"/>
            </a:xfrm>
            <a:prstGeom prst="ellipse">
              <a:avLst/>
            </a:prstGeom>
            <a:solidFill>
              <a:srgbClr val="FFFFFF"/>
            </a:solidFill>
            <a:ln w="19050">
              <a:solidFill>
                <a:srgbClr val="1B2A4A"/>
              </a:solidFill>
            </a:ln>
            <a:effectLst/>
          </p:spPr>
          <p:style>
            <a:lnRef idx="1">
              <a:schemeClr val="accent1"/>
            </a:lnRef>
            <a:fillRef idx="3">
              <a:schemeClr val="accent1"/>
            </a:fillRef>
            <a:effectRef idx="2">
              <a:schemeClr val="accent1"/>
            </a:effectRef>
            <a:fontRef idx="minor">
              <a:schemeClr val="lt1"/>
            </a:fontRef>
          </p:style>
          <p:txBody>
            <a:bodyPr wrap="square" lIns="25400" rIns="2540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950" b="1">
                  <a:solidFill>
                    <a:srgbClr val="1B2A4A"/>
                  </a:solidFill>
                  <a:latin typeface="Calibri"/>
                </a:rPr>
                <a:t>Growth
receptor</a:t>
              </a:r>
            </a:p>
          </p:txBody>
        </p:sp>
        <p:cxnSp>
          <p:nvCxnSpPr>
            <p:cNvPr id="10" name="Connector 6">
              <a:extLst>
                <a:ext uri="{FF2B5EF4-FFF2-40B4-BE49-F238E27FC236}">
                  <a16:creationId xmlns:a16="http://schemas.microsoft.com/office/drawing/2014/main" id="{BBD732F9-0061-D7CB-1D76-F6EBFFF23243}"/>
                </a:ext>
              </a:extLst>
            </p:cNvPr>
            <p:cNvCxnSpPr/>
            <p:nvPr/>
          </p:nvCxnSpPr>
          <p:spPr>
            <a:xfrm>
              <a:off x="1234440" y="2057400"/>
              <a:ext cx="0" cy="251460"/>
            </a:xfrm>
            <a:prstGeom prst="line">
              <a:avLst/>
            </a:prstGeom>
            <a:ln w="25400">
              <a:solidFill>
                <a:srgbClr val="1B2A4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Oval 10">
              <a:extLst>
                <a:ext uri="{FF2B5EF4-FFF2-40B4-BE49-F238E27FC236}">
                  <a16:creationId xmlns:a16="http://schemas.microsoft.com/office/drawing/2014/main" id="{27A5DA16-656D-3AFB-5695-F1C22FE60756}"/>
                </a:ext>
              </a:extLst>
            </p:cNvPr>
            <p:cNvSpPr/>
            <p:nvPr/>
          </p:nvSpPr>
          <p:spPr>
            <a:xfrm>
              <a:off x="617220" y="2308860"/>
              <a:ext cx="1234440" cy="868680"/>
            </a:xfrm>
            <a:prstGeom prst="ellipse">
              <a:avLst/>
            </a:prstGeom>
            <a:solidFill>
              <a:srgbClr val="FFFFFF"/>
            </a:solidFill>
            <a:ln w="19050">
              <a:solidFill>
                <a:srgbClr val="1B2A4A"/>
              </a:solidFill>
            </a:ln>
            <a:effectLst/>
          </p:spPr>
          <p:style>
            <a:lnRef idx="1">
              <a:schemeClr val="accent1"/>
            </a:lnRef>
            <a:fillRef idx="3">
              <a:schemeClr val="accent1"/>
            </a:fillRef>
            <a:effectRef idx="2">
              <a:schemeClr val="accent1"/>
            </a:effectRef>
            <a:fontRef idx="minor">
              <a:schemeClr val="lt1"/>
            </a:fontRef>
          </p:style>
          <p:txBody>
            <a:bodyPr wrap="square" lIns="25400" rIns="2540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1300" b="1">
                  <a:solidFill>
                    <a:srgbClr val="1B2A4A"/>
                  </a:solidFill>
                  <a:latin typeface="Calibri"/>
                </a:rPr>
                <a:t>RAS</a:t>
              </a:r>
            </a:p>
            <a:p>
              <a:pPr algn="ctr"/>
              <a:r>
                <a:rPr sz="800">
                  <a:solidFill>
                    <a:srgbClr val="6B6B6B"/>
                  </a:solidFill>
                  <a:latin typeface="Calibri"/>
                </a:rPr>
                <a:t>NRAS mut. ~18%</a:t>
              </a:r>
            </a:p>
          </p:txBody>
        </p:sp>
        <p:cxnSp>
          <p:nvCxnSpPr>
            <p:cNvPr id="12" name="Connector 8">
              <a:extLst>
                <a:ext uri="{FF2B5EF4-FFF2-40B4-BE49-F238E27FC236}">
                  <a16:creationId xmlns:a16="http://schemas.microsoft.com/office/drawing/2014/main" id="{EC0C1E5C-9050-3FA9-7856-631821C832DA}"/>
                </a:ext>
              </a:extLst>
            </p:cNvPr>
            <p:cNvCxnSpPr/>
            <p:nvPr/>
          </p:nvCxnSpPr>
          <p:spPr>
            <a:xfrm>
              <a:off x="1851660" y="2743200"/>
              <a:ext cx="777240" cy="0"/>
            </a:xfrm>
            <a:prstGeom prst="line">
              <a:avLst/>
            </a:prstGeom>
            <a:ln w="25400">
              <a:solidFill>
                <a:srgbClr val="1B2A4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6E224752-0397-97D2-3986-14F73FB2609E}"/>
                </a:ext>
              </a:extLst>
            </p:cNvPr>
            <p:cNvSpPr/>
            <p:nvPr/>
          </p:nvSpPr>
          <p:spPr>
            <a:xfrm>
              <a:off x="2093976" y="2711196"/>
              <a:ext cx="292608" cy="6400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 name="TextBox 10">
              <a:extLst>
                <a:ext uri="{FF2B5EF4-FFF2-40B4-BE49-F238E27FC236}">
                  <a16:creationId xmlns:a16="http://schemas.microsoft.com/office/drawing/2014/main" id="{447681E0-83C5-52AD-A133-30418837A687}"/>
                </a:ext>
              </a:extLst>
            </p:cNvPr>
            <p:cNvSpPr txBox="1"/>
            <p:nvPr/>
          </p:nvSpPr>
          <p:spPr>
            <a:xfrm>
              <a:off x="2377440" y="2615184"/>
              <a:ext cx="1645920" cy="274320"/>
            </a:xfrm>
            <a:prstGeom prst="rect">
              <a:avLst/>
            </a:prstGeom>
            <a:noFill/>
          </p:spPr>
          <p:txBody>
            <a:bodyPr wrap="square" lIns="0" tIns="0" rIns="0" bIns="0" anchor="ctr">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endParaRPr/>
            </a:p>
          </p:txBody>
        </p:sp>
        <p:sp>
          <p:nvSpPr>
            <p:cNvPr id="15" name="Oval 14">
              <a:extLst>
                <a:ext uri="{FF2B5EF4-FFF2-40B4-BE49-F238E27FC236}">
                  <a16:creationId xmlns:a16="http://schemas.microsoft.com/office/drawing/2014/main" id="{A8701263-020C-6C3C-6FA7-6C8062D62637}"/>
                </a:ext>
              </a:extLst>
            </p:cNvPr>
            <p:cNvSpPr/>
            <p:nvPr/>
          </p:nvSpPr>
          <p:spPr>
            <a:xfrm>
              <a:off x="2628900" y="2308860"/>
              <a:ext cx="1234440" cy="868680"/>
            </a:xfrm>
            <a:prstGeom prst="ellipse">
              <a:avLst/>
            </a:prstGeom>
            <a:solidFill>
              <a:srgbClr val="FDF2E9"/>
            </a:solidFill>
            <a:ln w="19050">
              <a:solidFill>
                <a:srgbClr val="E07B39"/>
              </a:solidFill>
            </a:ln>
            <a:effectLst/>
          </p:spPr>
          <p:style>
            <a:lnRef idx="1">
              <a:schemeClr val="accent1"/>
            </a:lnRef>
            <a:fillRef idx="3">
              <a:schemeClr val="accent1"/>
            </a:fillRef>
            <a:effectRef idx="2">
              <a:schemeClr val="accent1"/>
            </a:effectRef>
            <a:fontRef idx="minor">
              <a:schemeClr val="lt1"/>
            </a:fontRef>
          </p:style>
          <p:txBody>
            <a:bodyPr wrap="square" lIns="25400" rIns="2540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1300" b="1">
                  <a:solidFill>
                    <a:srgbClr val="E07B39"/>
                  </a:solidFill>
                  <a:latin typeface="Calibri"/>
                </a:rPr>
                <a:t>RAF</a:t>
              </a:r>
            </a:p>
            <a:p>
              <a:pPr algn="ctr"/>
              <a:r>
                <a:rPr sz="800">
                  <a:solidFill>
                    <a:srgbClr val="6B6B6B"/>
                  </a:solidFill>
                  <a:latin typeface="Calibri"/>
                </a:rPr>
                <a:t>BRAF V600E ~45%</a:t>
              </a:r>
            </a:p>
          </p:txBody>
        </p:sp>
        <p:cxnSp>
          <p:nvCxnSpPr>
            <p:cNvPr id="16" name="Connector 12">
              <a:extLst>
                <a:ext uri="{FF2B5EF4-FFF2-40B4-BE49-F238E27FC236}">
                  <a16:creationId xmlns:a16="http://schemas.microsoft.com/office/drawing/2014/main" id="{7EFA2962-3CA4-6055-08F5-EF5E408418EF}"/>
                </a:ext>
              </a:extLst>
            </p:cNvPr>
            <p:cNvCxnSpPr/>
            <p:nvPr/>
          </p:nvCxnSpPr>
          <p:spPr>
            <a:xfrm>
              <a:off x="3863340" y="2743200"/>
              <a:ext cx="777240" cy="0"/>
            </a:xfrm>
            <a:prstGeom prst="line">
              <a:avLst/>
            </a:prstGeom>
            <a:ln w="25400">
              <a:solidFill>
                <a:srgbClr val="1B2A4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E08259A8-7B31-1F4E-FA66-661452A80861}"/>
                </a:ext>
              </a:extLst>
            </p:cNvPr>
            <p:cNvSpPr/>
            <p:nvPr/>
          </p:nvSpPr>
          <p:spPr>
            <a:xfrm>
              <a:off x="4219956" y="2596896"/>
              <a:ext cx="64008" cy="29260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8" name="TextBox 14">
              <a:extLst>
                <a:ext uri="{FF2B5EF4-FFF2-40B4-BE49-F238E27FC236}">
                  <a16:creationId xmlns:a16="http://schemas.microsoft.com/office/drawing/2014/main" id="{293C0020-1B0D-84B3-CC5B-4459BD8F5528}"/>
                </a:ext>
              </a:extLst>
            </p:cNvPr>
            <p:cNvSpPr txBox="1"/>
            <p:nvPr/>
          </p:nvSpPr>
          <p:spPr>
            <a:xfrm>
              <a:off x="3611880" y="2176272"/>
              <a:ext cx="1280160" cy="411480"/>
            </a:xfrm>
            <a:prstGeom prst="rect">
              <a:avLst/>
            </a:prstGeom>
            <a:noFill/>
          </p:spPr>
          <p:txBody>
            <a:bodyPr wrap="square" lIns="0" tIns="0" rIns="0" bIns="0"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900" b="1" i="0">
                  <a:solidFill>
                    <a:srgbClr val="C0392B"/>
                  </a:solidFill>
                  <a:latin typeface="Calibri"/>
                </a:rPr>
                <a:t>Vemurafenib
Encorafenib</a:t>
              </a:r>
            </a:p>
          </p:txBody>
        </p:sp>
        <p:sp>
          <p:nvSpPr>
            <p:cNvPr id="19" name="Oval 18">
              <a:extLst>
                <a:ext uri="{FF2B5EF4-FFF2-40B4-BE49-F238E27FC236}">
                  <a16:creationId xmlns:a16="http://schemas.microsoft.com/office/drawing/2014/main" id="{5F357863-E36B-4E5F-AED1-EF25DCE54EFF}"/>
                </a:ext>
              </a:extLst>
            </p:cNvPr>
            <p:cNvSpPr/>
            <p:nvPr/>
          </p:nvSpPr>
          <p:spPr>
            <a:xfrm>
              <a:off x="4640580" y="2308860"/>
              <a:ext cx="1234440" cy="868680"/>
            </a:xfrm>
            <a:prstGeom prst="ellipse">
              <a:avLst/>
            </a:prstGeom>
            <a:solidFill>
              <a:srgbClr val="FFFFFF"/>
            </a:solidFill>
            <a:ln w="19050">
              <a:solidFill>
                <a:srgbClr val="1B2A4A"/>
              </a:solidFill>
            </a:ln>
            <a:effectLst/>
          </p:spPr>
          <p:style>
            <a:lnRef idx="1">
              <a:schemeClr val="accent1"/>
            </a:lnRef>
            <a:fillRef idx="3">
              <a:schemeClr val="accent1"/>
            </a:fillRef>
            <a:effectRef idx="2">
              <a:schemeClr val="accent1"/>
            </a:effectRef>
            <a:fontRef idx="minor">
              <a:schemeClr val="lt1"/>
            </a:fontRef>
          </p:style>
          <p:txBody>
            <a:bodyPr wrap="square" lIns="25400" rIns="2540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1300" b="1">
                  <a:solidFill>
                    <a:srgbClr val="1B2A4A"/>
                  </a:solidFill>
                  <a:latin typeface="Calibri"/>
                </a:rPr>
                <a:t>MEK</a:t>
              </a:r>
            </a:p>
            <a:p>
              <a:pPr algn="ctr"/>
              <a:r>
                <a:rPr sz="800">
                  <a:solidFill>
                    <a:srgbClr val="6B6B6B"/>
                  </a:solidFill>
                  <a:latin typeface="Calibri"/>
                </a:rPr>
                <a:t>MAPK/ERK Kinase</a:t>
              </a:r>
            </a:p>
          </p:txBody>
        </p:sp>
        <p:cxnSp>
          <p:nvCxnSpPr>
            <p:cNvPr id="20" name="Connector 16">
              <a:extLst>
                <a:ext uri="{FF2B5EF4-FFF2-40B4-BE49-F238E27FC236}">
                  <a16:creationId xmlns:a16="http://schemas.microsoft.com/office/drawing/2014/main" id="{BF61E3A4-F335-2514-9545-D1ADD0C27D52}"/>
                </a:ext>
              </a:extLst>
            </p:cNvPr>
            <p:cNvCxnSpPr/>
            <p:nvPr/>
          </p:nvCxnSpPr>
          <p:spPr>
            <a:xfrm>
              <a:off x="5875020" y="2743200"/>
              <a:ext cx="777239" cy="0"/>
            </a:xfrm>
            <a:prstGeom prst="line">
              <a:avLst/>
            </a:prstGeom>
            <a:ln w="25400">
              <a:solidFill>
                <a:srgbClr val="1B2A4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586B8B2E-6A18-015B-F465-5B43C12AF149}"/>
                </a:ext>
              </a:extLst>
            </p:cNvPr>
            <p:cNvSpPr/>
            <p:nvPr/>
          </p:nvSpPr>
          <p:spPr>
            <a:xfrm>
              <a:off x="6231636" y="2596896"/>
              <a:ext cx="64008" cy="29260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2" name="TextBox 18">
              <a:extLst>
                <a:ext uri="{FF2B5EF4-FFF2-40B4-BE49-F238E27FC236}">
                  <a16:creationId xmlns:a16="http://schemas.microsoft.com/office/drawing/2014/main" id="{878C2258-C844-DFE6-E9A9-AD8CCE2E422F}"/>
                </a:ext>
              </a:extLst>
            </p:cNvPr>
            <p:cNvSpPr txBox="1"/>
            <p:nvPr/>
          </p:nvSpPr>
          <p:spPr>
            <a:xfrm>
              <a:off x="5623559" y="2176272"/>
              <a:ext cx="1280160" cy="411480"/>
            </a:xfrm>
            <a:prstGeom prst="rect">
              <a:avLst/>
            </a:prstGeom>
            <a:noFill/>
          </p:spPr>
          <p:txBody>
            <a:bodyPr wrap="square" lIns="0" tIns="0" rIns="0" bIns="0" anchor="b">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900" b="1" i="0">
                  <a:solidFill>
                    <a:srgbClr val="C0392B"/>
                  </a:solidFill>
                  <a:latin typeface="Calibri"/>
                </a:rPr>
                <a:t>Trametinib
Binimetinib</a:t>
              </a:r>
            </a:p>
          </p:txBody>
        </p:sp>
        <p:sp>
          <p:nvSpPr>
            <p:cNvPr id="23" name="Oval 22">
              <a:extLst>
                <a:ext uri="{FF2B5EF4-FFF2-40B4-BE49-F238E27FC236}">
                  <a16:creationId xmlns:a16="http://schemas.microsoft.com/office/drawing/2014/main" id="{E1427CDD-993B-6DE6-8C8F-CE768FC871C1}"/>
                </a:ext>
              </a:extLst>
            </p:cNvPr>
            <p:cNvSpPr/>
            <p:nvPr/>
          </p:nvSpPr>
          <p:spPr>
            <a:xfrm>
              <a:off x="6652259" y="2308860"/>
              <a:ext cx="1234440" cy="868680"/>
            </a:xfrm>
            <a:prstGeom prst="ellipse">
              <a:avLst/>
            </a:prstGeom>
            <a:solidFill>
              <a:srgbClr val="FFFFFF"/>
            </a:solidFill>
            <a:ln w="19050">
              <a:solidFill>
                <a:srgbClr val="1B2A4A"/>
              </a:solidFill>
            </a:ln>
            <a:effectLst/>
          </p:spPr>
          <p:style>
            <a:lnRef idx="1">
              <a:schemeClr val="accent1"/>
            </a:lnRef>
            <a:fillRef idx="3">
              <a:schemeClr val="accent1"/>
            </a:fillRef>
            <a:effectRef idx="2">
              <a:schemeClr val="accent1"/>
            </a:effectRef>
            <a:fontRef idx="minor">
              <a:schemeClr val="lt1"/>
            </a:fontRef>
          </p:style>
          <p:txBody>
            <a:bodyPr wrap="square" lIns="25400" rIns="2540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1300" b="1">
                  <a:solidFill>
                    <a:srgbClr val="1B2A4A"/>
                  </a:solidFill>
                  <a:latin typeface="Calibri"/>
                </a:rPr>
                <a:t>ERK</a:t>
              </a:r>
            </a:p>
            <a:p>
              <a:pPr algn="ctr"/>
              <a:r>
                <a:rPr sz="800">
                  <a:solidFill>
                    <a:srgbClr val="6B6B6B"/>
                  </a:solidFill>
                  <a:latin typeface="Calibri"/>
                </a:rPr>
                <a:t>active = "pERK"</a:t>
              </a:r>
            </a:p>
          </p:txBody>
        </p:sp>
        <p:cxnSp>
          <p:nvCxnSpPr>
            <p:cNvPr id="24" name="Connector 20">
              <a:extLst>
                <a:ext uri="{FF2B5EF4-FFF2-40B4-BE49-F238E27FC236}">
                  <a16:creationId xmlns:a16="http://schemas.microsoft.com/office/drawing/2014/main" id="{0007FA3E-7F31-AADB-1C3A-E8C9A57E055F}"/>
                </a:ext>
              </a:extLst>
            </p:cNvPr>
            <p:cNvCxnSpPr/>
            <p:nvPr/>
          </p:nvCxnSpPr>
          <p:spPr>
            <a:xfrm>
              <a:off x="7269479" y="3177540"/>
              <a:ext cx="0" cy="457200"/>
            </a:xfrm>
            <a:prstGeom prst="line">
              <a:avLst/>
            </a:prstGeom>
            <a:ln w="25400">
              <a:solidFill>
                <a:srgbClr val="1B2A4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TextBox 21">
              <a:extLst>
                <a:ext uri="{FF2B5EF4-FFF2-40B4-BE49-F238E27FC236}">
                  <a16:creationId xmlns:a16="http://schemas.microsoft.com/office/drawing/2014/main" id="{6AEA2283-E6E1-1C3A-9540-2EC26B53C50B}"/>
                </a:ext>
              </a:extLst>
            </p:cNvPr>
            <p:cNvSpPr txBox="1"/>
            <p:nvPr/>
          </p:nvSpPr>
          <p:spPr>
            <a:xfrm>
              <a:off x="6080759" y="3680460"/>
              <a:ext cx="2377440" cy="502920"/>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200" b="1" i="0">
                  <a:solidFill>
                    <a:srgbClr val="1A1A1A"/>
                  </a:solidFill>
                  <a:latin typeface="Calibri"/>
                </a:rPr>
                <a:t>Proliferation
&amp; survival</a:t>
              </a:r>
            </a:p>
          </p:txBody>
        </p:sp>
        <p:sp>
          <p:nvSpPr>
            <p:cNvPr id="26" name="Rectangle 25">
              <a:extLst>
                <a:ext uri="{FF2B5EF4-FFF2-40B4-BE49-F238E27FC236}">
                  <a16:creationId xmlns:a16="http://schemas.microsoft.com/office/drawing/2014/main" id="{E2C2E20E-62B8-A73C-DE40-E41E68354BB4}"/>
                </a:ext>
              </a:extLst>
            </p:cNvPr>
            <p:cNvSpPr/>
            <p:nvPr/>
          </p:nvSpPr>
          <p:spPr>
            <a:xfrm>
              <a:off x="7863840" y="4160520"/>
              <a:ext cx="3749039" cy="128016"/>
            </a:xfrm>
            <a:prstGeom prst="rect">
              <a:avLst/>
            </a:prstGeom>
            <a:solidFill>
              <a:srgbClr val="F0D9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7" name="TextBox 23">
              <a:extLst>
                <a:ext uri="{FF2B5EF4-FFF2-40B4-BE49-F238E27FC236}">
                  <a16:creationId xmlns:a16="http://schemas.microsoft.com/office/drawing/2014/main" id="{531D0546-C922-962B-6E12-D5D1C1F3686D}"/>
                </a:ext>
              </a:extLst>
            </p:cNvPr>
            <p:cNvSpPr txBox="1"/>
            <p:nvPr/>
          </p:nvSpPr>
          <p:spPr>
            <a:xfrm>
              <a:off x="7772400" y="3840480"/>
              <a:ext cx="1828800" cy="274320"/>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000" b="0" i="0">
                  <a:solidFill>
                    <a:srgbClr val="6B6B6B"/>
                  </a:solidFill>
                  <a:latin typeface="Calibri"/>
                </a:rPr>
                <a:t>Tumour cell</a:t>
              </a:r>
            </a:p>
          </p:txBody>
        </p:sp>
        <p:sp>
          <p:nvSpPr>
            <p:cNvPr id="28" name="Oval 27">
              <a:extLst>
                <a:ext uri="{FF2B5EF4-FFF2-40B4-BE49-F238E27FC236}">
                  <a16:creationId xmlns:a16="http://schemas.microsoft.com/office/drawing/2014/main" id="{3ACD74E3-B63A-24F7-8AD0-D573FB79F748}"/>
                </a:ext>
              </a:extLst>
            </p:cNvPr>
            <p:cNvSpPr/>
            <p:nvPr/>
          </p:nvSpPr>
          <p:spPr>
            <a:xfrm>
              <a:off x="8138160" y="4151375"/>
              <a:ext cx="1097280" cy="658368"/>
            </a:xfrm>
            <a:prstGeom prst="ellipse">
              <a:avLst/>
            </a:prstGeom>
            <a:solidFill>
              <a:srgbClr val="FDF2E9"/>
            </a:solidFill>
            <a:ln w="19050">
              <a:solidFill>
                <a:srgbClr val="E07B39"/>
              </a:solidFill>
            </a:ln>
            <a:effectLst/>
          </p:spPr>
          <p:style>
            <a:lnRef idx="1">
              <a:schemeClr val="accent1"/>
            </a:lnRef>
            <a:fillRef idx="3">
              <a:schemeClr val="accent1"/>
            </a:fillRef>
            <a:effectRef idx="2">
              <a:schemeClr val="accent1"/>
            </a:effectRef>
            <a:fontRef idx="minor">
              <a:schemeClr val="lt1"/>
            </a:fontRef>
          </p:style>
          <p:txBody>
            <a:bodyPr wrap="square" lIns="25400" rIns="2540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1100" b="1">
                  <a:solidFill>
                    <a:srgbClr val="E07B39"/>
                  </a:solidFill>
                  <a:latin typeface="Calibri"/>
                </a:rPr>
                <a:t>PD-L1</a:t>
              </a:r>
            </a:p>
          </p:txBody>
        </p:sp>
        <p:sp>
          <p:nvSpPr>
            <p:cNvPr id="29" name="TextBox 25">
              <a:extLst>
                <a:ext uri="{FF2B5EF4-FFF2-40B4-BE49-F238E27FC236}">
                  <a16:creationId xmlns:a16="http://schemas.microsoft.com/office/drawing/2014/main" id="{8C11074E-F07A-DC4E-55CD-FCA0AC2DA9DD}"/>
                </a:ext>
              </a:extLst>
            </p:cNvPr>
            <p:cNvSpPr txBox="1"/>
            <p:nvPr/>
          </p:nvSpPr>
          <p:spPr>
            <a:xfrm>
              <a:off x="9784080" y="3840480"/>
              <a:ext cx="1828800" cy="274320"/>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000" b="0" i="0">
                  <a:solidFill>
                    <a:srgbClr val="6B6B6B"/>
                  </a:solidFill>
                  <a:latin typeface="Calibri"/>
                </a:rPr>
                <a:t>T-cell</a:t>
              </a:r>
            </a:p>
          </p:txBody>
        </p:sp>
        <p:sp>
          <p:nvSpPr>
            <p:cNvPr id="30" name="Oval 29">
              <a:extLst>
                <a:ext uri="{FF2B5EF4-FFF2-40B4-BE49-F238E27FC236}">
                  <a16:creationId xmlns:a16="http://schemas.microsoft.com/office/drawing/2014/main" id="{520469E6-9964-52A3-3B0A-6F25CB388B24}"/>
                </a:ext>
              </a:extLst>
            </p:cNvPr>
            <p:cNvSpPr/>
            <p:nvPr/>
          </p:nvSpPr>
          <p:spPr>
            <a:xfrm>
              <a:off x="10149840" y="4151375"/>
              <a:ext cx="1097280" cy="658368"/>
            </a:xfrm>
            <a:prstGeom prst="ellipse">
              <a:avLst/>
            </a:prstGeom>
            <a:solidFill>
              <a:srgbClr val="FFFFFF"/>
            </a:solidFill>
            <a:ln w="19050">
              <a:solidFill>
                <a:srgbClr val="1B2A4A"/>
              </a:solidFill>
            </a:ln>
            <a:effectLst/>
          </p:spPr>
          <p:style>
            <a:lnRef idx="1">
              <a:schemeClr val="accent1"/>
            </a:lnRef>
            <a:fillRef idx="3">
              <a:schemeClr val="accent1"/>
            </a:fillRef>
            <a:effectRef idx="2">
              <a:schemeClr val="accent1"/>
            </a:effectRef>
            <a:fontRef idx="minor">
              <a:schemeClr val="lt1"/>
            </a:fontRef>
          </p:style>
          <p:txBody>
            <a:bodyPr wrap="square" lIns="25400" rIns="2540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sz="1100" b="1">
                  <a:solidFill>
                    <a:srgbClr val="1B2A4A"/>
                  </a:solidFill>
                  <a:latin typeface="Calibri"/>
                </a:rPr>
                <a:t>PD-1</a:t>
              </a:r>
            </a:p>
          </p:txBody>
        </p:sp>
        <p:cxnSp>
          <p:nvCxnSpPr>
            <p:cNvPr id="31" name="Connector 27">
              <a:extLst>
                <a:ext uri="{FF2B5EF4-FFF2-40B4-BE49-F238E27FC236}">
                  <a16:creationId xmlns:a16="http://schemas.microsoft.com/office/drawing/2014/main" id="{952E02C4-7D2A-8C00-DD5F-A18B4A2E8EFE}"/>
                </a:ext>
              </a:extLst>
            </p:cNvPr>
            <p:cNvCxnSpPr/>
            <p:nvPr/>
          </p:nvCxnSpPr>
          <p:spPr>
            <a:xfrm>
              <a:off x="9235440" y="4480559"/>
              <a:ext cx="914400" cy="0"/>
            </a:xfrm>
            <a:prstGeom prst="line">
              <a:avLst/>
            </a:prstGeom>
            <a:ln w="25400">
              <a:solidFill>
                <a:srgbClr val="1B2A4A"/>
              </a:solidFill>
            </a:ln>
            <a:effectLst/>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779155C6-5B8C-06BD-C83B-29B309EBED7B}"/>
                </a:ext>
              </a:extLst>
            </p:cNvPr>
            <p:cNvSpPr/>
            <p:nvPr/>
          </p:nvSpPr>
          <p:spPr>
            <a:xfrm>
              <a:off x="9660635" y="4334255"/>
              <a:ext cx="64008" cy="29260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3" name="TextBox 29">
              <a:extLst>
                <a:ext uri="{FF2B5EF4-FFF2-40B4-BE49-F238E27FC236}">
                  <a16:creationId xmlns:a16="http://schemas.microsoft.com/office/drawing/2014/main" id="{E2A22ACE-C257-7691-5A1B-A3ED41A520F7}"/>
                </a:ext>
              </a:extLst>
            </p:cNvPr>
            <p:cNvSpPr txBox="1"/>
            <p:nvPr/>
          </p:nvSpPr>
          <p:spPr>
            <a:xfrm>
              <a:off x="8869679" y="4645151"/>
              <a:ext cx="1645920" cy="457200"/>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900" b="1" i="0">
                  <a:solidFill>
                    <a:srgbClr val="C0392B"/>
                  </a:solidFill>
                  <a:latin typeface="Calibri"/>
                </a:rPr>
                <a:t>anti-PD-1 /
anti-CTLA-4</a:t>
              </a:r>
            </a:p>
          </p:txBody>
        </p:sp>
        <p:cxnSp>
          <p:nvCxnSpPr>
            <p:cNvPr id="34" name="Connector 30">
              <a:extLst>
                <a:ext uri="{FF2B5EF4-FFF2-40B4-BE49-F238E27FC236}">
                  <a16:creationId xmlns:a16="http://schemas.microsoft.com/office/drawing/2014/main" id="{F6A67D92-0B3B-EDB3-00DF-DA2DBE33DD48}"/>
                </a:ext>
              </a:extLst>
            </p:cNvPr>
            <p:cNvCxnSpPr/>
            <p:nvPr/>
          </p:nvCxnSpPr>
          <p:spPr>
            <a:xfrm>
              <a:off x="10698480" y="4809744"/>
              <a:ext cx="0" cy="768096"/>
            </a:xfrm>
            <a:prstGeom prst="line">
              <a:avLst/>
            </a:prstGeom>
            <a:ln w="25400">
              <a:solidFill>
                <a:srgbClr val="1B2A4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TextBox 31">
              <a:extLst>
                <a:ext uri="{FF2B5EF4-FFF2-40B4-BE49-F238E27FC236}">
                  <a16:creationId xmlns:a16="http://schemas.microsoft.com/office/drawing/2014/main" id="{49E1DEF2-E9E3-18C9-F76D-EE0DAA43D2FF}"/>
                </a:ext>
              </a:extLst>
            </p:cNvPr>
            <p:cNvSpPr txBox="1"/>
            <p:nvPr/>
          </p:nvSpPr>
          <p:spPr>
            <a:xfrm>
              <a:off x="9418319" y="5605272"/>
              <a:ext cx="2560320" cy="457200"/>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000" b="0" i="0">
                  <a:solidFill>
                    <a:srgbClr val="1A1A1A"/>
                  </a:solidFill>
                  <a:latin typeface="Calibri"/>
                </a:rPr>
                <a:t>T-cell "brake" released
by checkpoint blockade</a:t>
              </a:r>
            </a:p>
          </p:txBody>
        </p:sp>
        <p:cxnSp>
          <p:nvCxnSpPr>
            <p:cNvPr id="36" name="Connector 32">
              <a:extLst>
                <a:ext uri="{FF2B5EF4-FFF2-40B4-BE49-F238E27FC236}">
                  <a16:creationId xmlns:a16="http://schemas.microsoft.com/office/drawing/2014/main" id="{06A48659-9980-649F-F6FA-786332F8A2A1}"/>
                </a:ext>
              </a:extLst>
            </p:cNvPr>
            <p:cNvCxnSpPr/>
            <p:nvPr/>
          </p:nvCxnSpPr>
          <p:spPr>
            <a:xfrm>
              <a:off x="10698480" y="6126479"/>
              <a:ext cx="0" cy="365761"/>
            </a:xfrm>
            <a:prstGeom prst="line">
              <a:avLst/>
            </a:prstGeom>
            <a:ln w="25400">
              <a:solidFill>
                <a:srgbClr val="1B2A4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TextBox 33">
              <a:extLst>
                <a:ext uri="{FF2B5EF4-FFF2-40B4-BE49-F238E27FC236}">
                  <a16:creationId xmlns:a16="http://schemas.microsoft.com/office/drawing/2014/main" id="{E2B7A6ED-2C5B-1F89-399B-4C7714BC850E}"/>
                </a:ext>
              </a:extLst>
            </p:cNvPr>
            <p:cNvSpPr txBox="1"/>
            <p:nvPr/>
          </p:nvSpPr>
          <p:spPr>
            <a:xfrm>
              <a:off x="9418319" y="6519672"/>
              <a:ext cx="2560320" cy="365760"/>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sz="1150" b="1" i="0">
                  <a:solidFill>
                    <a:srgbClr val="1A1A1A"/>
                  </a:solidFill>
                  <a:latin typeface="Calibri"/>
                </a:rPr>
                <a:t>Cytotoxic attack
on tumour</a:t>
              </a:r>
            </a:p>
          </p:txBody>
        </p:sp>
        <p:cxnSp>
          <p:nvCxnSpPr>
            <p:cNvPr id="38" name="Connector 34">
              <a:extLst>
                <a:ext uri="{FF2B5EF4-FFF2-40B4-BE49-F238E27FC236}">
                  <a16:creationId xmlns:a16="http://schemas.microsoft.com/office/drawing/2014/main" id="{98AF3E6C-B763-B161-B115-342F6927A481}"/>
                </a:ext>
              </a:extLst>
            </p:cNvPr>
            <p:cNvCxnSpPr/>
            <p:nvPr/>
          </p:nvCxnSpPr>
          <p:spPr>
            <a:xfrm>
              <a:off x="548640" y="4370832"/>
              <a:ext cx="320040" cy="0"/>
            </a:xfrm>
            <a:prstGeom prst="line">
              <a:avLst/>
            </a:prstGeom>
            <a:ln w="25400">
              <a:solidFill>
                <a:srgbClr val="1B2A4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9" name="TextBox 35">
              <a:extLst>
                <a:ext uri="{FF2B5EF4-FFF2-40B4-BE49-F238E27FC236}">
                  <a16:creationId xmlns:a16="http://schemas.microsoft.com/office/drawing/2014/main" id="{A46B195B-7127-82F2-7629-7D9B8560DB83}"/>
                </a:ext>
              </a:extLst>
            </p:cNvPr>
            <p:cNvSpPr txBox="1"/>
            <p:nvPr/>
          </p:nvSpPr>
          <p:spPr>
            <a:xfrm>
              <a:off x="960120" y="4270248"/>
              <a:ext cx="1005840" cy="274320"/>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950" b="0" i="0">
                  <a:solidFill>
                    <a:srgbClr val="6B6B6B"/>
                  </a:solidFill>
                  <a:latin typeface="Calibri"/>
                </a:rPr>
                <a:t>activates</a:t>
              </a:r>
            </a:p>
          </p:txBody>
        </p:sp>
        <p:sp>
          <p:nvSpPr>
            <p:cNvPr id="40" name="Rectangle 39">
              <a:extLst>
                <a:ext uri="{FF2B5EF4-FFF2-40B4-BE49-F238E27FC236}">
                  <a16:creationId xmlns:a16="http://schemas.microsoft.com/office/drawing/2014/main" id="{DBB642D0-88BB-46C0-9FFF-4CFA86773EFF}"/>
                </a:ext>
              </a:extLst>
            </p:cNvPr>
            <p:cNvSpPr/>
            <p:nvPr/>
          </p:nvSpPr>
          <p:spPr>
            <a:xfrm>
              <a:off x="2103120" y="4197096"/>
              <a:ext cx="64008" cy="29260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1" name="TextBox 37">
              <a:extLst>
                <a:ext uri="{FF2B5EF4-FFF2-40B4-BE49-F238E27FC236}">
                  <a16:creationId xmlns:a16="http://schemas.microsoft.com/office/drawing/2014/main" id="{8CD8851D-153D-273D-33BB-9118A3B3B00A}"/>
                </a:ext>
              </a:extLst>
            </p:cNvPr>
            <p:cNvSpPr txBox="1"/>
            <p:nvPr/>
          </p:nvSpPr>
          <p:spPr>
            <a:xfrm>
              <a:off x="2286000" y="4270248"/>
              <a:ext cx="1645920" cy="274320"/>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950" b="0" i="0">
                  <a:solidFill>
                    <a:srgbClr val="6B6B6B"/>
                  </a:solidFill>
                  <a:latin typeface="Calibri"/>
                </a:rPr>
                <a:t>blocked by drug</a:t>
              </a:r>
            </a:p>
          </p:txBody>
        </p:sp>
        <p:sp>
          <p:nvSpPr>
            <p:cNvPr id="42" name="Oval 41">
              <a:extLst>
                <a:ext uri="{FF2B5EF4-FFF2-40B4-BE49-F238E27FC236}">
                  <a16:creationId xmlns:a16="http://schemas.microsoft.com/office/drawing/2014/main" id="{CB6091A8-CE0B-16F0-9463-624A6FCC9C1C}"/>
                </a:ext>
              </a:extLst>
            </p:cNvPr>
            <p:cNvSpPr/>
            <p:nvPr/>
          </p:nvSpPr>
          <p:spPr>
            <a:xfrm>
              <a:off x="3758184" y="4197096"/>
              <a:ext cx="256032" cy="256032"/>
            </a:xfrm>
            <a:prstGeom prst="ellipse">
              <a:avLst/>
            </a:prstGeom>
            <a:solidFill>
              <a:srgbClr val="FDF2E9"/>
            </a:solidFill>
            <a:ln w="19050">
              <a:solidFill>
                <a:srgbClr val="E07B39"/>
              </a:solidFill>
            </a:ln>
            <a:effectLst/>
          </p:spPr>
          <p:style>
            <a:lnRef idx="1">
              <a:schemeClr val="accent1"/>
            </a:lnRef>
            <a:fillRef idx="3">
              <a:schemeClr val="accent1"/>
            </a:fillRef>
            <a:effectRef idx="2">
              <a:schemeClr val="accent1"/>
            </a:effectRef>
            <a:fontRef idx="minor">
              <a:schemeClr val="lt1"/>
            </a:fontRef>
          </p:style>
          <p:txBody>
            <a:bodyPr wrap="square" lIns="25400" rIns="2540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3" name="TextBox 39">
              <a:extLst>
                <a:ext uri="{FF2B5EF4-FFF2-40B4-BE49-F238E27FC236}">
                  <a16:creationId xmlns:a16="http://schemas.microsoft.com/office/drawing/2014/main" id="{359E2408-F078-6F84-CC0B-258179550FBB}"/>
                </a:ext>
              </a:extLst>
            </p:cNvPr>
            <p:cNvSpPr txBox="1"/>
            <p:nvPr/>
          </p:nvSpPr>
          <p:spPr>
            <a:xfrm>
              <a:off x="4114800" y="4270248"/>
              <a:ext cx="2926080" cy="274320"/>
            </a:xfrm>
            <a:prstGeom prst="rect">
              <a:avLst/>
            </a:prstGeom>
            <a:noFill/>
          </p:spPr>
          <p:txBody>
            <a:bodyPr wrap="square" lIns="0" tIns="0" rIns="0" bIns="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sz="950" b="0" i="0">
                  <a:solidFill>
                    <a:srgbClr val="6B6B6B"/>
                  </a:solidFill>
                  <a:latin typeface="Calibri"/>
                </a:rPr>
                <a:t>mutated / overactive in melanoma</a:t>
              </a:r>
            </a:p>
          </p:txBody>
        </p:sp>
      </p:grpSp>
    </p:spTree>
    <p:extLst>
      <p:ext uri="{BB962C8B-B14F-4D97-AF65-F5344CB8AC3E}">
        <p14:creationId xmlns:p14="http://schemas.microsoft.com/office/powerpoint/2010/main" val="176618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5AB01F-858D-746C-8540-DD11D4C4E0E4}"/>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2F474BFD-9E5C-DE9F-9BC9-B63C942AFA17}"/>
              </a:ext>
            </a:extLst>
          </p:cNvPr>
          <p:cNvSpPr>
            <a:spLocks noGrp="1"/>
          </p:cNvSpPr>
          <p:nvPr>
            <p:ph type="dt" sz="half" idx="10"/>
          </p:nvPr>
        </p:nvSpPr>
        <p:spPr/>
        <p:txBody>
          <a:bodyPr/>
          <a:lstStyle/>
          <a:p>
            <a:fld id="{8D0AFB9A-218D-47B3-804F-AED8F3B5451D}" type="datetime1">
              <a:rPr lang="en-US"/>
              <a:t>8/9/2026</a:t>
            </a:fld>
            <a:endParaRPr lang="en-US"/>
          </a:p>
        </p:txBody>
      </p:sp>
      <p:sp>
        <p:nvSpPr>
          <p:cNvPr id="4" name="Text 0">
            <a:extLst>
              <a:ext uri="{FF2B5EF4-FFF2-40B4-BE49-F238E27FC236}">
                <a16:creationId xmlns:a16="http://schemas.microsoft.com/office/drawing/2014/main" id="{5F420E97-3D68-D8F4-71AE-74B900C76415}"/>
              </a:ext>
            </a:extLst>
          </p:cNvPr>
          <p:cNvSpPr/>
          <p:nvPr/>
        </p:nvSpPr>
        <p:spPr>
          <a:xfrm>
            <a:off x="320040" y="91440"/>
            <a:ext cx="11521440" cy="5486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700" b="1">
                <a:solidFill>
                  <a:srgbClr val="1B2A4A"/>
                </a:solidFill>
                <a:latin typeface="Calibri" pitchFamily="34" charset="0"/>
                <a:ea typeface="Calibri" pitchFamily="34" charset="-122"/>
                <a:cs typeface="Calibri" pitchFamily="34" charset="-120"/>
              </a:rPr>
              <a:t>The four ODE modules</a:t>
            </a:r>
            <a:endParaRPr lang="en-US" sz="2700"/>
          </a:p>
        </p:txBody>
      </p:sp>
      <p:sp>
        <p:nvSpPr>
          <p:cNvPr id="5" name="Shape 1">
            <a:extLst>
              <a:ext uri="{FF2B5EF4-FFF2-40B4-BE49-F238E27FC236}">
                <a16:creationId xmlns:a16="http://schemas.microsoft.com/office/drawing/2014/main" id="{33AD04AF-94F7-8862-C1AB-361CFB2A73FB}"/>
              </a:ext>
            </a:extLst>
          </p:cNvPr>
          <p:cNvSpPr/>
          <p:nvPr/>
        </p:nvSpPr>
        <p:spPr>
          <a:xfrm>
            <a:off x="320040" y="667512"/>
            <a:ext cx="1371600" cy="41148"/>
          </a:xfrm>
          <a:prstGeom prst="rect">
            <a:avLst/>
          </a:prstGeom>
          <a:solidFill>
            <a:srgbClr val="E07B39"/>
          </a:solidFill>
          <a:ln w="12700">
            <a:solidFill>
              <a:srgbClr val="E07B39"/>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 name="Text 2">
            <a:extLst>
              <a:ext uri="{FF2B5EF4-FFF2-40B4-BE49-F238E27FC236}">
                <a16:creationId xmlns:a16="http://schemas.microsoft.com/office/drawing/2014/main" id="{7C162D4C-EC34-763C-69E9-B5910B58C54A}"/>
              </a:ext>
            </a:extLst>
          </p:cNvPr>
          <p:cNvSpPr/>
          <p:nvPr/>
        </p:nvSpPr>
        <p:spPr>
          <a:xfrm>
            <a:off x="320040" y="722376"/>
            <a:ext cx="11430000"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i="1">
                <a:solidFill>
                  <a:srgbClr val="8A9BB0"/>
                </a:solidFill>
                <a:latin typeface="Calibri" pitchFamily="34" charset="0"/>
                <a:ea typeface="Calibri" pitchFamily="34" charset="-122"/>
                <a:cs typeface="Calibri" pitchFamily="34" charset="-120"/>
              </a:rPr>
              <a:t>Four ODE models built utilizing patient inputs for all 421 TCGA-SKCM patients and adapted from published literature and their models.</a:t>
            </a:r>
            <a:endParaRPr lang="en-US" sz="1100"/>
          </a:p>
        </p:txBody>
      </p:sp>
      <p:sp>
        <p:nvSpPr>
          <p:cNvPr id="7" name="Shape 3">
            <a:extLst>
              <a:ext uri="{FF2B5EF4-FFF2-40B4-BE49-F238E27FC236}">
                <a16:creationId xmlns:a16="http://schemas.microsoft.com/office/drawing/2014/main" id="{6DA23B27-52B8-E63B-7A77-8F23389CDC9B}"/>
              </a:ext>
            </a:extLst>
          </p:cNvPr>
          <p:cNvSpPr/>
          <p:nvPr/>
        </p:nvSpPr>
        <p:spPr>
          <a:xfrm>
            <a:off x="2810258" y="1022932"/>
            <a:ext cx="1874520" cy="594360"/>
          </a:xfrm>
          <a:prstGeom prst="roundRect">
            <a:avLst>
              <a:gd name="adj" fmla="val 13846"/>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 name="Shape 4">
            <a:extLst>
              <a:ext uri="{FF2B5EF4-FFF2-40B4-BE49-F238E27FC236}">
                <a16:creationId xmlns:a16="http://schemas.microsoft.com/office/drawing/2014/main" id="{D319F802-8316-A956-7682-9670323CE131}"/>
              </a:ext>
            </a:extLst>
          </p:cNvPr>
          <p:cNvSpPr/>
          <p:nvPr/>
        </p:nvSpPr>
        <p:spPr>
          <a:xfrm>
            <a:off x="2854159" y="1137232"/>
            <a:ext cx="340147" cy="333744"/>
          </a:xfrm>
          <a:prstGeom prst="ellipse">
            <a:avLst/>
          </a:prstGeom>
          <a:solidFill>
            <a:srgbClr val="1B2A4A"/>
          </a:solidFill>
          <a:ln w="12700">
            <a:solidFill>
              <a:srgbClr val="1B2A4A"/>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 name="Text 5">
            <a:extLst>
              <a:ext uri="{FF2B5EF4-FFF2-40B4-BE49-F238E27FC236}">
                <a16:creationId xmlns:a16="http://schemas.microsoft.com/office/drawing/2014/main" id="{14F62725-AE63-27AC-25DA-AB2EFE51087C}"/>
              </a:ext>
            </a:extLst>
          </p:cNvPr>
          <p:cNvSpPr/>
          <p:nvPr/>
        </p:nvSpPr>
        <p:spPr>
          <a:xfrm>
            <a:off x="2828546" y="1137232"/>
            <a:ext cx="365760"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solidFill>
                <a:schemeClr val="bg1"/>
              </a:solidFill>
              <a:ea typeface="Calibri"/>
              <a:cs typeface="Calibri"/>
            </a:endParaRPr>
          </a:p>
        </p:txBody>
      </p:sp>
      <p:sp>
        <p:nvSpPr>
          <p:cNvPr id="10" name="Text 6">
            <a:extLst>
              <a:ext uri="{FF2B5EF4-FFF2-40B4-BE49-F238E27FC236}">
                <a16:creationId xmlns:a16="http://schemas.microsoft.com/office/drawing/2014/main" id="{8EF500D0-1739-3F28-725B-825CF1FEDAAF}"/>
              </a:ext>
            </a:extLst>
          </p:cNvPr>
          <p:cNvSpPr/>
          <p:nvPr/>
        </p:nvSpPr>
        <p:spPr>
          <a:xfrm>
            <a:off x="3285746" y="1077796"/>
            <a:ext cx="1325880"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MODULES</a:t>
            </a:r>
            <a:endParaRPr lang="en-US" sz="800"/>
          </a:p>
        </p:txBody>
      </p:sp>
      <p:sp>
        <p:nvSpPr>
          <p:cNvPr id="11" name="Text 7">
            <a:extLst>
              <a:ext uri="{FF2B5EF4-FFF2-40B4-BE49-F238E27FC236}">
                <a16:creationId xmlns:a16="http://schemas.microsoft.com/office/drawing/2014/main" id="{B4DDE54C-78B6-026B-5537-C98A1ECC6654}"/>
              </a:ext>
            </a:extLst>
          </p:cNvPr>
          <p:cNvSpPr/>
          <p:nvPr/>
        </p:nvSpPr>
        <p:spPr>
          <a:xfrm>
            <a:off x="3285746" y="1278964"/>
            <a:ext cx="1325880" cy="28346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a:solidFill>
                  <a:srgbClr val="1B2A4A"/>
                </a:solidFill>
              </a:rPr>
              <a:t>4</a:t>
            </a:r>
            <a:endParaRPr lang="en-US" sz="1200"/>
          </a:p>
        </p:txBody>
      </p:sp>
      <p:sp>
        <p:nvSpPr>
          <p:cNvPr id="12" name="Shape 8">
            <a:extLst>
              <a:ext uri="{FF2B5EF4-FFF2-40B4-BE49-F238E27FC236}">
                <a16:creationId xmlns:a16="http://schemas.microsoft.com/office/drawing/2014/main" id="{A2545F47-E6B3-ED65-B4A6-82661625EEFD}"/>
              </a:ext>
            </a:extLst>
          </p:cNvPr>
          <p:cNvSpPr/>
          <p:nvPr/>
        </p:nvSpPr>
        <p:spPr>
          <a:xfrm>
            <a:off x="4757930" y="1022932"/>
            <a:ext cx="1874520" cy="594360"/>
          </a:xfrm>
          <a:prstGeom prst="roundRect">
            <a:avLst>
              <a:gd name="adj" fmla="val 13846"/>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 name="Shape 9">
            <a:extLst>
              <a:ext uri="{FF2B5EF4-FFF2-40B4-BE49-F238E27FC236}">
                <a16:creationId xmlns:a16="http://schemas.microsoft.com/office/drawing/2014/main" id="{7A427C19-ABC3-7FA5-7DBB-B3CDB1009469}"/>
              </a:ext>
            </a:extLst>
          </p:cNvPr>
          <p:cNvSpPr/>
          <p:nvPr/>
        </p:nvSpPr>
        <p:spPr>
          <a:xfrm>
            <a:off x="4776218" y="1137232"/>
            <a:ext cx="365760" cy="340147"/>
          </a:xfrm>
          <a:prstGeom prst="ellipse">
            <a:avLst/>
          </a:prstGeom>
          <a:solidFill>
            <a:srgbClr val="2A6B3C"/>
          </a:solidFill>
          <a:ln w="12700">
            <a:solidFill>
              <a:srgbClr val="2A6B3C"/>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 name="Text 10">
            <a:extLst>
              <a:ext uri="{FF2B5EF4-FFF2-40B4-BE49-F238E27FC236}">
                <a16:creationId xmlns:a16="http://schemas.microsoft.com/office/drawing/2014/main" id="{293583BF-617C-A8AB-A876-910D4C77246B}"/>
              </a:ext>
            </a:extLst>
          </p:cNvPr>
          <p:cNvSpPr/>
          <p:nvPr/>
        </p:nvSpPr>
        <p:spPr>
          <a:xfrm>
            <a:off x="4776218" y="1137232"/>
            <a:ext cx="365760"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ea typeface="Calibri"/>
              <a:cs typeface="Calibri"/>
            </a:endParaRPr>
          </a:p>
        </p:txBody>
      </p:sp>
      <p:sp>
        <p:nvSpPr>
          <p:cNvPr id="15" name="Text 11">
            <a:extLst>
              <a:ext uri="{FF2B5EF4-FFF2-40B4-BE49-F238E27FC236}">
                <a16:creationId xmlns:a16="http://schemas.microsoft.com/office/drawing/2014/main" id="{51143560-7C54-9B61-C8E0-CDC3DCB13915}"/>
              </a:ext>
            </a:extLst>
          </p:cNvPr>
          <p:cNvSpPr/>
          <p:nvPr/>
        </p:nvSpPr>
        <p:spPr>
          <a:xfrm>
            <a:off x="5233418" y="1077796"/>
            <a:ext cx="1325880"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PUBLISHED SOURCES</a:t>
            </a:r>
            <a:endParaRPr lang="en-US" sz="800"/>
          </a:p>
        </p:txBody>
      </p:sp>
      <p:sp>
        <p:nvSpPr>
          <p:cNvPr id="16" name="Text 12">
            <a:extLst>
              <a:ext uri="{FF2B5EF4-FFF2-40B4-BE49-F238E27FC236}">
                <a16:creationId xmlns:a16="http://schemas.microsoft.com/office/drawing/2014/main" id="{FC1D4CBD-1C79-00D0-CF48-5D81655568F7}"/>
              </a:ext>
            </a:extLst>
          </p:cNvPr>
          <p:cNvSpPr/>
          <p:nvPr/>
        </p:nvSpPr>
        <p:spPr>
          <a:xfrm>
            <a:off x="5233418" y="1278964"/>
            <a:ext cx="1325880" cy="28346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a:solidFill>
                  <a:srgbClr val="2A6B3C"/>
                </a:solidFill>
              </a:rPr>
              <a:t>6</a:t>
            </a:r>
            <a:endParaRPr lang="en-US" sz="1000"/>
          </a:p>
        </p:txBody>
      </p:sp>
      <p:sp>
        <p:nvSpPr>
          <p:cNvPr id="17" name="Shape 13">
            <a:extLst>
              <a:ext uri="{FF2B5EF4-FFF2-40B4-BE49-F238E27FC236}">
                <a16:creationId xmlns:a16="http://schemas.microsoft.com/office/drawing/2014/main" id="{1E7FCDEE-0B0C-E911-F2E6-768C3E32E4BC}"/>
              </a:ext>
            </a:extLst>
          </p:cNvPr>
          <p:cNvSpPr/>
          <p:nvPr/>
        </p:nvSpPr>
        <p:spPr>
          <a:xfrm>
            <a:off x="6705602" y="1022932"/>
            <a:ext cx="1874520" cy="594360"/>
          </a:xfrm>
          <a:prstGeom prst="roundRect">
            <a:avLst>
              <a:gd name="adj" fmla="val 13846"/>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 name="Shape 14">
            <a:extLst>
              <a:ext uri="{FF2B5EF4-FFF2-40B4-BE49-F238E27FC236}">
                <a16:creationId xmlns:a16="http://schemas.microsoft.com/office/drawing/2014/main" id="{D6529787-1C8A-0DAD-DF5B-63A2C63C552B}"/>
              </a:ext>
            </a:extLst>
          </p:cNvPr>
          <p:cNvSpPr/>
          <p:nvPr/>
        </p:nvSpPr>
        <p:spPr>
          <a:xfrm>
            <a:off x="6749503" y="1137232"/>
            <a:ext cx="346550" cy="333744"/>
          </a:xfrm>
          <a:prstGeom prst="ellipse">
            <a:avLst/>
          </a:prstGeom>
          <a:solidFill>
            <a:srgbClr val="0E6B7C"/>
          </a:solidFill>
          <a:ln w="12700">
            <a:solidFill>
              <a:srgbClr val="0E6B7C"/>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Text 15">
            <a:extLst>
              <a:ext uri="{FF2B5EF4-FFF2-40B4-BE49-F238E27FC236}">
                <a16:creationId xmlns:a16="http://schemas.microsoft.com/office/drawing/2014/main" id="{FDDA37AF-49CA-CA7C-6D39-D527E4EDAD32}"/>
              </a:ext>
            </a:extLst>
          </p:cNvPr>
          <p:cNvSpPr/>
          <p:nvPr/>
        </p:nvSpPr>
        <p:spPr>
          <a:xfrm flipH="1">
            <a:off x="6897549" y="1124425"/>
            <a:ext cx="56862"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ea typeface="Calibri"/>
              <a:cs typeface="Calibri"/>
            </a:endParaRPr>
          </a:p>
        </p:txBody>
      </p:sp>
      <p:sp>
        <p:nvSpPr>
          <p:cNvPr id="20" name="Text 16">
            <a:extLst>
              <a:ext uri="{FF2B5EF4-FFF2-40B4-BE49-F238E27FC236}">
                <a16:creationId xmlns:a16="http://schemas.microsoft.com/office/drawing/2014/main" id="{D7D236CA-2DAF-FE1F-19A6-F7DF27380F06}"/>
              </a:ext>
            </a:extLst>
          </p:cNvPr>
          <p:cNvSpPr/>
          <p:nvPr/>
        </p:nvSpPr>
        <p:spPr>
          <a:xfrm>
            <a:off x="7181090" y="1077796"/>
            <a:ext cx="1325880"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PATIENTS MODELED</a:t>
            </a:r>
            <a:endParaRPr lang="en-US" sz="800"/>
          </a:p>
        </p:txBody>
      </p:sp>
      <p:sp>
        <p:nvSpPr>
          <p:cNvPr id="21" name="Text 17">
            <a:extLst>
              <a:ext uri="{FF2B5EF4-FFF2-40B4-BE49-F238E27FC236}">
                <a16:creationId xmlns:a16="http://schemas.microsoft.com/office/drawing/2014/main" id="{65BE3B9C-0421-8CDF-2C05-57F309542599}"/>
              </a:ext>
            </a:extLst>
          </p:cNvPr>
          <p:cNvSpPr/>
          <p:nvPr/>
        </p:nvSpPr>
        <p:spPr>
          <a:xfrm>
            <a:off x="7181090" y="1278964"/>
            <a:ext cx="1325880" cy="28346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a:solidFill>
                  <a:srgbClr val="0E6B7C"/>
                </a:solidFill>
              </a:rPr>
              <a:t>421</a:t>
            </a:r>
            <a:endParaRPr lang="en-US" sz="1300"/>
          </a:p>
        </p:txBody>
      </p:sp>
      <p:sp>
        <p:nvSpPr>
          <p:cNvPr id="74" name="Shape 102">
            <a:extLst>
              <a:ext uri="{FF2B5EF4-FFF2-40B4-BE49-F238E27FC236}">
                <a16:creationId xmlns:a16="http://schemas.microsoft.com/office/drawing/2014/main" id="{F2573D23-2969-1AAF-B5BD-00FED95F2E9F}"/>
              </a:ext>
            </a:extLst>
          </p:cNvPr>
          <p:cNvSpPr/>
          <p:nvPr/>
        </p:nvSpPr>
        <p:spPr>
          <a:xfrm>
            <a:off x="0" y="6336792"/>
            <a:ext cx="12192000" cy="521208"/>
          </a:xfrm>
          <a:prstGeom prst="rect">
            <a:avLst/>
          </a:prstGeom>
          <a:solidFill>
            <a:srgbClr val="1B2A4A"/>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5" name="Shape 103">
            <a:extLst>
              <a:ext uri="{FF2B5EF4-FFF2-40B4-BE49-F238E27FC236}">
                <a16:creationId xmlns:a16="http://schemas.microsoft.com/office/drawing/2014/main" id="{E06D8E8C-720D-816C-77FC-BB978F34D578}"/>
              </a:ext>
            </a:extLst>
          </p:cNvPr>
          <p:cNvSpPr/>
          <p:nvPr/>
        </p:nvSpPr>
        <p:spPr>
          <a:xfrm>
            <a:off x="228600" y="6441948"/>
            <a:ext cx="310896" cy="310896"/>
          </a:xfrm>
          <a:prstGeom prst="ellipse">
            <a:avLst/>
          </a:prstGeom>
          <a:solidFill>
            <a:srgbClr val="0E6B7C"/>
          </a:solidFill>
          <a:ln w="12700">
            <a:solidFill>
              <a:srgbClr val="0E6B7C"/>
            </a:solidFill>
            <a:prstDash val="solid"/>
          </a:ln>
        </p:spPr>
        <p:txBody>
          <a:bodyPr lIns="91440" tIns="45720" rIns="91440" bIns="4572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000"/>
          </a:p>
        </p:txBody>
      </p:sp>
      <p:sp>
        <p:nvSpPr>
          <p:cNvPr id="76" name="Text 104">
            <a:extLst>
              <a:ext uri="{FF2B5EF4-FFF2-40B4-BE49-F238E27FC236}">
                <a16:creationId xmlns:a16="http://schemas.microsoft.com/office/drawing/2014/main" id="{3943E5F9-9FA5-94A4-AFC0-EE7A20000510}"/>
              </a:ext>
            </a:extLst>
          </p:cNvPr>
          <p:cNvSpPr/>
          <p:nvPr/>
        </p:nvSpPr>
        <p:spPr>
          <a:xfrm>
            <a:off x="228600" y="6441948"/>
            <a:ext cx="310896" cy="310896"/>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77" name="Text 105">
            <a:extLst>
              <a:ext uri="{FF2B5EF4-FFF2-40B4-BE49-F238E27FC236}">
                <a16:creationId xmlns:a16="http://schemas.microsoft.com/office/drawing/2014/main" id="{853B6471-D72D-4D67-1691-DE2B24719229}"/>
              </a:ext>
            </a:extLst>
          </p:cNvPr>
          <p:cNvSpPr/>
          <p:nvPr/>
        </p:nvSpPr>
        <p:spPr>
          <a:xfrm>
            <a:off x="658368" y="6336792"/>
            <a:ext cx="11356848" cy="5212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a:solidFill>
                  <a:srgbClr val="FFFFFF"/>
                </a:solidFill>
              </a:rPr>
              <a:t>Takeaway:  An integrated ODE model with 4 sub-modules that integrates per patient inputs from the 421 TCGA-SKCM dataset.</a:t>
            </a:r>
            <a:endParaRPr lang="en-US" sz="1050"/>
          </a:p>
        </p:txBody>
      </p:sp>
      <p:sp>
        <p:nvSpPr>
          <p:cNvPr id="78" name="Text 106">
            <a:extLst>
              <a:ext uri="{FF2B5EF4-FFF2-40B4-BE49-F238E27FC236}">
                <a16:creationId xmlns:a16="http://schemas.microsoft.com/office/drawing/2014/main" id="{A20F5D66-118B-E359-B594-1021B5747061}"/>
              </a:ext>
            </a:extLst>
          </p:cNvPr>
          <p:cNvSpPr/>
          <p:nvPr/>
        </p:nvSpPr>
        <p:spPr>
          <a:xfrm>
            <a:off x="658368" y="6336792"/>
            <a:ext cx="1371600" cy="5212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a:solidFill>
                  <a:srgbClr val="FFFFFF"/>
                </a:solidFill>
              </a:rPr>
              <a:t>Takeaway</a:t>
            </a:r>
            <a:r>
              <a:rPr lang="en-US" sz="1050" b="1">
                <a:solidFill>
                  <a:srgbClr val="FFFFFF"/>
                </a:solidFill>
              </a:rPr>
              <a:t>:</a:t>
            </a:r>
            <a:endParaRPr lang="en-US" sz="1050"/>
          </a:p>
        </p:txBody>
      </p:sp>
      <p:sp>
        <p:nvSpPr>
          <p:cNvPr id="118" name="Text 10">
            <a:extLst>
              <a:ext uri="{FF2B5EF4-FFF2-40B4-BE49-F238E27FC236}">
                <a16:creationId xmlns:a16="http://schemas.microsoft.com/office/drawing/2014/main" id="{EA353DDC-0F2D-17B6-8F1F-072403C65B37}"/>
              </a:ext>
            </a:extLst>
          </p:cNvPr>
          <p:cNvSpPr/>
          <p:nvPr/>
        </p:nvSpPr>
        <p:spPr>
          <a:xfrm>
            <a:off x="774500" y="399635"/>
            <a:ext cx="290669" cy="215981"/>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119" name="Text 11">
            <a:extLst>
              <a:ext uri="{FF2B5EF4-FFF2-40B4-BE49-F238E27FC236}">
                <a16:creationId xmlns:a16="http://schemas.microsoft.com/office/drawing/2014/main" id="{ABB5A9BD-EB8A-1335-AF3E-642B87B9917F}"/>
              </a:ext>
            </a:extLst>
          </p:cNvPr>
          <p:cNvSpPr/>
          <p:nvPr/>
        </p:nvSpPr>
        <p:spPr>
          <a:xfrm>
            <a:off x="1465452" y="303147"/>
            <a:ext cx="1337078" cy="129589"/>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800"/>
          </a:p>
        </p:txBody>
      </p:sp>
      <p:sp>
        <p:nvSpPr>
          <p:cNvPr id="120" name="Text 12">
            <a:extLst>
              <a:ext uri="{FF2B5EF4-FFF2-40B4-BE49-F238E27FC236}">
                <a16:creationId xmlns:a16="http://schemas.microsoft.com/office/drawing/2014/main" id="{EF191073-11C0-506D-1F27-6C6BD08EEB68}"/>
              </a:ext>
            </a:extLst>
          </p:cNvPr>
          <p:cNvSpPr/>
          <p:nvPr/>
        </p:nvSpPr>
        <p:spPr>
          <a:xfrm>
            <a:off x="1502028" y="511804"/>
            <a:ext cx="1337078" cy="140388"/>
          </a:xfrm>
          <a:prstGeom prst="rect">
            <a:avLst/>
          </a:prstGeom>
          <a:noFill/>
          <a:ln/>
        </p:spPr>
        <p:txBody>
          <a:bodyPr wrap="square" lIns="0" tIns="0" rIns="0" bIns="0" rtlCol="0" anchor="t"/>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300" b="1">
              <a:solidFill>
                <a:srgbClr val="E07B39"/>
              </a:solidFill>
            </a:endParaRPr>
          </a:p>
        </p:txBody>
      </p:sp>
      <p:sp>
        <p:nvSpPr>
          <p:cNvPr id="121" name="Text 15">
            <a:extLst>
              <a:ext uri="{FF2B5EF4-FFF2-40B4-BE49-F238E27FC236}">
                <a16:creationId xmlns:a16="http://schemas.microsoft.com/office/drawing/2014/main" id="{A6127375-1A89-101D-1BFE-3F046102E6F0}"/>
              </a:ext>
            </a:extLst>
          </p:cNvPr>
          <p:cNvSpPr/>
          <p:nvPr/>
        </p:nvSpPr>
        <p:spPr>
          <a:xfrm>
            <a:off x="3078788" y="399635"/>
            <a:ext cx="290669" cy="215981"/>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122" name="Text 20">
            <a:extLst>
              <a:ext uri="{FF2B5EF4-FFF2-40B4-BE49-F238E27FC236}">
                <a16:creationId xmlns:a16="http://schemas.microsoft.com/office/drawing/2014/main" id="{D962F692-8BF9-71E6-3ACC-6B902F6F0622}"/>
              </a:ext>
            </a:extLst>
          </p:cNvPr>
          <p:cNvSpPr/>
          <p:nvPr/>
        </p:nvSpPr>
        <p:spPr>
          <a:xfrm>
            <a:off x="5383076" y="399635"/>
            <a:ext cx="290669" cy="215981"/>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123" name="Text 26">
            <a:extLst>
              <a:ext uri="{FF2B5EF4-FFF2-40B4-BE49-F238E27FC236}">
                <a16:creationId xmlns:a16="http://schemas.microsoft.com/office/drawing/2014/main" id="{515BA138-2FC6-EAAC-8C39-070EAB2BD809}"/>
              </a:ext>
            </a:extLst>
          </p:cNvPr>
          <p:cNvSpPr/>
          <p:nvPr/>
        </p:nvSpPr>
        <p:spPr>
          <a:xfrm>
            <a:off x="8414892" y="303147"/>
            <a:ext cx="1337078" cy="129589"/>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800"/>
          </a:p>
        </p:txBody>
      </p:sp>
      <p:sp>
        <p:nvSpPr>
          <p:cNvPr id="124" name="Text 35">
            <a:extLst>
              <a:ext uri="{FF2B5EF4-FFF2-40B4-BE49-F238E27FC236}">
                <a16:creationId xmlns:a16="http://schemas.microsoft.com/office/drawing/2014/main" id="{7715324D-D080-9CC2-09EF-CBE60957C05F}"/>
              </a:ext>
            </a:extLst>
          </p:cNvPr>
          <p:cNvSpPr/>
          <p:nvPr/>
        </p:nvSpPr>
        <p:spPr>
          <a:xfrm>
            <a:off x="3336405" y="1441182"/>
            <a:ext cx="3270028" cy="161986"/>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125" name="Text 38">
            <a:extLst>
              <a:ext uri="{FF2B5EF4-FFF2-40B4-BE49-F238E27FC236}">
                <a16:creationId xmlns:a16="http://schemas.microsoft.com/office/drawing/2014/main" id="{34807168-40B2-7CDC-2212-5005AAE26E50}"/>
              </a:ext>
            </a:extLst>
          </p:cNvPr>
          <p:cNvSpPr/>
          <p:nvPr/>
        </p:nvSpPr>
        <p:spPr>
          <a:xfrm>
            <a:off x="7517814" y="1441182"/>
            <a:ext cx="2289019" cy="161986"/>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126" name="Text 41">
            <a:extLst>
              <a:ext uri="{FF2B5EF4-FFF2-40B4-BE49-F238E27FC236}">
                <a16:creationId xmlns:a16="http://schemas.microsoft.com/office/drawing/2014/main" id="{62B60DE2-5D4E-F6AE-EF77-0C31F56E1782}"/>
              </a:ext>
            </a:extLst>
          </p:cNvPr>
          <p:cNvSpPr/>
          <p:nvPr/>
        </p:nvSpPr>
        <p:spPr>
          <a:xfrm>
            <a:off x="6745069" y="3819538"/>
            <a:ext cx="207156" cy="122023"/>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graphicFrame>
        <p:nvGraphicFramePr>
          <p:cNvPr id="127" name="Table 126">
            <a:extLst>
              <a:ext uri="{FF2B5EF4-FFF2-40B4-BE49-F238E27FC236}">
                <a16:creationId xmlns:a16="http://schemas.microsoft.com/office/drawing/2014/main" id="{ADEB675C-6222-A22D-4E88-99ABCABAD204}"/>
              </a:ext>
            </a:extLst>
          </p:cNvPr>
          <p:cNvGraphicFramePr>
            <a:graphicFrameLocks noGrp="1"/>
          </p:cNvGraphicFramePr>
          <p:nvPr>
            <p:extLst>
              <p:ext uri="{D42A27DB-BD31-4B8C-83A1-F6EECF244321}">
                <p14:modId xmlns:p14="http://schemas.microsoft.com/office/powerpoint/2010/main" val="660590574"/>
              </p:ext>
            </p:extLst>
          </p:nvPr>
        </p:nvGraphicFramePr>
        <p:xfrm>
          <a:off x="1770421" y="1663056"/>
          <a:ext cx="7577685" cy="4355445"/>
        </p:xfrm>
        <a:graphic>
          <a:graphicData uri="http://schemas.openxmlformats.org/drawingml/2006/table">
            <a:tbl>
              <a:tblPr firstRow="1" bandRow="1">
                <a:tableStyleId>{E8B1032C-EA38-4F05-BA0D-38AFFFC7BED3}</a:tableStyleId>
              </a:tblPr>
              <a:tblGrid>
                <a:gridCol w="7577685">
                  <a:extLst>
                    <a:ext uri="{9D8B030D-6E8A-4147-A177-3AD203B41FA5}">
                      <a16:colId xmlns:a16="http://schemas.microsoft.com/office/drawing/2014/main" val="1140534713"/>
                    </a:ext>
                  </a:extLst>
                </a:gridCol>
              </a:tblGrid>
              <a:tr h="339548">
                <a:tc>
                  <a:txBody>
                    <a:bodyPr/>
                    <a:lstStyle/>
                    <a:p>
                      <a:pPr lvl="0" algn="ctr">
                        <a:buNone/>
                      </a:pPr>
                      <a:r>
                        <a:rPr lang="en-IE" b="1"/>
                        <a:t>ODE Model Overview </a:t>
                      </a:r>
                    </a:p>
                  </a:txBody>
                  <a:tcPr/>
                </a:tc>
                <a:extLst>
                  <a:ext uri="{0D108BD9-81ED-4DB2-BD59-A6C34878D82A}">
                    <a16:rowId xmlns:a16="http://schemas.microsoft.com/office/drawing/2014/main" val="1614804167"/>
                  </a:ext>
                </a:extLst>
              </a:tr>
              <a:tr h="481026">
                <a:tc>
                  <a:txBody>
                    <a:bodyPr/>
                    <a:lstStyle/>
                    <a:p>
                      <a:pPr lvl="0">
                        <a:buNone/>
                      </a:pPr>
                      <a:r>
                        <a:rPr lang="en-IE" sz="1400" b="1"/>
                        <a:t>Module </a:t>
                      </a:r>
                      <a:r>
                        <a:rPr lang="en-IE" sz="1400" b="1">
                          <a:solidFill>
                            <a:srgbClr val="FF0000"/>
                          </a:solidFill>
                        </a:rPr>
                        <a:t>A</a:t>
                      </a:r>
                      <a:r>
                        <a:rPr lang="en-IE" sz="1400" b="1"/>
                        <a:t> computes effective RAF drive from drug dose </a:t>
                      </a:r>
                      <a:r>
                        <a:rPr lang="en-IE" sz="1400">
                          <a:solidFill>
                            <a:srgbClr val="000000"/>
                          </a:solidFill>
                          <a:latin typeface="Calibri"/>
                          <a:ea typeface="Calibri"/>
                          <a:cs typeface="Calibri"/>
                        </a:rPr>
                        <a:t>→</a:t>
                      </a:r>
                      <a:r>
                        <a:rPr lang="en-IE" sz="1400" b="1"/>
                        <a:t> sets Module </a:t>
                      </a:r>
                      <a:r>
                        <a:rPr lang="en-IE" sz="1400" b="1">
                          <a:solidFill>
                            <a:srgbClr val="FF0000"/>
                          </a:solidFill>
                        </a:rPr>
                        <a:t>B’s</a:t>
                      </a:r>
                      <a:r>
                        <a:rPr lang="en-IE" sz="1400" b="1"/>
                        <a:t> V1</a:t>
                      </a:r>
                    </a:p>
                  </a:txBody>
                  <a:tcPr/>
                </a:tc>
                <a:extLst>
                  <a:ext uri="{0D108BD9-81ED-4DB2-BD59-A6C34878D82A}">
                    <a16:rowId xmlns:a16="http://schemas.microsoft.com/office/drawing/2014/main" val="2300707936"/>
                  </a:ext>
                </a:extLst>
              </a:tr>
              <a:tr h="679095">
                <a:tc>
                  <a:txBody>
                    <a:bodyPr/>
                    <a:lstStyle/>
                    <a:p>
                      <a:pPr lvl="0" algn="l">
                        <a:lnSpc>
                          <a:spcPct val="100000"/>
                        </a:lnSpc>
                        <a:spcBef>
                          <a:spcPts val="0"/>
                        </a:spcBef>
                        <a:spcAft>
                          <a:spcPts val="0"/>
                        </a:spcAft>
                        <a:buNone/>
                      </a:pPr>
                      <a:r>
                        <a:rPr lang="en-US" sz="1400" b="1"/>
                        <a:t>Module </a:t>
                      </a:r>
                      <a:r>
                        <a:rPr lang="en-US" sz="1400" b="1">
                          <a:solidFill>
                            <a:srgbClr val="FF0000"/>
                          </a:solidFill>
                        </a:rPr>
                        <a:t>B</a:t>
                      </a:r>
                      <a:r>
                        <a:rPr lang="en-US" sz="1400" b="1"/>
                        <a:t> integrates the MAPK cascade to steady state </a:t>
                      </a:r>
                      <a:r>
                        <a:rPr lang="en-IE" sz="1400">
                          <a:solidFill>
                            <a:srgbClr val="000000"/>
                          </a:solidFill>
                          <a:latin typeface="Calibri"/>
                          <a:ea typeface="Calibri"/>
                          <a:cs typeface="Calibri"/>
                        </a:rPr>
                        <a:t>→</a:t>
                      </a:r>
                      <a:r>
                        <a:rPr lang="en-US" sz="1400" b="1"/>
                        <a:t> </a:t>
                      </a:r>
                      <a:r>
                        <a:rPr lang="en-US" sz="1400" b="1" err="1"/>
                        <a:t>pERK</a:t>
                      </a:r>
                      <a:endParaRPr lang="en-US" sz="1400" b="1"/>
                    </a:p>
                  </a:txBody>
                  <a:tcPr/>
                </a:tc>
                <a:extLst>
                  <a:ext uri="{0D108BD9-81ED-4DB2-BD59-A6C34878D82A}">
                    <a16:rowId xmlns:a16="http://schemas.microsoft.com/office/drawing/2014/main" val="2282935651"/>
                  </a:ext>
                </a:extLst>
              </a:tr>
              <a:tr h="877165">
                <a:tc>
                  <a:txBody>
                    <a:bodyPr/>
                    <a:lstStyle/>
                    <a:p>
                      <a:pPr lvl="0" algn="l">
                        <a:lnSpc>
                          <a:spcPct val="100000"/>
                        </a:lnSpc>
                        <a:spcBef>
                          <a:spcPts val="0"/>
                        </a:spcBef>
                        <a:spcAft>
                          <a:spcPts val="0"/>
                        </a:spcAft>
                        <a:buNone/>
                      </a:pPr>
                      <a:r>
                        <a:rPr lang="en-US" sz="1400" b="1" i="0" u="none" strike="noStrike" noProof="0">
                          <a:solidFill>
                            <a:srgbClr val="000000"/>
                          </a:solidFill>
                          <a:latin typeface="Trade Gothic Next Light"/>
                        </a:rPr>
                        <a:t>Module </a:t>
                      </a:r>
                      <a:r>
                        <a:rPr lang="en-US" sz="1400" b="1" i="0" u="none" strike="noStrike" noProof="0">
                          <a:solidFill>
                            <a:srgbClr val="FF0000"/>
                          </a:solidFill>
                          <a:latin typeface="Trade Gothic Next Light"/>
                        </a:rPr>
                        <a:t>D</a:t>
                      </a:r>
                      <a:r>
                        <a:rPr lang="en-US" sz="1400" b="1" i="0" u="none" strike="noStrike" noProof="0">
                          <a:solidFill>
                            <a:srgbClr val="000000"/>
                          </a:solidFill>
                          <a:latin typeface="Trade Gothic Next Light"/>
                        </a:rPr>
                        <a:t> computes the checkpoint suppression (</a:t>
                      </a:r>
                      <a:r>
                        <a:rPr lang="en-US" sz="1400" b="1" i="0" u="none" strike="noStrike" noProof="0" err="1">
                          <a:solidFill>
                            <a:srgbClr val="000000"/>
                          </a:solidFill>
                          <a:latin typeface="Trade Gothic Next Light"/>
                        </a:rPr>
                        <a:t>f_kill</a:t>
                      </a:r>
                      <a:r>
                        <a:rPr lang="en-US" sz="1400" b="1" i="0" u="none" strike="noStrike" noProof="0">
                          <a:solidFill>
                            <a:srgbClr val="000000"/>
                          </a:solidFill>
                          <a:latin typeface="Trade Gothic Next Light"/>
                        </a:rPr>
                        <a:t>) independently, from PD-1/PD-L1 expression + anti-PD-1 dose </a:t>
                      </a:r>
                      <a:endParaRPr lang="en-IE" sz="1400" b="0" i="0" u="none" strike="noStrike" noProof="0">
                        <a:latin typeface="Trade Gothic Next Light"/>
                      </a:endParaRPr>
                    </a:p>
                  </a:txBody>
                  <a:tcPr/>
                </a:tc>
                <a:extLst>
                  <a:ext uri="{0D108BD9-81ED-4DB2-BD59-A6C34878D82A}">
                    <a16:rowId xmlns:a16="http://schemas.microsoft.com/office/drawing/2014/main" val="3071413749"/>
                  </a:ext>
                </a:extLst>
              </a:tr>
              <a:tr h="877165">
                <a:tc>
                  <a:txBody>
                    <a:bodyPr/>
                    <a:lstStyle/>
                    <a:p>
                      <a:pPr lvl="0" algn="l">
                        <a:lnSpc>
                          <a:spcPct val="100000"/>
                        </a:lnSpc>
                        <a:spcBef>
                          <a:spcPts val="0"/>
                        </a:spcBef>
                        <a:spcAft>
                          <a:spcPts val="0"/>
                        </a:spcAft>
                        <a:buNone/>
                      </a:pPr>
                      <a:r>
                        <a:rPr lang="en-IE" sz="1400" b="1" i="0" u="none" strike="noStrike" noProof="0">
                          <a:solidFill>
                            <a:srgbClr val="000000"/>
                          </a:solidFill>
                        </a:rPr>
                        <a:t>Module </a:t>
                      </a:r>
                      <a:r>
                        <a:rPr lang="en-IE" sz="1400" b="1" i="0" u="none" strike="noStrike" noProof="0">
                          <a:solidFill>
                            <a:srgbClr val="FF0000"/>
                          </a:solidFill>
                        </a:rPr>
                        <a:t>C</a:t>
                      </a:r>
                      <a:r>
                        <a:rPr lang="en-IE" sz="1400" b="1" i="0" u="none" strike="noStrike" noProof="0">
                          <a:solidFill>
                            <a:srgbClr val="000000"/>
                          </a:solidFill>
                        </a:rPr>
                        <a:t> uses </a:t>
                      </a:r>
                      <a:r>
                        <a:rPr lang="en-IE" sz="1400" b="1" i="0" u="none" strike="noStrike" noProof="0" err="1">
                          <a:solidFill>
                            <a:srgbClr val="000000"/>
                          </a:solidFill>
                        </a:rPr>
                        <a:t>pERK</a:t>
                      </a:r>
                      <a:r>
                        <a:rPr lang="en-IE" sz="1400" b="1" i="0" u="none" strike="noStrike" noProof="0">
                          <a:solidFill>
                            <a:srgbClr val="000000"/>
                          </a:solidFill>
                        </a:rPr>
                        <a:t> (proliferation) and </a:t>
                      </a:r>
                      <a:r>
                        <a:rPr lang="en-IE" sz="1400" b="1" i="0" u="none" strike="noStrike" noProof="0" err="1">
                          <a:solidFill>
                            <a:srgbClr val="000000"/>
                          </a:solidFill>
                        </a:rPr>
                        <a:t>f_kill</a:t>
                      </a:r>
                      <a:r>
                        <a:rPr lang="en-IE" sz="1400" b="1" i="0" u="none" strike="noStrike" noProof="0">
                          <a:solidFill>
                            <a:srgbClr val="000000"/>
                          </a:solidFill>
                        </a:rPr>
                        <a:t> (killing) as fixed inputs, integrated over days </a:t>
                      </a:r>
                      <a:endParaRPr lang="en-US" b="1"/>
                    </a:p>
                  </a:txBody>
                  <a:tcPr/>
                </a:tc>
                <a:extLst>
                  <a:ext uri="{0D108BD9-81ED-4DB2-BD59-A6C34878D82A}">
                    <a16:rowId xmlns:a16="http://schemas.microsoft.com/office/drawing/2014/main" val="1843430423"/>
                  </a:ext>
                </a:extLst>
              </a:tr>
              <a:tr h="1075234">
                <a:tc>
                  <a:txBody>
                    <a:bodyPr/>
                    <a:lstStyle/>
                    <a:p>
                      <a:pPr lvl="0" algn="l">
                        <a:lnSpc>
                          <a:spcPct val="100000"/>
                        </a:lnSpc>
                        <a:spcBef>
                          <a:spcPts val="0"/>
                        </a:spcBef>
                        <a:spcAft>
                          <a:spcPts val="0"/>
                        </a:spcAft>
                        <a:buNone/>
                      </a:pPr>
                      <a:r>
                        <a:rPr lang="en-US" sz="1400" b="1" i="0" u="none" strike="noStrike" noProof="0">
                          <a:solidFill>
                            <a:srgbClr val="000000"/>
                          </a:solidFill>
                          <a:latin typeface="Trade Gothic Next Light"/>
                        </a:rPr>
                        <a:t>Modules </a:t>
                      </a:r>
                      <a:r>
                        <a:rPr lang="en-US" sz="1400" b="1" i="0" u="none" strike="noStrike" noProof="0">
                          <a:solidFill>
                            <a:srgbClr val="FF0000"/>
                          </a:solidFill>
                          <a:latin typeface="Trade Gothic Next Light"/>
                        </a:rPr>
                        <a:t>A</a:t>
                      </a:r>
                      <a:r>
                        <a:rPr lang="en-US" sz="1400" b="1" i="0" u="none" strike="noStrike" noProof="0">
                          <a:solidFill>
                            <a:srgbClr val="000000"/>
                          </a:solidFill>
                          <a:latin typeface="Trade Gothic Next Light"/>
                        </a:rPr>
                        <a:t> and </a:t>
                      </a:r>
                      <a:r>
                        <a:rPr lang="en-US" sz="1400" b="1" i="0" u="none" strike="noStrike" noProof="0">
                          <a:solidFill>
                            <a:srgbClr val="FF0000"/>
                          </a:solidFill>
                          <a:latin typeface="Trade Gothic Next Light"/>
                        </a:rPr>
                        <a:t>D</a:t>
                      </a:r>
                      <a:r>
                        <a:rPr lang="en-US" sz="1400" b="1" i="0" u="none" strike="noStrike" noProof="0">
                          <a:solidFill>
                            <a:srgbClr val="000000"/>
                          </a:solidFill>
                          <a:latin typeface="Trade Gothic Next Light"/>
                        </a:rPr>
                        <a:t> are solved instantly as algebra; </a:t>
                      </a:r>
                      <a:r>
                        <a:rPr lang="en-US" sz="1400" b="1" i="0" u="none" strike="noStrike" noProof="0">
                          <a:solidFill>
                            <a:srgbClr val="FF0000"/>
                          </a:solidFill>
                          <a:latin typeface="Trade Gothic Next Light"/>
                        </a:rPr>
                        <a:t>B</a:t>
                      </a:r>
                      <a:r>
                        <a:rPr lang="en-US" sz="1400" b="1" i="0" u="none" strike="noStrike" noProof="0">
                          <a:solidFill>
                            <a:srgbClr val="000000"/>
                          </a:solidFill>
                          <a:latin typeface="Trade Gothic Next Light"/>
                        </a:rPr>
                        <a:t> and </a:t>
                      </a:r>
                      <a:r>
                        <a:rPr lang="en-US" sz="1400" b="1" i="0" u="none" strike="noStrike" noProof="0">
                          <a:solidFill>
                            <a:srgbClr val="FF0000"/>
                          </a:solidFill>
                          <a:latin typeface="Trade Gothic Next Light"/>
                        </a:rPr>
                        <a:t>C</a:t>
                      </a:r>
                      <a:r>
                        <a:rPr lang="en-US" sz="1400" b="1" i="0" u="none" strike="noStrike" noProof="0">
                          <a:solidFill>
                            <a:srgbClr val="000000"/>
                          </a:solidFill>
                          <a:latin typeface="Trade Gothic Next Light"/>
                        </a:rPr>
                        <a:t> are the modules integrated over time </a:t>
                      </a:r>
                      <a:endParaRPr lang="en-IE" sz="1400" b="1" i="0" u="none" strike="noStrike" noProof="0">
                        <a:latin typeface="Trade Gothic Next Light"/>
                      </a:endParaRPr>
                    </a:p>
                  </a:txBody>
                  <a:tcPr/>
                </a:tc>
                <a:extLst>
                  <a:ext uri="{0D108BD9-81ED-4DB2-BD59-A6C34878D82A}">
                    <a16:rowId xmlns:a16="http://schemas.microsoft.com/office/drawing/2014/main" val="3831252766"/>
                  </a:ext>
                </a:extLst>
              </a:tr>
            </a:tbl>
          </a:graphicData>
        </a:graphic>
      </p:graphicFrame>
      <p:sp>
        <p:nvSpPr>
          <p:cNvPr id="128" name="Shape 1">
            <a:extLst>
              <a:ext uri="{FF2B5EF4-FFF2-40B4-BE49-F238E27FC236}">
                <a16:creationId xmlns:a16="http://schemas.microsoft.com/office/drawing/2014/main" id="{6420F267-21F4-5688-0343-2D2CEDC52290}"/>
              </a:ext>
            </a:extLst>
          </p:cNvPr>
          <p:cNvSpPr/>
          <p:nvPr/>
        </p:nvSpPr>
        <p:spPr>
          <a:xfrm rot="16200000">
            <a:off x="-1473538" y="3570656"/>
            <a:ext cx="932647" cy="45719"/>
          </a:xfrm>
          <a:prstGeom prst="rect">
            <a:avLst/>
          </a:prstGeom>
          <a:solidFill>
            <a:srgbClr val="E07B39"/>
          </a:solidFill>
          <a:ln w="12700">
            <a:solidFill>
              <a:srgbClr val="E07B39"/>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9" name="Shape 1">
            <a:extLst>
              <a:ext uri="{FF2B5EF4-FFF2-40B4-BE49-F238E27FC236}">
                <a16:creationId xmlns:a16="http://schemas.microsoft.com/office/drawing/2014/main" id="{02F9B96B-A0D9-6DB8-5878-631DB61FD1F8}"/>
              </a:ext>
            </a:extLst>
          </p:cNvPr>
          <p:cNvSpPr/>
          <p:nvPr/>
        </p:nvSpPr>
        <p:spPr>
          <a:xfrm rot="16200000">
            <a:off x="-1200966" y="1293318"/>
            <a:ext cx="375484" cy="45719"/>
          </a:xfrm>
          <a:prstGeom prst="rect">
            <a:avLst/>
          </a:prstGeom>
          <a:solidFill>
            <a:srgbClr val="E07B39"/>
          </a:solidFill>
          <a:ln w="12700">
            <a:solidFill>
              <a:srgbClr val="E07B39"/>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0" name="Shape 1">
            <a:extLst>
              <a:ext uri="{FF2B5EF4-FFF2-40B4-BE49-F238E27FC236}">
                <a16:creationId xmlns:a16="http://schemas.microsoft.com/office/drawing/2014/main" id="{061E1DE9-27E7-13F4-B86D-56A2D06F30EE}"/>
              </a:ext>
            </a:extLst>
          </p:cNvPr>
          <p:cNvSpPr/>
          <p:nvPr/>
        </p:nvSpPr>
        <p:spPr>
          <a:xfrm rot="16200000">
            <a:off x="-1291908" y="2148312"/>
            <a:ext cx="567878" cy="45719"/>
          </a:xfrm>
          <a:prstGeom prst="rect">
            <a:avLst/>
          </a:prstGeom>
          <a:solidFill>
            <a:srgbClr val="00853C"/>
          </a:solidFill>
          <a:ln w="12700">
            <a:solidFill>
              <a:srgbClr val="00853C"/>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1" name="Shape 1">
            <a:extLst>
              <a:ext uri="{FF2B5EF4-FFF2-40B4-BE49-F238E27FC236}">
                <a16:creationId xmlns:a16="http://schemas.microsoft.com/office/drawing/2014/main" id="{562493C4-2BCE-39F9-2564-6D3077EC7ABA}"/>
              </a:ext>
            </a:extLst>
          </p:cNvPr>
          <p:cNvSpPr/>
          <p:nvPr/>
        </p:nvSpPr>
        <p:spPr>
          <a:xfrm rot="16200000">
            <a:off x="-1344278" y="4842604"/>
            <a:ext cx="682695" cy="45719"/>
          </a:xfrm>
          <a:prstGeom prst="rect">
            <a:avLst/>
          </a:prstGeom>
          <a:solidFill>
            <a:srgbClr val="00853C"/>
          </a:solidFill>
          <a:ln w="12700">
            <a:solidFill>
              <a:srgbClr val="00853C"/>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2436351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46867C-918A-F09A-CEE5-A7E4D86C269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7E05066-941A-4B2B-EF5E-AC26233F84A3}"/>
              </a:ext>
            </a:extLst>
          </p:cNvPr>
          <p:cNvSpPr txBox="1"/>
          <p:nvPr/>
        </p:nvSpPr>
        <p:spPr>
          <a:xfrm>
            <a:off x="365760" y="256032"/>
            <a:ext cx="11430000" cy="415498"/>
          </a:xfrm>
          <a:prstGeom prst="rect">
            <a:avLst/>
          </a:prstGeom>
          <a:noFill/>
        </p:spPr>
        <p:txBody>
          <a:bodyPr wrap="square" lIns="0" tIns="0" rIns="0" bIns="0" anchor="t">
            <a:spAutoFit/>
          </a:bodyPr>
          <a:lstStyle/>
          <a:p>
            <a:pPr algn="l"/>
            <a:r>
              <a:rPr lang="en-IE" sz="2700" b="1" i="0" noProof="0">
                <a:solidFill>
                  <a:srgbClr val="1B2A4A"/>
                </a:solidFill>
                <a:latin typeface="Calibri"/>
              </a:rPr>
              <a:t>The Signalling – Part 1: Module A </a:t>
            </a:r>
          </a:p>
        </p:txBody>
      </p:sp>
      <p:sp>
        <p:nvSpPr>
          <p:cNvPr id="3" name="Rectangle 2">
            <a:extLst>
              <a:ext uri="{FF2B5EF4-FFF2-40B4-BE49-F238E27FC236}">
                <a16:creationId xmlns:a16="http://schemas.microsoft.com/office/drawing/2014/main" id="{4D49008E-168F-B3DB-A061-5E7E8A8B6EB4}"/>
              </a:ext>
            </a:extLst>
          </p:cNvPr>
          <p:cNvSpPr/>
          <p:nvPr/>
        </p:nvSpPr>
        <p:spPr>
          <a:xfrm>
            <a:off x="365760" y="914400"/>
            <a:ext cx="1280160" cy="45720"/>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97453CAD-EF9B-E01B-F902-59ACD6234B94}"/>
              </a:ext>
            </a:extLst>
          </p:cNvPr>
          <p:cNvSpPr txBox="1"/>
          <p:nvPr/>
        </p:nvSpPr>
        <p:spPr>
          <a:xfrm>
            <a:off x="365760" y="1005840"/>
            <a:ext cx="11430000" cy="200055"/>
          </a:xfrm>
          <a:prstGeom prst="rect">
            <a:avLst/>
          </a:prstGeom>
          <a:noFill/>
        </p:spPr>
        <p:txBody>
          <a:bodyPr wrap="square" lIns="0" tIns="0" rIns="0" bIns="0" anchor="t">
            <a:spAutoFit/>
          </a:bodyPr>
          <a:lstStyle/>
          <a:p>
            <a:pPr algn="l"/>
            <a:r>
              <a:rPr lang="en-IE" sz="1300" b="0" i="1" noProof="0">
                <a:solidFill>
                  <a:srgbClr val="6B6B6B"/>
                </a:solidFill>
                <a:latin typeface="Calibri"/>
              </a:rPr>
              <a:t>The RAF-inhibitor paradox emerges from binding and will be passed as input to Module B</a:t>
            </a:r>
            <a:r>
              <a:rPr lang="en-IE" sz="1300" i="1" noProof="0">
                <a:solidFill>
                  <a:srgbClr val="6B6B6B"/>
                </a:solidFill>
                <a:latin typeface="Calibri"/>
              </a:rPr>
              <a:t>.</a:t>
            </a:r>
            <a:endParaRPr lang="en-IE" sz="1300" b="0" i="1" noProof="0">
              <a:solidFill>
                <a:srgbClr val="6B6B6B"/>
              </a:solidFill>
              <a:latin typeface="Calibri"/>
            </a:endParaRPr>
          </a:p>
        </p:txBody>
      </p:sp>
      <p:sp>
        <p:nvSpPr>
          <p:cNvPr id="5" name="Rectangle 4">
            <a:extLst>
              <a:ext uri="{FF2B5EF4-FFF2-40B4-BE49-F238E27FC236}">
                <a16:creationId xmlns:a16="http://schemas.microsoft.com/office/drawing/2014/main" id="{DAD1FE9F-0856-65D1-4D14-5A86A552D6A7}"/>
              </a:ext>
            </a:extLst>
          </p:cNvPr>
          <p:cNvSpPr/>
          <p:nvPr/>
        </p:nvSpPr>
        <p:spPr>
          <a:xfrm>
            <a:off x="365760" y="1417320"/>
            <a:ext cx="11457432" cy="16459"/>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a:extLst>
              <a:ext uri="{FF2B5EF4-FFF2-40B4-BE49-F238E27FC236}">
                <a16:creationId xmlns:a16="http://schemas.microsoft.com/office/drawing/2014/main" id="{27C8170A-104D-E4FA-CBDE-9FA0FB881F11}"/>
              </a:ext>
            </a:extLst>
          </p:cNvPr>
          <p:cNvSpPr/>
          <p:nvPr/>
        </p:nvSpPr>
        <p:spPr>
          <a:xfrm>
            <a:off x="0" y="6339840"/>
            <a:ext cx="12219432" cy="51511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a:extLst>
              <a:ext uri="{FF2B5EF4-FFF2-40B4-BE49-F238E27FC236}">
                <a16:creationId xmlns:a16="http://schemas.microsoft.com/office/drawing/2014/main" id="{A93EB59D-F7B1-40C3-565F-D62FAC090DFA}"/>
              </a:ext>
            </a:extLst>
          </p:cNvPr>
          <p:cNvSpPr/>
          <p:nvPr/>
        </p:nvSpPr>
        <p:spPr>
          <a:xfrm>
            <a:off x="91440" y="6460236"/>
            <a:ext cx="274320" cy="274320"/>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E8082381-8A7B-550C-414C-AF2C3027195C}"/>
              </a:ext>
            </a:extLst>
          </p:cNvPr>
          <p:cNvSpPr txBox="1"/>
          <p:nvPr/>
        </p:nvSpPr>
        <p:spPr>
          <a:xfrm>
            <a:off x="466344" y="6479433"/>
            <a:ext cx="11606784" cy="284693"/>
          </a:xfrm>
          <a:prstGeom prst="rect">
            <a:avLst/>
          </a:prstGeom>
          <a:noFill/>
        </p:spPr>
        <p:txBody>
          <a:bodyPr wrap="square" lIns="0" anchor="ctr">
            <a:spAutoFit/>
          </a:bodyPr>
          <a:lstStyle/>
          <a:p>
            <a:r>
              <a:rPr lang="en-IE" sz="1250" b="1" noProof="0">
                <a:solidFill>
                  <a:srgbClr val="FFFFFF"/>
                </a:solidFill>
              </a:rPr>
              <a:t>Takeaway:  </a:t>
            </a:r>
            <a:r>
              <a:rPr lang="en-IE" sz="1250" noProof="0">
                <a:solidFill>
                  <a:srgbClr val="FFFFFF"/>
                </a:solidFill>
              </a:rPr>
              <a:t>The RAF paradox emerges from Module A’s binding equilibrium, then propagates through Module B’s Cascade through the V1_eff term.</a:t>
            </a:r>
          </a:p>
        </p:txBody>
      </p:sp>
      <p:sp>
        <p:nvSpPr>
          <p:cNvPr id="41" name="Rounded Rectangle 33">
            <a:extLst>
              <a:ext uri="{FF2B5EF4-FFF2-40B4-BE49-F238E27FC236}">
                <a16:creationId xmlns:a16="http://schemas.microsoft.com/office/drawing/2014/main" id="{3569A33A-E342-0875-67A0-686264FF3DE8}"/>
              </a:ext>
            </a:extLst>
          </p:cNvPr>
          <p:cNvSpPr/>
          <p:nvPr/>
        </p:nvSpPr>
        <p:spPr>
          <a:xfrm>
            <a:off x="365759" y="1768823"/>
            <a:ext cx="5136969" cy="44723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A06DA5F9-11F9-C59C-E2E3-8B849D0ACFF8}"/>
              </a:ext>
            </a:extLst>
          </p:cNvPr>
          <p:cNvSpPr txBox="1"/>
          <p:nvPr/>
        </p:nvSpPr>
        <p:spPr>
          <a:xfrm>
            <a:off x="548640" y="1877276"/>
            <a:ext cx="4740291" cy="200055"/>
          </a:xfrm>
          <a:prstGeom prst="rect">
            <a:avLst/>
          </a:prstGeom>
          <a:noFill/>
        </p:spPr>
        <p:txBody>
          <a:bodyPr wrap="square" lIns="0" tIns="0" rIns="0" bIns="0" anchor="ctr">
            <a:spAutoFit/>
          </a:bodyPr>
          <a:lstStyle/>
          <a:p>
            <a:pPr algn="l"/>
            <a:r>
              <a:rPr lang="pt-BR" sz="1300" b="1" i="0">
                <a:solidFill>
                  <a:srgbClr val="FFFFFF"/>
                </a:solidFill>
                <a:latin typeface="Calibri"/>
              </a:rPr>
              <a:t>Module A: RAF </a:t>
            </a:r>
            <a:r>
              <a:rPr lang="pt-BR" sz="1300" b="1" i="0" err="1">
                <a:solidFill>
                  <a:srgbClr val="FFFFFF"/>
                </a:solidFill>
                <a:latin typeface="Calibri"/>
              </a:rPr>
              <a:t>dimer</a:t>
            </a:r>
            <a:r>
              <a:rPr lang="pt-BR" sz="1300" b="1" i="0">
                <a:solidFill>
                  <a:srgbClr val="FFFFFF"/>
                </a:solidFill>
                <a:latin typeface="Calibri"/>
              </a:rPr>
              <a:t> + </a:t>
            </a:r>
            <a:r>
              <a:rPr lang="pt-BR" sz="1300" b="1" i="0" err="1">
                <a:solidFill>
                  <a:srgbClr val="FFFFFF"/>
                </a:solidFill>
                <a:latin typeface="Calibri"/>
              </a:rPr>
              <a:t>drug</a:t>
            </a:r>
            <a:endParaRPr sz="1300" b="1" i="0">
              <a:solidFill>
                <a:srgbClr val="FFFFFF"/>
              </a:solidFill>
              <a:latin typeface="Calibri"/>
            </a:endParaRPr>
          </a:p>
        </p:txBody>
      </p:sp>
      <p:sp>
        <p:nvSpPr>
          <p:cNvPr id="43" name="Rectangle 42">
            <a:extLst>
              <a:ext uri="{FF2B5EF4-FFF2-40B4-BE49-F238E27FC236}">
                <a16:creationId xmlns:a16="http://schemas.microsoft.com/office/drawing/2014/main" id="{1FA3141A-4BB4-394B-9A5C-7570499E2B19}"/>
              </a:ext>
            </a:extLst>
          </p:cNvPr>
          <p:cNvSpPr/>
          <p:nvPr/>
        </p:nvSpPr>
        <p:spPr>
          <a:xfrm>
            <a:off x="365759" y="2179166"/>
            <a:ext cx="5136969" cy="4143673"/>
          </a:xfrm>
          <a:prstGeom prst="rect">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7DCE052C-1083-925D-7281-0C21B65C6166}"/>
              </a:ext>
            </a:extLst>
          </p:cNvPr>
          <p:cNvSpPr txBox="1"/>
          <p:nvPr/>
        </p:nvSpPr>
        <p:spPr>
          <a:xfrm>
            <a:off x="466344" y="2242482"/>
            <a:ext cx="4310860" cy="3441968"/>
          </a:xfrm>
          <a:prstGeom prst="rect">
            <a:avLst/>
          </a:prstGeom>
          <a:noFill/>
        </p:spPr>
        <p:txBody>
          <a:bodyPr wrap="square" lIns="0" rIns="0">
            <a:spAutoFit/>
          </a:bodyPr>
          <a:lstStyle/>
          <a:p>
            <a:pPr>
              <a:spcAft>
                <a:spcPts val="1000"/>
              </a:spcAft>
            </a:pPr>
            <a:r>
              <a:rPr lang="en-IE" sz="1050" b="1">
                <a:solidFill>
                  <a:srgbClr val="2A2A2A"/>
                </a:solidFill>
                <a:latin typeface="Calibri"/>
              </a:rPr>
              <a:t>a = drug / </a:t>
            </a:r>
            <a:r>
              <a:rPr lang="en-IE" sz="1050" b="1" err="1">
                <a:solidFill>
                  <a:srgbClr val="2A2A2A"/>
                </a:solidFill>
                <a:latin typeface="Calibri"/>
              </a:rPr>
              <a:t>Kd</a:t>
            </a:r>
            <a:endParaRPr lang="en-IE" sz="1050" b="1">
              <a:solidFill>
                <a:srgbClr val="2A2A2A"/>
              </a:solidFill>
              <a:latin typeface="Calibri"/>
            </a:endParaRPr>
          </a:p>
          <a:p>
            <a:pPr>
              <a:spcAft>
                <a:spcPts val="1000"/>
              </a:spcAft>
            </a:pPr>
            <a:r>
              <a:rPr lang="en-IE" sz="1050" b="1">
                <a:solidFill>
                  <a:srgbClr val="2A2A2A"/>
                </a:solidFill>
                <a:latin typeface="Calibri"/>
              </a:rPr>
              <a:t>b = drug / (Coop · </a:t>
            </a:r>
            <a:r>
              <a:rPr lang="en-IE" sz="1050" b="1" err="1">
                <a:solidFill>
                  <a:srgbClr val="2A2A2A"/>
                </a:solidFill>
                <a:latin typeface="Calibri"/>
              </a:rPr>
              <a:t>Kd</a:t>
            </a:r>
            <a:r>
              <a:rPr lang="en-IE" sz="1050" b="1">
                <a:solidFill>
                  <a:srgbClr val="2A2A2A"/>
                </a:solidFill>
                <a:latin typeface="Calibri"/>
              </a:rPr>
              <a:t>)</a:t>
            </a:r>
          </a:p>
          <a:p>
            <a:pPr>
              <a:spcAft>
                <a:spcPts val="1000"/>
              </a:spcAft>
            </a:pPr>
            <a:r>
              <a:rPr lang="en-IE" sz="1050" b="1">
                <a:solidFill>
                  <a:srgbClr val="2A2A2A"/>
                </a:solidFill>
                <a:latin typeface="Calibri"/>
              </a:rPr>
              <a:t>p = drug / (</a:t>
            </a:r>
            <a:r>
              <a:rPr lang="en-IE" sz="1050" b="1" err="1">
                <a:solidFill>
                  <a:srgbClr val="2A2A2A"/>
                </a:solidFill>
                <a:latin typeface="Calibri"/>
              </a:rPr>
              <a:t>Kd</a:t>
            </a:r>
            <a:r>
              <a:rPr lang="en-IE" sz="1050" b="1">
                <a:solidFill>
                  <a:srgbClr val="2A2A2A"/>
                </a:solidFill>
                <a:latin typeface="Calibri"/>
              </a:rPr>
              <a:t> + drug)</a:t>
            </a:r>
          </a:p>
          <a:p>
            <a:pPr>
              <a:spcAft>
                <a:spcPts val="1000"/>
              </a:spcAft>
            </a:pPr>
            <a:endParaRPr lang="en-IE" sz="1050" b="1">
              <a:solidFill>
                <a:srgbClr val="2A2A2A"/>
              </a:solidFill>
              <a:latin typeface="Calibri"/>
            </a:endParaRPr>
          </a:p>
          <a:p>
            <a:pPr>
              <a:spcAft>
                <a:spcPts val="1000"/>
              </a:spcAft>
            </a:pPr>
            <a:r>
              <a:rPr lang="en-IE" sz="1050" b="1">
                <a:solidFill>
                  <a:srgbClr val="2A2A2A"/>
                </a:solidFill>
                <a:latin typeface="Calibri"/>
              </a:rPr>
              <a:t>Z = 1 + 2a + </a:t>
            </a:r>
            <a:r>
              <a:rPr lang="en-IE" sz="1050" b="1" err="1">
                <a:solidFill>
                  <a:srgbClr val="2A2A2A"/>
                </a:solidFill>
                <a:latin typeface="Calibri"/>
              </a:rPr>
              <a:t>a·b</a:t>
            </a:r>
            <a:endParaRPr lang="en-IE" sz="1050" b="1">
              <a:solidFill>
                <a:srgbClr val="2A2A2A"/>
              </a:solidFill>
              <a:latin typeface="Calibri"/>
            </a:endParaRPr>
          </a:p>
          <a:p>
            <a:pPr>
              <a:spcAft>
                <a:spcPts val="1000"/>
              </a:spcAft>
            </a:pPr>
            <a:r>
              <a:rPr lang="en-IE" sz="1050" b="1" err="1">
                <a:solidFill>
                  <a:srgbClr val="2A2A2A"/>
                </a:solidFill>
                <a:latin typeface="Calibri"/>
              </a:rPr>
              <a:t>active_per_dimer</a:t>
            </a:r>
            <a:r>
              <a:rPr lang="en-IE" sz="1050" b="1">
                <a:solidFill>
                  <a:srgbClr val="2A2A2A"/>
                </a:solidFill>
                <a:latin typeface="Calibri"/>
              </a:rPr>
              <a:t> = (2 + 2a) / Z</a:t>
            </a:r>
          </a:p>
          <a:p>
            <a:pPr>
              <a:spcAft>
                <a:spcPts val="1000"/>
              </a:spcAft>
            </a:pPr>
            <a:endParaRPr lang="en-IE" sz="1050" b="1">
              <a:solidFill>
                <a:srgbClr val="2A2A2A"/>
              </a:solidFill>
              <a:latin typeface="Calibri"/>
            </a:endParaRPr>
          </a:p>
          <a:p>
            <a:pPr>
              <a:spcAft>
                <a:spcPts val="1000"/>
              </a:spcAft>
            </a:pPr>
            <a:r>
              <a:rPr lang="en-IE" sz="1050" b="1" err="1">
                <a:solidFill>
                  <a:srgbClr val="2A2A2A"/>
                </a:solidFill>
                <a:latin typeface="Calibri"/>
              </a:rPr>
              <a:t>A_dimer</a:t>
            </a:r>
            <a:r>
              <a:rPr lang="en-IE" sz="1050" b="1">
                <a:solidFill>
                  <a:srgbClr val="2A2A2A"/>
                </a:solidFill>
                <a:latin typeface="Calibri"/>
              </a:rPr>
              <a:t> = </a:t>
            </a:r>
            <a:r>
              <a:rPr lang="en-IE" sz="1050" b="1" err="1">
                <a:solidFill>
                  <a:srgbClr val="2A2A2A"/>
                </a:solidFill>
                <a:latin typeface="Calibri"/>
              </a:rPr>
              <a:t>Kdim</a:t>
            </a:r>
            <a:r>
              <a:rPr lang="en-IE" sz="1050" b="1">
                <a:solidFill>
                  <a:srgbClr val="2A2A2A"/>
                </a:solidFill>
                <a:latin typeface="Calibri"/>
              </a:rPr>
              <a:t> · RASGTP · </a:t>
            </a:r>
            <a:r>
              <a:rPr lang="en-IE" sz="1050" b="1" err="1">
                <a:solidFill>
                  <a:srgbClr val="2A2A2A"/>
                </a:solidFill>
                <a:latin typeface="Calibri"/>
              </a:rPr>
              <a:t>RAF_tot</a:t>
            </a:r>
            <a:r>
              <a:rPr lang="en-IE" sz="1050" b="1">
                <a:solidFill>
                  <a:srgbClr val="2A2A2A"/>
                </a:solidFill>
                <a:latin typeface="Calibri"/>
              </a:rPr>
              <a:t> · (1 + </a:t>
            </a:r>
            <a:r>
              <a:rPr lang="el-GR" sz="1050" b="1">
                <a:solidFill>
                  <a:srgbClr val="2A2A2A"/>
                </a:solidFill>
                <a:latin typeface="Calibri"/>
              </a:rPr>
              <a:t>Γ·</a:t>
            </a:r>
            <a:r>
              <a:rPr lang="en-IE" sz="1050" b="1">
                <a:solidFill>
                  <a:srgbClr val="2A2A2A"/>
                </a:solidFill>
                <a:latin typeface="Calibri"/>
              </a:rPr>
              <a:t>p) · </a:t>
            </a:r>
            <a:r>
              <a:rPr lang="en-IE" sz="1050" b="1" err="1">
                <a:solidFill>
                  <a:srgbClr val="2A2A2A"/>
                </a:solidFill>
                <a:latin typeface="Calibri"/>
              </a:rPr>
              <a:t>active_per_dimer</a:t>
            </a:r>
            <a:endParaRPr lang="en-IE" sz="1050" b="1">
              <a:solidFill>
                <a:srgbClr val="2A2A2A"/>
              </a:solidFill>
              <a:latin typeface="Calibri"/>
            </a:endParaRPr>
          </a:p>
          <a:p>
            <a:pPr>
              <a:spcAft>
                <a:spcPts val="1000"/>
              </a:spcAft>
            </a:pPr>
            <a:r>
              <a:rPr lang="en-IE" sz="1050" b="1" err="1">
                <a:solidFill>
                  <a:srgbClr val="2A2A2A"/>
                </a:solidFill>
                <a:latin typeface="Calibri"/>
              </a:rPr>
              <a:t>A_mono</a:t>
            </a:r>
            <a:r>
              <a:rPr lang="en-IE" sz="1050" b="1">
                <a:solidFill>
                  <a:srgbClr val="2A2A2A"/>
                </a:solidFill>
                <a:latin typeface="Calibri"/>
              </a:rPr>
              <a:t>  = V600Efrac · </a:t>
            </a:r>
            <a:r>
              <a:rPr lang="en-IE" sz="1050" b="1" err="1">
                <a:solidFill>
                  <a:srgbClr val="2A2A2A"/>
                </a:solidFill>
                <a:latin typeface="Calibri"/>
              </a:rPr>
              <a:t>RAF_tot</a:t>
            </a:r>
            <a:r>
              <a:rPr lang="en-IE" sz="1050" b="1">
                <a:solidFill>
                  <a:srgbClr val="2A2A2A"/>
                </a:solidFill>
                <a:latin typeface="Calibri"/>
              </a:rPr>
              <a:t> · </a:t>
            </a:r>
            <a:r>
              <a:rPr lang="en-IE" sz="1050" b="1" err="1">
                <a:solidFill>
                  <a:srgbClr val="2A2A2A"/>
                </a:solidFill>
                <a:latin typeface="Calibri"/>
              </a:rPr>
              <a:t>Kd</a:t>
            </a:r>
            <a:r>
              <a:rPr lang="en-IE" sz="1050" b="1">
                <a:solidFill>
                  <a:srgbClr val="2A2A2A"/>
                </a:solidFill>
                <a:latin typeface="Calibri"/>
              </a:rPr>
              <a:t> / (</a:t>
            </a:r>
            <a:r>
              <a:rPr lang="en-IE" sz="1050" b="1" err="1">
                <a:solidFill>
                  <a:srgbClr val="2A2A2A"/>
                </a:solidFill>
                <a:latin typeface="Calibri"/>
              </a:rPr>
              <a:t>Kd</a:t>
            </a:r>
            <a:r>
              <a:rPr lang="en-IE" sz="1050" b="1">
                <a:solidFill>
                  <a:srgbClr val="2A2A2A"/>
                </a:solidFill>
                <a:latin typeface="Calibri"/>
              </a:rPr>
              <a:t> + drug)</a:t>
            </a:r>
          </a:p>
          <a:p>
            <a:pPr>
              <a:spcAft>
                <a:spcPts val="1000"/>
              </a:spcAft>
            </a:pPr>
            <a:r>
              <a:rPr lang="en-IE" sz="1050" b="1" err="1">
                <a:solidFill>
                  <a:srgbClr val="2A2A2A"/>
                </a:solidFill>
                <a:latin typeface="Calibri"/>
              </a:rPr>
              <a:t>A_total</a:t>
            </a:r>
            <a:r>
              <a:rPr lang="en-IE" sz="1050" b="1">
                <a:solidFill>
                  <a:srgbClr val="2A2A2A"/>
                </a:solidFill>
                <a:latin typeface="Calibri"/>
              </a:rPr>
              <a:t> = </a:t>
            </a:r>
            <a:r>
              <a:rPr lang="en-IE" sz="1050" b="1" err="1">
                <a:solidFill>
                  <a:srgbClr val="2A2A2A"/>
                </a:solidFill>
                <a:latin typeface="Calibri"/>
              </a:rPr>
              <a:t>A_mono</a:t>
            </a:r>
            <a:r>
              <a:rPr lang="en-IE" sz="1050" b="1">
                <a:solidFill>
                  <a:srgbClr val="2A2A2A"/>
                </a:solidFill>
                <a:latin typeface="Calibri"/>
              </a:rPr>
              <a:t> + </a:t>
            </a:r>
            <a:r>
              <a:rPr lang="en-IE" sz="1050" b="1" err="1">
                <a:solidFill>
                  <a:srgbClr val="2A2A2A"/>
                </a:solidFill>
                <a:latin typeface="Calibri"/>
              </a:rPr>
              <a:t>A_dimer</a:t>
            </a:r>
            <a:endParaRPr lang="en-IE" sz="1050" b="1">
              <a:solidFill>
                <a:srgbClr val="2A2A2A"/>
              </a:solidFill>
              <a:latin typeface="Calibri"/>
            </a:endParaRPr>
          </a:p>
          <a:p>
            <a:pPr>
              <a:spcAft>
                <a:spcPts val="1000"/>
              </a:spcAft>
            </a:pPr>
            <a:endParaRPr lang="en-IE" sz="1050" b="1">
              <a:solidFill>
                <a:srgbClr val="2A2A2A"/>
              </a:solidFill>
              <a:latin typeface="Calibri"/>
            </a:endParaRPr>
          </a:p>
          <a:p>
            <a:pPr>
              <a:spcAft>
                <a:spcPts val="1000"/>
              </a:spcAft>
            </a:pPr>
            <a:r>
              <a:rPr lang="en-IE" sz="1050" b="1">
                <a:solidFill>
                  <a:srgbClr val="2A2A2A"/>
                </a:solidFill>
                <a:latin typeface="Calibri"/>
              </a:rPr>
              <a:t>V1_eff = V1 · </a:t>
            </a:r>
            <a:r>
              <a:rPr lang="en-IE" sz="1050" b="1" err="1">
                <a:solidFill>
                  <a:srgbClr val="2A2A2A"/>
                </a:solidFill>
                <a:latin typeface="Calibri"/>
              </a:rPr>
              <a:t>A_total</a:t>
            </a:r>
            <a:r>
              <a:rPr lang="en-IE" sz="1050" b="1">
                <a:solidFill>
                  <a:srgbClr val="2A2A2A"/>
                </a:solidFill>
                <a:latin typeface="Calibri"/>
              </a:rPr>
              <a:t> / </a:t>
            </a:r>
            <a:r>
              <a:rPr lang="en-IE" sz="1050" b="1" err="1">
                <a:solidFill>
                  <a:srgbClr val="2A2A2A"/>
                </a:solidFill>
                <a:latin typeface="Calibri"/>
              </a:rPr>
              <a:t>A_ref</a:t>
            </a:r>
            <a:endParaRPr lang="en-IE" sz="1050" b="1" noProof="0">
              <a:solidFill>
                <a:srgbClr val="2A2A2A"/>
              </a:solidFill>
              <a:latin typeface="Calibri"/>
            </a:endParaRPr>
          </a:p>
        </p:txBody>
      </p:sp>
      <p:graphicFrame>
        <p:nvGraphicFramePr>
          <p:cNvPr id="48" name="Table 47">
            <a:extLst>
              <a:ext uri="{FF2B5EF4-FFF2-40B4-BE49-F238E27FC236}">
                <a16:creationId xmlns:a16="http://schemas.microsoft.com/office/drawing/2014/main" id="{B5CC7CA2-E11B-7498-55BA-1BFBA6AD3E53}"/>
              </a:ext>
            </a:extLst>
          </p:cNvPr>
          <p:cNvGraphicFramePr>
            <a:graphicFrameLocks noGrp="1"/>
          </p:cNvGraphicFramePr>
          <p:nvPr>
            <p:extLst>
              <p:ext uri="{D42A27DB-BD31-4B8C-83A1-F6EECF244321}">
                <p14:modId xmlns:p14="http://schemas.microsoft.com/office/powerpoint/2010/main" val="515246208"/>
              </p:ext>
            </p:extLst>
          </p:nvPr>
        </p:nvGraphicFramePr>
        <p:xfrm>
          <a:off x="5676574" y="1768823"/>
          <a:ext cx="6261902" cy="4554016"/>
        </p:xfrm>
        <a:graphic>
          <a:graphicData uri="http://schemas.openxmlformats.org/drawingml/2006/table">
            <a:tbl>
              <a:tblPr firstRow="1" bandRow="1">
                <a:tableStyleId>{93296810-A885-4BE3-A3E7-6D5BEEA58F35}</a:tableStyleId>
              </a:tblPr>
              <a:tblGrid>
                <a:gridCol w="3130951">
                  <a:extLst>
                    <a:ext uri="{9D8B030D-6E8A-4147-A177-3AD203B41FA5}">
                      <a16:colId xmlns:a16="http://schemas.microsoft.com/office/drawing/2014/main" val="365623342"/>
                    </a:ext>
                  </a:extLst>
                </a:gridCol>
                <a:gridCol w="3130951">
                  <a:extLst>
                    <a:ext uri="{9D8B030D-6E8A-4147-A177-3AD203B41FA5}">
                      <a16:colId xmlns:a16="http://schemas.microsoft.com/office/drawing/2014/main" val="1786872221"/>
                    </a:ext>
                  </a:extLst>
                </a:gridCol>
              </a:tblGrid>
              <a:tr h="469586">
                <a:tc>
                  <a:txBody>
                    <a:bodyPr/>
                    <a:lstStyle/>
                    <a:p>
                      <a:r>
                        <a:rPr lang="en-US" b="0" i="0">
                          <a:latin typeface="Calibri" panose="020F0502020204030204" pitchFamily="34" charset="0"/>
                          <a:cs typeface="Calibri" panose="020F0502020204030204" pitchFamily="34" charset="0"/>
                        </a:rPr>
                        <a:t>Symbol</a:t>
                      </a:r>
                    </a:p>
                  </a:txBody>
                  <a:tcPr/>
                </a:tc>
                <a:tc>
                  <a:txBody>
                    <a:bodyPr/>
                    <a:lstStyle/>
                    <a:p>
                      <a:r>
                        <a:rPr lang="en-US" b="0" i="0">
                          <a:latin typeface="Calibri" panose="020F0502020204030204" pitchFamily="34" charset="0"/>
                          <a:cs typeface="Calibri" panose="020F0502020204030204" pitchFamily="34" charset="0"/>
                        </a:rPr>
                        <a:t>Meaning</a:t>
                      </a:r>
                    </a:p>
                  </a:txBody>
                  <a:tcPr/>
                </a:tc>
                <a:extLst>
                  <a:ext uri="{0D108BD9-81ED-4DB2-BD59-A6C34878D82A}">
                    <a16:rowId xmlns:a16="http://schemas.microsoft.com/office/drawing/2014/main" val="1007362646"/>
                  </a:ext>
                </a:extLst>
              </a:tr>
              <a:tr h="313058">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drug</a:t>
                      </a:r>
                    </a:p>
                  </a:txBody>
                  <a:tcPr marL="85725" marR="85725" marT="47625" marB="47625"/>
                </a:tc>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Vemurafenib concentration (</a:t>
                      </a:r>
                      <a:r>
                        <a:rPr lang="en-US" sz="975" b="0" i="0" err="1">
                          <a:solidFill>
                            <a:schemeClr val="tx1"/>
                          </a:solidFill>
                          <a:effectLst/>
                          <a:latin typeface="Calibri" panose="020F0502020204030204" pitchFamily="34" charset="0"/>
                          <a:cs typeface="Calibri" panose="020F0502020204030204" pitchFamily="34" charset="0"/>
                        </a:rPr>
                        <a:t>nM</a:t>
                      </a:r>
                      <a:r>
                        <a:rPr lang="en-US" sz="975" b="0" i="0">
                          <a:solidFill>
                            <a:schemeClr val="tx1"/>
                          </a:solidFill>
                          <a:effectLst/>
                          <a:latin typeface="Calibri" panose="020F0502020204030204" pitchFamily="34" charset="0"/>
                          <a:cs typeface="Calibri" panose="020F0502020204030204" pitchFamily="34" charset="0"/>
                        </a:rPr>
                        <a:t>) — the dose being swept</a:t>
                      </a:r>
                    </a:p>
                  </a:txBody>
                  <a:tcPr marL="85725" marR="85725" marT="47625" marB="47625"/>
                </a:tc>
                <a:extLst>
                  <a:ext uri="{0D108BD9-81ED-4DB2-BD59-A6C34878D82A}">
                    <a16:rowId xmlns:a16="http://schemas.microsoft.com/office/drawing/2014/main" val="3609495821"/>
                  </a:ext>
                </a:extLst>
              </a:tr>
              <a:tr h="503828">
                <a:tc>
                  <a:txBody>
                    <a:bodyPr/>
                    <a:lstStyle/>
                    <a:p>
                      <a:pPr algn="l" fontAlgn="t" latinLnBrk="0">
                        <a:buNone/>
                      </a:pPr>
                      <a:r>
                        <a:rPr lang="en-US" sz="975" b="0" i="0" err="1">
                          <a:solidFill>
                            <a:schemeClr val="tx1"/>
                          </a:solidFill>
                          <a:effectLst/>
                          <a:latin typeface="Calibri" panose="020F0502020204030204" pitchFamily="34" charset="0"/>
                          <a:cs typeface="Calibri" panose="020F0502020204030204" pitchFamily="34" charset="0"/>
                        </a:rPr>
                        <a:t>Kd</a:t>
                      </a:r>
                      <a:endParaRPr lang="en-US" sz="975" b="0" i="0">
                        <a:solidFill>
                          <a:schemeClr val="tx1"/>
                        </a:solidFill>
                        <a:effectLst/>
                        <a:latin typeface="Calibri" panose="020F0502020204030204" pitchFamily="34" charset="0"/>
                        <a:cs typeface="Calibri" panose="020F0502020204030204" pitchFamily="34" charset="0"/>
                      </a:endParaRPr>
                    </a:p>
                  </a:txBody>
                  <a:tcPr marL="85725" marR="85725" marT="47625" marB="47625"/>
                </a:tc>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Vemurafenib's binding affinity for a RAF protomer (universal)</a:t>
                      </a:r>
                    </a:p>
                  </a:txBody>
                  <a:tcPr marL="85725" marR="85725" marT="47625" marB="47625"/>
                </a:tc>
                <a:extLst>
                  <a:ext uri="{0D108BD9-81ED-4DB2-BD59-A6C34878D82A}">
                    <a16:rowId xmlns:a16="http://schemas.microsoft.com/office/drawing/2014/main" val="3988572919"/>
                  </a:ext>
                </a:extLst>
              </a:tr>
              <a:tr h="503828">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Coop</a:t>
                      </a:r>
                    </a:p>
                  </a:txBody>
                  <a:tcPr marL="85725" marR="85725" marT="47625" marB="47625"/>
                </a:tc>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Negative-cooperativity factor for the 2nd binding site (=20; 2nd-site </a:t>
                      </a:r>
                      <a:r>
                        <a:rPr lang="en-US" sz="975" b="0" i="0" err="1">
                          <a:solidFill>
                            <a:schemeClr val="tx1"/>
                          </a:solidFill>
                          <a:effectLst/>
                          <a:latin typeface="Calibri" panose="020F0502020204030204" pitchFamily="34" charset="0"/>
                          <a:cs typeface="Calibri" panose="020F0502020204030204" pitchFamily="34" charset="0"/>
                        </a:rPr>
                        <a:t>Kd</a:t>
                      </a:r>
                      <a:r>
                        <a:rPr lang="en-US" sz="975" b="0" i="0">
                          <a:solidFill>
                            <a:schemeClr val="tx1"/>
                          </a:solidFill>
                          <a:effectLst/>
                          <a:latin typeface="Calibri" panose="020F0502020204030204" pitchFamily="34" charset="0"/>
                          <a:cs typeface="Calibri" panose="020F0502020204030204" pitchFamily="34" charset="0"/>
                        </a:rPr>
                        <a:t> = </a:t>
                      </a:r>
                      <a:r>
                        <a:rPr lang="en-US" sz="975" b="0" i="0" err="1">
                          <a:solidFill>
                            <a:schemeClr val="tx1"/>
                          </a:solidFill>
                          <a:effectLst/>
                          <a:latin typeface="Calibri" panose="020F0502020204030204" pitchFamily="34" charset="0"/>
                          <a:cs typeface="Calibri" panose="020F0502020204030204" pitchFamily="34" charset="0"/>
                        </a:rPr>
                        <a:t>Coop·Kd</a:t>
                      </a:r>
                      <a:r>
                        <a:rPr lang="en-US" sz="975" b="0" i="0">
                          <a:solidFill>
                            <a:schemeClr val="tx1"/>
                          </a:solidFill>
                          <a:effectLst/>
                          <a:latin typeface="Calibri" panose="020F0502020204030204" pitchFamily="34" charset="0"/>
                          <a:cs typeface="Calibri" panose="020F0502020204030204" pitchFamily="34" charset="0"/>
                        </a:rPr>
                        <a:t>)</a:t>
                      </a:r>
                    </a:p>
                  </a:txBody>
                  <a:tcPr marL="85725" marR="85725" marT="47625" marB="47625"/>
                </a:tc>
                <a:extLst>
                  <a:ext uri="{0D108BD9-81ED-4DB2-BD59-A6C34878D82A}">
                    <a16:rowId xmlns:a16="http://schemas.microsoft.com/office/drawing/2014/main" val="4115612262"/>
                  </a:ext>
                </a:extLst>
              </a:tr>
              <a:tr h="313058">
                <a:tc>
                  <a:txBody>
                    <a:bodyPr/>
                    <a:lstStyle/>
                    <a:p>
                      <a:pPr algn="l" fontAlgn="t" latinLnBrk="0">
                        <a:buNone/>
                      </a:pPr>
                      <a:r>
                        <a:rPr lang="en-US" sz="975" b="0" i="0" err="1">
                          <a:solidFill>
                            <a:schemeClr val="tx1"/>
                          </a:solidFill>
                          <a:effectLst/>
                          <a:latin typeface="Calibri" panose="020F0502020204030204" pitchFamily="34" charset="0"/>
                          <a:cs typeface="Calibri" panose="020F0502020204030204" pitchFamily="34" charset="0"/>
                        </a:rPr>
                        <a:t>Γ</a:t>
                      </a:r>
                      <a:endParaRPr lang="en-US" sz="975" b="0" i="0">
                        <a:solidFill>
                          <a:schemeClr val="tx1"/>
                        </a:solidFill>
                        <a:effectLst/>
                        <a:latin typeface="Calibri" panose="020F0502020204030204" pitchFamily="34" charset="0"/>
                        <a:cs typeface="Calibri" panose="020F0502020204030204" pitchFamily="34" charset="0"/>
                      </a:endParaRPr>
                    </a:p>
                  </a:txBody>
                  <a:tcPr marL="85725" marR="85725" marT="47625" marB="47625"/>
                </a:tc>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Drug-induced </a:t>
                      </a:r>
                      <a:r>
                        <a:rPr lang="en-US" sz="975" b="0" i="0" err="1">
                          <a:solidFill>
                            <a:schemeClr val="tx1"/>
                          </a:solidFill>
                          <a:effectLst/>
                          <a:latin typeface="Calibri" panose="020F0502020204030204" pitchFamily="34" charset="0"/>
                          <a:cs typeface="Calibri" panose="020F0502020204030204" pitchFamily="34" charset="0"/>
                        </a:rPr>
                        <a:t>dimerisation</a:t>
                      </a:r>
                      <a:r>
                        <a:rPr lang="en-US" sz="975" b="0" i="0">
                          <a:solidFill>
                            <a:schemeClr val="tx1"/>
                          </a:solidFill>
                          <a:effectLst/>
                          <a:latin typeface="Calibri" panose="020F0502020204030204" pitchFamily="34" charset="0"/>
                          <a:cs typeface="Calibri" panose="020F0502020204030204" pitchFamily="34" charset="0"/>
                        </a:rPr>
                        <a:t> strength (universal)</a:t>
                      </a:r>
                    </a:p>
                  </a:txBody>
                  <a:tcPr marL="85725" marR="85725" marT="47625" marB="47625"/>
                </a:tc>
                <a:extLst>
                  <a:ext uri="{0D108BD9-81ED-4DB2-BD59-A6C34878D82A}">
                    <a16:rowId xmlns:a16="http://schemas.microsoft.com/office/drawing/2014/main" val="169664877"/>
                  </a:ext>
                </a:extLst>
              </a:tr>
              <a:tr h="313058">
                <a:tc>
                  <a:txBody>
                    <a:bodyPr/>
                    <a:lstStyle/>
                    <a:p>
                      <a:pPr algn="l" fontAlgn="t" latinLnBrk="0">
                        <a:buNone/>
                      </a:pPr>
                      <a:r>
                        <a:rPr lang="en-US" sz="975" b="0" i="0" err="1">
                          <a:solidFill>
                            <a:schemeClr val="tx1"/>
                          </a:solidFill>
                          <a:effectLst/>
                          <a:latin typeface="Calibri" panose="020F0502020204030204" pitchFamily="34" charset="0"/>
                          <a:cs typeface="Calibri" panose="020F0502020204030204" pitchFamily="34" charset="0"/>
                        </a:rPr>
                        <a:t>Kdim</a:t>
                      </a:r>
                      <a:endParaRPr lang="en-US" sz="975" b="0" i="0">
                        <a:solidFill>
                          <a:schemeClr val="tx1"/>
                        </a:solidFill>
                        <a:effectLst/>
                        <a:latin typeface="Calibri" panose="020F0502020204030204" pitchFamily="34" charset="0"/>
                        <a:cs typeface="Calibri" panose="020F0502020204030204" pitchFamily="34" charset="0"/>
                      </a:endParaRPr>
                    </a:p>
                  </a:txBody>
                  <a:tcPr marL="85725" marR="85725" marT="47625" marB="47625"/>
                </a:tc>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Dimer abundance scaling per unit RAS-GTP (universal)</a:t>
                      </a:r>
                    </a:p>
                  </a:txBody>
                  <a:tcPr marL="85725" marR="85725" marT="47625" marB="47625"/>
                </a:tc>
                <a:extLst>
                  <a:ext uri="{0D108BD9-81ED-4DB2-BD59-A6C34878D82A}">
                    <a16:rowId xmlns:a16="http://schemas.microsoft.com/office/drawing/2014/main" val="564215561"/>
                  </a:ext>
                </a:extLst>
              </a:tr>
              <a:tr h="503828">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RASGTP</a:t>
                      </a:r>
                    </a:p>
                  </a:txBody>
                  <a:tcPr marL="85725" marR="85725" marT="47625" marB="47625"/>
                </a:tc>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RAS-GTP level — set by genotype (V600E: low, NRAS: high, WT: basal)</a:t>
                      </a:r>
                    </a:p>
                  </a:txBody>
                  <a:tcPr marL="85725" marR="85725" marT="47625" marB="47625"/>
                </a:tc>
                <a:extLst>
                  <a:ext uri="{0D108BD9-81ED-4DB2-BD59-A6C34878D82A}">
                    <a16:rowId xmlns:a16="http://schemas.microsoft.com/office/drawing/2014/main" val="3122662970"/>
                  </a:ext>
                </a:extLst>
              </a:tr>
              <a:tr h="313058">
                <a:tc>
                  <a:txBody>
                    <a:bodyPr/>
                    <a:lstStyle/>
                    <a:p>
                      <a:pPr algn="l" fontAlgn="t" latinLnBrk="0">
                        <a:buNone/>
                      </a:pPr>
                      <a:r>
                        <a:rPr lang="en-US" sz="975" b="0" i="0" err="1">
                          <a:solidFill>
                            <a:schemeClr val="tx1"/>
                          </a:solidFill>
                          <a:effectLst/>
                          <a:latin typeface="Calibri" panose="020F0502020204030204" pitchFamily="34" charset="0"/>
                          <a:cs typeface="Calibri" panose="020F0502020204030204" pitchFamily="34" charset="0"/>
                        </a:rPr>
                        <a:t>RAF_tot</a:t>
                      </a:r>
                      <a:endParaRPr lang="en-US" sz="975" b="0" i="0">
                        <a:solidFill>
                          <a:schemeClr val="tx1"/>
                        </a:solidFill>
                        <a:effectLst/>
                        <a:latin typeface="Calibri" panose="020F0502020204030204" pitchFamily="34" charset="0"/>
                        <a:cs typeface="Calibri" panose="020F0502020204030204" pitchFamily="34" charset="0"/>
                      </a:endParaRPr>
                    </a:p>
                  </a:txBody>
                  <a:tcPr marL="85725" marR="85725" marT="47625" marB="47625"/>
                </a:tc>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Total RAF pool — scaled per patient by BRAF expression</a:t>
                      </a:r>
                    </a:p>
                  </a:txBody>
                  <a:tcPr marL="85725" marR="85725" marT="47625" marB="47625"/>
                </a:tc>
                <a:extLst>
                  <a:ext uri="{0D108BD9-81ED-4DB2-BD59-A6C34878D82A}">
                    <a16:rowId xmlns:a16="http://schemas.microsoft.com/office/drawing/2014/main" val="1267317848"/>
                  </a:ext>
                </a:extLst>
              </a:tr>
              <a:tr h="313058">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V600Efrac</a:t>
                      </a:r>
                    </a:p>
                  </a:txBody>
                  <a:tcPr marL="85725" marR="85725" marT="47625" marB="47625"/>
                </a:tc>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1 if patient has BRAF-V600E, else 0</a:t>
                      </a:r>
                    </a:p>
                  </a:txBody>
                  <a:tcPr marL="85725" marR="85725" marT="47625" marB="47625"/>
                </a:tc>
                <a:extLst>
                  <a:ext uri="{0D108BD9-81ED-4DB2-BD59-A6C34878D82A}">
                    <a16:rowId xmlns:a16="http://schemas.microsoft.com/office/drawing/2014/main" val="4116591990"/>
                  </a:ext>
                </a:extLst>
              </a:tr>
              <a:tr h="503828">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V1</a:t>
                      </a:r>
                    </a:p>
                  </a:txBody>
                  <a:tcPr marL="85725" marR="85725" marT="47625" marB="47625"/>
                </a:tc>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Kholodenko's published baseline Raf-activation Vmax (=2.5), carried over from Module B</a:t>
                      </a:r>
                    </a:p>
                  </a:txBody>
                  <a:tcPr marL="85725" marR="85725" marT="47625" marB="47625"/>
                </a:tc>
                <a:extLst>
                  <a:ext uri="{0D108BD9-81ED-4DB2-BD59-A6C34878D82A}">
                    <a16:rowId xmlns:a16="http://schemas.microsoft.com/office/drawing/2014/main" val="3142214075"/>
                  </a:ext>
                </a:extLst>
              </a:tr>
              <a:tr h="503828">
                <a:tc>
                  <a:txBody>
                    <a:bodyPr/>
                    <a:lstStyle/>
                    <a:p>
                      <a:pPr algn="l" fontAlgn="t" latinLnBrk="0">
                        <a:buNone/>
                      </a:pPr>
                      <a:r>
                        <a:rPr lang="en-US" sz="975" b="0" i="0" err="1">
                          <a:solidFill>
                            <a:schemeClr val="tx1"/>
                          </a:solidFill>
                          <a:effectLst/>
                          <a:latin typeface="Calibri" panose="020F0502020204030204" pitchFamily="34" charset="0"/>
                          <a:cs typeface="Calibri" panose="020F0502020204030204" pitchFamily="34" charset="0"/>
                        </a:rPr>
                        <a:t>A_ref</a:t>
                      </a:r>
                      <a:endParaRPr lang="en-US" sz="975" b="0" i="0">
                        <a:solidFill>
                          <a:schemeClr val="tx1"/>
                        </a:solidFill>
                        <a:effectLst/>
                        <a:latin typeface="Calibri" panose="020F0502020204030204" pitchFamily="34" charset="0"/>
                        <a:cs typeface="Calibri" panose="020F0502020204030204" pitchFamily="34" charset="0"/>
                      </a:endParaRPr>
                    </a:p>
                  </a:txBody>
                  <a:tcPr marL="85725" marR="85725" marT="47625" marB="47625"/>
                </a:tc>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Reference RAF signal at zero drug/basal RAS-GTP/mean expression — </a:t>
                      </a:r>
                      <a:r>
                        <a:rPr lang="en-US" sz="975" b="0" i="0" err="1">
                          <a:solidFill>
                            <a:schemeClr val="tx1"/>
                          </a:solidFill>
                          <a:effectLst/>
                          <a:latin typeface="Calibri" panose="020F0502020204030204" pitchFamily="34" charset="0"/>
                          <a:cs typeface="Calibri" panose="020F0502020204030204" pitchFamily="34" charset="0"/>
                        </a:rPr>
                        <a:t>normalises</a:t>
                      </a:r>
                      <a:r>
                        <a:rPr lang="en-US" sz="975" b="0" i="0">
                          <a:solidFill>
                            <a:schemeClr val="tx1"/>
                          </a:solidFill>
                          <a:effectLst/>
                          <a:latin typeface="Calibri" panose="020F0502020204030204" pitchFamily="34" charset="0"/>
                          <a:cs typeface="Calibri" panose="020F0502020204030204" pitchFamily="34" charset="0"/>
                        </a:rPr>
                        <a:t> V1_eff only</a:t>
                      </a:r>
                    </a:p>
                  </a:txBody>
                  <a:tcPr marL="85725" marR="85725" marT="47625" marB="47625"/>
                </a:tc>
                <a:extLst>
                  <a:ext uri="{0D108BD9-81ED-4DB2-BD59-A6C34878D82A}">
                    <a16:rowId xmlns:a16="http://schemas.microsoft.com/office/drawing/2014/main" val="1682832903"/>
                  </a:ext>
                </a:extLst>
              </a:tr>
            </a:tbl>
          </a:graphicData>
        </a:graphic>
      </p:graphicFrame>
      <p:sp>
        <p:nvSpPr>
          <p:cNvPr id="50" name="TextBox 49">
            <a:extLst>
              <a:ext uri="{FF2B5EF4-FFF2-40B4-BE49-F238E27FC236}">
                <a16:creationId xmlns:a16="http://schemas.microsoft.com/office/drawing/2014/main" id="{8DE10352-A13A-1F35-D660-830D749D1D87}"/>
              </a:ext>
            </a:extLst>
          </p:cNvPr>
          <p:cNvSpPr txBox="1"/>
          <p:nvPr/>
        </p:nvSpPr>
        <p:spPr>
          <a:xfrm>
            <a:off x="4171951" y="5910127"/>
            <a:ext cx="1330777" cy="369332"/>
          </a:xfrm>
          <a:prstGeom prst="rect">
            <a:avLst/>
          </a:prstGeom>
          <a:noFill/>
        </p:spPr>
        <p:txBody>
          <a:bodyPr wrap="square" rtlCol="0">
            <a:spAutoFit/>
          </a:bodyPr>
          <a:lstStyle/>
          <a:p>
            <a:r>
              <a:rPr lang="en-US" sz="900" err="1">
                <a:latin typeface="Calibri" panose="020F0502020204030204" pitchFamily="34" charset="0"/>
                <a:cs typeface="Calibri" panose="020F0502020204030204" pitchFamily="34" charset="0"/>
              </a:rPr>
              <a:t>Poulikakos</a:t>
            </a:r>
            <a:r>
              <a:rPr lang="en-US" sz="900">
                <a:latin typeface="Calibri" panose="020F0502020204030204" pitchFamily="34" charset="0"/>
                <a:cs typeface="Calibri" panose="020F0502020204030204" pitchFamily="34" charset="0"/>
              </a:rPr>
              <a:t> et al. (2010)</a:t>
            </a:r>
          </a:p>
          <a:p>
            <a:r>
              <a:rPr lang="en-US" sz="900" err="1">
                <a:latin typeface="Calibri" panose="020F0502020204030204" pitchFamily="34" charset="0"/>
                <a:cs typeface="Calibri" panose="020F0502020204030204" pitchFamily="34" charset="0"/>
              </a:rPr>
              <a:t>Rukhlenko</a:t>
            </a:r>
            <a:r>
              <a:rPr lang="en-US" sz="900">
                <a:latin typeface="Calibri" panose="020F0502020204030204" pitchFamily="34" charset="0"/>
                <a:cs typeface="Calibri" panose="020F0502020204030204" pitchFamily="34" charset="0"/>
              </a:rPr>
              <a:t> et al. (2018)</a:t>
            </a:r>
          </a:p>
        </p:txBody>
      </p:sp>
    </p:spTree>
    <p:extLst>
      <p:ext uri="{BB962C8B-B14F-4D97-AF65-F5344CB8AC3E}">
        <p14:creationId xmlns:p14="http://schemas.microsoft.com/office/powerpoint/2010/main" val="1495181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8F9F1F-8DC2-CBA9-CB76-8188042701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8E85008-CC4D-8393-8127-87AF99950B2D}"/>
              </a:ext>
            </a:extLst>
          </p:cNvPr>
          <p:cNvSpPr txBox="1"/>
          <p:nvPr/>
        </p:nvSpPr>
        <p:spPr>
          <a:xfrm>
            <a:off x="365760" y="256032"/>
            <a:ext cx="11430000" cy="830997"/>
          </a:xfrm>
          <a:prstGeom prst="rect">
            <a:avLst/>
          </a:prstGeom>
          <a:noFill/>
        </p:spPr>
        <p:txBody>
          <a:bodyPr wrap="square" lIns="0" tIns="0" rIns="0" bIns="0" anchor="t">
            <a:spAutoFit/>
          </a:bodyPr>
          <a:lstStyle/>
          <a:p>
            <a:r>
              <a:rPr lang="en-IE" sz="2700" b="1" i="0" noProof="0">
                <a:solidFill>
                  <a:srgbClr val="1B2A4A"/>
                </a:solidFill>
                <a:latin typeface="Calibri"/>
              </a:rPr>
              <a:t>The </a:t>
            </a:r>
            <a:r>
              <a:rPr lang="en-IE" sz="2700" b="1">
                <a:solidFill>
                  <a:srgbClr val="1B2A4A"/>
                </a:solidFill>
                <a:latin typeface="Calibri"/>
              </a:rPr>
              <a:t>Signalling – Part 2: Module B </a:t>
            </a:r>
          </a:p>
          <a:p>
            <a:pPr algn="l"/>
            <a:endParaRPr lang="en-IE" sz="2700" b="1" i="0" noProof="0">
              <a:solidFill>
                <a:srgbClr val="1B2A4A"/>
              </a:solidFill>
              <a:latin typeface="Calibri"/>
            </a:endParaRPr>
          </a:p>
        </p:txBody>
      </p:sp>
      <p:sp>
        <p:nvSpPr>
          <p:cNvPr id="3" name="Rectangle 2">
            <a:extLst>
              <a:ext uri="{FF2B5EF4-FFF2-40B4-BE49-F238E27FC236}">
                <a16:creationId xmlns:a16="http://schemas.microsoft.com/office/drawing/2014/main" id="{31FA35B7-075C-F535-8E11-61805098A625}"/>
              </a:ext>
            </a:extLst>
          </p:cNvPr>
          <p:cNvSpPr/>
          <p:nvPr/>
        </p:nvSpPr>
        <p:spPr>
          <a:xfrm>
            <a:off x="365760" y="914400"/>
            <a:ext cx="1280160" cy="45720"/>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6872A4D5-EADD-5A58-48F4-B02591243746}"/>
              </a:ext>
            </a:extLst>
          </p:cNvPr>
          <p:cNvSpPr txBox="1"/>
          <p:nvPr/>
        </p:nvSpPr>
        <p:spPr>
          <a:xfrm>
            <a:off x="365760" y="1005840"/>
            <a:ext cx="11430000" cy="200055"/>
          </a:xfrm>
          <a:prstGeom prst="rect">
            <a:avLst/>
          </a:prstGeom>
          <a:noFill/>
        </p:spPr>
        <p:txBody>
          <a:bodyPr wrap="square" lIns="0" tIns="0" rIns="0" bIns="0" anchor="t">
            <a:spAutoFit/>
          </a:bodyPr>
          <a:lstStyle/>
          <a:p>
            <a:pPr algn="l"/>
            <a:r>
              <a:rPr lang="en-IE" sz="1300" b="0" i="1" noProof="0">
                <a:solidFill>
                  <a:srgbClr val="6B6B6B"/>
                </a:solidFill>
                <a:latin typeface="Calibri"/>
              </a:rPr>
              <a:t>Propagation of RAF-inhibitor paradox through the MAPK Cascade in Module B</a:t>
            </a:r>
            <a:r>
              <a:rPr lang="en-IE" sz="1300" i="1" noProof="0">
                <a:solidFill>
                  <a:srgbClr val="6B6B6B"/>
                </a:solidFill>
                <a:latin typeface="Calibri"/>
              </a:rPr>
              <a:t>.</a:t>
            </a:r>
            <a:endParaRPr lang="en-IE" sz="1300" b="0" i="1" noProof="0">
              <a:solidFill>
                <a:srgbClr val="6B6B6B"/>
              </a:solidFill>
              <a:latin typeface="Calibri"/>
            </a:endParaRPr>
          </a:p>
        </p:txBody>
      </p:sp>
      <p:sp>
        <p:nvSpPr>
          <p:cNvPr id="5" name="Rectangle 4">
            <a:extLst>
              <a:ext uri="{FF2B5EF4-FFF2-40B4-BE49-F238E27FC236}">
                <a16:creationId xmlns:a16="http://schemas.microsoft.com/office/drawing/2014/main" id="{6E913408-FB25-3D37-D39D-224192CF2ABC}"/>
              </a:ext>
            </a:extLst>
          </p:cNvPr>
          <p:cNvSpPr/>
          <p:nvPr/>
        </p:nvSpPr>
        <p:spPr>
          <a:xfrm>
            <a:off x="365760" y="1417320"/>
            <a:ext cx="11457432" cy="16459"/>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a:extLst>
              <a:ext uri="{FF2B5EF4-FFF2-40B4-BE49-F238E27FC236}">
                <a16:creationId xmlns:a16="http://schemas.microsoft.com/office/drawing/2014/main" id="{F0C085A1-1340-2B13-5C3B-9FC41F2ADA13}"/>
              </a:ext>
            </a:extLst>
          </p:cNvPr>
          <p:cNvSpPr/>
          <p:nvPr/>
        </p:nvSpPr>
        <p:spPr>
          <a:xfrm>
            <a:off x="0" y="6339840"/>
            <a:ext cx="12219432" cy="51511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a:extLst>
              <a:ext uri="{FF2B5EF4-FFF2-40B4-BE49-F238E27FC236}">
                <a16:creationId xmlns:a16="http://schemas.microsoft.com/office/drawing/2014/main" id="{B5BEFC97-1C43-1D01-B9A8-6A3940678806}"/>
              </a:ext>
            </a:extLst>
          </p:cNvPr>
          <p:cNvSpPr/>
          <p:nvPr/>
        </p:nvSpPr>
        <p:spPr>
          <a:xfrm>
            <a:off x="91440" y="6460236"/>
            <a:ext cx="274320" cy="274320"/>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117A0416-5F31-4307-E5F2-74D204C8EAD4}"/>
              </a:ext>
            </a:extLst>
          </p:cNvPr>
          <p:cNvSpPr txBox="1"/>
          <p:nvPr/>
        </p:nvSpPr>
        <p:spPr>
          <a:xfrm>
            <a:off x="466344" y="6479433"/>
            <a:ext cx="11606784" cy="284693"/>
          </a:xfrm>
          <a:prstGeom prst="rect">
            <a:avLst/>
          </a:prstGeom>
          <a:noFill/>
        </p:spPr>
        <p:txBody>
          <a:bodyPr wrap="square" lIns="0" anchor="ctr">
            <a:spAutoFit/>
          </a:bodyPr>
          <a:lstStyle/>
          <a:p>
            <a:r>
              <a:rPr lang="en-IE" sz="1250" b="1" noProof="0">
                <a:solidFill>
                  <a:srgbClr val="FFFFFF"/>
                </a:solidFill>
              </a:rPr>
              <a:t>Takeaway:  </a:t>
            </a:r>
            <a:r>
              <a:rPr lang="en-IE" sz="1250" noProof="0">
                <a:solidFill>
                  <a:srgbClr val="FFFFFF"/>
                </a:solidFill>
              </a:rPr>
              <a:t>The RAF paradox emerges from Module A’s binding equilibrium, then propagates through Module B’s Cascade through the V1_eff term.</a:t>
            </a:r>
          </a:p>
        </p:txBody>
      </p:sp>
      <p:sp>
        <p:nvSpPr>
          <p:cNvPr id="41" name="Rounded Rectangle 33">
            <a:extLst>
              <a:ext uri="{FF2B5EF4-FFF2-40B4-BE49-F238E27FC236}">
                <a16:creationId xmlns:a16="http://schemas.microsoft.com/office/drawing/2014/main" id="{37A5D34D-08FD-FDE8-587B-E2A0FFB9D30F}"/>
              </a:ext>
            </a:extLst>
          </p:cNvPr>
          <p:cNvSpPr/>
          <p:nvPr/>
        </p:nvSpPr>
        <p:spPr>
          <a:xfrm>
            <a:off x="222284" y="1629163"/>
            <a:ext cx="5215130" cy="45327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ECA7D66E-6BC9-45D8-2EC7-795B302805BE}"/>
              </a:ext>
            </a:extLst>
          </p:cNvPr>
          <p:cNvSpPr txBox="1"/>
          <p:nvPr/>
        </p:nvSpPr>
        <p:spPr>
          <a:xfrm>
            <a:off x="405164" y="1721159"/>
            <a:ext cx="4812416" cy="200055"/>
          </a:xfrm>
          <a:prstGeom prst="rect">
            <a:avLst/>
          </a:prstGeom>
          <a:noFill/>
        </p:spPr>
        <p:txBody>
          <a:bodyPr wrap="square" lIns="0" tIns="0" rIns="0" bIns="0" anchor="ctr">
            <a:spAutoFit/>
          </a:bodyPr>
          <a:lstStyle/>
          <a:p>
            <a:pPr algn="l"/>
            <a:r>
              <a:rPr lang="pt-BR" sz="1300" b="1" i="0">
                <a:solidFill>
                  <a:srgbClr val="FFFFFF"/>
                </a:solidFill>
                <a:latin typeface="Calibri"/>
              </a:rPr>
              <a:t>Module </a:t>
            </a:r>
            <a:r>
              <a:rPr lang="pt-BR" sz="1300" b="1" i="0" err="1">
                <a:solidFill>
                  <a:srgbClr val="FFFFFF"/>
                </a:solidFill>
                <a:latin typeface="Calibri"/>
              </a:rPr>
              <a:t>B</a:t>
            </a:r>
            <a:r>
              <a:rPr lang="pt-BR" sz="1300" b="1" i="0">
                <a:solidFill>
                  <a:srgbClr val="FFFFFF"/>
                </a:solidFill>
                <a:latin typeface="Calibri"/>
              </a:rPr>
              <a:t>: MAPK Cascade</a:t>
            </a:r>
            <a:endParaRPr sz="1300" b="1" i="0">
              <a:solidFill>
                <a:srgbClr val="FFFFFF"/>
              </a:solidFill>
              <a:latin typeface="Calibri"/>
            </a:endParaRPr>
          </a:p>
        </p:txBody>
      </p:sp>
      <p:sp>
        <p:nvSpPr>
          <p:cNvPr id="43" name="Rectangle 42">
            <a:extLst>
              <a:ext uri="{FF2B5EF4-FFF2-40B4-BE49-F238E27FC236}">
                <a16:creationId xmlns:a16="http://schemas.microsoft.com/office/drawing/2014/main" id="{20CF106E-AF49-2862-4E30-4960361D0157}"/>
              </a:ext>
            </a:extLst>
          </p:cNvPr>
          <p:cNvSpPr/>
          <p:nvPr/>
        </p:nvSpPr>
        <p:spPr>
          <a:xfrm>
            <a:off x="222284" y="2018585"/>
            <a:ext cx="5215130" cy="4287789"/>
          </a:xfrm>
          <a:prstGeom prst="rect">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1D88CC3A-A497-1DC7-BFB0-1D1BC55B19D8}"/>
              </a:ext>
            </a:extLst>
          </p:cNvPr>
          <p:cNvSpPr txBox="1"/>
          <p:nvPr/>
        </p:nvSpPr>
        <p:spPr>
          <a:xfrm>
            <a:off x="356286" y="2041610"/>
            <a:ext cx="4861294" cy="4021614"/>
          </a:xfrm>
          <a:prstGeom prst="rect">
            <a:avLst/>
          </a:prstGeom>
          <a:noFill/>
        </p:spPr>
        <p:txBody>
          <a:bodyPr wrap="square" lIns="0" rIns="0">
            <a:spAutoFit/>
          </a:bodyPr>
          <a:lstStyle/>
          <a:p>
            <a:pPr>
              <a:spcAft>
                <a:spcPts val="1000"/>
              </a:spcAft>
            </a:pPr>
            <a:r>
              <a:rPr lang="en-IE" sz="1050" b="1">
                <a:solidFill>
                  <a:srgbClr val="2A2A2A"/>
                </a:solidFill>
                <a:latin typeface="Calibri"/>
              </a:rPr>
              <a:t>v1 = V1_eff·Raf / [(1+(</a:t>
            </a:r>
            <a:r>
              <a:rPr lang="en-IE" sz="1050" b="1" err="1">
                <a:solidFill>
                  <a:srgbClr val="2A2A2A"/>
                </a:solidFill>
                <a:latin typeface="Calibri"/>
              </a:rPr>
              <a:t>ERKpp</a:t>
            </a:r>
            <a:r>
              <a:rPr lang="en-IE" sz="1050" b="1">
                <a:solidFill>
                  <a:srgbClr val="2A2A2A"/>
                </a:solidFill>
                <a:latin typeface="Calibri"/>
              </a:rPr>
              <a:t>/Ki)^n1)·(K1+Raf)]</a:t>
            </a:r>
          </a:p>
          <a:p>
            <a:pPr>
              <a:spcAft>
                <a:spcPts val="1000"/>
              </a:spcAft>
            </a:pPr>
            <a:r>
              <a:rPr lang="en-IE" sz="1050" b="1">
                <a:solidFill>
                  <a:srgbClr val="2A2A2A"/>
                </a:solidFill>
                <a:latin typeface="Calibri"/>
              </a:rPr>
              <a:t>v2 = V2·RafP / (K2+RafP)</a:t>
            </a:r>
          </a:p>
          <a:p>
            <a:pPr>
              <a:spcAft>
                <a:spcPts val="1000"/>
              </a:spcAft>
            </a:pPr>
            <a:r>
              <a:rPr lang="en-IE" sz="1050" b="1">
                <a:solidFill>
                  <a:srgbClr val="2A2A2A"/>
                </a:solidFill>
                <a:latin typeface="Calibri"/>
              </a:rPr>
              <a:t>v3 = k3·RafP·MEK / (K3+MEK)</a:t>
            </a:r>
          </a:p>
          <a:p>
            <a:pPr>
              <a:spcAft>
                <a:spcPts val="1000"/>
              </a:spcAft>
            </a:pPr>
            <a:r>
              <a:rPr lang="en-IE" sz="1050" b="1">
                <a:solidFill>
                  <a:srgbClr val="2A2A2A"/>
                </a:solidFill>
                <a:latin typeface="Calibri"/>
              </a:rPr>
              <a:t>v4 = k4·RafP·MEKp / (K4+MEKp)</a:t>
            </a:r>
          </a:p>
          <a:p>
            <a:pPr>
              <a:spcAft>
                <a:spcPts val="1000"/>
              </a:spcAft>
            </a:pPr>
            <a:r>
              <a:rPr lang="en-IE" sz="1050" b="1">
                <a:solidFill>
                  <a:srgbClr val="2A2A2A"/>
                </a:solidFill>
                <a:latin typeface="Calibri"/>
              </a:rPr>
              <a:t>v5 = V5·MEKpp / (K5+MEKpp)</a:t>
            </a:r>
          </a:p>
          <a:p>
            <a:pPr>
              <a:spcAft>
                <a:spcPts val="1000"/>
              </a:spcAft>
            </a:pPr>
            <a:r>
              <a:rPr lang="en-IE" sz="1050" b="1">
                <a:solidFill>
                  <a:srgbClr val="2A2A2A"/>
                </a:solidFill>
                <a:latin typeface="Calibri"/>
              </a:rPr>
              <a:t>v6 = V6·MEKp / (K6+MEKp)</a:t>
            </a:r>
          </a:p>
          <a:p>
            <a:pPr>
              <a:spcAft>
                <a:spcPts val="1000"/>
              </a:spcAft>
            </a:pPr>
            <a:r>
              <a:rPr lang="en-IE" sz="1050" b="1">
                <a:solidFill>
                  <a:srgbClr val="2A2A2A"/>
                </a:solidFill>
                <a:latin typeface="Calibri"/>
              </a:rPr>
              <a:t>v7 = k7·MEKpp·ERK / (K7+ERK)</a:t>
            </a:r>
          </a:p>
          <a:p>
            <a:pPr>
              <a:spcAft>
                <a:spcPts val="1000"/>
              </a:spcAft>
            </a:pPr>
            <a:r>
              <a:rPr lang="en-IE" sz="1050" b="1">
                <a:solidFill>
                  <a:srgbClr val="2A2A2A"/>
                </a:solidFill>
                <a:latin typeface="Calibri"/>
              </a:rPr>
              <a:t>v8 = k8·MEKpp·ERKp / (K8+ERKp)</a:t>
            </a:r>
          </a:p>
          <a:p>
            <a:pPr>
              <a:spcAft>
                <a:spcPts val="1000"/>
              </a:spcAft>
            </a:pPr>
            <a:r>
              <a:rPr lang="en-IE" sz="1050" b="1">
                <a:solidFill>
                  <a:srgbClr val="2A2A2A"/>
                </a:solidFill>
                <a:latin typeface="Calibri"/>
              </a:rPr>
              <a:t>v9 = V9·ERKpp / (K9+ERKpp)</a:t>
            </a:r>
          </a:p>
          <a:p>
            <a:pPr>
              <a:spcAft>
                <a:spcPts val="1000"/>
              </a:spcAft>
            </a:pPr>
            <a:r>
              <a:rPr lang="en-IE" sz="1050" b="1">
                <a:solidFill>
                  <a:srgbClr val="2A2A2A"/>
                </a:solidFill>
                <a:latin typeface="Calibri"/>
              </a:rPr>
              <a:t>v10 = V10·ERKp / (K10+ERKp)</a:t>
            </a:r>
          </a:p>
          <a:p>
            <a:pPr>
              <a:spcAft>
                <a:spcPts val="1000"/>
              </a:spcAft>
            </a:pPr>
            <a:r>
              <a:rPr lang="en-IE" sz="1050" b="1" err="1">
                <a:solidFill>
                  <a:srgbClr val="2A2A2A"/>
                </a:solidFill>
                <a:latin typeface="Calibri"/>
              </a:rPr>
              <a:t>dRaf</a:t>
            </a:r>
            <a:r>
              <a:rPr lang="en-IE" sz="1050" b="1">
                <a:solidFill>
                  <a:srgbClr val="2A2A2A"/>
                </a:solidFill>
                <a:latin typeface="Calibri"/>
              </a:rPr>
              <a:t>/dt   = v2-v1        </a:t>
            </a:r>
            <a:r>
              <a:rPr lang="en-IE" sz="1050" b="1" err="1">
                <a:solidFill>
                  <a:srgbClr val="2A2A2A"/>
                </a:solidFill>
                <a:latin typeface="Calibri"/>
              </a:rPr>
              <a:t>dRafP</a:t>
            </a:r>
            <a:r>
              <a:rPr lang="en-IE" sz="1050" b="1">
                <a:solidFill>
                  <a:srgbClr val="2A2A2A"/>
                </a:solidFill>
                <a:latin typeface="Calibri"/>
              </a:rPr>
              <a:t>/dt  = v1-v2</a:t>
            </a:r>
          </a:p>
          <a:p>
            <a:pPr>
              <a:spcAft>
                <a:spcPts val="1000"/>
              </a:spcAft>
            </a:pPr>
            <a:r>
              <a:rPr lang="en-IE" sz="1050" b="1" err="1">
                <a:solidFill>
                  <a:srgbClr val="2A2A2A"/>
                </a:solidFill>
                <a:latin typeface="Calibri"/>
              </a:rPr>
              <a:t>dMEK</a:t>
            </a:r>
            <a:r>
              <a:rPr lang="en-IE" sz="1050" b="1">
                <a:solidFill>
                  <a:srgbClr val="2A2A2A"/>
                </a:solidFill>
                <a:latin typeface="Calibri"/>
              </a:rPr>
              <a:t>/dt   = v6-v3        </a:t>
            </a:r>
            <a:r>
              <a:rPr lang="en-IE" sz="1050" b="1" err="1">
                <a:solidFill>
                  <a:srgbClr val="2A2A2A"/>
                </a:solidFill>
                <a:latin typeface="Calibri"/>
              </a:rPr>
              <a:t>dMEKp</a:t>
            </a:r>
            <a:r>
              <a:rPr lang="en-IE" sz="1050" b="1">
                <a:solidFill>
                  <a:srgbClr val="2A2A2A"/>
                </a:solidFill>
                <a:latin typeface="Calibri"/>
              </a:rPr>
              <a:t>/dt  = v3+v5-v4-v6</a:t>
            </a:r>
          </a:p>
          <a:p>
            <a:pPr>
              <a:spcAft>
                <a:spcPts val="1000"/>
              </a:spcAft>
            </a:pPr>
            <a:r>
              <a:rPr lang="en-IE" sz="1050" b="1" err="1">
                <a:solidFill>
                  <a:srgbClr val="2A2A2A"/>
                </a:solidFill>
                <a:latin typeface="Calibri"/>
              </a:rPr>
              <a:t>dMEKpp</a:t>
            </a:r>
            <a:r>
              <a:rPr lang="en-IE" sz="1050" b="1">
                <a:solidFill>
                  <a:srgbClr val="2A2A2A"/>
                </a:solidFill>
                <a:latin typeface="Calibri"/>
              </a:rPr>
              <a:t>/dt = v4-v5        </a:t>
            </a:r>
            <a:r>
              <a:rPr lang="en-IE" sz="1050" b="1" err="1">
                <a:solidFill>
                  <a:srgbClr val="2A2A2A"/>
                </a:solidFill>
                <a:latin typeface="Calibri"/>
              </a:rPr>
              <a:t>dERK</a:t>
            </a:r>
            <a:r>
              <a:rPr lang="en-IE" sz="1050" b="1">
                <a:solidFill>
                  <a:srgbClr val="2A2A2A"/>
                </a:solidFill>
                <a:latin typeface="Calibri"/>
              </a:rPr>
              <a:t>/dt   = v10-v7</a:t>
            </a:r>
          </a:p>
          <a:p>
            <a:pPr>
              <a:spcAft>
                <a:spcPts val="1000"/>
              </a:spcAft>
            </a:pPr>
            <a:r>
              <a:rPr lang="en-IE" sz="1050" b="1" err="1">
                <a:solidFill>
                  <a:srgbClr val="2A2A2A"/>
                </a:solidFill>
                <a:latin typeface="Calibri"/>
              </a:rPr>
              <a:t>dERKp</a:t>
            </a:r>
            <a:r>
              <a:rPr lang="en-IE" sz="1050" b="1">
                <a:solidFill>
                  <a:srgbClr val="2A2A2A"/>
                </a:solidFill>
                <a:latin typeface="Calibri"/>
              </a:rPr>
              <a:t>/dt  = v7+v9-v8-v10 </a:t>
            </a:r>
            <a:r>
              <a:rPr lang="en-IE" sz="1050" b="1" err="1">
                <a:solidFill>
                  <a:srgbClr val="2A2A2A"/>
                </a:solidFill>
                <a:latin typeface="Calibri"/>
              </a:rPr>
              <a:t>dERKpp</a:t>
            </a:r>
            <a:r>
              <a:rPr lang="en-IE" sz="1050" b="1">
                <a:solidFill>
                  <a:srgbClr val="2A2A2A"/>
                </a:solidFill>
                <a:latin typeface="Calibri"/>
              </a:rPr>
              <a:t>/dt = v8-v9   (</a:t>
            </a:r>
            <a:r>
              <a:rPr lang="en-IE" sz="1050" b="1" err="1">
                <a:solidFill>
                  <a:srgbClr val="2A2A2A"/>
                </a:solidFill>
                <a:latin typeface="Calibri"/>
              </a:rPr>
              <a:t>pERK</a:t>
            </a:r>
            <a:r>
              <a:rPr lang="en-IE" sz="1050" b="1">
                <a:solidFill>
                  <a:srgbClr val="2A2A2A"/>
                </a:solidFill>
                <a:latin typeface="Calibri"/>
              </a:rPr>
              <a:t>)</a:t>
            </a:r>
            <a:endParaRPr lang="en-IE" sz="1050" b="1" noProof="0">
              <a:solidFill>
                <a:srgbClr val="2A2A2A"/>
              </a:solidFill>
              <a:latin typeface="Calibri"/>
            </a:endParaRPr>
          </a:p>
        </p:txBody>
      </p:sp>
      <p:graphicFrame>
        <p:nvGraphicFramePr>
          <p:cNvPr id="48" name="Table 47">
            <a:extLst>
              <a:ext uri="{FF2B5EF4-FFF2-40B4-BE49-F238E27FC236}">
                <a16:creationId xmlns:a16="http://schemas.microsoft.com/office/drawing/2014/main" id="{D264B630-4B0E-299A-2D1C-7D79C47EF36A}"/>
              </a:ext>
            </a:extLst>
          </p:cNvPr>
          <p:cNvGraphicFramePr>
            <a:graphicFrameLocks noGrp="1"/>
          </p:cNvGraphicFramePr>
          <p:nvPr>
            <p:extLst>
              <p:ext uri="{D42A27DB-BD31-4B8C-83A1-F6EECF244321}">
                <p14:modId xmlns:p14="http://schemas.microsoft.com/office/powerpoint/2010/main" val="2492714155"/>
              </p:ext>
            </p:extLst>
          </p:nvPr>
        </p:nvGraphicFramePr>
        <p:xfrm>
          <a:off x="5571416" y="1629163"/>
          <a:ext cx="6398300" cy="4694214"/>
        </p:xfrm>
        <a:graphic>
          <a:graphicData uri="http://schemas.openxmlformats.org/drawingml/2006/table">
            <a:tbl>
              <a:tblPr firstRow="1" bandRow="1">
                <a:tableStyleId>{93296810-A885-4BE3-A3E7-6D5BEEA58F35}</a:tableStyleId>
              </a:tblPr>
              <a:tblGrid>
                <a:gridCol w="3199150">
                  <a:extLst>
                    <a:ext uri="{9D8B030D-6E8A-4147-A177-3AD203B41FA5}">
                      <a16:colId xmlns:a16="http://schemas.microsoft.com/office/drawing/2014/main" val="365623342"/>
                    </a:ext>
                  </a:extLst>
                </a:gridCol>
                <a:gridCol w="3199150">
                  <a:extLst>
                    <a:ext uri="{9D8B030D-6E8A-4147-A177-3AD203B41FA5}">
                      <a16:colId xmlns:a16="http://schemas.microsoft.com/office/drawing/2014/main" val="1786872221"/>
                    </a:ext>
                  </a:extLst>
                </a:gridCol>
              </a:tblGrid>
              <a:tr h="484044">
                <a:tc>
                  <a:txBody>
                    <a:bodyPr/>
                    <a:lstStyle/>
                    <a:p>
                      <a:r>
                        <a:rPr lang="en-US" b="0" i="0">
                          <a:latin typeface="Calibri" panose="020F0502020204030204" pitchFamily="34" charset="0"/>
                          <a:cs typeface="Calibri" panose="020F0502020204030204" pitchFamily="34" charset="0"/>
                        </a:rPr>
                        <a:t>Symbol</a:t>
                      </a:r>
                    </a:p>
                  </a:txBody>
                  <a:tcPr/>
                </a:tc>
                <a:tc>
                  <a:txBody>
                    <a:bodyPr/>
                    <a:lstStyle/>
                    <a:p>
                      <a:r>
                        <a:rPr lang="en-US" b="0" i="0">
                          <a:latin typeface="Calibri" panose="020F0502020204030204" pitchFamily="34" charset="0"/>
                          <a:cs typeface="Calibri" panose="020F0502020204030204" pitchFamily="34" charset="0"/>
                        </a:rPr>
                        <a:t>Meaning</a:t>
                      </a:r>
                    </a:p>
                  </a:txBody>
                  <a:tcPr/>
                </a:tc>
                <a:extLst>
                  <a:ext uri="{0D108BD9-81ED-4DB2-BD59-A6C34878D82A}">
                    <a16:rowId xmlns:a16="http://schemas.microsoft.com/office/drawing/2014/main" val="1007362646"/>
                  </a:ext>
                </a:extLst>
              </a:tr>
              <a:tr h="322695">
                <a:tc>
                  <a:txBody>
                    <a:bodyPr/>
                    <a:lstStyle/>
                    <a:p>
                      <a:pPr algn="l" fontAlgn="t" latinLnBrk="0">
                        <a:buNone/>
                      </a:pPr>
                      <a:r>
                        <a:rPr lang="en-US" sz="975" b="0" i="0">
                          <a:solidFill>
                            <a:schemeClr val="tx1"/>
                          </a:solidFill>
                          <a:effectLst/>
                          <a:latin typeface="Menlo" panose="020B0609030804020204" pitchFamily="49" charset="0"/>
                        </a:rPr>
                        <a:t>Raf, </a:t>
                      </a:r>
                      <a:r>
                        <a:rPr lang="en-US" sz="975" b="0" i="0" err="1">
                          <a:solidFill>
                            <a:schemeClr val="tx1"/>
                          </a:solidFill>
                          <a:effectLst/>
                          <a:latin typeface="Menlo" panose="020B0609030804020204" pitchFamily="49" charset="0"/>
                        </a:rPr>
                        <a:t>RafP</a:t>
                      </a:r>
                      <a:endParaRPr lang="en-US" sz="975" b="0" i="0">
                        <a:solidFill>
                          <a:schemeClr val="tx1"/>
                        </a:solidFill>
                        <a:effectLst/>
                        <a:latin typeface="-apple-system"/>
                      </a:endParaRPr>
                    </a:p>
                  </a:txBody>
                  <a:tcPr marL="85725" marR="85725" marT="47625" marB="47625"/>
                </a:tc>
                <a:tc>
                  <a:txBody>
                    <a:bodyPr/>
                    <a:lstStyle/>
                    <a:p>
                      <a:pPr algn="l" fontAlgn="t" latinLnBrk="0">
                        <a:buNone/>
                      </a:pPr>
                      <a:r>
                        <a:rPr lang="en-US" sz="975" b="0" i="0">
                          <a:solidFill>
                            <a:schemeClr val="tx1"/>
                          </a:solidFill>
                          <a:effectLst/>
                          <a:latin typeface="-apple-system"/>
                        </a:rPr>
                        <a:t>Un-/phosphorylated Raf (states)</a:t>
                      </a:r>
                    </a:p>
                  </a:txBody>
                  <a:tcPr marL="85725" marR="85725" marT="47625" marB="47625"/>
                </a:tc>
                <a:extLst>
                  <a:ext uri="{0D108BD9-81ED-4DB2-BD59-A6C34878D82A}">
                    <a16:rowId xmlns:a16="http://schemas.microsoft.com/office/drawing/2014/main" val="3609495821"/>
                  </a:ext>
                </a:extLst>
              </a:tr>
              <a:tr h="519339">
                <a:tc>
                  <a:txBody>
                    <a:bodyPr/>
                    <a:lstStyle/>
                    <a:p>
                      <a:pPr algn="l" fontAlgn="t" latinLnBrk="0">
                        <a:buNone/>
                      </a:pPr>
                      <a:r>
                        <a:rPr lang="en-US" sz="975" b="0" i="0">
                          <a:solidFill>
                            <a:schemeClr val="tx1"/>
                          </a:solidFill>
                          <a:effectLst/>
                          <a:latin typeface="Menlo" panose="020B0609030804020204" pitchFamily="49" charset="0"/>
                        </a:rPr>
                        <a:t>MEK, </a:t>
                      </a:r>
                      <a:r>
                        <a:rPr lang="en-US" sz="975" b="0" i="0" err="1">
                          <a:solidFill>
                            <a:schemeClr val="tx1"/>
                          </a:solidFill>
                          <a:effectLst/>
                          <a:latin typeface="Menlo" panose="020B0609030804020204" pitchFamily="49" charset="0"/>
                        </a:rPr>
                        <a:t>MEKp</a:t>
                      </a:r>
                      <a:r>
                        <a:rPr lang="en-US" sz="975" b="0" i="0">
                          <a:solidFill>
                            <a:schemeClr val="tx1"/>
                          </a:solidFill>
                          <a:effectLst/>
                          <a:latin typeface="Menlo" panose="020B0609030804020204" pitchFamily="49" charset="0"/>
                        </a:rPr>
                        <a:t>, </a:t>
                      </a:r>
                      <a:r>
                        <a:rPr lang="en-US" sz="975" b="0" i="0" err="1">
                          <a:solidFill>
                            <a:schemeClr val="tx1"/>
                          </a:solidFill>
                          <a:effectLst/>
                          <a:latin typeface="Menlo" panose="020B0609030804020204" pitchFamily="49" charset="0"/>
                        </a:rPr>
                        <a:t>MEKpp</a:t>
                      </a:r>
                      <a:endParaRPr lang="en-US" sz="975" b="0" i="0">
                        <a:solidFill>
                          <a:schemeClr val="tx1"/>
                        </a:solidFill>
                        <a:effectLst/>
                        <a:latin typeface="-apple-system"/>
                      </a:endParaRPr>
                    </a:p>
                  </a:txBody>
                  <a:tcPr marL="85725" marR="85725" marT="47625" marB="47625"/>
                </a:tc>
                <a:tc>
                  <a:txBody>
                    <a:bodyPr/>
                    <a:lstStyle/>
                    <a:p>
                      <a:pPr algn="l" fontAlgn="t" latinLnBrk="0">
                        <a:buNone/>
                      </a:pPr>
                      <a:r>
                        <a:rPr lang="en-US" sz="975" b="0" i="0">
                          <a:solidFill>
                            <a:schemeClr val="tx1"/>
                          </a:solidFill>
                          <a:effectLst/>
                          <a:latin typeface="-apple-system"/>
                        </a:rPr>
                        <a:t>Un-/mono-/di-phosphorylated MEK (states)</a:t>
                      </a:r>
                    </a:p>
                  </a:txBody>
                  <a:tcPr marL="85725" marR="85725" marT="47625" marB="47625"/>
                </a:tc>
                <a:extLst>
                  <a:ext uri="{0D108BD9-81ED-4DB2-BD59-A6C34878D82A}">
                    <a16:rowId xmlns:a16="http://schemas.microsoft.com/office/drawing/2014/main" val="3988572919"/>
                  </a:ext>
                </a:extLst>
              </a:tr>
              <a:tr h="519339">
                <a:tc>
                  <a:txBody>
                    <a:bodyPr/>
                    <a:lstStyle/>
                    <a:p>
                      <a:pPr algn="l" fontAlgn="t" latinLnBrk="0">
                        <a:buNone/>
                      </a:pPr>
                      <a:r>
                        <a:rPr lang="en-US" sz="975" b="0" i="0">
                          <a:solidFill>
                            <a:schemeClr val="tx1"/>
                          </a:solidFill>
                          <a:effectLst/>
                          <a:latin typeface="Menlo" panose="020B0609030804020204" pitchFamily="49" charset="0"/>
                        </a:rPr>
                        <a:t>ERK, </a:t>
                      </a:r>
                      <a:r>
                        <a:rPr lang="en-US" sz="975" b="0" i="0" err="1">
                          <a:solidFill>
                            <a:schemeClr val="tx1"/>
                          </a:solidFill>
                          <a:effectLst/>
                          <a:latin typeface="Menlo" panose="020B0609030804020204" pitchFamily="49" charset="0"/>
                        </a:rPr>
                        <a:t>ERKp</a:t>
                      </a:r>
                      <a:r>
                        <a:rPr lang="en-US" sz="975" b="0" i="0">
                          <a:solidFill>
                            <a:schemeClr val="tx1"/>
                          </a:solidFill>
                          <a:effectLst/>
                          <a:latin typeface="Menlo" panose="020B0609030804020204" pitchFamily="49" charset="0"/>
                        </a:rPr>
                        <a:t>, </a:t>
                      </a:r>
                      <a:r>
                        <a:rPr lang="en-US" sz="975" b="0" i="0" err="1">
                          <a:solidFill>
                            <a:schemeClr val="tx1"/>
                          </a:solidFill>
                          <a:effectLst/>
                          <a:latin typeface="Menlo" panose="020B0609030804020204" pitchFamily="49" charset="0"/>
                        </a:rPr>
                        <a:t>ERKpp</a:t>
                      </a:r>
                      <a:endParaRPr lang="en-US" sz="975" b="0" i="0">
                        <a:solidFill>
                          <a:schemeClr val="tx1"/>
                        </a:solidFill>
                        <a:effectLst/>
                        <a:latin typeface="-apple-system"/>
                      </a:endParaRPr>
                    </a:p>
                  </a:txBody>
                  <a:tcPr marL="85725" marR="85725" marT="47625" marB="47625"/>
                </a:tc>
                <a:tc>
                  <a:txBody>
                    <a:bodyPr/>
                    <a:lstStyle/>
                    <a:p>
                      <a:pPr algn="l" fontAlgn="t" latinLnBrk="0">
                        <a:buNone/>
                      </a:pPr>
                      <a:r>
                        <a:rPr lang="en-US" sz="975" b="0" i="0">
                          <a:solidFill>
                            <a:schemeClr val="tx1"/>
                          </a:solidFill>
                          <a:effectLst/>
                          <a:latin typeface="-apple-system"/>
                        </a:rPr>
                        <a:t>Un-/mono-/di-phosphorylated ERK (states; </a:t>
                      </a:r>
                      <a:r>
                        <a:rPr lang="en-US" sz="975" b="0" i="0" err="1">
                          <a:solidFill>
                            <a:schemeClr val="tx1"/>
                          </a:solidFill>
                          <a:effectLst/>
                          <a:latin typeface="Menlo" panose="020B0609030804020204" pitchFamily="49" charset="0"/>
                        </a:rPr>
                        <a:t>ERKpp</a:t>
                      </a:r>
                      <a:r>
                        <a:rPr lang="en-US" sz="975" b="0" i="0">
                          <a:solidFill>
                            <a:schemeClr val="tx1"/>
                          </a:solidFill>
                          <a:effectLst/>
                          <a:latin typeface="-apple-system"/>
                        </a:rPr>
                        <a:t> = </a:t>
                      </a:r>
                      <a:r>
                        <a:rPr lang="en-US" sz="975" b="0" i="0" err="1">
                          <a:solidFill>
                            <a:schemeClr val="tx1"/>
                          </a:solidFill>
                          <a:effectLst/>
                          <a:latin typeface="-apple-system"/>
                        </a:rPr>
                        <a:t>pERK</a:t>
                      </a:r>
                      <a:r>
                        <a:rPr lang="en-US" sz="975" b="0" i="0">
                          <a:solidFill>
                            <a:schemeClr val="tx1"/>
                          </a:solidFill>
                          <a:effectLst/>
                          <a:latin typeface="-apple-system"/>
                        </a:rPr>
                        <a:t> readout)</a:t>
                      </a:r>
                    </a:p>
                  </a:txBody>
                  <a:tcPr marL="85725" marR="85725" marT="47625" marB="47625"/>
                </a:tc>
                <a:extLst>
                  <a:ext uri="{0D108BD9-81ED-4DB2-BD59-A6C34878D82A}">
                    <a16:rowId xmlns:a16="http://schemas.microsoft.com/office/drawing/2014/main" val="4115612262"/>
                  </a:ext>
                </a:extLst>
              </a:tr>
              <a:tr h="322695">
                <a:tc>
                  <a:txBody>
                    <a:bodyPr/>
                    <a:lstStyle/>
                    <a:p>
                      <a:pPr algn="l" fontAlgn="t" latinLnBrk="0">
                        <a:buNone/>
                      </a:pPr>
                      <a:r>
                        <a:rPr lang="en-US" sz="975" b="0" i="0">
                          <a:solidFill>
                            <a:schemeClr val="tx1"/>
                          </a:solidFill>
                          <a:effectLst/>
                          <a:latin typeface="Menlo" panose="020B0609030804020204" pitchFamily="49" charset="0"/>
                        </a:rPr>
                        <a:t>Ki, n1</a:t>
                      </a:r>
                      <a:endParaRPr lang="en-US" sz="975" b="0" i="0">
                        <a:solidFill>
                          <a:schemeClr val="tx1"/>
                        </a:solidFill>
                        <a:effectLst/>
                        <a:latin typeface="-apple-system"/>
                      </a:endParaRPr>
                    </a:p>
                  </a:txBody>
                  <a:tcPr marL="85725" marR="85725" marT="47625" marB="47625"/>
                </a:tc>
                <a:tc>
                  <a:txBody>
                    <a:bodyPr/>
                    <a:lstStyle/>
                    <a:p>
                      <a:pPr algn="l" fontAlgn="t" latinLnBrk="0">
                        <a:buNone/>
                      </a:pPr>
                      <a:r>
                        <a:rPr lang="en-US" sz="975" b="0" i="0">
                          <a:solidFill>
                            <a:schemeClr val="tx1"/>
                          </a:solidFill>
                          <a:effectLst/>
                          <a:latin typeface="-apple-system"/>
                        </a:rPr>
                        <a:t>Feedback-inhibition constant &amp; Hill coefficient (universal)</a:t>
                      </a:r>
                    </a:p>
                  </a:txBody>
                  <a:tcPr marL="85725" marR="85725" marT="47625" marB="47625"/>
                </a:tc>
                <a:extLst>
                  <a:ext uri="{0D108BD9-81ED-4DB2-BD59-A6C34878D82A}">
                    <a16:rowId xmlns:a16="http://schemas.microsoft.com/office/drawing/2014/main" val="169664877"/>
                  </a:ext>
                </a:extLst>
              </a:tr>
              <a:tr h="322695">
                <a:tc>
                  <a:txBody>
                    <a:bodyPr/>
                    <a:lstStyle/>
                    <a:p>
                      <a:pPr algn="l" fontAlgn="t" latinLnBrk="0">
                        <a:buNone/>
                      </a:pPr>
                      <a:r>
                        <a:rPr lang="en-US" sz="975" b="0" i="0">
                          <a:solidFill>
                            <a:schemeClr val="tx1"/>
                          </a:solidFill>
                          <a:effectLst/>
                          <a:latin typeface="Menlo" panose="020B0609030804020204" pitchFamily="49" charset="0"/>
                        </a:rPr>
                        <a:t>K1–K10</a:t>
                      </a:r>
                      <a:endParaRPr lang="en-US" sz="975" b="0" i="0">
                        <a:solidFill>
                          <a:schemeClr val="tx1"/>
                        </a:solidFill>
                        <a:effectLst/>
                        <a:latin typeface="-apple-system"/>
                      </a:endParaRPr>
                    </a:p>
                  </a:txBody>
                  <a:tcPr marL="85725" marR="85725" marT="47625" marB="47625"/>
                </a:tc>
                <a:tc>
                  <a:txBody>
                    <a:bodyPr/>
                    <a:lstStyle/>
                    <a:p>
                      <a:pPr algn="l" fontAlgn="t" latinLnBrk="0">
                        <a:buNone/>
                      </a:pPr>
                      <a:r>
                        <a:rPr lang="en-US" sz="975" b="0" i="0">
                          <a:solidFill>
                            <a:schemeClr val="tx1"/>
                          </a:solidFill>
                          <a:effectLst/>
                          <a:latin typeface="-apple-system"/>
                        </a:rPr>
                        <a:t>Michaelis constants (universal, Kholodenko Table 2)</a:t>
                      </a:r>
                    </a:p>
                  </a:txBody>
                  <a:tcPr marL="85725" marR="85725" marT="47625" marB="47625"/>
                </a:tc>
                <a:extLst>
                  <a:ext uri="{0D108BD9-81ED-4DB2-BD59-A6C34878D82A}">
                    <a16:rowId xmlns:a16="http://schemas.microsoft.com/office/drawing/2014/main" val="564215561"/>
                  </a:ext>
                </a:extLst>
              </a:tr>
              <a:tr h="519339">
                <a:tc>
                  <a:txBody>
                    <a:bodyPr/>
                    <a:lstStyle/>
                    <a:p>
                      <a:pPr algn="l" fontAlgn="t" latinLnBrk="0">
                        <a:buNone/>
                      </a:pPr>
                      <a:r>
                        <a:rPr lang="en-US" sz="975" b="0" i="0">
                          <a:solidFill>
                            <a:schemeClr val="tx1"/>
                          </a:solidFill>
                          <a:effectLst/>
                          <a:latin typeface="Menlo" panose="020B0609030804020204" pitchFamily="49" charset="0"/>
                        </a:rPr>
                        <a:t>V2, V5, V6, V9, V10</a:t>
                      </a:r>
                      <a:endParaRPr lang="en-US" sz="975" b="0" i="0">
                        <a:solidFill>
                          <a:schemeClr val="tx1"/>
                        </a:solidFill>
                        <a:effectLst/>
                        <a:latin typeface="-apple-system"/>
                      </a:endParaRPr>
                    </a:p>
                  </a:txBody>
                  <a:tcPr marL="85725" marR="85725" marT="47625" marB="47625"/>
                </a:tc>
                <a:tc>
                  <a:txBody>
                    <a:bodyPr/>
                    <a:lstStyle/>
                    <a:p>
                      <a:pPr algn="l" fontAlgn="t" latinLnBrk="0">
                        <a:buNone/>
                      </a:pPr>
                      <a:r>
                        <a:rPr lang="en-US" sz="975" b="0" i="0">
                          <a:solidFill>
                            <a:schemeClr val="tx1"/>
                          </a:solidFill>
                          <a:effectLst/>
                          <a:latin typeface="-apple-system"/>
                        </a:rPr>
                        <a:t>Dephosphorylation Vmax constants (universal)</a:t>
                      </a:r>
                    </a:p>
                  </a:txBody>
                  <a:tcPr marL="85725" marR="85725" marT="47625" marB="47625"/>
                </a:tc>
                <a:extLst>
                  <a:ext uri="{0D108BD9-81ED-4DB2-BD59-A6C34878D82A}">
                    <a16:rowId xmlns:a16="http://schemas.microsoft.com/office/drawing/2014/main" val="3122662970"/>
                  </a:ext>
                </a:extLst>
              </a:tr>
              <a:tr h="322695">
                <a:tc>
                  <a:txBody>
                    <a:bodyPr/>
                    <a:lstStyle/>
                    <a:p>
                      <a:pPr algn="l" fontAlgn="t" latinLnBrk="0">
                        <a:buNone/>
                      </a:pPr>
                      <a:r>
                        <a:rPr lang="en-US" sz="975" b="0" i="0">
                          <a:solidFill>
                            <a:schemeClr val="tx1"/>
                          </a:solidFill>
                          <a:effectLst/>
                          <a:latin typeface="Menlo" panose="020B0609030804020204" pitchFamily="49" charset="0"/>
                        </a:rPr>
                        <a:t>k3, k4, k7, k8</a:t>
                      </a:r>
                      <a:endParaRPr lang="en-US" sz="975" b="0" i="0">
                        <a:solidFill>
                          <a:schemeClr val="tx1"/>
                        </a:solidFill>
                        <a:effectLst/>
                        <a:latin typeface="-apple-system"/>
                      </a:endParaRPr>
                    </a:p>
                  </a:txBody>
                  <a:tcPr marL="85725" marR="85725" marT="47625" marB="47625"/>
                </a:tc>
                <a:tc>
                  <a:txBody>
                    <a:bodyPr/>
                    <a:lstStyle/>
                    <a:p>
                      <a:pPr algn="l" fontAlgn="t" latinLnBrk="0">
                        <a:buNone/>
                      </a:pPr>
                      <a:r>
                        <a:rPr lang="en-US" sz="975" b="0" i="0">
                          <a:solidFill>
                            <a:schemeClr val="tx1"/>
                          </a:solidFill>
                          <a:effectLst/>
                          <a:latin typeface="-apple-system"/>
                        </a:rPr>
                        <a:t>Phosphorylation rate constants (universal)</a:t>
                      </a:r>
                    </a:p>
                  </a:txBody>
                  <a:tcPr marL="85725" marR="85725" marT="47625" marB="47625"/>
                </a:tc>
                <a:extLst>
                  <a:ext uri="{0D108BD9-81ED-4DB2-BD59-A6C34878D82A}">
                    <a16:rowId xmlns:a16="http://schemas.microsoft.com/office/drawing/2014/main" val="1267317848"/>
                  </a:ext>
                </a:extLst>
              </a:tr>
              <a:tr h="322695">
                <a:tc>
                  <a:txBody>
                    <a:bodyPr/>
                    <a:lstStyle/>
                    <a:p>
                      <a:pPr algn="l" fontAlgn="t" latinLnBrk="0">
                        <a:buNone/>
                      </a:pPr>
                      <a:r>
                        <a:rPr lang="en-US" sz="975" b="0" i="0">
                          <a:solidFill>
                            <a:schemeClr val="tx1"/>
                          </a:solidFill>
                          <a:effectLst/>
                          <a:latin typeface="Menlo" panose="020B0609030804020204" pitchFamily="49" charset="0"/>
                        </a:rPr>
                        <a:t>V1_eff</a:t>
                      </a:r>
                      <a:endParaRPr lang="en-US" sz="975" b="0" i="0">
                        <a:solidFill>
                          <a:schemeClr val="tx1"/>
                        </a:solidFill>
                        <a:effectLst/>
                        <a:latin typeface="-apple-system"/>
                      </a:endParaRPr>
                    </a:p>
                  </a:txBody>
                  <a:tcPr marL="85725" marR="85725" marT="47625" marB="47625"/>
                </a:tc>
                <a:tc>
                  <a:txBody>
                    <a:bodyPr/>
                    <a:lstStyle/>
                    <a:p>
                      <a:pPr algn="l" fontAlgn="t" latinLnBrk="0">
                        <a:buNone/>
                      </a:pPr>
                      <a:r>
                        <a:rPr lang="en-US" sz="975" b="0" i="0">
                          <a:solidFill>
                            <a:schemeClr val="tx1"/>
                          </a:solidFill>
                          <a:effectLst/>
                          <a:latin typeface="-apple-system"/>
                        </a:rPr>
                        <a:t>Input from Module A (replaces Kholodenko's fixed V1)</a:t>
                      </a:r>
                    </a:p>
                  </a:txBody>
                  <a:tcPr marL="85725" marR="85725" marT="47625" marB="47625"/>
                </a:tc>
                <a:extLst>
                  <a:ext uri="{0D108BD9-81ED-4DB2-BD59-A6C34878D82A}">
                    <a16:rowId xmlns:a16="http://schemas.microsoft.com/office/drawing/2014/main" val="4116591990"/>
                  </a:ext>
                </a:extLst>
              </a:tr>
              <a:tr h="519339">
                <a:tc>
                  <a:txBody>
                    <a:bodyPr/>
                    <a:lstStyle/>
                    <a:p>
                      <a:pPr algn="l" fontAlgn="t" latinLnBrk="0">
                        <a:buNone/>
                      </a:pPr>
                      <a:r>
                        <a:rPr lang="en-US" sz="975" b="0" i="0">
                          <a:solidFill>
                            <a:schemeClr val="tx1"/>
                          </a:solidFill>
                          <a:effectLst/>
                          <a:latin typeface="Menlo" panose="020B0609030804020204" pitchFamily="49" charset="0"/>
                        </a:rPr>
                        <a:t>Raf, RafP</a:t>
                      </a:r>
                      <a:endParaRPr lang="en-US" sz="975" b="0" i="0">
                        <a:solidFill>
                          <a:schemeClr val="tx1"/>
                        </a:solidFill>
                        <a:effectLst/>
                        <a:latin typeface="-apple-system"/>
                      </a:endParaRPr>
                    </a:p>
                  </a:txBody>
                  <a:tcPr marL="85725" marR="85725" marT="47625" marB="47625"/>
                </a:tc>
                <a:tc>
                  <a:txBody>
                    <a:bodyPr/>
                    <a:lstStyle/>
                    <a:p>
                      <a:pPr algn="l" fontAlgn="t" latinLnBrk="0">
                        <a:buNone/>
                      </a:pPr>
                      <a:r>
                        <a:rPr lang="en-US" sz="975" b="0" i="0">
                          <a:solidFill>
                            <a:schemeClr val="tx1"/>
                          </a:solidFill>
                          <a:effectLst/>
                          <a:latin typeface="-apple-system"/>
                        </a:rPr>
                        <a:t>Un-/phosphorylated Raf (states)</a:t>
                      </a:r>
                    </a:p>
                  </a:txBody>
                  <a:tcPr marL="85725" marR="85725" marT="47625" marB="47625"/>
                </a:tc>
                <a:extLst>
                  <a:ext uri="{0D108BD9-81ED-4DB2-BD59-A6C34878D82A}">
                    <a16:rowId xmlns:a16="http://schemas.microsoft.com/office/drawing/2014/main" val="3142214075"/>
                  </a:ext>
                </a:extLst>
              </a:tr>
              <a:tr h="519339">
                <a:tc>
                  <a:txBody>
                    <a:bodyPr/>
                    <a:lstStyle/>
                    <a:p>
                      <a:pPr algn="l" fontAlgn="t" latinLnBrk="0">
                        <a:buNone/>
                      </a:pPr>
                      <a:r>
                        <a:rPr lang="en-US" sz="975" b="0" i="0">
                          <a:solidFill>
                            <a:schemeClr val="tx1"/>
                          </a:solidFill>
                          <a:effectLst/>
                          <a:latin typeface="Menlo" panose="020B0609030804020204" pitchFamily="49" charset="0"/>
                        </a:rPr>
                        <a:t>MEK, MEKp, MEKpp</a:t>
                      </a:r>
                      <a:endParaRPr lang="en-US" sz="975" b="0" i="0">
                        <a:solidFill>
                          <a:schemeClr val="tx1"/>
                        </a:solidFill>
                        <a:effectLst/>
                        <a:latin typeface="-apple-system"/>
                      </a:endParaRPr>
                    </a:p>
                  </a:txBody>
                  <a:tcPr marL="85725" marR="85725" marT="47625" marB="47625"/>
                </a:tc>
                <a:tc>
                  <a:txBody>
                    <a:bodyPr/>
                    <a:lstStyle/>
                    <a:p>
                      <a:pPr algn="l" fontAlgn="t" latinLnBrk="0">
                        <a:buNone/>
                      </a:pPr>
                      <a:r>
                        <a:rPr lang="en-US" sz="975" b="0" i="0">
                          <a:solidFill>
                            <a:schemeClr val="tx1"/>
                          </a:solidFill>
                          <a:effectLst/>
                          <a:latin typeface="-apple-system"/>
                        </a:rPr>
                        <a:t>Un-/mono-/di-phosphorylated MEK (states)</a:t>
                      </a:r>
                    </a:p>
                  </a:txBody>
                  <a:tcPr marL="85725" marR="85725" marT="47625" marB="47625"/>
                </a:tc>
                <a:extLst>
                  <a:ext uri="{0D108BD9-81ED-4DB2-BD59-A6C34878D82A}">
                    <a16:rowId xmlns:a16="http://schemas.microsoft.com/office/drawing/2014/main" val="1682832903"/>
                  </a:ext>
                </a:extLst>
              </a:tr>
            </a:tbl>
          </a:graphicData>
        </a:graphic>
      </p:graphicFrame>
      <p:sp>
        <p:nvSpPr>
          <p:cNvPr id="18" name="TextBox 17">
            <a:extLst>
              <a:ext uri="{FF2B5EF4-FFF2-40B4-BE49-F238E27FC236}">
                <a16:creationId xmlns:a16="http://schemas.microsoft.com/office/drawing/2014/main" id="{D018855C-3001-A699-B282-A9D5C1966547}"/>
              </a:ext>
            </a:extLst>
          </p:cNvPr>
          <p:cNvSpPr txBox="1"/>
          <p:nvPr/>
        </p:nvSpPr>
        <p:spPr>
          <a:xfrm>
            <a:off x="4171951" y="5910127"/>
            <a:ext cx="1330777" cy="230832"/>
          </a:xfrm>
          <a:prstGeom prst="rect">
            <a:avLst/>
          </a:prstGeom>
          <a:noFill/>
        </p:spPr>
        <p:txBody>
          <a:bodyPr wrap="square" rtlCol="0">
            <a:spAutoFit/>
          </a:bodyPr>
          <a:lstStyle/>
          <a:p>
            <a:r>
              <a:rPr lang="en-US" sz="900">
                <a:latin typeface="Calibri" panose="020F0502020204030204" pitchFamily="34" charset="0"/>
                <a:cs typeface="Calibri" panose="020F0502020204030204" pitchFamily="34" charset="0"/>
              </a:rPr>
              <a:t>Kholodenko (2001)</a:t>
            </a:r>
          </a:p>
        </p:txBody>
      </p:sp>
    </p:spTree>
    <p:extLst>
      <p:ext uri="{BB962C8B-B14F-4D97-AF65-F5344CB8AC3E}">
        <p14:creationId xmlns:p14="http://schemas.microsoft.com/office/powerpoint/2010/main" val="1354361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B69A5B-333D-F7EA-729D-96D416D0D8D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67624B9-9632-685C-A049-2DE87C685AD4}"/>
              </a:ext>
            </a:extLst>
          </p:cNvPr>
          <p:cNvSpPr txBox="1"/>
          <p:nvPr/>
        </p:nvSpPr>
        <p:spPr>
          <a:xfrm>
            <a:off x="365760" y="256032"/>
            <a:ext cx="11430000" cy="830997"/>
          </a:xfrm>
          <a:prstGeom prst="rect">
            <a:avLst/>
          </a:prstGeom>
          <a:noFill/>
        </p:spPr>
        <p:txBody>
          <a:bodyPr wrap="square" lIns="0" tIns="0" rIns="0" bIns="0" anchor="t">
            <a:spAutoFit/>
          </a:bodyPr>
          <a:lstStyle/>
          <a:p>
            <a:r>
              <a:rPr lang="en-IE" sz="2700" b="1" i="0" noProof="0">
                <a:solidFill>
                  <a:srgbClr val="1B2A4A"/>
                </a:solidFill>
                <a:latin typeface="Calibri"/>
              </a:rPr>
              <a:t>The </a:t>
            </a:r>
            <a:r>
              <a:rPr lang="en-IE" sz="2700" b="1">
                <a:solidFill>
                  <a:srgbClr val="1B2A4A"/>
                </a:solidFill>
                <a:latin typeface="Calibri"/>
              </a:rPr>
              <a:t>Tumour-Immune Half – Part 1: Module C </a:t>
            </a:r>
          </a:p>
          <a:p>
            <a:pPr algn="l"/>
            <a:endParaRPr lang="en-IE" sz="2700" b="1" i="0" noProof="0">
              <a:solidFill>
                <a:srgbClr val="1B2A4A"/>
              </a:solidFill>
              <a:latin typeface="Calibri"/>
            </a:endParaRPr>
          </a:p>
        </p:txBody>
      </p:sp>
      <p:sp>
        <p:nvSpPr>
          <p:cNvPr id="3" name="Rectangle 2">
            <a:extLst>
              <a:ext uri="{FF2B5EF4-FFF2-40B4-BE49-F238E27FC236}">
                <a16:creationId xmlns:a16="http://schemas.microsoft.com/office/drawing/2014/main" id="{3CE377F4-0A8B-C975-E0C4-328E40DF012E}"/>
              </a:ext>
            </a:extLst>
          </p:cNvPr>
          <p:cNvSpPr/>
          <p:nvPr/>
        </p:nvSpPr>
        <p:spPr>
          <a:xfrm>
            <a:off x="365760" y="914400"/>
            <a:ext cx="1280160" cy="45720"/>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01F0EACA-C7F6-BE94-409E-2BC60C86C7FB}"/>
              </a:ext>
            </a:extLst>
          </p:cNvPr>
          <p:cNvSpPr txBox="1"/>
          <p:nvPr/>
        </p:nvSpPr>
        <p:spPr>
          <a:xfrm>
            <a:off x="365760" y="1005840"/>
            <a:ext cx="11430000" cy="400110"/>
          </a:xfrm>
          <a:prstGeom prst="rect">
            <a:avLst/>
          </a:prstGeom>
          <a:noFill/>
        </p:spPr>
        <p:txBody>
          <a:bodyPr wrap="square" lIns="0" tIns="0" rIns="0" bIns="0" anchor="t">
            <a:spAutoFit/>
          </a:bodyPr>
          <a:lstStyle/>
          <a:p>
            <a:pPr algn="l"/>
            <a:r>
              <a:rPr lang="en-IE" sz="1300" b="0" i="1" noProof="0">
                <a:solidFill>
                  <a:srgbClr val="6B6B6B"/>
                </a:solidFill>
                <a:latin typeface="Calibri"/>
              </a:rPr>
              <a:t>Tumour growth is driven </a:t>
            </a:r>
            <a:r>
              <a:rPr lang="en-IE" sz="1300" b="0" i="1" noProof="0" err="1">
                <a:solidFill>
                  <a:srgbClr val="6B6B6B"/>
                </a:solidFill>
                <a:latin typeface="Calibri"/>
              </a:rPr>
              <a:t>mechanistica</a:t>
            </a:r>
            <a:r>
              <a:rPr lang="en-IE" sz="1300" i="1" err="1">
                <a:solidFill>
                  <a:srgbClr val="6B6B6B"/>
                </a:solidFill>
                <a:latin typeface="Calibri"/>
              </a:rPr>
              <a:t>lly</a:t>
            </a:r>
            <a:r>
              <a:rPr lang="en-IE" sz="1300" i="1">
                <a:solidFill>
                  <a:srgbClr val="6B6B6B"/>
                </a:solidFill>
                <a:latin typeface="Calibri"/>
              </a:rPr>
              <a:t> by Module B’s </a:t>
            </a:r>
            <a:r>
              <a:rPr lang="en-IE" sz="1300" i="1" err="1">
                <a:solidFill>
                  <a:srgbClr val="6B6B6B"/>
                </a:solidFill>
                <a:latin typeface="Calibri"/>
              </a:rPr>
              <a:t>pERK</a:t>
            </a:r>
            <a:r>
              <a:rPr lang="en-IE" sz="1300" i="1">
                <a:solidFill>
                  <a:srgbClr val="6B6B6B"/>
                </a:solidFill>
                <a:latin typeface="Calibri"/>
              </a:rPr>
              <a:t>, while checkpoint blockade (Module D) gates how much of the patient’s own immune killing capacity is released</a:t>
            </a:r>
            <a:r>
              <a:rPr lang="en-IE" sz="1300" i="1" noProof="0">
                <a:solidFill>
                  <a:srgbClr val="6B6B6B"/>
                </a:solidFill>
                <a:latin typeface="Calibri"/>
              </a:rPr>
              <a:t>.</a:t>
            </a:r>
            <a:endParaRPr lang="en-IE" sz="1300" b="0" i="1" noProof="0">
              <a:solidFill>
                <a:srgbClr val="6B6B6B"/>
              </a:solidFill>
              <a:latin typeface="Calibri"/>
            </a:endParaRPr>
          </a:p>
        </p:txBody>
      </p:sp>
      <p:sp>
        <p:nvSpPr>
          <p:cNvPr id="5" name="Rectangle 4">
            <a:extLst>
              <a:ext uri="{FF2B5EF4-FFF2-40B4-BE49-F238E27FC236}">
                <a16:creationId xmlns:a16="http://schemas.microsoft.com/office/drawing/2014/main" id="{AB398083-84DA-E250-39B6-0968E37A58C0}"/>
              </a:ext>
            </a:extLst>
          </p:cNvPr>
          <p:cNvSpPr/>
          <p:nvPr/>
        </p:nvSpPr>
        <p:spPr>
          <a:xfrm>
            <a:off x="365760" y="1417320"/>
            <a:ext cx="11457432" cy="16459"/>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a:extLst>
              <a:ext uri="{FF2B5EF4-FFF2-40B4-BE49-F238E27FC236}">
                <a16:creationId xmlns:a16="http://schemas.microsoft.com/office/drawing/2014/main" id="{CF22890A-9178-77D1-B3E1-149AD01E244E}"/>
              </a:ext>
            </a:extLst>
          </p:cNvPr>
          <p:cNvSpPr/>
          <p:nvPr/>
        </p:nvSpPr>
        <p:spPr>
          <a:xfrm>
            <a:off x="0" y="6339840"/>
            <a:ext cx="12219432" cy="51511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a:extLst>
              <a:ext uri="{FF2B5EF4-FFF2-40B4-BE49-F238E27FC236}">
                <a16:creationId xmlns:a16="http://schemas.microsoft.com/office/drawing/2014/main" id="{DDF6B438-99BA-6740-187C-7FA1EFA81351}"/>
              </a:ext>
            </a:extLst>
          </p:cNvPr>
          <p:cNvSpPr/>
          <p:nvPr/>
        </p:nvSpPr>
        <p:spPr>
          <a:xfrm>
            <a:off x="91440" y="6460236"/>
            <a:ext cx="274320" cy="274320"/>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E67AAB06-9F22-6C34-68BA-D77F9738B6F1}"/>
              </a:ext>
            </a:extLst>
          </p:cNvPr>
          <p:cNvSpPr txBox="1"/>
          <p:nvPr/>
        </p:nvSpPr>
        <p:spPr>
          <a:xfrm>
            <a:off x="466344" y="6383253"/>
            <a:ext cx="11606784" cy="477054"/>
          </a:xfrm>
          <a:prstGeom prst="rect">
            <a:avLst/>
          </a:prstGeom>
          <a:noFill/>
        </p:spPr>
        <p:txBody>
          <a:bodyPr wrap="square" lIns="0" anchor="ctr">
            <a:spAutoFit/>
          </a:bodyPr>
          <a:lstStyle/>
          <a:p>
            <a:r>
              <a:rPr lang="en-IE" sz="1250" b="1" noProof="0">
                <a:solidFill>
                  <a:srgbClr val="FFFFFF"/>
                </a:solidFill>
              </a:rPr>
              <a:t>Takeaway:  </a:t>
            </a:r>
            <a:r>
              <a:rPr lang="en-IE" sz="1250" b="1">
                <a:solidFill>
                  <a:srgbClr val="FFFFFF"/>
                </a:solidFill>
              </a:rPr>
              <a:t>Growth and killing are mechanistically driven by </a:t>
            </a:r>
            <a:r>
              <a:rPr lang="en-IE" sz="1250" b="1" err="1">
                <a:solidFill>
                  <a:srgbClr val="FFFFFF"/>
                </a:solidFill>
              </a:rPr>
              <a:t>pERK</a:t>
            </a:r>
            <a:r>
              <a:rPr lang="en-IE" sz="1250" b="1">
                <a:solidFill>
                  <a:srgbClr val="FFFFFF"/>
                </a:solidFill>
              </a:rPr>
              <a:t> from Module B, and by the checkpoint state (</a:t>
            </a:r>
            <a:r>
              <a:rPr lang="en-IE" sz="1250" b="1" err="1">
                <a:solidFill>
                  <a:srgbClr val="FFFFFF"/>
                </a:solidFill>
              </a:rPr>
              <a:t>f_kill</a:t>
            </a:r>
            <a:r>
              <a:rPr lang="en-IE" sz="1250" b="1">
                <a:solidFill>
                  <a:srgbClr val="FFFFFF"/>
                </a:solidFill>
              </a:rPr>
              <a:t>, Module D)</a:t>
            </a:r>
            <a:r>
              <a:rPr lang="en-IE" sz="1250" noProof="0">
                <a:solidFill>
                  <a:srgbClr val="FFFFFF"/>
                </a:solidFill>
              </a:rPr>
              <a:t>. The tumour-burden output carries the RAF paradox and each patient’s own immune biology.</a:t>
            </a:r>
          </a:p>
        </p:txBody>
      </p:sp>
      <p:sp>
        <p:nvSpPr>
          <p:cNvPr id="41" name="Rounded Rectangle 33">
            <a:extLst>
              <a:ext uri="{FF2B5EF4-FFF2-40B4-BE49-F238E27FC236}">
                <a16:creationId xmlns:a16="http://schemas.microsoft.com/office/drawing/2014/main" id="{289FAB59-2E9B-731D-383A-7F2DE7D56449}"/>
              </a:ext>
            </a:extLst>
          </p:cNvPr>
          <p:cNvSpPr/>
          <p:nvPr/>
        </p:nvSpPr>
        <p:spPr>
          <a:xfrm>
            <a:off x="222284" y="1629163"/>
            <a:ext cx="5215130" cy="45327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009E6336-575C-E9BC-AAE0-793BE4FD7318}"/>
              </a:ext>
            </a:extLst>
          </p:cNvPr>
          <p:cNvSpPr txBox="1"/>
          <p:nvPr/>
        </p:nvSpPr>
        <p:spPr>
          <a:xfrm>
            <a:off x="405164" y="1721159"/>
            <a:ext cx="4812416" cy="200055"/>
          </a:xfrm>
          <a:prstGeom prst="rect">
            <a:avLst/>
          </a:prstGeom>
          <a:noFill/>
        </p:spPr>
        <p:txBody>
          <a:bodyPr wrap="square" lIns="0" tIns="0" rIns="0" bIns="0" anchor="ctr">
            <a:spAutoFit/>
          </a:bodyPr>
          <a:lstStyle/>
          <a:p>
            <a:pPr algn="l"/>
            <a:r>
              <a:rPr lang="pt-BR" sz="1300" b="1" i="0">
                <a:solidFill>
                  <a:srgbClr val="FFFFFF"/>
                </a:solidFill>
                <a:latin typeface="Calibri"/>
              </a:rPr>
              <a:t>Module </a:t>
            </a:r>
            <a:r>
              <a:rPr lang="pt-BR" sz="1300" b="1">
                <a:solidFill>
                  <a:srgbClr val="FFFFFF"/>
                </a:solidFill>
                <a:latin typeface="Calibri"/>
              </a:rPr>
              <a:t>C</a:t>
            </a:r>
            <a:r>
              <a:rPr lang="pt-BR" sz="1300" b="1" i="0">
                <a:solidFill>
                  <a:srgbClr val="FFFFFF"/>
                </a:solidFill>
                <a:latin typeface="Calibri"/>
              </a:rPr>
              <a:t>: Melanoma tumor-imune dynamics</a:t>
            </a:r>
            <a:endParaRPr sz="1300" b="1" i="0">
              <a:solidFill>
                <a:srgbClr val="FFFFFF"/>
              </a:solidFill>
              <a:latin typeface="Calibri"/>
            </a:endParaRPr>
          </a:p>
        </p:txBody>
      </p:sp>
      <p:sp>
        <p:nvSpPr>
          <p:cNvPr id="43" name="Rectangle 42">
            <a:extLst>
              <a:ext uri="{FF2B5EF4-FFF2-40B4-BE49-F238E27FC236}">
                <a16:creationId xmlns:a16="http://schemas.microsoft.com/office/drawing/2014/main" id="{69521627-71A1-B74F-E863-87A9266D58A9}"/>
              </a:ext>
            </a:extLst>
          </p:cNvPr>
          <p:cNvSpPr/>
          <p:nvPr/>
        </p:nvSpPr>
        <p:spPr>
          <a:xfrm>
            <a:off x="222284" y="2018585"/>
            <a:ext cx="5215130" cy="4287789"/>
          </a:xfrm>
          <a:prstGeom prst="rect">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688D967F-56E1-3935-E941-9BA6A453606A}"/>
              </a:ext>
            </a:extLst>
          </p:cNvPr>
          <p:cNvSpPr txBox="1"/>
          <p:nvPr/>
        </p:nvSpPr>
        <p:spPr>
          <a:xfrm>
            <a:off x="356286" y="2082435"/>
            <a:ext cx="4861294" cy="2544223"/>
          </a:xfrm>
          <a:prstGeom prst="rect">
            <a:avLst/>
          </a:prstGeom>
          <a:noFill/>
        </p:spPr>
        <p:txBody>
          <a:bodyPr wrap="square" lIns="0" rIns="0">
            <a:spAutoFit/>
          </a:bodyPr>
          <a:lstStyle/>
          <a:p>
            <a:pPr>
              <a:lnSpc>
                <a:spcPct val="250000"/>
              </a:lnSpc>
              <a:spcAft>
                <a:spcPts val="1000"/>
              </a:spcAft>
            </a:pPr>
            <a:r>
              <a:rPr lang="en-IE" sz="1400" b="1" err="1">
                <a:solidFill>
                  <a:srgbClr val="2A2A2A"/>
                </a:solidFill>
                <a:latin typeface="Calibri"/>
              </a:rPr>
              <a:t>prolif</a:t>
            </a:r>
            <a:r>
              <a:rPr lang="en-IE" sz="1400" b="1">
                <a:solidFill>
                  <a:srgbClr val="2A2A2A"/>
                </a:solidFill>
                <a:latin typeface="Calibri"/>
              </a:rPr>
              <a:t> = clip(</a:t>
            </a:r>
            <a:r>
              <a:rPr lang="en-IE" sz="1400" b="1" err="1">
                <a:solidFill>
                  <a:srgbClr val="2A2A2A"/>
                </a:solidFill>
                <a:latin typeface="Calibri"/>
              </a:rPr>
              <a:t>pERK</a:t>
            </a:r>
            <a:r>
              <a:rPr lang="en-IE" sz="1400" b="1">
                <a:solidFill>
                  <a:srgbClr val="2A2A2A"/>
                </a:solidFill>
                <a:latin typeface="Calibri"/>
              </a:rPr>
              <a:t> / </a:t>
            </a:r>
            <a:r>
              <a:rPr lang="en-IE" sz="1400" b="1" err="1">
                <a:solidFill>
                  <a:srgbClr val="2A2A2A"/>
                </a:solidFill>
                <a:latin typeface="Calibri"/>
              </a:rPr>
              <a:t>pERK_ref</a:t>
            </a:r>
            <a:r>
              <a:rPr lang="en-IE" sz="1400" b="1">
                <a:solidFill>
                  <a:srgbClr val="2A2A2A"/>
                </a:solidFill>
                <a:latin typeface="Calibri"/>
              </a:rPr>
              <a:t>, PROLIF_MIN, PROLIF_CAP)</a:t>
            </a:r>
          </a:p>
          <a:p>
            <a:pPr>
              <a:lnSpc>
                <a:spcPct val="250000"/>
              </a:lnSpc>
              <a:spcAft>
                <a:spcPts val="1000"/>
              </a:spcAft>
            </a:pPr>
            <a:r>
              <a:rPr lang="en-IE" sz="1400" b="1">
                <a:solidFill>
                  <a:srgbClr val="2A2A2A"/>
                </a:solidFill>
                <a:latin typeface="Calibri"/>
              </a:rPr>
              <a:t>T8     = T8_SCALE · infiltration</a:t>
            </a:r>
          </a:p>
          <a:p>
            <a:pPr>
              <a:lnSpc>
                <a:spcPct val="250000"/>
              </a:lnSpc>
              <a:spcAft>
                <a:spcPts val="1000"/>
              </a:spcAft>
            </a:pPr>
            <a:r>
              <a:rPr lang="en-IE" sz="1400" b="1">
                <a:solidFill>
                  <a:srgbClr val="2A2A2A"/>
                </a:solidFill>
                <a:latin typeface="Calibri"/>
              </a:rPr>
              <a:t>eta8_i = eta8 · </a:t>
            </a:r>
            <a:r>
              <a:rPr lang="en-IE" sz="1400" b="1" err="1">
                <a:solidFill>
                  <a:srgbClr val="2A2A2A"/>
                </a:solidFill>
                <a:latin typeface="Calibri"/>
              </a:rPr>
              <a:t>CYT_patient</a:t>
            </a:r>
            <a:r>
              <a:rPr lang="en-IE" sz="1400" b="1">
                <a:solidFill>
                  <a:srgbClr val="2A2A2A"/>
                </a:solidFill>
                <a:latin typeface="Calibri"/>
              </a:rPr>
              <a:t> / </a:t>
            </a:r>
            <a:r>
              <a:rPr lang="en-IE" sz="1400" b="1" err="1">
                <a:solidFill>
                  <a:srgbClr val="2A2A2A"/>
                </a:solidFill>
                <a:latin typeface="Calibri"/>
              </a:rPr>
              <a:t>CYT_mean</a:t>
            </a:r>
            <a:endParaRPr lang="en-IE" sz="1400" b="1">
              <a:solidFill>
                <a:srgbClr val="2A2A2A"/>
              </a:solidFill>
              <a:latin typeface="Calibri"/>
            </a:endParaRPr>
          </a:p>
          <a:p>
            <a:pPr>
              <a:lnSpc>
                <a:spcPct val="250000"/>
              </a:lnSpc>
              <a:spcAft>
                <a:spcPts val="1000"/>
              </a:spcAft>
            </a:pPr>
            <a:r>
              <a:rPr lang="en-IE" sz="1400" b="1" err="1">
                <a:solidFill>
                  <a:srgbClr val="2A2A2A"/>
                </a:solidFill>
                <a:latin typeface="Calibri"/>
              </a:rPr>
              <a:t>dC</a:t>
            </a:r>
            <a:r>
              <a:rPr lang="en-IE" sz="1400" b="1">
                <a:solidFill>
                  <a:srgbClr val="2A2A2A"/>
                </a:solidFill>
                <a:latin typeface="Calibri"/>
              </a:rPr>
              <a:t>/dt  = </a:t>
            </a:r>
            <a:r>
              <a:rPr lang="el-GR" sz="1400" b="1">
                <a:solidFill>
                  <a:srgbClr val="2A2A2A"/>
                </a:solidFill>
                <a:latin typeface="Calibri"/>
              </a:rPr>
              <a:t>λ</a:t>
            </a:r>
            <a:r>
              <a:rPr lang="en-IE" sz="1400" b="1">
                <a:solidFill>
                  <a:srgbClr val="2A2A2A"/>
                </a:solidFill>
                <a:latin typeface="Calibri"/>
              </a:rPr>
              <a:t>C · </a:t>
            </a:r>
            <a:r>
              <a:rPr lang="en-IE" sz="1400" b="1" err="1">
                <a:solidFill>
                  <a:srgbClr val="2A2A2A"/>
                </a:solidFill>
                <a:latin typeface="Calibri"/>
              </a:rPr>
              <a:t>prolif</a:t>
            </a:r>
            <a:r>
              <a:rPr lang="en-IE" sz="1400" b="1">
                <a:solidFill>
                  <a:srgbClr val="2A2A2A"/>
                </a:solidFill>
                <a:latin typeface="Calibri"/>
              </a:rPr>
              <a:t> · C · (1 - C/CM) - eta8_i · </a:t>
            </a:r>
            <a:r>
              <a:rPr lang="en-IE" sz="1400" b="1" err="1">
                <a:solidFill>
                  <a:srgbClr val="2A2A2A"/>
                </a:solidFill>
                <a:latin typeface="Calibri"/>
              </a:rPr>
              <a:t>f_kill</a:t>
            </a:r>
            <a:r>
              <a:rPr lang="en-IE" sz="1400" b="1">
                <a:solidFill>
                  <a:srgbClr val="2A2A2A"/>
                </a:solidFill>
                <a:latin typeface="Calibri"/>
              </a:rPr>
              <a:t> · T8 · C - </a:t>
            </a:r>
            <a:r>
              <a:rPr lang="en-IE" sz="1400" b="1" err="1">
                <a:solidFill>
                  <a:srgbClr val="2A2A2A"/>
                </a:solidFill>
                <a:latin typeface="Calibri"/>
              </a:rPr>
              <a:t>dC</a:t>
            </a:r>
            <a:r>
              <a:rPr lang="en-IE" sz="1400" b="1">
                <a:solidFill>
                  <a:srgbClr val="2A2A2A"/>
                </a:solidFill>
                <a:latin typeface="Calibri"/>
              </a:rPr>
              <a:t> · C</a:t>
            </a:r>
            <a:endParaRPr lang="en-IE" sz="1400" b="1" noProof="0">
              <a:solidFill>
                <a:srgbClr val="2A2A2A"/>
              </a:solidFill>
              <a:latin typeface="Calibri"/>
            </a:endParaRPr>
          </a:p>
        </p:txBody>
      </p:sp>
      <p:graphicFrame>
        <p:nvGraphicFramePr>
          <p:cNvPr id="48" name="Table 47">
            <a:extLst>
              <a:ext uri="{FF2B5EF4-FFF2-40B4-BE49-F238E27FC236}">
                <a16:creationId xmlns:a16="http://schemas.microsoft.com/office/drawing/2014/main" id="{9818835E-3E83-7631-C279-E41114754AC8}"/>
              </a:ext>
            </a:extLst>
          </p:cNvPr>
          <p:cNvGraphicFramePr>
            <a:graphicFrameLocks noGrp="1"/>
          </p:cNvGraphicFramePr>
          <p:nvPr>
            <p:extLst>
              <p:ext uri="{D42A27DB-BD31-4B8C-83A1-F6EECF244321}">
                <p14:modId xmlns:p14="http://schemas.microsoft.com/office/powerpoint/2010/main" val="443158140"/>
              </p:ext>
            </p:extLst>
          </p:nvPr>
        </p:nvGraphicFramePr>
        <p:xfrm>
          <a:off x="5543550" y="1629164"/>
          <a:ext cx="6426166" cy="4677211"/>
        </p:xfrm>
        <a:graphic>
          <a:graphicData uri="http://schemas.openxmlformats.org/drawingml/2006/table">
            <a:tbl>
              <a:tblPr firstRow="1" bandRow="1">
                <a:tableStyleId>{93296810-A885-4BE3-A3E7-6D5BEEA58F35}</a:tableStyleId>
              </a:tblPr>
              <a:tblGrid>
                <a:gridCol w="3227016">
                  <a:extLst>
                    <a:ext uri="{9D8B030D-6E8A-4147-A177-3AD203B41FA5}">
                      <a16:colId xmlns:a16="http://schemas.microsoft.com/office/drawing/2014/main" val="365623342"/>
                    </a:ext>
                  </a:extLst>
                </a:gridCol>
                <a:gridCol w="3199150">
                  <a:extLst>
                    <a:ext uri="{9D8B030D-6E8A-4147-A177-3AD203B41FA5}">
                      <a16:colId xmlns:a16="http://schemas.microsoft.com/office/drawing/2014/main" val="1786872221"/>
                    </a:ext>
                  </a:extLst>
                </a:gridCol>
              </a:tblGrid>
              <a:tr h="474082">
                <a:tc>
                  <a:txBody>
                    <a:bodyPr/>
                    <a:lstStyle/>
                    <a:p>
                      <a:r>
                        <a:rPr lang="en-US" b="0" i="0">
                          <a:latin typeface="Calibri" panose="020F0502020204030204" pitchFamily="34" charset="0"/>
                          <a:cs typeface="Calibri" panose="020F0502020204030204" pitchFamily="34" charset="0"/>
                        </a:rPr>
                        <a:t>Symbol</a:t>
                      </a:r>
                    </a:p>
                  </a:txBody>
                  <a:tcPr/>
                </a:tc>
                <a:tc>
                  <a:txBody>
                    <a:bodyPr/>
                    <a:lstStyle/>
                    <a:p>
                      <a:r>
                        <a:rPr lang="en-US" b="0" i="0">
                          <a:latin typeface="Calibri" panose="020F0502020204030204" pitchFamily="34" charset="0"/>
                          <a:cs typeface="Calibri" panose="020F0502020204030204" pitchFamily="34" charset="0"/>
                        </a:rPr>
                        <a:t>Meaning</a:t>
                      </a:r>
                    </a:p>
                  </a:txBody>
                  <a:tcPr/>
                </a:tc>
                <a:extLst>
                  <a:ext uri="{0D108BD9-81ED-4DB2-BD59-A6C34878D82A}">
                    <a16:rowId xmlns:a16="http://schemas.microsoft.com/office/drawing/2014/main" val="1007362646"/>
                  </a:ext>
                </a:extLst>
              </a:tr>
              <a:tr h="316054">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pERK</a:t>
                      </a:r>
                    </a:p>
                  </a:txBody>
                  <a:tcPr marL="85725" marR="85725" marT="47625" marB="47625"/>
                </a:tc>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Module B's steady-state output for this dose/patient</a:t>
                      </a:r>
                    </a:p>
                  </a:txBody>
                  <a:tcPr marL="85725" marR="85725" marT="47625" marB="47625"/>
                </a:tc>
                <a:extLst>
                  <a:ext uri="{0D108BD9-81ED-4DB2-BD59-A6C34878D82A}">
                    <a16:rowId xmlns:a16="http://schemas.microsoft.com/office/drawing/2014/main" val="3609495821"/>
                  </a:ext>
                </a:extLst>
              </a:tr>
              <a:tr h="508651">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pERK_ref</a:t>
                      </a:r>
                    </a:p>
                  </a:txBody>
                  <a:tcPr marL="85725" marR="85725" marT="47625" marB="47625"/>
                </a:tc>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Cohort-reference pERK (WT, mean expression, zero drug)</a:t>
                      </a:r>
                    </a:p>
                  </a:txBody>
                  <a:tcPr marL="85725" marR="85725" marT="47625" marB="47625"/>
                </a:tc>
                <a:extLst>
                  <a:ext uri="{0D108BD9-81ED-4DB2-BD59-A6C34878D82A}">
                    <a16:rowId xmlns:a16="http://schemas.microsoft.com/office/drawing/2014/main" val="3988572919"/>
                  </a:ext>
                </a:extLst>
              </a:tr>
              <a:tr h="508651">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PROLIF_MIN, PROLIF_CAP</a:t>
                      </a:r>
                    </a:p>
                  </a:txBody>
                  <a:tcPr marL="85725" marR="85725" marT="47625" marB="47625"/>
                </a:tc>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Clipping bounds on the proliferation ratio (universal)</a:t>
                      </a:r>
                    </a:p>
                  </a:txBody>
                  <a:tcPr marL="85725" marR="85725" marT="47625" marB="47625"/>
                </a:tc>
                <a:extLst>
                  <a:ext uri="{0D108BD9-81ED-4DB2-BD59-A6C34878D82A}">
                    <a16:rowId xmlns:a16="http://schemas.microsoft.com/office/drawing/2014/main" val="4115612262"/>
                  </a:ext>
                </a:extLst>
              </a:tr>
              <a:tr h="395658">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T8_SCALE</a:t>
                      </a:r>
                    </a:p>
                  </a:txBody>
                  <a:tcPr marL="85725" marR="85725" marT="47625" marB="47625"/>
                </a:tc>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Calibration constant mapping infiltration score onto effector density (universal)</a:t>
                      </a:r>
                    </a:p>
                  </a:txBody>
                  <a:tcPr marL="85725" marR="85725" marT="47625" marB="47625"/>
                </a:tc>
                <a:extLst>
                  <a:ext uri="{0D108BD9-81ED-4DB2-BD59-A6C34878D82A}">
                    <a16:rowId xmlns:a16="http://schemas.microsoft.com/office/drawing/2014/main" val="169664877"/>
                  </a:ext>
                </a:extLst>
              </a:tr>
              <a:tr h="316054">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infiltration</a:t>
                      </a:r>
                    </a:p>
                  </a:txBody>
                  <a:tcPr marL="85725" marR="85725" marT="47625" marB="47625"/>
                </a:tc>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Patient's mean(CD8A, PRF1, GZMA) expression</a:t>
                      </a:r>
                    </a:p>
                  </a:txBody>
                  <a:tcPr marL="85725" marR="85725" marT="47625" marB="47625"/>
                </a:tc>
                <a:extLst>
                  <a:ext uri="{0D108BD9-81ED-4DB2-BD59-A6C34878D82A}">
                    <a16:rowId xmlns:a16="http://schemas.microsoft.com/office/drawing/2014/main" val="564215561"/>
                  </a:ext>
                </a:extLst>
              </a:tr>
              <a:tr h="508651">
                <a:tc>
                  <a:txBody>
                    <a:bodyPr/>
                    <a:lstStyle/>
                    <a:p>
                      <a:pPr algn="l" fontAlgn="t" latinLnBrk="0">
                        <a:buNone/>
                      </a:pPr>
                      <a:r>
                        <a:rPr lang="en-US" sz="975" b="0" i="0" err="1">
                          <a:solidFill>
                            <a:schemeClr val="tx1"/>
                          </a:solidFill>
                          <a:effectLst/>
                          <a:latin typeface="Calibri" panose="020F0502020204030204" pitchFamily="34" charset="0"/>
                          <a:cs typeface="Calibri" panose="020F0502020204030204" pitchFamily="34" charset="0"/>
                        </a:rPr>
                        <a:t>λC</a:t>
                      </a:r>
                      <a:r>
                        <a:rPr lang="en-US" sz="975" b="0" i="0">
                          <a:solidFill>
                            <a:schemeClr val="tx1"/>
                          </a:solidFill>
                          <a:effectLst/>
                          <a:latin typeface="Calibri" panose="020F0502020204030204" pitchFamily="34" charset="0"/>
                          <a:cs typeface="Calibri" panose="020F0502020204030204" pitchFamily="34" charset="0"/>
                        </a:rPr>
                        <a:t>, CM, </a:t>
                      </a:r>
                      <a:r>
                        <a:rPr lang="en-US" sz="975" b="0" i="0" err="1">
                          <a:solidFill>
                            <a:schemeClr val="tx1"/>
                          </a:solidFill>
                          <a:effectLst/>
                          <a:latin typeface="Calibri" panose="020F0502020204030204" pitchFamily="34" charset="0"/>
                          <a:cs typeface="Calibri" panose="020F0502020204030204" pitchFamily="34" charset="0"/>
                        </a:rPr>
                        <a:t>dC</a:t>
                      </a:r>
                      <a:endParaRPr lang="en-US" sz="975" b="0" i="0">
                        <a:solidFill>
                          <a:schemeClr val="tx1"/>
                        </a:solidFill>
                        <a:effectLst/>
                        <a:latin typeface="Calibri" panose="020F0502020204030204" pitchFamily="34" charset="0"/>
                        <a:cs typeface="Calibri" panose="020F0502020204030204" pitchFamily="34" charset="0"/>
                      </a:endParaRPr>
                    </a:p>
                  </a:txBody>
                  <a:tcPr marL="85725" marR="85725" marT="47625" marB="47625"/>
                </a:tc>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Growth rate, carrying capacity, death rate — universal (Lai et al. Table 2)</a:t>
                      </a:r>
                    </a:p>
                  </a:txBody>
                  <a:tcPr marL="85725" marR="85725" marT="47625" marB="47625"/>
                </a:tc>
                <a:extLst>
                  <a:ext uri="{0D108BD9-81ED-4DB2-BD59-A6C34878D82A}">
                    <a16:rowId xmlns:a16="http://schemas.microsoft.com/office/drawing/2014/main" val="3122662970"/>
                  </a:ext>
                </a:extLst>
              </a:tr>
              <a:tr h="316054">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eta8</a:t>
                      </a:r>
                    </a:p>
                  </a:txBody>
                  <a:tcPr marL="85725" marR="85725" marT="47625" marB="47625"/>
                </a:tc>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Base CD8 killing rate — universal (Lai et al. Table 2)</a:t>
                      </a:r>
                    </a:p>
                  </a:txBody>
                  <a:tcPr marL="85725" marR="85725" marT="47625" marB="47625"/>
                </a:tc>
                <a:extLst>
                  <a:ext uri="{0D108BD9-81ED-4DB2-BD59-A6C34878D82A}">
                    <a16:rowId xmlns:a16="http://schemas.microsoft.com/office/drawing/2014/main" val="1267317848"/>
                  </a:ext>
                </a:extLst>
              </a:tr>
              <a:tr h="316054">
                <a:tc>
                  <a:txBody>
                    <a:bodyPr/>
                    <a:lstStyle/>
                    <a:p>
                      <a:pPr algn="l" fontAlgn="t" latinLnBrk="0">
                        <a:buNone/>
                      </a:pPr>
                      <a:r>
                        <a:rPr lang="en-US" sz="975" b="0" i="0" err="1">
                          <a:solidFill>
                            <a:schemeClr val="tx1"/>
                          </a:solidFill>
                          <a:effectLst/>
                          <a:latin typeface="Calibri" panose="020F0502020204030204" pitchFamily="34" charset="0"/>
                          <a:cs typeface="Calibri" panose="020F0502020204030204" pitchFamily="34" charset="0"/>
                        </a:rPr>
                        <a:t>CYT_patient</a:t>
                      </a:r>
                      <a:r>
                        <a:rPr lang="en-US" sz="975" b="0" i="0">
                          <a:solidFill>
                            <a:schemeClr val="tx1"/>
                          </a:solidFill>
                          <a:effectLst/>
                          <a:latin typeface="Calibri" panose="020F0502020204030204" pitchFamily="34" charset="0"/>
                          <a:cs typeface="Calibri" panose="020F0502020204030204" pitchFamily="34" charset="0"/>
                        </a:rPr>
                        <a:t>, </a:t>
                      </a:r>
                      <a:r>
                        <a:rPr lang="en-US" sz="975" b="0" i="0" err="1">
                          <a:solidFill>
                            <a:schemeClr val="tx1"/>
                          </a:solidFill>
                          <a:effectLst/>
                          <a:latin typeface="Calibri" panose="020F0502020204030204" pitchFamily="34" charset="0"/>
                          <a:cs typeface="Calibri" panose="020F0502020204030204" pitchFamily="34" charset="0"/>
                        </a:rPr>
                        <a:t>CYT_mean</a:t>
                      </a:r>
                      <a:endParaRPr lang="en-US" sz="975" b="0" i="0">
                        <a:solidFill>
                          <a:schemeClr val="tx1"/>
                        </a:solidFill>
                        <a:effectLst/>
                        <a:latin typeface="Calibri" panose="020F0502020204030204" pitchFamily="34" charset="0"/>
                        <a:cs typeface="Calibri" panose="020F0502020204030204" pitchFamily="34" charset="0"/>
                      </a:endParaRPr>
                    </a:p>
                  </a:txBody>
                  <a:tcPr marL="85725" marR="85725" marT="47625" marB="47625"/>
                </a:tc>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Patient's cytolytic score vs. cohort mean</a:t>
                      </a:r>
                    </a:p>
                  </a:txBody>
                  <a:tcPr marL="85725" marR="85725" marT="47625" marB="47625"/>
                </a:tc>
                <a:extLst>
                  <a:ext uri="{0D108BD9-81ED-4DB2-BD59-A6C34878D82A}">
                    <a16:rowId xmlns:a16="http://schemas.microsoft.com/office/drawing/2014/main" val="4116591990"/>
                  </a:ext>
                </a:extLst>
              </a:tr>
              <a:tr h="508651">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f_kill</a:t>
                      </a:r>
                    </a:p>
                  </a:txBody>
                  <a:tcPr marL="85725" marR="85725" marT="47625" marB="47625"/>
                </a:tc>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Module D's output (fraction of killing not checkpoint-blocked)</a:t>
                      </a:r>
                    </a:p>
                  </a:txBody>
                  <a:tcPr marL="85725" marR="85725" marT="47625" marB="47625"/>
                </a:tc>
                <a:extLst>
                  <a:ext uri="{0D108BD9-81ED-4DB2-BD59-A6C34878D82A}">
                    <a16:rowId xmlns:a16="http://schemas.microsoft.com/office/drawing/2014/main" val="3142214075"/>
                  </a:ext>
                </a:extLst>
              </a:tr>
              <a:tr h="508651">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C</a:t>
                      </a:r>
                    </a:p>
                  </a:txBody>
                  <a:tcPr marL="85725" marR="85725" marT="47625" marB="47625"/>
                </a:tc>
                <a:tc>
                  <a:txBody>
                    <a:bodyPr/>
                    <a:lstStyle/>
                    <a:p>
                      <a:pPr algn="l" fontAlgn="t" latinLnBrk="0">
                        <a:buNone/>
                      </a:pPr>
                      <a:r>
                        <a:rPr lang="en-US" sz="975" b="0" i="0" err="1">
                          <a:solidFill>
                            <a:schemeClr val="tx1"/>
                          </a:solidFill>
                          <a:effectLst/>
                          <a:latin typeface="Calibri" panose="020F0502020204030204" pitchFamily="34" charset="0"/>
                          <a:cs typeface="Calibri" panose="020F0502020204030204" pitchFamily="34" charset="0"/>
                        </a:rPr>
                        <a:t>Tumour</a:t>
                      </a:r>
                      <a:r>
                        <a:rPr lang="en-US" sz="975" b="0" i="0">
                          <a:solidFill>
                            <a:schemeClr val="tx1"/>
                          </a:solidFill>
                          <a:effectLst/>
                          <a:latin typeface="Calibri" panose="020F0502020204030204" pitchFamily="34" charset="0"/>
                          <a:cs typeface="Calibri" panose="020F0502020204030204" pitchFamily="34" charset="0"/>
                        </a:rPr>
                        <a:t> burden — the state being integrated (the readout)</a:t>
                      </a:r>
                    </a:p>
                  </a:txBody>
                  <a:tcPr marL="85725" marR="85725" marT="47625" marB="47625"/>
                </a:tc>
                <a:extLst>
                  <a:ext uri="{0D108BD9-81ED-4DB2-BD59-A6C34878D82A}">
                    <a16:rowId xmlns:a16="http://schemas.microsoft.com/office/drawing/2014/main" val="1682832903"/>
                  </a:ext>
                </a:extLst>
              </a:tr>
            </a:tbl>
          </a:graphicData>
        </a:graphic>
      </p:graphicFrame>
      <p:sp>
        <p:nvSpPr>
          <p:cNvPr id="7" name="TextBox 6">
            <a:extLst>
              <a:ext uri="{FF2B5EF4-FFF2-40B4-BE49-F238E27FC236}">
                <a16:creationId xmlns:a16="http://schemas.microsoft.com/office/drawing/2014/main" id="{15E332C1-195F-4A4C-226C-A2BE93250D12}"/>
              </a:ext>
            </a:extLst>
          </p:cNvPr>
          <p:cNvSpPr txBox="1"/>
          <p:nvPr/>
        </p:nvSpPr>
        <p:spPr>
          <a:xfrm>
            <a:off x="4236244" y="5801063"/>
            <a:ext cx="1451202" cy="369332"/>
          </a:xfrm>
          <a:prstGeom prst="rect">
            <a:avLst/>
          </a:prstGeom>
          <a:noFill/>
        </p:spPr>
        <p:txBody>
          <a:bodyPr wrap="square">
            <a:spAutoFit/>
          </a:bodyPr>
          <a:lstStyle/>
          <a:p>
            <a:pPr lvl="0"/>
            <a:r>
              <a:rPr lang="en-US" sz="900">
                <a:latin typeface="Calibri" panose="020F0502020204030204" pitchFamily="34" charset="0"/>
                <a:cs typeface="Calibri" panose="020F0502020204030204" pitchFamily="34" charset="0"/>
              </a:rPr>
              <a:t>Lai &amp; Friedman (2017), </a:t>
            </a:r>
          </a:p>
          <a:p>
            <a:pPr lvl="0"/>
            <a:r>
              <a:rPr lang="en-US" sz="900">
                <a:latin typeface="Calibri" panose="020F0502020204030204" pitchFamily="34" charset="0"/>
                <a:cs typeface="Calibri" panose="020F0502020204030204" pitchFamily="34" charset="0"/>
              </a:rPr>
              <a:t>Nave &amp; </a:t>
            </a:r>
            <a:r>
              <a:rPr lang="en-US" sz="900" err="1">
                <a:latin typeface="Calibri" panose="020F0502020204030204" pitchFamily="34" charset="0"/>
                <a:cs typeface="Calibri" panose="020F0502020204030204" pitchFamily="34" charset="0"/>
              </a:rPr>
              <a:t>Sigron</a:t>
            </a:r>
            <a:r>
              <a:rPr lang="en-US" sz="900">
                <a:latin typeface="Calibri" panose="020F0502020204030204" pitchFamily="34" charset="0"/>
                <a:cs typeface="Calibri" panose="020F0502020204030204" pitchFamily="34" charset="0"/>
              </a:rPr>
              <a:t> (2022)</a:t>
            </a:r>
          </a:p>
        </p:txBody>
      </p:sp>
    </p:spTree>
    <p:extLst>
      <p:ext uri="{BB962C8B-B14F-4D97-AF65-F5344CB8AC3E}">
        <p14:creationId xmlns:p14="http://schemas.microsoft.com/office/powerpoint/2010/main" val="1631672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BD0AAD-87EE-EE65-0558-7A8BD1E8373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5AD719-5743-11AA-760F-80A4B2646A27}"/>
              </a:ext>
            </a:extLst>
          </p:cNvPr>
          <p:cNvSpPr txBox="1"/>
          <p:nvPr/>
        </p:nvSpPr>
        <p:spPr>
          <a:xfrm>
            <a:off x="365760" y="256032"/>
            <a:ext cx="11430000" cy="830997"/>
          </a:xfrm>
          <a:prstGeom prst="rect">
            <a:avLst/>
          </a:prstGeom>
          <a:noFill/>
        </p:spPr>
        <p:txBody>
          <a:bodyPr wrap="square" lIns="0" tIns="0" rIns="0" bIns="0" anchor="t">
            <a:spAutoFit/>
          </a:bodyPr>
          <a:lstStyle/>
          <a:p>
            <a:r>
              <a:rPr lang="en-IE" sz="2700" b="1" i="0" noProof="0">
                <a:solidFill>
                  <a:srgbClr val="1B2A4A"/>
                </a:solidFill>
                <a:latin typeface="Calibri"/>
              </a:rPr>
              <a:t>The </a:t>
            </a:r>
            <a:r>
              <a:rPr lang="en-IE" sz="2700" b="1">
                <a:solidFill>
                  <a:srgbClr val="1B2A4A"/>
                </a:solidFill>
                <a:latin typeface="Calibri"/>
              </a:rPr>
              <a:t>Tumour-Immune Half – Part 2: Module D </a:t>
            </a:r>
          </a:p>
          <a:p>
            <a:pPr algn="l"/>
            <a:endParaRPr lang="en-IE" sz="2700" b="1" i="0" noProof="0">
              <a:solidFill>
                <a:srgbClr val="1B2A4A"/>
              </a:solidFill>
              <a:latin typeface="Calibri"/>
            </a:endParaRPr>
          </a:p>
        </p:txBody>
      </p:sp>
      <p:sp>
        <p:nvSpPr>
          <p:cNvPr id="3" name="Rectangle 2">
            <a:extLst>
              <a:ext uri="{FF2B5EF4-FFF2-40B4-BE49-F238E27FC236}">
                <a16:creationId xmlns:a16="http://schemas.microsoft.com/office/drawing/2014/main" id="{C8151EC6-8C4C-B788-1AE3-E3ACE3919FA4}"/>
              </a:ext>
            </a:extLst>
          </p:cNvPr>
          <p:cNvSpPr/>
          <p:nvPr/>
        </p:nvSpPr>
        <p:spPr>
          <a:xfrm>
            <a:off x="365760" y="914400"/>
            <a:ext cx="1280160" cy="45720"/>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06663A06-E51F-8BD1-97B8-F40241AA4D35}"/>
              </a:ext>
            </a:extLst>
          </p:cNvPr>
          <p:cNvSpPr txBox="1"/>
          <p:nvPr/>
        </p:nvSpPr>
        <p:spPr>
          <a:xfrm>
            <a:off x="365760" y="1005840"/>
            <a:ext cx="11430000" cy="400110"/>
          </a:xfrm>
          <a:prstGeom prst="rect">
            <a:avLst/>
          </a:prstGeom>
          <a:noFill/>
        </p:spPr>
        <p:txBody>
          <a:bodyPr wrap="square" lIns="0" tIns="0" rIns="0" bIns="0" anchor="t">
            <a:spAutoFit/>
          </a:bodyPr>
          <a:lstStyle/>
          <a:p>
            <a:pPr algn="l"/>
            <a:r>
              <a:rPr lang="en-IE" sz="1300" b="0" i="1" noProof="0">
                <a:solidFill>
                  <a:srgbClr val="6B6B6B"/>
                </a:solidFill>
                <a:latin typeface="Calibri"/>
              </a:rPr>
              <a:t>Tumour growth is driven </a:t>
            </a:r>
            <a:r>
              <a:rPr lang="en-IE" sz="1300" b="0" i="1" noProof="0" err="1">
                <a:solidFill>
                  <a:srgbClr val="6B6B6B"/>
                </a:solidFill>
                <a:latin typeface="Calibri"/>
              </a:rPr>
              <a:t>mechanistica</a:t>
            </a:r>
            <a:r>
              <a:rPr lang="en-IE" sz="1300" i="1" err="1">
                <a:solidFill>
                  <a:srgbClr val="6B6B6B"/>
                </a:solidFill>
                <a:latin typeface="Calibri"/>
              </a:rPr>
              <a:t>lly</a:t>
            </a:r>
            <a:r>
              <a:rPr lang="en-IE" sz="1300" i="1">
                <a:solidFill>
                  <a:srgbClr val="6B6B6B"/>
                </a:solidFill>
                <a:latin typeface="Calibri"/>
              </a:rPr>
              <a:t> by Module B’s </a:t>
            </a:r>
            <a:r>
              <a:rPr lang="en-IE" sz="1300" i="1" err="1">
                <a:solidFill>
                  <a:srgbClr val="6B6B6B"/>
                </a:solidFill>
                <a:latin typeface="Calibri"/>
              </a:rPr>
              <a:t>pERK</a:t>
            </a:r>
            <a:r>
              <a:rPr lang="en-IE" sz="1300" i="1">
                <a:solidFill>
                  <a:srgbClr val="6B6B6B"/>
                </a:solidFill>
                <a:latin typeface="Calibri"/>
              </a:rPr>
              <a:t>, while checkpoint blockade (Module D) gates how much of the patient’s own immune killing capacity is released</a:t>
            </a:r>
            <a:r>
              <a:rPr lang="en-IE" sz="1300" i="1" noProof="0">
                <a:solidFill>
                  <a:srgbClr val="6B6B6B"/>
                </a:solidFill>
                <a:latin typeface="Calibri"/>
              </a:rPr>
              <a:t>.</a:t>
            </a:r>
            <a:endParaRPr lang="en-IE" sz="1300" b="0" i="1" noProof="0">
              <a:solidFill>
                <a:srgbClr val="6B6B6B"/>
              </a:solidFill>
              <a:latin typeface="Calibri"/>
            </a:endParaRPr>
          </a:p>
        </p:txBody>
      </p:sp>
      <p:sp>
        <p:nvSpPr>
          <p:cNvPr id="5" name="Rectangle 4">
            <a:extLst>
              <a:ext uri="{FF2B5EF4-FFF2-40B4-BE49-F238E27FC236}">
                <a16:creationId xmlns:a16="http://schemas.microsoft.com/office/drawing/2014/main" id="{1B02B9C0-64C6-1943-A596-7DB196C7DFE6}"/>
              </a:ext>
            </a:extLst>
          </p:cNvPr>
          <p:cNvSpPr/>
          <p:nvPr/>
        </p:nvSpPr>
        <p:spPr>
          <a:xfrm>
            <a:off x="365760" y="1417320"/>
            <a:ext cx="11457432" cy="16459"/>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a:extLst>
              <a:ext uri="{FF2B5EF4-FFF2-40B4-BE49-F238E27FC236}">
                <a16:creationId xmlns:a16="http://schemas.microsoft.com/office/drawing/2014/main" id="{C0D62121-60C2-8250-54DB-097B83C9B450}"/>
              </a:ext>
            </a:extLst>
          </p:cNvPr>
          <p:cNvSpPr/>
          <p:nvPr/>
        </p:nvSpPr>
        <p:spPr>
          <a:xfrm>
            <a:off x="0" y="6339840"/>
            <a:ext cx="12219432" cy="51511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a:extLst>
              <a:ext uri="{FF2B5EF4-FFF2-40B4-BE49-F238E27FC236}">
                <a16:creationId xmlns:a16="http://schemas.microsoft.com/office/drawing/2014/main" id="{A4C3E5BA-43DD-EDE6-1CA9-F8C8A8742E36}"/>
              </a:ext>
            </a:extLst>
          </p:cNvPr>
          <p:cNvSpPr/>
          <p:nvPr/>
        </p:nvSpPr>
        <p:spPr>
          <a:xfrm>
            <a:off x="91440" y="6460236"/>
            <a:ext cx="274320" cy="274320"/>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603B1B1F-2842-064B-1A7C-2971007DFE30}"/>
              </a:ext>
            </a:extLst>
          </p:cNvPr>
          <p:cNvSpPr txBox="1"/>
          <p:nvPr/>
        </p:nvSpPr>
        <p:spPr>
          <a:xfrm>
            <a:off x="466344" y="6383253"/>
            <a:ext cx="11606784" cy="477054"/>
          </a:xfrm>
          <a:prstGeom prst="rect">
            <a:avLst/>
          </a:prstGeom>
          <a:noFill/>
        </p:spPr>
        <p:txBody>
          <a:bodyPr wrap="square" lIns="0" anchor="ctr">
            <a:spAutoFit/>
          </a:bodyPr>
          <a:lstStyle/>
          <a:p>
            <a:r>
              <a:rPr lang="en-IE" sz="1250" b="1" noProof="0">
                <a:solidFill>
                  <a:srgbClr val="FFFFFF"/>
                </a:solidFill>
              </a:rPr>
              <a:t>Takeaway:  </a:t>
            </a:r>
            <a:r>
              <a:rPr lang="en-IE" sz="1250" b="1">
                <a:solidFill>
                  <a:srgbClr val="FFFFFF"/>
                </a:solidFill>
              </a:rPr>
              <a:t>Growth and killing are mechanistically driven by </a:t>
            </a:r>
            <a:r>
              <a:rPr lang="en-IE" sz="1250" b="1" err="1">
                <a:solidFill>
                  <a:srgbClr val="FFFFFF"/>
                </a:solidFill>
              </a:rPr>
              <a:t>pERK</a:t>
            </a:r>
            <a:r>
              <a:rPr lang="en-IE" sz="1250" b="1">
                <a:solidFill>
                  <a:srgbClr val="FFFFFF"/>
                </a:solidFill>
              </a:rPr>
              <a:t> from Module B, and by the checkpoint state (</a:t>
            </a:r>
            <a:r>
              <a:rPr lang="en-IE" sz="1250" b="1" err="1">
                <a:solidFill>
                  <a:srgbClr val="FFFFFF"/>
                </a:solidFill>
              </a:rPr>
              <a:t>f_kill</a:t>
            </a:r>
            <a:r>
              <a:rPr lang="en-IE" sz="1250" b="1">
                <a:solidFill>
                  <a:srgbClr val="FFFFFF"/>
                </a:solidFill>
              </a:rPr>
              <a:t>, Module D)</a:t>
            </a:r>
            <a:r>
              <a:rPr lang="en-IE" sz="1250" noProof="0">
                <a:solidFill>
                  <a:srgbClr val="FFFFFF"/>
                </a:solidFill>
              </a:rPr>
              <a:t>. The tumour-burden output carries the RAF paradox and each patient’s own immune biology.</a:t>
            </a:r>
          </a:p>
        </p:txBody>
      </p:sp>
      <p:sp>
        <p:nvSpPr>
          <p:cNvPr id="41" name="Rounded Rectangle 33">
            <a:extLst>
              <a:ext uri="{FF2B5EF4-FFF2-40B4-BE49-F238E27FC236}">
                <a16:creationId xmlns:a16="http://schemas.microsoft.com/office/drawing/2014/main" id="{60728EBE-5787-106A-89CF-B4AAE95D8E2A}"/>
              </a:ext>
            </a:extLst>
          </p:cNvPr>
          <p:cNvSpPr/>
          <p:nvPr/>
        </p:nvSpPr>
        <p:spPr>
          <a:xfrm>
            <a:off x="222284" y="1629163"/>
            <a:ext cx="5215130" cy="45327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B097830C-5837-6884-C29A-D62465D874D9}"/>
              </a:ext>
            </a:extLst>
          </p:cNvPr>
          <p:cNvSpPr txBox="1"/>
          <p:nvPr/>
        </p:nvSpPr>
        <p:spPr>
          <a:xfrm>
            <a:off x="405164" y="1721159"/>
            <a:ext cx="4812416" cy="200055"/>
          </a:xfrm>
          <a:prstGeom prst="rect">
            <a:avLst/>
          </a:prstGeom>
          <a:noFill/>
        </p:spPr>
        <p:txBody>
          <a:bodyPr wrap="square" lIns="0" tIns="0" rIns="0" bIns="0" anchor="ctr">
            <a:spAutoFit/>
          </a:bodyPr>
          <a:lstStyle/>
          <a:p>
            <a:pPr algn="l"/>
            <a:r>
              <a:rPr lang="pt-BR" sz="1300" b="1" i="0">
                <a:solidFill>
                  <a:srgbClr val="FFFFFF"/>
                </a:solidFill>
                <a:latin typeface="Calibri"/>
              </a:rPr>
              <a:t>Module </a:t>
            </a:r>
            <a:r>
              <a:rPr lang="pt-BR" sz="1300" b="1" i="0" err="1">
                <a:solidFill>
                  <a:srgbClr val="FFFFFF"/>
                </a:solidFill>
                <a:latin typeface="Calibri"/>
              </a:rPr>
              <a:t>D</a:t>
            </a:r>
            <a:r>
              <a:rPr lang="pt-BR" sz="1300" b="1" i="0">
                <a:solidFill>
                  <a:srgbClr val="FFFFFF"/>
                </a:solidFill>
                <a:latin typeface="Calibri"/>
              </a:rPr>
              <a:t>: Checkpoint </a:t>
            </a:r>
            <a:r>
              <a:rPr lang="pt-BR" sz="1300" b="1" i="0" err="1">
                <a:solidFill>
                  <a:srgbClr val="FFFFFF"/>
                </a:solidFill>
                <a:latin typeface="Calibri"/>
              </a:rPr>
              <a:t>axis</a:t>
            </a:r>
            <a:r>
              <a:rPr lang="pt-BR" sz="1300" b="1" i="0">
                <a:solidFill>
                  <a:srgbClr val="FFFFFF"/>
                </a:solidFill>
                <a:latin typeface="Calibri"/>
              </a:rPr>
              <a:t> (anti-PD-1)</a:t>
            </a:r>
            <a:endParaRPr sz="1300" b="1" i="0">
              <a:solidFill>
                <a:srgbClr val="FFFFFF"/>
              </a:solidFill>
              <a:latin typeface="Calibri"/>
            </a:endParaRPr>
          </a:p>
        </p:txBody>
      </p:sp>
      <p:sp>
        <p:nvSpPr>
          <p:cNvPr id="43" name="Rectangle 42">
            <a:extLst>
              <a:ext uri="{FF2B5EF4-FFF2-40B4-BE49-F238E27FC236}">
                <a16:creationId xmlns:a16="http://schemas.microsoft.com/office/drawing/2014/main" id="{9E44C006-5DA8-3239-A095-27966D5C6684}"/>
              </a:ext>
            </a:extLst>
          </p:cNvPr>
          <p:cNvSpPr/>
          <p:nvPr/>
        </p:nvSpPr>
        <p:spPr>
          <a:xfrm>
            <a:off x="222284" y="2018585"/>
            <a:ext cx="5215130" cy="4287789"/>
          </a:xfrm>
          <a:prstGeom prst="rect">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85282E17-8FB9-2F1E-9406-FEF477E3C8C4}"/>
              </a:ext>
            </a:extLst>
          </p:cNvPr>
          <p:cNvSpPr txBox="1"/>
          <p:nvPr/>
        </p:nvSpPr>
        <p:spPr>
          <a:xfrm>
            <a:off x="356286" y="2082435"/>
            <a:ext cx="4861294" cy="2838854"/>
          </a:xfrm>
          <a:prstGeom prst="rect">
            <a:avLst/>
          </a:prstGeom>
          <a:noFill/>
        </p:spPr>
        <p:txBody>
          <a:bodyPr wrap="square" lIns="0" rIns="0">
            <a:spAutoFit/>
          </a:bodyPr>
          <a:lstStyle/>
          <a:p>
            <a:pPr>
              <a:lnSpc>
                <a:spcPct val="250000"/>
              </a:lnSpc>
              <a:spcAft>
                <a:spcPts val="1000"/>
              </a:spcAft>
            </a:pPr>
            <a:r>
              <a:rPr lang="en-IE" sz="1200" b="1">
                <a:solidFill>
                  <a:srgbClr val="2A2A2A"/>
                </a:solidFill>
                <a:latin typeface="Calibri"/>
              </a:rPr>
              <a:t>PD1_tot  = PDCD1_TOTAL_0 · PDCD1_expr</a:t>
            </a:r>
          </a:p>
          <a:p>
            <a:pPr>
              <a:lnSpc>
                <a:spcPct val="250000"/>
              </a:lnSpc>
              <a:spcAft>
                <a:spcPts val="1000"/>
              </a:spcAft>
            </a:pPr>
            <a:r>
              <a:rPr lang="en-IE" sz="1200" b="1">
                <a:solidFill>
                  <a:srgbClr val="2A2A2A"/>
                </a:solidFill>
                <a:latin typeface="Calibri"/>
              </a:rPr>
              <a:t>PDL1_tot = PDL1_TOTAL_0 · CD274_expr</a:t>
            </a:r>
          </a:p>
          <a:p>
            <a:pPr>
              <a:lnSpc>
                <a:spcPct val="250000"/>
              </a:lnSpc>
              <a:spcAft>
                <a:spcPts val="1000"/>
              </a:spcAft>
            </a:pPr>
            <a:r>
              <a:rPr lang="en-IE" sz="1200" b="1" err="1">
                <a:solidFill>
                  <a:srgbClr val="2A2A2A"/>
                </a:solidFill>
                <a:latin typeface="Calibri"/>
              </a:rPr>
              <a:t>P_free</a:t>
            </a:r>
            <a:r>
              <a:rPr lang="en-IE" sz="1200" b="1">
                <a:solidFill>
                  <a:srgbClr val="2A2A2A"/>
                </a:solidFill>
                <a:latin typeface="Calibri"/>
              </a:rPr>
              <a:t> = PD1_tot / (1 + antiPD1/</a:t>
            </a:r>
            <a:r>
              <a:rPr lang="en-IE" sz="1200" b="1" err="1">
                <a:solidFill>
                  <a:srgbClr val="2A2A2A"/>
                </a:solidFill>
                <a:latin typeface="Calibri"/>
              </a:rPr>
              <a:t>Kd_PA</a:t>
            </a:r>
            <a:r>
              <a:rPr lang="en-IE" sz="1200" b="1">
                <a:solidFill>
                  <a:srgbClr val="2A2A2A"/>
                </a:solidFill>
                <a:latin typeface="Calibri"/>
              </a:rPr>
              <a:t>)</a:t>
            </a:r>
          </a:p>
          <a:p>
            <a:pPr>
              <a:lnSpc>
                <a:spcPct val="250000"/>
              </a:lnSpc>
              <a:spcAft>
                <a:spcPts val="1000"/>
              </a:spcAft>
            </a:pPr>
            <a:r>
              <a:rPr lang="en-IE" sz="1200" b="1">
                <a:solidFill>
                  <a:srgbClr val="2A2A2A"/>
                </a:solidFill>
                <a:latin typeface="Calibri"/>
              </a:rPr>
              <a:t>Q  = min(PDL1_tot · </a:t>
            </a:r>
            <a:r>
              <a:rPr lang="en-IE" sz="1200" b="1" err="1">
                <a:solidFill>
                  <a:srgbClr val="2A2A2A"/>
                </a:solidFill>
                <a:latin typeface="Calibri"/>
              </a:rPr>
              <a:t>P_free</a:t>
            </a:r>
            <a:r>
              <a:rPr lang="en-IE" sz="1200" b="1">
                <a:solidFill>
                  <a:srgbClr val="2A2A2A"/>
                </a:solidFill>
                <a:latin typeface="Calibri"/>
              </a:rPr>
              <a:t> / (</a:t>
            </a:r>
            <a:r>
              <a:rPr lang="en-IE" sz="1200" b="1" err="1">
                <a:solidFill>
                  <a:srgbClr val="2A2A2A"/>
                </a:solidFill>
                <a:latin typeface="Calibri"/>
              </a:rPr>
              <a:t>Kd_PL</a:t>
            </a:r>
            <a:r>
              <a:rPr lang="en-IE" sz="1200" b="1">
                <a:solidFill>
                  <a:srgbClr val="2A2A2A"/>
                </a:solidFill>
                <a:latin typeface="Calibri"/>
              </a:rPr>
              <a:t> + </a:t>
            </a:r>
            <a:r>
              <a:rPr lang="en-IE" sz="1200" b="1" err="1">
                <a:solidFill>
                  <a:srgbClr val="2A2A2A"/>
                </a:solidFill>
                <a:latin typeface="Calibri"/>
              </a:rPr>
              <a:t>P_free</a:t>
            </a:r>
            <a:r>
              <a:rPr lang="en-IE" sz="1200" b="1">
                <a:solidFill>
                  <a:srgbClr val="2A2A2A"/>
                </a:solidFill>
                <a:latin typeface="Calibri"/>
              </a:rPr>
              <a:t>), PD1_tot)</a:t>
            </a:r>
          </a:p>
          <a:p>
            <a:pPr>
              <a:lnSpc>
                <a:spcPct val="250000"/>
              </a:lnSpc>
              <a:spcAft>
                <a:spcPts val="1000"/>
              </a:spcAft>
            </a:pPr>
            <a:r>
              <a:rPr lang="en-IE" sz="1200" b="1" err="1">
                <a:solidFill>
                  <a:srgbClr val="2A2A2A"/>
                </a:solidFill>
                <a:latin typeface="Calibri"/>
              </a:rPr>
              <a:t>f_kill</a:t>
            </a:r>
            <a:r>
              <a:rPr lang="en-IE" sz="1200" b="1">
                <a:solidFill>
                  <a:srgbClr val="2A2A2A"/>
                </a:solidFill>
                <a:latin typeface="Calibri"/>
              </a:rPr>
              <a:t> = 1 - Q/PD1_tot</a:t>
            </a:r>
            <a:endParaRPr lang="en-IE" sz="1200" b="1" noProof="0">
              <a:solidFill>
                <a:srgbClr val="2A2A2A"/>
              </a:solidFill>
              <a:latin typeface="Calibri"/>
            </a:endParaRPr>
          </a:p>
        </p:txBody>
      </p:sp>
      <p:graphicFrame>
        <p:nvGraphicFramePr>
          <p:cNvPr id="48" name="Table 47">
            <a:extLst>
              <a:ext uri="{FF2B5EF4-FFF2-40B4-BE49-F238E27FC236}">
                <a16:creationId xmlns:a16="http://schemas.microsoft.com/office/drawing/2014/main" id="{57043F60-D6B7-E6F0-D88E-D9F4AB3BA1A5}"/>
              </a:ext>
            </a:extLst>
          </p:cNvPr>
          <p:cNvGraphicFramePr>
            <a:graphicFrameLocks noGrp="1"/>
          </p:cNvGraphicFramePr>
          <p:nvPr>
            <p:extLst>
              <p:ext uri="{D42A27DB-BD31-4B8C-83A1-F6EECF244321}">
                <p14:modId xmlns:p14="http://schemas.microsoft.com/office/powerpoint/2010/main" val="3983273735"/>
              </p:ext>
            </p:extLst>
          </p:nvPr>
        </p:nvGraphicFramePr>
        <p:xfrm>
          <a:off x="5543550" y="1645622"/>
          <a:ext cx="6529578" cy="4644292"/>
        </p:xfrm>
        <a:graphic>
          <a:graphicData uri="http://schemas.openxmlformats.org/drawingml/2006/table">
            <a:tbl>
              <a:tblPr firstRow="1" bandRow="1">
                <a:tableStyleId>{93296810-A885-4BE3-A3E7-6D5BEEA58F35}</a:tableStyleId>
              </a:tblPr>
              <a:tblGrid>
                <a:gridCol w="3278946">
                  <a:extLst>
                    <a:ext uri="{9D8B030D-6E8A-4147-A177-3AD203B41FA5}">
                      <a16:colId xmlns:a16="http://schemas.microsoft.com/office/drawing/2014/main" val="365623342"/>
                    </a:ext>
                  </a:extLst>
                </a:gridCol>
                <a:gridCol w="3250632">
                  <a:extLst>
                    <a:ext uri="{9D8B030D-6E8A-4147-A177-3AD203B41FA5}">
                      <a16:colId xmlns:a16="http://schemas.microsoft.com/office/drawing/2014/main" val="1786872221"/>
                    </a:ext>
                  </a:extLst>
                </a:gridCol>
              </a:tblGrid>
              <a:tr h="848296">
                <a:tc>
                  <a:txBody>
                    <a:bodyPr/>
                    <a:lstStyle/>
                    <a:p>
                      <a:r>
                        <a:rPr lang="en-US" b="0" i="0">
                          <a:latin typeface="Calibri" panose="020F0502020204030204" pitchFamily="34" charset="0"/>
                          <a:cs typeface="Calibri" panose="020F0502020204030204" pitchFamily="34" charset="0"/>
                        </a:rPr>
                        <a:t>Symbol</a:t>
                      </a:r>
                    </a:p>
                  </a:txBody>
                  <a:tcPr/>
                </a:tc>
                <a:tc>
                  <a:txBody>
                    <a:bodyPr/>
                    <a:lstStyle/>
                    <a:p>
                      <a:r>
                        <a:rPr lang="en-US" b="0" i="0">
                          <a:latin typeface="Calibri" panose="020F0502020204030204" pitchFamily="34" charset="0"/>
                          <a:cs typeface="Calibri" panose="020F0502020204030204" pitchFamily="34" charset="0"/>
                        </a:rPr>
                        <a:t>Meaning</a:t>
                      </a:r>
                    </a:p>
                  </a:txBody>
                  <a:tcPr/>
                </a:tc>
                <a:extLst>
                  <a:ext uri="{0D108BD9-81ED-4DB2-BD59-A6C34878D82A}">
                    <a16:rowId xmlns:a16="http://schemas.microsoft.com/office/drawing/2014/main" val="1007362646"/>
                  </a:ext>
                </a:extLst>
              </a:tr>
              <a:tr h="702193">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PDCD1_TOTAL_0, PDL1_TOTAL_0</a:t>
                      </a:r>
                    </a:p>
                  </a:txBody>
                  <a:tcPr marL="85725" marR="85725" marT="47625" marB="47625"/>
                </a:tc>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Baseline PD-1 / PD-L1 pool sizes at mean expression (universal)</a:t>
                      </a:r>
                    </a:p>
                  </a:txBody>
                  <a:tcPr marL="85725" marR="85725" marT="47625" marB="47625"/>
                </a:tc>
                <a:extLst>
                  <a:ext uri="{0D108BD9-81ED-4DB2-BD59-A6C34878D82A}">
                    <a16:rowId xmlns:a16="http://schemas.microsoft.com/office/drawing/2014/main" val="3609495821"/>
                  </a:ext>
                </a:extLst>
              </a:tr>
              <a:tr h="910152">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PDCD1_expr, CD274_expr</a:t>
                      </a:r>
                    </a:p>
                  </a:txBody>
                  <a:tcPr marL="85725" marR="85725" marT="47625" marB="47625"/>
                </a:tc>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Patient's PDCD1 / CD274 expression (normalised)</a:t>
                      </a:r>
                    </a:p>
                  </a:txBody>
                  <a:tcPr marL="85725" marR="85725" marT="47625" marB="47625"/>
                </a:tc>
                <a:extLst>
                  <a:ext uri="{0D108BD9-81ED-4DB2-BD59-A6C34878D82A}">
                    <a16:rowId xmlns:a16="http://schemas.microsoft.com/office/drawing/2014/main" val="3988572919"/>
                  </a:ext>
                </a:extLst>
              </a:tr>
              <a:tr h="910152">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antiPD1</a:t>
                      </a:r>
                    </a:p>
                  </a:txBody>
                  <a:tcPr marL="85725" marR="85725" marT="47625" marB="47625"/>
                </a:tc>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Anti-PD-1 concentration (nM) — the dose being swept</a:t>
                      </a:r>
                    </a:p>
                  </a:txBody>
                  <a:tcPr marL="85725" marR="85725" marT="47625" marB="47625"/>
                </a:tc>
                <a:extLst>
                  <a:ext uri="{0D108BD9-81ED-4DB2-BD59-A6C34878D82A}">
                    <a16:rowId xmlns:a16="http://schemas.microsoft.com/office/drawing/2014/main" val="4115612262"/>
                  </a:ext>
                </a:extLst>
              </a:tr>
              <a:tr h="707969">
                <a:tc>
                  <a:txBody>
                    <a:bodyPr/>
                    <a:lstStyle/>
                    <a:p>
                      <a:pPr algn="l" fontAlgn="t" latinLnBrk="0">
                        <a:buNone/>
                      </a:pPr>
                      <a:r>
                        <a:rPr lang="en-US" sz="975" b="0" i="0" err="1">
                          <a:solidFill>
                            <a:schemeClr val="tx1"/>
                          </a:solidFill>
                          <a:effectLst/>
                          <a:latin typeface="Calibri" panose="020F0502020204030204" pitchFamily="34" charset="0"/>
                          <a:cs typeface="Calibri" panose="020F0502020204030204" pitchFamily="34" charset="0"/>
                        </a:rPr>
                        <a:t>Kd_PA</a:t>
                      </a:r>
                      <a:endParaRPr lang="en-US" sz="975" b="0" i="0">
                        <a:solidFill>
                          <a:schemeClr val="tx1"/>
                        </a:solidFill>
                        <a:effectLst/>
                        <a:latin typeface="Calibri" panose="020F0502020204030204" pitchFamily="34" charset="0"/>
                        <a:cs typeface="Calibri" panose="020F0502020204030204" pitchFamily="34" charset="0"/>
                      </a:endParaRPr>
                    </a:p>
                  </a:txBody>
                  <a:tcPr marL="85725" marR="85725" marT="47625" marB="47625"/>
                </a:tc>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Anti-PD-1's binding affinity for PD-1 (universal)</a:t>
                      </a:r>
                    </a:p>
                  </a:txBody>
                  <a:tcPr marL="85725" marR="85725" marT="47625" marB="47625"/>
                </a:tc>
                <a:extLst>
                  <a:ext uri="{0D108BD9-81ED-4DB2-BD59-A6C34878D82A}">
                    <a16:rowId xmlns:a16="http://schemas.microsoft.com/office/drawing/2014/main" val="169664877"/>
                  </a:ext>
                </a:extLst>
              </a:tr>
              <a:tr h="565530">
                <a:tc>
                  <a:txBody>
                    <a:bodyPr/>
                    <a:lstStyle/>
                    <a:p>
                      <a:pPr algn="l" fontAlgn="t" latinLnBrk="0">
                        <a:buNone/>
                      </a:pPr>
                      <a:r>
                        <a:rPr lang="en-US" sz="975" b="0" i="0" err="1">
                          <a:solidFill>
                            <a:schemeClr val="tx1"/>
                          </a:solidFill>
                          <a:effectLst/>
                          <a:latin typeface="Calibri" panose="020F0502020204030204" pitchFamily="34" charset="0"/>
                          <a:cs typeface="Calibri" panose="020F0502020204030204" pitchFamily="34" charset="0"/>
                        </a:rPr>
                        <a:t>Kd_PL</a:t>
                      </a:r>
                      <a:endParaRPr lang="en-US" sz="975" b="0" i="0">
                        <a:solidFill>
                          <a:schemeClr val="tx1"/>
                        </a:solidFill>
                        <a:effectLst/>
                        <a:latin typeface="Calibri" panose="020F0502020204030204" pitchFamily="34" charset="0"/>
                        <a:cs typeface="Calibri" panose="020F0502020204030204" pitchFamily="34" charset="0"/>
                      </a:endParaRPr>
                    </a:p>
                  </a:txBody>
                  <a:tcPr marL="85725" marR="85725" marT="47625" marB="47625"/>
                </a:tc>
                <a:tc>
                  <a:txBody>
                    <a:bodyPr/>
                    <a:lstStyle/>
                    <a:p>
                      <a:pPr algn="l" fontAlgn="t" latinLnBrk="0">
                        <a:buNone/>
                      </a:pPr>
                      <a:r>
                        <a:rPr lang="en-US" sz="975" b="0" i="0">
                          <a:solidFill>
                            <a:schemeClr val="tx1"/>
                          </a:solidFill>
                          <a:effectLst/>
                          <a:latin typeface="Calibri" panose="020F0502020204030204" pitchFamily="34" charset="0"/>
                          <a:cs typeface="Calibri" panose="020F0502020204030204" pitchFamily="34" charset="0"/>
                        </a:rPr>
                        <a:t>PD-1·PD-L1 complex binding affinity (universal)</a:t>
                      </a:r>
                    </a:p>
                  </a:txBody>
                  <a:tcPr marL="85725" marR="85725" marT="47625" marB="47625"/>
                </a:tc>
                <a:extLst>
                  <a:ext uri="{0D108BD9-81ED-4DB2-BD59-A6C34878D82A}">
                    <a16:rowId xmlns:a16="http://schemas.microsoft.com/office/drawing/2014/main" val="564215561"/>
                  </a:ext>
                </a:extLst>
              </a:tr>
            </a:tbl>
          </a:graphicData>
        </a:graphic>
      </p:graphicFrame>
      <p:sp>
        <p:nvSpPr>
          <p:cNvPr id="6" name="TextBox 5">
            <a:extLst>
              <a:ext uri="{FF2B5EF4-FFF2-40B4-BE49-F238E27FC236}">
                <a16:creationId xmlns:a16="http://schemas.microsoft.com/office/drawing/2014/main" id="{C4190B47-5168-26E5-BC61-DC3F746FAE97}"/>
              </a:ext>
            </a:extLst>
          </p:cNvPr>
          <p:cNvSpPr txBox="1"/>
          <p:nvPr/>
        </p:nvSpPr>
        <p:spPr>
          <a:xfrm>
            <a:off x="4291664" y="5752649"/>
            <a:ext cx="1451202" cy="369332"/>
          </a:xfrm>
          <a:prstGeom prst="rect">
            <a:avLst/>
          </a:prstGeom>
          <a:noFill/>
        </p:spPr>
        <p:txBody>
          <a:bodyPr wrap="square">
            <a:spAutoFit/>
          </a:bodyPr>
          <a:lstStyle/>
          <a:p>
            <a:pPr lvl="0"/>
            <a:r>
              <a:rPr lang="en-US" sz="900">
                <a:latin typeface="Calibri" panose="020F0502020204030204" pitchFamily="34" charset="0"/>
                <a:cs typeface="Calibri" panose="020F0502020204030204" pitchFamily="34" charset="0"/>
              </a:rPr>
              <a:t>Lai &amp; Friedman (2017), Rooney et al. (2015)</a:t>
            </a:r>
          </a:p>
        </p:txBody>
      </p:sp>
    </p:spTree>
    <p:extLst>
      <p:ext uri="{BB962C8B-B14F-4D97-AF65-F5344CB8AC3E}">
        <p14:creationId xmlns:p14="http://schemas.microsoft.com/office/powerpoint/2010/main" val="19015705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365760" y="256032"/>
            <a:ext cx="11430000" cy="415498"/>
          </a:xfrm>
          <a:prstGeom prst="rect">
            <a:avLst/>
          </a:prstGeom>
          <a:noFill/>
        </p:spPr>
        <p:txBody>
          <a:bodyPr wrap="square" lIns="0" tIns="0" rIns="0" bIns="0" anchor="t">
            <a:spAutoFit/>
          </a:bodyPr>
          <a:lstStyle/>
          <a:p>
            <a:r>
              <a:rPr lang="en-IE" sz="2700" b="1" i="0" noProof="0">
                <a:solidFill>
                  <a:srgbClr val="1B2A4A"/>
                </a:solidFill>
                <a:latin typeface="Calibri"/>
              </a:rPr>
              <a:t>The </a:t>
            </a:r>
            <a:r>
              <a:rPr lang="en-IE" sz="2700" b="1">
                <a:solidFill>
                  <a:srgbClr val="1B2A4A"/>
                </a:solidFill>
                <a:latin typeface="Calibri"/>
              </a:rPr>
              <a:t>ODE digital</a:t>
            </a:r>
            <a:r>
              <a:rPr lang="en-IE" sz="2700" b="1" i="0" noProof="0">
                <a:solidFill>
                  <a:srgbClr val="1B2A4A"/>
                </a:solidFill>
                <a:latin typeface="Calibri"/>
              </a:rPr>
              <a:t> twin simulates immunotherapy response</a:t>
            </a:r>
          </a:p>
        </p:txBody>
      </p:sp>
      <p:sp>
        <p:nvSpPr>
          <p:cNvPr id="3" name="Rectangle 2"/>
          <p:cNvSpPr/>
          <p:nvPr/>
        </p:nvSpPr>
        <p:spPr>
          <a:xfrm>
            <a:off x="365760" y="914400"/>
            <a:ext cx="1280160" cy="45720"/>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noProof="0"/>
          </a:p>
        </p:txBody>
      </p:sp>
      <p:sp>
        <p:nvSpPr>
          <p:cNvPr id="4" name="TextBox 3"/>
          <p:cNvSpPr txBox="1"/>
          <p:nvPr/>
        </p:nvSpPr>
        <p:spPr>
          <a:xfrm>
            <a:off x="365760" y="1005840"/>
            <a:ext cx="11430000" cy="200055"/>
          </a:xfrm>
          <a:prstGeom prst="rect">
            <a:avLst/>
          </a:prstGeom>
          <a:noFill/>
        </p:spPr>
        <p:txBody>
          <a:bodyPr wrap="square" lIns="0" tIns="0" rIns="0" bIns="0" anchor="t">
            <a:spAutoFit/>
          </a:bodyPr>
          <a:lstStyle/>
          <a:p>
            <a:pPr algn="l"/>
            <a:r>
              <a:rPr lang="en-IE" sz="1300" i="1" noProof="0">
                <a:solidFill>
                  <a:srgbClr val="6B6B6B"/>
                </a:solidFill>
                <a:latin typeface="Calibri"/>
              </a:rPr>
              <a:t>One shared tumour-immune equation – driven by a simulated anti-PD-1 checkpoint axis instead of </a:t>
            </a:r>
            <a:r>
              <a:rPr lang="en-IE" sz="1300" i="1" noProof="0" err="1">
                <a:solidFill>
                  <a:srgbClr val="6B6B6B"/>
                </a:solidFill>
                <a:latin typeface="Calibri"/>
              </a:rPr>
              <a:t>BRAFi</a:t>
            </a:r>
            <a:r>
              <a:rPr lang="en-IE" sz="1300" i="1" noProof="0">
                <a:solidFill>
                  <a:srgbClr val="6B6B6B"/>
                </a:solidFill>
                <a:latin typeface="Calibri"/>
              </a:rPr>
              <a:t> – solved per-patient for the 421 TCGA-SKCM cohort. </a:t>
            </a:r>
            <a:endParaRPr lang="en-IE" sz="1300" b="0" i="1" noProof="0">
              <a:solidFill>
                <a:srgbClr val="6B6B6B"/>
              </a:solidFill>
              <a:latin typeface="Calibri"/>
            </a:endParaRPr>
          </a:p>
        </p:txBody>
      </p:sp>
      <p:sp>
        <p:nvSpPr>
          <p:cNvPr id="5" name="Rectangle 4"/>
          <p:cNvSpPr/>
          <p:nvPr/>
        </p:nvSpPr>
        <p:spPr>
          <a:xfrm>
            <a:off x="178021" y="1328972"/>
            <a:ext cx="11457432" cy="16459"/>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noProof="0"/>
          </a:p>
        </p:txBody>
      </p:sp>
      <p:sp>
        <p:nvSpPr>
          <p:cNvPr id="6" name="Rounded Rectangle 5"/>
          <p:cNvSpPr/>
          <p:nvPr/>
        </p:nvSpPr>
        <p:spPr>
          <a:xfrm>
            <a:off x="1189746" y="1658917"/>
            <a:ext cx="2730428" cy="747648"/>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sz="1200" noProof="0"/>
          </a:p>
        </p:txBody>
      </p:sp>
      <p:sp>
        <p:nvSpPr>
          <p:cNvPr id="7" name="Oval 6"/>
          <p:cNvSpPr/>
          <p:nvPr/>
        </p:nvSpPr>
        <p:spPr>
          <a:xfrm>
            <a:off x="1417843" y="1903393"/>
            <a:ext cx="347472" cy="347472"/>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sz="1200" noProof="0"/>
          </a:p>
        </p:txBody>
      </p:sp>
      <p:sp>
        <p:nvSpPr>
          <p:cNvPr id="8" name="TextBox 7"/>
          <p:cNvSpPr txBox="1"/>
          <p:nvPr/>
        </p:nvSpPr>
        <p:spPr>
          <a:xfrm>
            <a:off x="1856755" y="1832150"/>
            <a:ext cx="1376060" cy="184666"/>
          </a:xfrm>
          <a:prstGeom prst="rect">
            <a:avLst/>
          </a:prstGeom>
          <a:noFill/>
        </p:spPr>
        <p:txBody>
          <a:bodyPr wrap="square" lIns="0" tIns="0" rIns="0" bIns="0" anchor="t">
            <a:spAutoFit/>
          </a:bodyPr>
          <a:lstStyle/>
          <a:p>
            <a:pPr algn="l"/>
            <a:r>
              <a:rPr lang="en-IE" sz="1200" b="1" i="0" noProof="0">
                <a:solidFill>
                  <a:srgbClr val="6B6B6B"/>
                </a:solidFill>
                <a:latin typeface="Calibri"/>
              </a:rPr>
              <a:t>PATIENTS SIMULATED</a:t>
            </a:r>
          </a:p>
        </p:txBody>
      </p:sp>
      <p:sp>
        <p:nvSpPr>
          <p:cNvPr id="9" name="TextBox 8"/>
          <p:cNvSpPr txBox="1"/>
          <p:nvPr/>
        </p:nvSpPr>
        <p:spPr>
          <a:xfrm>
            <a:off x="1856755" y="2052244"/>
            <a:ext cx="1155191" cy="184666"/>
          </a:xfrm>
          <a:prstGeom prst="rect">
            <a:avLst/>
          </a:prstGeom>
          <a:noFill/>
        </p:spPr>
        <p:txBody>
          <a:bodyPr wrap="square" lIns="0" tIns="0" rIns="0" bIns="0" anchor="ctr">
            <a:spAutoFit/>
          </a:bodyPr>
          <a:lstStyle/>
          <a:p>
            <a:pPr algn="l"/>
            <a:r>
              <a:rPr lang="en-IE" sz="1200" b="1" i="0" noProof="0">
                <a:solidFill>
                  <a:srgbClr val="1B2A4A"/>
                </a:solidFill>
                <a:latin typeface="Calibri"/>
              </a:rPr>
              <a:t>421</a:t>
            </a:r>
          </a:p>
        </p:txBody>
      </p:sp>
      <p:sp>
        <p:nvSpPr>
          <p:cNvPr id="10" name="Rounded Rectangle 9"/>
          <p:cNvSpPr/>
          <p:nvPr/>
        </p:nvSpPr>
        <p:spPr>
          <a:xfrm>
            <a:off x="4140537" y="1651519"/>
            <a:ext cx="3114268" cy="755046"/>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sz="1200" noProof="0"/>
          </a:p>
        </p:txBody>
      </p:sp>
      <p:sp>
        <p:nvSpPr>
          <p:cNvPr id="11" name="Oval 10"/>
          <p:cNvSpPr/>
          <p:nvPr/>
        </p:nvSpPr>
        <p:spPr>
          <a:xfrm>
            <a:off x="4413022" y="1844209"/>
            <a:ext cx="347472" cy="347472"/>
          </a:xfrm>
          <a:prstGeom prst="ellipse">
            <a:avLst/>
          </a:prstGeom>
          <a:solidFill>
            <a:srgbClr val="0E6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sz="1200" noProof="0"/>
          </a:p>
        </p:txBody>
      </p:sp>
      <p:sp>
        <p:nvSpPr>
          <p:cNvPr id="12" name="TextBox 11"/>
          <p:cNvSpPr txBox="1"/>
          <p:nvPr/>
        </p:nvSpPr>
        <p:spPr>
          <a:xfrm>
            <a:off x="4850386" y="1836513"/>
            <a:ext cx="1555849" cy="184666"/>
          </a:xfrm>
          <a:prstGeom prst="rect">
            <a:avLst/>
          </a:prstGeom>
          <a:noFill/>
        </p:spPr>
        <p:txBody>
          <a:bodyPr wrap="square" lIns="0" tIns="0" rIns="0" bIns="0" anchor="t">
            <a:spAutoFit/>
          </a:bodyPr>
          <a:lstStyle/>
          <a:p>
            <a:pPr algn="l"/>
            <a:r>
              <a:rPr lang="en-IE" sz="1200" b="1" i="0" noProof="0">
                <a:solidFill>
                  <a:srgbClr val="6B6B6B"/>
                </a:solidFill>
                <a:latin typeface="Calibri"/>
              </a:rPr>
              <a:t>ANTI-PD-1 DOSE RANGE</a:t>
            </a:r>
          </a:p>
        </p:txBody>
      </p:sp>
      <p:sp>
        <p:nvSpPr>
          <p:cNvPr id="13" name="TextBox 12"/>
          <p:cNvSpPr txBox="1"/>
          <p:nvPr/>
        </p:nvSpPr>
        <p:spPr>
          <a:xfrm>
            <a:off x="4947799" y="2077394"/>
            <a:ext cx="1155191" cy="184666"/>
          </a:xfrm>
          <a:prstGeom prst="rect">
            <a:avLst/>
          </a:prstGeom>
          <a:noFill/>
        </p:spPr>
        <p:txBody>
          <a:bodyPr wrap="square" lIns="0" tIns="0" rIns="0" bIns="0" anchor="ctr">
            <a:spAutoFit/>
          </a:bodyPr>
          <a:lstStyle/>
          <a:p>
            <a:pPr algn="l"/>
            <a:r>
              <a:rPr lang="en-IE" sz="1200" b="1" noProof="0">
                <a:solidFill>
                  <a:srgbClr val="1B2A4A"/>
                </a:solidFill>
                <a:latin typeface="Calibri"/>
              </a:rPr>
              <a:t>0-500 </a:t>
            </a:r>
            <a:r>
              <a:rPr lang="en-IE" sz="1200" b="1" noProof="0" err="1">
                <a:solidFill>
                  <a:srgbClr val="1B2A4A"/>
                </a:solidFill>
                <a:latin typeface="Calibri"/>
              </a:rPr>
              <a:t>nM</a:t>
            </a:r>
            <a:endParaRPr lang="en-IE" sz="1200" b="1" i="0" noProof="0">
              <a:solidFill>
                <a:srgbClr val="1B2A4A"/>
              </a:solidFill>
              <a:latin typeface="Calibri"/>
            </a:endParaRPr>
          </a:p>
        </p:txBody>
      </p:sp>
      <p:sp>
        <p:nvSpPr>
          <p:cNvPr id="14" name="Rounded Rectangle 13"/>
          <p:cNvSpPr/>
          <p:nvPr/>
        </p:nvSpPr>
        <p:spPr>
          <a:xfrm>
            <a:off x="7478599" y="1644121"/>
            <a:ext cx="2864055" cy="762444"/>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sz="1200" noProof="0"/>
          </a:p>
        </p:txBody>
      </p:sp>
      <p:sp>
        <p:nvSpPr>
          <p:cNvPr id="15" name="Oval 14"/>
          <p:cNvSpPr/>
          <p:nvPr/>
        </p:nvSpPr>
        <p:spPr>
          <a:xfrm>
            <a:off x="7699299" y="1833166"/>
            <a:ext cx="336429" cy="347472"/>
          </a:xfrm>
          <a:prstGeom prst="ellipse">
            <a:avLst/>
          </a:prstGeom>
          <a:solidFill>
            <a:srgbClr val="2A6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sz="1200" noProof="0"/>
          </a:p>
        </p:txBody>
      </p:sp>
      <p:sp>
        <p:nvSpPr>
          <p:cNvPr id="16" name="TextBox 15"/>
          <p:cNvSpPr txBox="1"/>
          <p:nvPr/>
        </p:nvSpPr>
        <p:spPr>
          <a:xfrm>
            <a:off x="8187749" y="1833025"/>
            <a:ext cx="1365017" cy="184666"/>
          </a:xfrm>
          <a:prstGeom prst="rect">
            <a:avLst/>
          </a:prstGeom>
          <a:noFill/>
        </p:spPr>
        <p:txBody>
          <a:bodyPr wrap="square" lIns="0" tIns="0" rIns="0" bIns="0" anchor="t">
            <a:spAutoFit/>
          </a:bodyPr>
          <a:lstStyle/>
          <a:p>
            <a:pPr algn="l"/>
            <a:r>
              <a:rPr lang="en-IE" sz="1200" b="1" noProof="0">
                <a:solidFill>
                  <a:srgbClr val="6B6B6B"/>
                </a:solidFill>
                <a:latin typeface="Calibri"/>
              </a:rPr>
              <a:t>CHECKPOINT INPUTS</a:t>
            </a:r>
            <a:endParaRPr lang="en-IE" sz="1200" b="1" i="0" noProof="0">
              <a:solidFill>
                <a:srgbClr val="6B6B6B"/>
              </a:solidFill>
              <a:latin typeface="Calibri"/>
            </a:endParaRPr>
          </a:p>
        </p:txBody>
      </p:sp>
      <p:sp>
        <p:nvSpPr>
          <p:cNvPr id="17" name="TextBox 16"/>
          <p:cNvSpPr txBox="1"/>
          <p:nvPr/>
        </p:nvSpPr>
        <p:spPr>
          <a:xfrm>
            <a:off x="8245949" y="2054431"/>
            <a:ext cx="1250476" cy="184666"/>
          </a:xfrm>
          <a:prstGeom prst="rect">
            <a:avLst/>
          </a:prstGeom>
          <a:noFill/>
        </p:spPr>
        <p:txBody>
          <a:bodyPr wrap="square" lIns="0" tIns="0" rIns="0" bIns="0" anchor="ctr">
            <a:spAutoFit/>
          </a:bodyPr>
          <a:lstStyle/>
          <a:p>
            <a:pPr algn="l"/>
            <a:r>
              <a:rPr lang="en-IE" sz="1200" b="1" noProof="0">
                <a:solidFill>
                  <a:srgbClr val="1B2A4A"/>
                </a:solidFill>
                <a:latin typeface="Calibri"/>
              </a:rPr>
              <a:t>PD-1, PD-L1, CYT</a:t>
            </a:r>
            <a:endParaRPr lang="en-IE" sz="1200" b="1" i="0" noProof="0">
              <a:solidFill>
                <a:srgbClr val="1B2A4A"/>
              </a:solidFill>
              <a:latin typeface="Calibri"/>
            </a:endParaRPr>
          </a:p>
        </p:txBody>
      </p:sp>
      <p:sp>
        <p:nvSpPr>
          <p:cNvPr id="34" name="Rounded Rectangle 33"/>
          <p:cNvSpPr/>
          <p:nvPr/>
        </p:nvSpPr>
        <p:spPr>
          <a:xfrm>
            <a:off x="1187425" y="2641429"/>
            <a:ext cx="9270491" cy="47548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noProof="0"/>
          </a:p>
        </p:txBody>
      </p:sp>
      <p:sp>
        <p:nvSpPr>
          <p:cNvPr id="35" name="TextBox 34"/>
          <p:cNvSpPr txBox="1"/>
          <p:nvPr/>
        </p:nvSpPr>
        <p:spPr>
          <a:xfrm>
            <a:off x="2674989" y="2755537"/>
            <a:ext cx="6289971" cy="246221"/>
          </a:xfrm>
          <a:prstGeom prst="rect">
            <a:avLst/>
          </a:prstGeom>
          <a:noFill/>
        </p:spPr>
        <p:txBody>
          <a:bodyPr wrap="square" lIns="0" tIns="0" rIns="0" bIns="0" anchor="ctr">
            <a:spAutoFit/>
          </a:bodyPr>
          <a:lstStyle/>
          <a:p>
            <a:pPr algn="ctr"/>
            <a:r>
              <a:rPr lang="en-IE" sz="1600" b="1" noProof="0">
                <a:solidFill>
                  <a:srgbClr val="FFFFFF"/>
                </a:solidFill>
                <a:latin typeface="Calibri"/>
              </a:rPr>
              <a:t>How the Targeted arm &amp; Immunotherapy arm are different</a:t>
            </a:r>
            <a:endParaRPr lang="en-IE" sz="1600" b="1" i="0" noProof="0">
              <a:solidFill>
                <a:srgbClr val="FFFFFF"/>
              </a:solidFill>
              <a:latin typeface="Calibri"/>
              <a:ea typeface="Calibri"/>
              <a:cs typeface="Calibri"/>
            </a:endParaRPr>
          </a:p>
        </p:txBody>
      </p:sp>
      <p:sp>
        <p:nvSpPr>
          <p:cNvPr id="36" name="Rectangle 35"/>
          <p:cNvSpPr/>
          <p:nvPr/>
        </p:nvSpPr>
        <p:spPr>
          <a:xfrm>
            <a:off x="1188837" y="3095598"/>
            <a:ext cx="9280915" cy="2827944"/>
          </a:xfrm>
          <a:prstGeom prst="rect">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noProof="0"/>
          </a:p>
        </p:txBody>
      </p:sp>
      <p:sp>
        <p:nvSpPr>
          <p:cNvPr id="37" name="TextBox 36"/>
          <p:cNvSpPr txBox="1"/>
          <p:nvPr/>
        </p:nvSpPr>
        <p:spPr>
          <a:xfrm>
            <a:off x="1761693" y="3587426"/>
            <a:ext cx="7726594" cy="1579920"/>
          </a:xfrm>
          <a:prstGeom prst="rect">
            <a:avLst/>
          </a:prstGeom>
          <a:noFill/>
        </p:spPr>
        <p:txBody>
          <a:bodyPr wrap="square" lIns="0" tIns="45720" rIns="0" bIns="45720" anchor="t">
            <a:spAutoFit/>
          </a:bodyPr>
          <a:lstStyle/>
          <a:p>
            <a:pPr marL="285750" indent="-285750">
              <a:spcAft>
                <a:spcPts val="1000"/>
              </a:spcAft>
              <a:buFont typeface="Arial,Sans-Serif"/>
              <a:buChar char="•"/>
            </a:pPr>
            <a:r>
              <a:rPr lang="en-IE" sz="1600" b="1">
                <a:solidFill>
                  <a:srgbClr val="2A2A2A"/>
                </a:solidFill>
                <a:latin typeface="Calibri"/>
                <a:ea typeface="Calibri"/>
                <a:cs typeface="Calibri"/>
              </a:rPr>
              <a:t>Shared Mechanism – </a:t>
            </a:r>
            <a:r>
              <a:rPr lang="en-IE" sz="1600">
                <a:solidFill>
                  <a:srgbClr val="2A2A2A"/>
                </a:solidFill>
                <a:latin typeface="Calibri"/>
                <a:ea typeface="Calibri"/>
                <a:cs typeface="Calibri"/>
              </a:rPr>
              <a:t>both arms use the same tumour-immune equation: growth </a:t>
            </a:r>
            <a:r>
              <a:rPr lang="en-IE" sz="1600">
                <a:solidFill>
                  <a:srgbClr val="000000"/>
                </a:solidFill>
                <a:latin typeface="Calibri"/>
                <a:ea typeface="Calibri"/>
                <a:cs typeface="Calibri"/>
              </a:rPr>
              <a:t>→ </a:t>
            </a:r>
            <a:r>
              <a:rPr lang="en-IE" sz="1600">
                <a:solidFill>
                  <a:srgbClr val="2A2A2A"/>
                </a:solidFill>
                <a:latin typeface="Calibri"/>
                <a:ea typeface="Calibri"/>
                <a:cs typeface="Calibri"/>
              </a:rPr>
              <a:t>CD8killing </a:t>
            </a:r>
            <a:r>
              <a:rPr lang="en-IE" sz="1600">
                <a:solidFill>
                  <a:srgbClr val="000000"/>
                </a:solidFill>
                <a:latin typeface="Calibri"/>
                <a:ea typeface="Calibri"/>
                <a:cs typeface="Calibri"/>
              </a:rPr>
              <a:t>→ </a:t>
            </a:r>
            <a:r>
              <a:rPr lang="en-IE" sz="1600">
                <a:solidFill>
                  <a:srgbClr val="2A2A2A"/>
                </a:solidFill>
                <a:latin typeface="Calibri"/>
                <a:ea typeface="Calibri"/>
                <a:cs typeface="Calibri"/>
              </a:rPr>
              <a:t>death</a:t>
            </a:r>
            <a:endParaRPr lang="en-US" sz="1600">
              <a:solidFill>
                <a:srgbClr val="000000"/>
              </a:solidFill>
              <a:latin typeface="Calibri"/>
              <a:ea typeface="Calibri"/>
              <a:cs typeface="Calibri"/>
            </a:endParaRPr>
          </a:p>
          <a:p>
            <a:pPr marL="285750" indent="-285750">
              <a:spcAft>
                <a:spcPts val="1000"/>
              </a:spcAft>
              <a:buFont typeface="Arial"/>
              <a:buChar char="•"/>
            </a:pPr>
            <a:r>
              <a:rPr lang="en-IE" sz="1600" b="1" noProof="0">
                <a:solidFill>
                  <a:srgbClr val="2A2A2A"/>
                </a:solidFill>
                <a:latin typeface="Calibri"/>
              </a:rPr>
              <a:t>Targeted arm (</a:t>
            </a:r>
            <a:r>
              <a:rPr lang="en-IE" sz="1600" b="1" noProof="0" err="1">
                <a:solidFill>
                  <a:srgbClr val="2A2A2A"/>
                </a:solidFill>
                <a:latin typeface="Calibri"/>
              </a:rPr>
              <a:t>BRAFi</a:t>
            </a:r>
            <a:r>
              <a:rPr lang="en-IE" sz="1600" b="1" noProof="0">
                <a:solidFill>
                  <a:srgbClr val="2A2A2A"/>
                </a:solidFill>
                <a:latin typeface="Calibri"/>
              </a:rPr>
              <a:t>) – </a:t>
            </a:r>
            <a:r>
              <a:rPr lang="en-IE" sz="1600" noProof="0">
                <a:solidFill>
                  <a:srgbClr val="2A2A2A"/>
                </a:solidFill>
                <a:latin typeface="Calibri"/>
              </a:rPr>
              <a:t>dials proliferation via </a:t>
            </a:r>
            <a:r>
              <a:rPr lang="en-IE" sz="1600" noProof="0" err="1">
                <a:solidFill>
                  <a:srgbClr val="2A2A2A"/>
                </a:solidFill>
                <a:latin typeface="Calibri"/>
              </a:rPr>
              <a:t>pERK</a:t>
            </a:r>
            <a:r>
              <a:rPr lang="en-IE" sz="1600" noProof="0">
                <a:solidFill>
                  <a:srgbClr val="2A2A2A"/>
                </a:solidFill>
                <a:latin typeface="Calibri"/>
              </a:rPr>
              <a:t>; checkpoint held at baseline</a:t>
            </a:r>
            <a:endParaRPr lang="en-US" sz="1600"/>
          </a:p>
          <a:p>
            <a:pPr marL="285750" indent="-285750">
              <a:spcAft>
                <a:spcPts val="1000"/>
              </a:spcAft>
              <a:buFont typeface="Arial"/>
              <a:buChar char="•"/>
            </a:pPr>
            <a:r>
              <a:rPr lang="en-IE" sz="1600" b="1" noProof="0">
                <a:solidFill>
                  <a:srgbClr val="2A2A2A"/>
                </a:solidFill>
                <a:latin typeface="Calibri"/>
              </a:rPr>
              <a:t>Immunotherapy arm (anti-PD-1) – </a:t>
            </a:r>
            <a:r>
              <a:rPr lang="en-IE" sz="1600" noProof="0">
                <a:solidFill>
                  <a:srgbClr val="2A2A2A"/>
                </a:solidFill>
                <a:latin typeface="Calibri"/>
              </a:rPr>
              <a:t>dials CD8 killing via the checkpoint gate; </a:t>
            </a:r>
            <a:r>
              <a:rPr lang="en-IE" sz="1600" noProof="0" err="1">
                <a:solidFill>
                  <a:srgbClr val="2A2A2A"/>
                </a:solidFill>
                <a:latin typeface="Calibri"/>
              </a:rPr>
              <a:t>pERK</a:t>
            </a:r>
            <a:r>
              <a:rPr lang="en-IE" sz="1600" noProof="0">
                <a:solidFill>
                  <a:srgbClr val="2A2A2A"/>
                </a:solidFill>
                <a:latin typeface="Calibri"/>
              </a:rPr>
              <a:t> held at baseline </a:t>
            </a:r>
            <a:endParaRPr lang="en-IE" sz="1600" noProof="0">
              <a:solidFill>
                <a:srgbClr val="2A2A2A"/>
              </a:solidFill>
              <a:latin typeface="Calibri"/>
              <a:ea typeface="Calibri"/>
              <a:cs typeface="Calibri"/>
            </a:endParaRPr>
          </a:p>
        </p:txBody>
      </p:sp>
      <p:sp>
        <p:nvSpPr>
          <p:cNvPr id="38" name="Rounded Rectangle 37"/>
          <p:cNvSpPr/>
          <p:nvPr/>
        </p:nvSpPr>
        <p:spPr>
          <a:xfrm>
            <a:off x="677" y="6332847"/>
            <a:ext cx="12195048" cy="51511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noProof="0"/>
          </a:p>
        </p:txBody>
      </p:sp>
      <p:sp>
        <p:nvSpPr>
          <p:cNvPr id="39" name="Oval 38"/>
          <p:cNvSpPr/>
          <p:nvPr/>
        </p:nvSpPr>
        <p:spPr>
          <a:xfrm>
            <a:off x="175606" y="6453243"/>
            <a:ext cx="274320" cy="274320"/>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noProof="0"/>
          </a:p>
        </p:txBody>
      </p:sp>
      <p:sp>
        <p:nvSpPr>
          <p:cNvPr id="40" name="TextBox 39"/>
          <p:cNvSpPr txBox="1"/>
          <p:nvPr/>
        </p:nvSpPr>
        <p:spPr>
          <a:xfrm>
            <a:off x="559654" y="6452084"/>
            <a:ext cx="10698480" cy="284693"/>
          </a:xfrm>
          <a:prstGeom prst="rect">
            <a:avLst/>
          </a:prstGeom>
          <a:noFill/>
        </p:spPr>
        <p:txBody>
          <a:bodyPr wrap="square" lIns="0" anchor="ctr">
            <a:spAutoFit/>
          </a:bodyPr>
          <a:lstStyle/>
          <a:p>
            <a:r>
              <a:rPr lang="en-IE" sz="1250" b="1" noProof="0">
                <a:solidFill>
                  <a:srgbClr val="FFFFFF"/>
                </a:solidFill>
              </a:rPr>
              <a:t>Takeaway:  </a:t>
            </a:r>
            <a:r>
              <a:rPr lang="en-IE" sz="1250" noProof="0">
                <a:solidFill>
                  <a:srgbClr val="FFFFFF"/>
                </a:solidFill>
              </a:rPr>
              <a:t>Same digital Twin with a new immunotherapy arm which substitutes a checkpoint-gated killing term for the </a:t>
            </a:r>
            <a:r>
              <a:rPr lang="en-IE" sz="1250" noProof="0" err="1">
                <a:solidFill>
                  <a:srgbClr val="FFFFFF"/>
                </a:solidFill>
              </a:rPr>
              <a:t>BRAFi</a:t>
            </a:r>
            <a:r>
              <a:rPr lang="en-IE" sz="1250" noProof="0">
                <a:solidFill>
                  <a:srgbClr val="FFFFFF"/>
                </a:solidFill>
              </a:rPr>
              <a:t>-driven proliferation term.</a:t>
            </a:r>
          </a:p>
        </p:txBody>
      </p:sp>
    </p:spTree>
    <p:extLst>
      <p:ext uri="{BB962C8B-B14F-4D97-AF65-F5344CB8AC3E}">
        <p14:creationId xmlns:p14="http://schemas.microsoft.com/office/powerpoint/2010/main" val="2492905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A5FDA1-DA97-40B5-1CD0-03E7EB97FBB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564F5F-8278-0DA7-0C5E-337D7059CEE5}"/>
              </a:ext>
            </a:extLst>
          </p:cNvPr>
          <p:cNvSpPr txBox="1"/>
          <p:nvPr/>
        </p:nvSpPr>
        <p:spPr>
          <a:xfrm>
            <a:off x="365760" y="256032"/>
            <a:ext cx="11430000" cy="415498"/>
          </a:xfrm>
          <a:prstGeom prst="rect">
            <a:avLst/>
          </a:prstGeom>
          <a:noFill/>
        </p:spPr>
        <p:txBody>
          <a:bodyPr wrap="square" lIns="0" tIns="0" rIns="0" bIns="0" anchor="t">
            <a:spAutoFit/>
          </a:bodyPr>
          <a:lstStyle/>
          <a:p>
            <a:pPr algn="l"/>
            <a:r>
              <a:rPr lang="en-IE" sz="2700" b="1" i="0" noProof="0">
                <a:solidFill>
                  <a:srgbClr val="1B2A4A"/>
                </a:solidFill>
                <a:latin typeface="Calibri"/>
              </a:rPr>
              <a:t> ODE </a:t>
            </a:r>
            <a:r>
              <a:rPr lang="en-IE" sz="2700" b="1" noProof="0">
                <a:solidFill>
                  <a:srgbClr val="1B2A4A"/>
                </a:solidFill>
                <a:latin typeface="Calibri"/>
              </a:rPr>
              <a:t>checkpoint</a:t>
            </a:r>
            <a:r>
              <a:rPr lang="en-IE" sz="2700" b="1" i="0" noProof="0">
                <a:solidFill>
                  <a:srgbClr val="1B2A4A"/>
                </a:solidFill>
                <a:latin typeface="Calibri"/>
              </a:rPr>
              <a:t> burden stratifies real survival</a:t>
            </a:r>
          </a:p>
        </p:txBody>
      </p:sp>
      <p:sp>
        <p:nvSpPr>
          <p:cNvPr id="3" name="Rectangle 2">
            <a:extLst>
              <a:ext uri="{FF2B5EF4-FFF2-40B4-BE49-F238E27FC236}">
                <a16:creationId xmlns:a16="http://schemas.microsoft.com/office/drawing/2014/main" id="{5387BD40-EAEC-C094-C985-8AB1B4B48FA5}"/>
              </a:ext>
            </a:extLst>
          </p:cNvPr>
          <p:cNvSpPr/>
          <p:nvPr/>
        </p:nvSpPr>
        <p:spPr>
          <a:xfrm>
            <a:off x="365760" y="914400"/>
            <a:ext cx="1280160" cy="45720"/>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noProof="0"/>
          </a:p>
        </p:txBody>
      </p:sp>
      <p:sp>
        <p:nvSpPr>
          <p:cNvPr id="4" name="TextBox 3">
            <a:extLst>
              <a:ext uri="{FF2B5EF4-FFF2-40B4-BE49-F238E27FC236}">
                <a16:creationId xmlns:a16="http://schemas.microsoft.com/office/drawing/2014/main" id="{53588725-53B6-230B-E588-EAF64E088586}"/>
              </a:ext>
            </a:extLst>
          </p:cNvPr>
          <p:cNvSpPr txBox="1"/>
          <p:nvPr/>
        </p:nvSpPr>
        <p:spPr>
          <a:xfrm>
            <a:off x="365760" y="1005840"/>
            <a:ext cx="11430000" cy="200055"/>
          </a:xfrm>
          <a:prstGeom prst="rect">
            <a:avLst/>
          </a:prstGeom>
          <a:noFill/>
        </p:spPr>
        <p:txBody>
          <a:bodyPr wrap="square" lIns="0" tIns="0" rIns="0" bIns="0" anchor="t">
            <a:spAutoFit/>
          </a:bodyPr>
          <a:lstStyle/>
          <a:p>
            <a:pPr algn="l"/>
            <a:r>
              <a:rPr lang="en-IE" sz="1300" i="1" noProof="0">
                <a:solidFill>
                  <a:srgbClr val="6B6B6B"/>
                </a:solidFill>
                <a:latin typeface="Calibri"/>
              </a:rPr>
              <a:t>Anti-PD-1 dose-response behaves correctly by PD-L1 status, and the resulting modelled checkpoint burden significantly separates patients by TCGA-SKCM overall survival</a:t>
            </a:r>
            <a:r>
              <a:rPr lang="en-IE" sz="1300" b="0" i="1" noProof="0">
                <a:solidFill>
                  <a:srgbClr val="6B6B6B"/>
                </a:solidFill>
                <a:latin typeface="Calibri"/>
              </a:rPr>
              <a:t>.</a:t>
            </a:r>
          </a:p>
        </p:txBody>
      </p:sp>
      <p:sp>
        <p:nvSpPr>
          <p:cNvPr id="5" name="Rectangle 4">
            <a:extLst>
              <a:ext uri="{FF2B5EF4-FFF2-40B4-BE49-F238E27FC236}">
                <a16:creationId xmlns:a16="http://schemas.microsoft.com/office/drawing/2014/main" id="{529F4FA1-5CDF-33E0-6B5B-24E14E56D521}"/>
              </a:ext>
            </a:extLst>
          </p:cNvPr>
          <p:cNvSpPr/>
          <p:nvPr/>
        </p:nvSpPr>
        <p:spPr>
          <a:xfrm>
            <a:off x="365760" y="1417320"/>
            <a:ext cx="11457432" cy="16459"/>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noProof="0"/>
          </a:p>
        </p:txBody>
      </p:sp>
      <p:sp>
        <p:nvSpPr>
          <p:cNvPr id="6" name="Rounded Rectangle 5">
            <a:extLst>
              <a:ext uri="{FF2B5EF4-FFF2-40B4-BE49-F238E27FC236}">
                <a16:creationId xmlns:a16="http://schemas.microsoft.com/office/drawing/2014/main" id="{10B7CEEE-062E-AF6B-32D5-6D88D782C0CB}"/>
              </a:ext>
            </a:extLst>
          </p:cNvPr>
          <p:cNvSpPr/>
          <p:nvPr/>
        </p:nvSpPr>
        <p:spPr>
          <a:xfrm>
            <a:off x="365760" y="1554480"/>
            <a:ext cx="2761488" cy="77724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noProof="0"/>
          </a:p>
        </p:txBody>
      </p:sp>
      <p:sp>
        <p:nvSpPr>
          <p:cNvPr id="7" name="Oval 6">
            <a:extLst>
              <a:ext uri="{FF2B5EF4-FFF2-40B4-BE49-F238E27FC236}">
                <a16:creationId xmlns:a16="http://schemas.microsoft.com/office/drawing/2014/main" id="{F3FE5D23-E0C6-6BCB-9F14-D2CF0D084016}"/>
              </a:ext>
            </a:extLst>
          </p:cNvPr>
          <p:cNvSpPr/>
          <p:nvPr/>
        </p:nvSpPr>
        <p:spPr>
          <a:xfrm>
            <a:off x="475488" y="1769364"/>
            <a:ext cx="347472" cy="347472"/>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noProof="0"/>
          </a:p>
        </p:txBody>
      </p:sp>
      <p:sp>
        <p:nvSpPr>
          <p:cNvPr id="8" name="TextBox 7">
            <a:extLst>
              <a:ext uri="{FF2B5EF4-FFF2-40B4-BE49-F238E27FC236}">
                <a16:creationId xmlns:a16="http://schemas.microsoft.com/office/drawing/2014/main" id="{6D70BA62-908D-F2EA-DF2F-4AA1B4FCCD7C}"/>
              </a:ext>
            </a:extLst>
          </p:cNvPr>
          <p:cNvSpPr txBox="1"/>
          <p:nvPr/>
        </p:nvSpPr>
        <p:spPr>
          <a:xfrm>
            <a:off x="914400" y="1609344"/>
            <a:ext cx="2121408" cy="146194"/>
          </a:xfrm>
          <a:prstGeom prst="rect">
            <a:avLst/>
          </a:prstGeom>
          <a:noFill/>
        </p:spPr>
        <p:txBody>
          <a:bodyPr wrap="square" lIns="0" tIns="0" rIns="0" bIns="0" anchor="t">
            <a:spAutoFit/>
          </a:bodyPr>
          <a:lstStyle/>
          <a:p>
            <a:pPr algn="l"/>
            <a:r>
              <a:rPr lang="en-IE" sz="950" b="1" i="0" noProof="0">
                <a:solidFill>
                  <a:srgbClr val="6B6B6B"/>
                </a:solidFill>
                <a:latin typeface="Calibri"/>
              </a:rPr>
              <a:t>PATIENTS (ANTI-PD-1 ARM)</a:t>
            </a:r>
          </a:p>
        </p:txBody>
      </p:sp>
      <p:sp>
        <p:nvSpPr>
          <p:cNvPr id="9" name="TextBox 8">
            <a:extLst>
              <a:ext uri="{FF2B5EF4-FFF2-40B4-BE49-F238E27FC236}">
                <a16:creationId xmlns:a16="http://schemas.microsoft.com/office/drawing/2014/main" id="{5430D5B4-2E3A-EBD7-02BB-62E2D802CBCD}"/>
              </a:ext>
            </a:extLst>
          </p:cNvPr>
          <p:cNvSpPr txBox="1"/>
          <p:nvPr/>
        </p:nvSpPr>
        <p:spPr>
          <a:xfrm>
            <a:off x="914400" y="1759256"/>
            <a:ext cx="2121408" cy="427482"/>
          </a:xfrm>
          <a:prstGeom prst="rect">
            <a:avLst/>
          </a:prstGeom>
          <a:noFill/>
        </p:spPr>
        <p:txBody>
          <a:bodyPr wrap="square" lIns="0" tIns="0" rIns="0" bIns="0" anchor="ctr">
            <a:spAutoFit/>
          </a:bodyPr>
          <a:lstStyle/>
          <a:p>
            <a:pPr algn="l"/>
            <a:r>
              <a:rPr lang="en-IE" sz="1500" b="1" i="0" noProof="0">
                <a:solidFill>
                  <a:srgbClr val="1B2A4A"/>
                </a:solidFill>
                <a:latin typeface="Calibri"/>
              </a:rPr>
              <a:t>421</a:t>
            </a:r>
          </a:p>
        </p:txBody>
      </p:sp>
      <p:sp>
        <p:nvSpPr>
          <p:cNvPr id="10" name="Rounded Rectangle 9">
            <a:extLst>
              <a:ext uri="{FF2B5EF4-FFF2-40B4-BE49-F238E27FC236}">
                <a16:creationId xmlns:a16="http://schemas.microsoft.com/office/drawing/2014/main" id="{62A53946-7AC8-2900-56DC-170E9B930517}"/>
              </a:ext>
            </a:extLst>
          </p:cNvPr>
          <p:cNvSpPr/>
          <p:nvPr/>
        </p:nvSpPr>
        <p:spPr>
          <a:xfrm>
            <a:off x="3264408" y="1554480"/>
            <a:ext cx="2761488" cy="77724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noProof="0"/>
          </a:p>
        </p:txBody>
      </p:sp>
      <p:sp>
        <p:nvSpPr>
          <p:cNvPr id="11" name="Oval 10">
            <a:extLst>
              <a:ext uri="{FF2B5EF4-FFF2-40B4-BE49-F238E27FC236}">
                <a16:creationId xmlns:a16="http://schemas.microsoft.com/office/drawing/2014/main" id="{52104C92-0239-23D7-FD05-D6A66EE5F00D}"/>
              </a:ext>
            </a:extLst>
          </p:cNvPr>
          <p:cNvSpPr/>
          <p:nvPr/>
        </p:nvSpPr>
        <p:spPr>
          <a:xfrm>
            <a:off x="3374136" y="1769364"/>
            <a:ext cx="347472" cy="347472"/>
          </a:xfrm>
          <a:prstGeom prst="ellipse">
            <a:avLst/>
          </a:prstGeom>
          <a:solidFill>
            <a:srgbClr val="0E6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noProof="0"/>
          </a:p>
        </p:txBody>
      </p:sp>
      <p:sp>
        <p:nvSpPr>
          <p:cNvPr id="12" name="TextBox 11">
            <a:extLst>
              <a:ext uri="{FF2B5EF4-FFF2-40B4-BE49-F238E27FC236}">
                <a16:creationId xmlns:a16="http://schemas.microsoft.com/office/drawing/2014/main" id="{341CA93C-8232-D309-1BDF-467127CCC4F4}"/>
              </a:ext>
            </a:extLst>
          </p:cNvPr>
          <p:cNvSpPr txBox="1"/>
          <p:nvPr/>
        </p:nvSpPr>
        <p:spPr>
          <a:xfrm>
            <a:off x="3813048" y="1609344"/>
            <a:ext cx="2121408" cy="146194"/>
          </a:xfrm>
          <a:prstGeom prst="rect">
            <a:avLst/>
          </a:prstGeom>
          <a:noFill/>
        </p:spPr>
        <p:txBody>
          <a:bodyPr wrap="square" lIns="0" tIns="0" rIns="0" bIns="0" anchor="t">
            <a:spAutoFit/>
          </a:bodyPr>
          <a:lstStyle/>
          <a:p>
            <a:pPr algn="l"/>
            <a:r>
              <a:rPr lang="en-IE" sz="950" b="1" i="0" noProof="0">
                <a:solidFill>
                  <a:srgbClr val="6B6B6B"/>
                </a:solidFill>
                <a:latin typeface="Calibri"/>
              </a:rPr>
              <a:t>HIGH-PD-L1 </a:t>
            </a:r>
            <a:r>
              <a:rPr lang="en-IE" sz="950" b="1" noProof="0">
                <a:solidFill>
                  <a:srgbClr val="6B6B6B"/>
                </a:solidFill>
                <a:latin typeface="Calibri"/>
              </a:rPr>
              <a:t>BURDEN DROP</a:t>
            </a:r>
            <a:r>
              <a:rPr lang="en-IE" sz="950" b="1" i="0" noProof="0">
                <a:solidFill>
                  <a:srgbClr val="6B6B6B"/>
                </a:solidFill>
                <a:latin typeface="Calibri"/>
              </a:rPr>
              <a:t> </a:t>
            </a:r>
          </a:p>
        </p:txBody>
      </p:sp>
      <p:sp>
        <p:nvSpPr>
          <p:cNvPr id="13" name="TextBox 12">
            <a:extLst>
              <a:ext uri="{FF2B5EF4-FFF2-40B4-BE49-F238E27FC236}">
                <a16:creationId xmlns:a16="http://schemas.microsoft.com/office/drawing/2014/main" id="{C319F06B-B0CF-D373-7C89-20561C5334A1}"/>
              </a:ext>
            </a:extLst>
          </p:cNvPr>
          <p:cNvSpPr txBox="1"/>
          <p:nvPr/>
        </p:nvSpPr>
        <p:spPr>
          <a:xfrm>
            <a:off x="3813048" y="1863984"/>
            <a:ext cx="2121408" cy="230832"/>
          </a:xfrm>
          <a:prstGeom prst="rect">
            <a:avLst/>
          </a:prstGeom>
          <a:noFill/>
        </p:spPr>
        <p:txBody>
          <a:bodyPr wrap="square" lIns="0" tIns="0" rIns="0" bIns="0" anchor="ctr">
            <a:spAutoFit/>
          </a:bodyPr>
          <a:lstStyle/>
          <a:p>
            <a:pPr algn="l"/>
            <a:r>
              <a:rPr lang="en-IE" sz="1500" b="1" noProof="0">
                <a:solidFill>
                  <a:srgbClr val="1B2A4A"/>
                </a:solidFill>
                <a:latin typeface="Calibri"/>
              </a:rPr>
              <a:t>33.4%</a:t>
            </a:r>
            <a:endParaRPr lang="en-IE" sz="1500" b="1" i="0" noProof="0">
              <a:solidFill>
                <a:srgbClr val="1B2A4A"/>
              </a:solidFill>
              <a:latin typeface="Calibri"/>
            </a:endParaRPr>
          </a:p>
        </p:txBody>
      </p:sp>
      <p:sp>
        <p:nvSpPr>
          <p:cNvPr id="14" name="Rounded Rectangle 13">
            <a:extLst>
              <a:ext uri="{FF2B5EF4-FFF2-40B4-BE49-F238E27FC236}">
                <a16:creationId xmlns:a16="http://schemas.microsoft.com/office/drawing/2014/main" id="{81123044-FB07-BC6B-A56D-9FD037D1FD08}"/>
              </a:ext>
            </a:extLst>
          </p:cNvPr>
          <p:cNvSpPr/>
          <p:nvPr/>
        </p:nvSpPr>
        <p:spPr>
          <a:xfrm>
            <a:off x="6163056" y="1554480"/>
            <a:ext cx="2761488" cy="77724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noProof="0"/>
          </a:p>
        </p:txBody>
      </p:sp>
      <p:sp>
        <p:nvSpPr>
          <p:cNvPr id="15" name="Oval 14">
            <a:extLst>
              <a:ext uri="{FF2B5EF4-FFF2-40B4-BE49-F238E27FC236}">
                <a16:creationId xmlns:a16="http://schemas.microsoft.com/office/drawing/2014/main" id="{CE4789EF-ADE2-6B02-C057-6EDB00C26748}"/>
              </a:ext>
            </a:extLst>
          </p:cNvPr>
          <p:cNvSpPr/>
          <p:nvPr/>
        </p:nvSpPr>
        <p:spPr>
          <a:xfrm>
            <a:off x="6272784" y="1769364"/>
            <a:ext cx="347472" cy="347472"/>
          </a:xfrm>
          <a:prstGeom prst="ellipse">
            <a:avLst/>
          </a:prstGeom>
          <a:solidFill>
            <a:srgbClr val="2A6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noProof="0"/>
          </a:p>
        </p:txBody>
      </p:sp>
      <p:sp>
        <p:nvSpPr>
          <p:cNvPr id="16" name="TextBox 15">
            <a:extLst>
              <a:ext uri="{FF2B5EF4-FFF2-40B4-BE49-F238E27FC236}">
                <a16:creationId xmlns:a16="http://schemas.microsoft.com/office/drawing/2014/main" id="{D209028F-6A01-E26C-BA54-1A814D9F09D3}"/>
              </a:ext>
            </a:extLst>
          </p:cNvPr>
          <p:cNvSpPr txBox="1"/>
          <p:nvPr/>
        </p:nvSpPr>
        <p:spPr>
          <a:xfrm>
            <a:off x="6711696" y="1609344"/>
            <a:ext cx="2121408" cy="146194"/>
          </a:xfrm>
          <a:prstGeom prst="rect">
            <a:avLst/>
          </a:prstGeom>
          <a:noFill/>
        </p:spPr>
        <p:txBody>
          <a:bodyPr wrap="square" lIns="0" tIns="0" rIns="0" bIns="0" anchor="t">
            <a:spAutoFit/>
          </a:bodyPr>
          <a:lstStyle/>
          <a:p>
            <a:r>
              <a:rPr lang="en-IE" sz="950" b="1" noProof="0">
                <a:solidFill>
                  <a:srgbClr val="6B6B6B"/>
                </a:solidFill>
                <a:latin typeface="Calibri"/>
              </a:rPr>
              <a:t>LOW-PD-L1 BURDEN DROP </a:t>
            </a:r>
          </a:p>
        </p:txBody>
      </p:sp>
      <p:sp>
        <p:nvSpPr>
          <p:cNvPr id="17" name="TextBox 16">
            <a:extLst>
              <a:ext uri="{FF2B5EF4-FFF2-40B4-BE49-F238E27FC236}">
                <a16:creationId xmlns:a16="http://schemas.microsoft.com/office/drawing/2014/main" id="{542D1893-0F1D-7445-7E38-FADDC1D0F4F1}"/>
              </a:ext>
            </a:extLst>
          </p:cNvPr>
          <p:cNvSpPr txBox="1"/>
          <p:nvPr/>
        </p:nvSpPr>
        <p:spPr>
          <a:xfrm>
            <a:off x="6711696" y="1863984"/>
            <a:ext cx="2121408" cy="230832"/>
          </a:xfrm>
          <a:prstGeom prst="rect">
            <a:avLst/>
          </a:prstGeom>
          <a:noFill/>
        </p:spPr>
        <p:txBody>
          <a:bodyPr wrap="square" lIns="0" tIns="0" rIns="0" bIns="0" anchor="ctr">
            <a:spAutoFit/>
          </a:bodyPr>
          <a:lstStyle/>
          <a:p>
            <a:pPr algn="l"/>
            <a:r>
              <a:rPr lang="en-IE" sz="1500" b="1" noProof="0">
                <a:solidFill>
                  <a:srgbClr val="1B2A4A"/>
                </a:solidFill>
                <a:latin typeface="Calibri"/>
              </a:rPr>
              <a:t>2.0%</a:t>
            </a:r>
            <a:endParaRPr lang="en-IE" sz="1500" b="1" i="0" noProof="0">
              <a:solidFill>
                <a:srgbClr val="1B2A4A"/>
              </a:solidFill>
              <a:latin typeface="Calibri"/>
            </a:endParaRPr>
          </a:p>
        </p:txBody>
      </p:sp>
      <p:sp>
        <p:nvSpPr>
          <p:cNvPr id="18" name="Rounded Rectangle 17">
            <a:extLst>
              <a:ext uri="{FF2B5EF4-FFF2-40B4-BE49-F238E27FC236}">
                <a16:creationId xmlns:a16="http://schemas.microsoft.com/office/drawing/2014/main" id="{512FBCD7-3D73-F2E7-E3FA-78D9A724FAAD}"/>
              </a:ext>
            </a:extLst>
          </p:cNvPr>
          <p:cNvSpPr/>
          <p:nvPr/>
        </p:nvSpPr>
        <p:spPr>
          <a:xfrm>
            <a:off x="9061704" y="1554480"/>
            <a:ext cx="2761488" cy="77724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noProof="0"/>
          </a:p>
        </p:txBody>
      </p:sp>
      <p:sp>
        <p:nvSpPr>
          <p:cNvPr id="19" name="Oval 18">
            <a:extLst>
              <a:ext uri="{FF2B5EF4-FFF2-40B4-BE49-F238E27FC236}">
                <a16:creationId xmlns:a16="http://schemas.microsoft.com/office/drawing/2014/main" id="{0CB4B50D-7E70-B640-5B0C-10F646732A59}"/>
              </a:ext>
            </a:extLst>
          </p:cNvPr>
          <p:cNvSpPr/>
          <p:nvPr/>
        </p:nvSpPr>
        <p:spPr>
          <a:xfrm>
            <a:off x="9171432" y="1769364"/>
            <a:ext cx="347472" cy="34747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noProof="0"/>
          </a:p>
        </p:txBody>
      </p:sp>
      <p:sp>
        <p:nvSpPr>
          <p:cNvPr id="20" name="TextBox 19">
            <a:extLst>
              <a:ext uri="{FF2B5EF4-FFF2-40B4-BE49-F238E27FC236}">
                <a16:creationId xmlns:a16="http://schemas.microsoft.com/office/drawing/2014/main" id="{A929A93F-A3E4-65AE-8362-29D52520496A}"/>
              </a:ext>
            </a:extLst>
          </p:cNvPr>
          <p:cNvSpPr txBox="1"/>
          <p:nvPr/>
        </p:nvSpPr>
        <p:spPr>
          <a:xfrm>
            <a:off x="9610344" y="1609344"/>
            <a:ext cx="2121408" cy="146194"/>
          </a:xfrm>
          <a:prstGeom prst="rect">
            <a:avLst/>
          </a:prstGeom>
          <a:noFill/>
        </p:spPr>
        <p:txBody>
          <a:bodyPr wrap="square" lIns="0" tIns="0" rIns="0" bIns="0" anchor="t">
            <a:spAutoFit/>
          </a:bodyPr>
          <a:lstStyle/>
          <a:p>
            <a:pPr algn="l"/>
            <a:r>
              <a:rPr lang="en-IE" sz="950" b="1" i="0" noProof="0">
                <a:solidFill>
                  <a:srgbClr val="6B6B6B"/>
                </a:solidFill>
                <a:latin typeface="Calibri"/>
              </a:rPr>
              <a:t>CHECKPOINT BURDEN SURVIVAL</a:t>
            </a:r>
          </a:p>
        </p:txBody>
      </p:sp>
      <p:sp>
        <p:nvSpPr>
          <p:cNvPr id="21" name="TextBox 20">
            <a:extLst>
              <a:ext uri="{FF2B5EF4-FFF2-40B4-BE49-F238E27FC236}">
                <a16:creationId xmlns:a16="http://schemas.microsoft.com/office/drawing/2014/main" id="{B9FCDDF8-E8EF-71C0-9E16-A7362FD20743}"/>
              </a:ext>
            </a:extLst>
          </p:cNvPr>
          <p:cNvSpPr txBox="1"/>
          <p:nvPr/>
        </p:nvSpPr>
        <p:spPr>
          <a:xfrm>
            <a:off x="9610344" y="1825564"/>
            <a:ext cx="2121408" cy="230832"/>
          </a:xfrm>
          <a:prstGeom prst="rect">
            <a:avLst/>
          </a:prstGeom>
          <a:noFill/>
        </p:spPr>
        <p:txBody>
          <a:bodyPr wrap="square" lIns="0" tIns="0" rIns="0" bIns="0" anchor="ctr">
            <a:spAutoFit/>
          </a:bodyPr>
          <a:lstStyle/>
          <a:p>
            <a:pPr algn="l"/>
            <a:r>
              <a:rPr lang="en-IE" sz="1500" b="1" noProof="0">
                <a:solidFill>
                  <a:srgbClr val="1B2A4A"/>
                </a:solidFill>
                <a:latin typeface="Calibri"/>
              </a:rPr>
              <a:t>p</a:t>
            </a:r>
            <a:r>
              <a:rPr lang="en-IE" sz="1500" b="1" i="0" noProof="0">
                <a:solidFill>
                  <a:srgbClr val="1B2A4A"/>
                </a:solidFill>
                <a:latin typeface="Calibri"/>
              </a:rPr>
              <a:t> = 0.0024 (66 vs 148 </a:t>
            </a:r>
            <a:r>
              <a:rPr lang="en-IE" sz="1500" b="1" i="0" noProof="0" err="1">
                <a:solidFill>
                  <a:srgbClr val="1B2A4A"/>
                </a:solidFill>
                <a:latin typeface="Calibri"/>
              </a:rPr>
              <a:t>mo</a:t>
            </a:r>
            <a:r>
              <a:rPr lang="en-IE" sz="1500" b="1" i="0" noProof="0">
                <a:solidFill>
                  <a:srgbClr val="1B2A4A"/>
                </a:solidFill>
                <a:latin typeface="Calibri"/>
              </a:rPr>
              <a:t>)</a:t>
            </a:r>
          </a:p>
        </p:txBody>
      </p:sp>
      <p:sp>
        <p:nvSpPr>
          <p:cNvPr id="22" name="Rounded Rectangle 21">
            <a:extLst>
              <a:ext uri="{FF2B5EF4-FFF2-40B4-BE49-F238E27FC236}">
                <a16:creationId xmlns:a16="http://schemas.microsoft.com/office/drawing/2014/main" id="{855469AF-42AD-FA53-F189-158E02204CDE}"/>
              </a:ext>
            </a:extLst>
          </p:cNvPr>
          <p:cNvSpPr/>
          <p:nvPr/>
        </p:nvSpPr>
        <p:spPr>
          <a:xfrm>
            <a:off x="365760" y="2514600"/>
            <a:ext cx="5532120" cy="38404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noProof="0"/>
          </a:p>
        </p:txBody>
      </p:sp>
      <p:sp>
        <p:nvSpPr>
          <p:cNvPr id="23" name="TextBox 22">
            <a:extLst>
              <a:ext uri="{FF2B5EF4-FFF2-40B4-BE49-F238E27FC236}">
                <a16:creationId xmlns:a16="http://schemas.microsoft.com/office/drawing/2014/main" id="{838F2D0E-2F54-0F09-B5A3-CD84C0BFA4F9}"/>
              </a:ext>
            </a:extLst>
          </p:cNvPr>
          <p:cNvSpPr txBox="1"/>
          <p:nvPr/>
        </p:nvSpPr>
        <p:spPr>
          <a:xfrm>
            <a:off x="548640" y="2606596"/>
            <a:ext cx="5166359" cy="200055"/>
          </a:xfrm>
          <a:prstGeom prst="rect">
            <a:avLst/>
          </a:prstGeom>
          <a:noFill/>
        </p:spPr>
        <p:txBody>
          <a:bodyPr wrap="square" lIns="0" tIns="0" rIns="0" bIns="0" anchor="ctr">
            <a:spAutoFit/>
          </a:bodyPr>
          <a:lstStyle/>
          <a:p>
            <a:pPr algn="l"/>
            <a:r>
              <a:rPr lang="en-IE" sz="1300" b="1" i="0" noProof="0">
                <a:solidFill>
                  <a:srgbClr val="FFFFFF"/>
                </a:solidFill>
                <a:latin typeface="Calibri"/>
              </a:rPr>
              <a:t>Anti-PD-1 dose-response by PD-L1 status</a:t>
            </a:r>
          </a:p>
        </p:txBody>
      </p:sp>
      <p:sp>
        <p:nvSpPr>
          <p:cNvPr id="24" name="Rectangle 23">
            <a:extLst>
              <a:ext uri="{FF2B5EF4-FFF2-40B4-BE49-F238E27FC236}">
                <a16:creationId xmlns:a16="http://schemas.microsoft.com/office/drawing/2014/main" id="{CAF8BAAF-50BB-A3A4-2A0E-E44300F70F37}"/>
              </a:ext>
            </a:extLst>
          </p:cNvPr>
          <p:cNvSpPr/>
          <p:nvPr/>
        </p:nvSpPr>
        <p:spPr>
          <a:xfrm>
            <a:off x="365760" y="2898648"/>
            <a:ext cx="5532120" cy="2862072"/>
          </a:xfrm>
          <a:prstGeom prst="rect">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noProof="0"/>
          </a:p>
        </p:txBody>
      </p:sp>
      <p:pic>
        <p:nvPicPr>
          <p:cNvPr id="25" name="Picture 24">
            <a:extLst>
              <a:ext uri="{FF2B5EF4-FFF2-40B4-BE49-F238E27FC236}">
                <a16:creationId xmlns:a16="http://schemas.microsoft.com/office/drawing/2014/main" id="{F6975446-C479-4524-876F-AB83AD23B14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711327" y="3213476"/>
            <a:ext cx="2840985" cy="2214127"/>
          </a:xfrm>
          <a:prstGeom prst="rect">
            <a:avLst/>
          </a:prstGeom>
        </p:spPr>
      </p:pic>
      <p:sp>
        <p:nvSpPr>
          <p:cNvPr id="26" name="Rounded Rectangle 25">
            <a:extLst>
              <a:ext uri="{FF2B5EF4-FFF2-40B4-BE49-F238E27FC236}">
                <a16:creationId xmlns:a16="http://schemas.microsoft.com/office/drawing/2014/main" id="{A58D92F7-173E-9FF3-D7F9-B632B535B508}"/>
              </a:ext>
            </a:extLst>
          </p:cNvPr>
          <p:cNvSpPr/>
          <p:nvPr/>
        </p:nvSpPr>
        <p:spPr>
          <a:xfrm>
            <a:off x="6035040" y="2514600"/>
            <a:ext cx="5788152" cy="38404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noProof="0"/>
          </a:p>
        </p:txBody>
      </p:sp>
      <p:sp>
        <p:nvSpPr>
          <p:cNvPr id="27" name="TextBox 26">
            <a:extLst>
              <a:ext uri="{FF2B5EF4-FFF2-40B4-BE49-F238E27FC236}">
                <a16:creationId xmlns:a16="http://schemas.microsoft.com/office/drawing/2014/main" id="{5237F126-8CA8-89DA-6DCA-1303D074D246}"/>
              </a:ext>
            </a:extLst>
          </p:cNvPr>
          <p:cNvSpPr txBox="1"/>
          <p:nvPr/>
        </p:nvSpPr>
        <p:spPr>
          <a:xfrm>
            <a:off x="6217920" y="2606596"/>
            <a:ext cx="5422392" cy="200055"/>
          </a:xfrm>
          <a:prstGeom prst="rect">
            <a:avLst/>
          </a:prstGeom>
          <a:noFill/>
        </p:spPr>
        <p:txBody>
          <a:bodyPr wrap="square" lIns="0" tIns="0" rIns="0" bIns="0" anchor="ctr">
            <a:spAutoFit/>
          </a:bodyPr>
          <a:lstStyle/>
          <a:p>
            <a:pPr algn="l"/>
            <a:r>
              <a:rPr lang="en-IE" sz="1300" b="1" i="0" noProof="0">
                <a:solidFill>
                  <a:srgbClr val="FFFFFF"/>
                </a:solidFill>
                <a:latin typeface="Calibri"/>
              </a:rPr>
              <a:t>KM stratified by ODE checkpoint tumour burden</a:t>
            </a:r>
          </a:p>
        </p:txBody>
      </p:sp>
      <p:sp>
        <p:nvSpPr>
          <p:cNvPr id="28" name="Rectangle 27">
            <a:extLst>
              <a:ext uri="{FF2B5EF4-FFF2-40B4-BE49-F238E27FC236}">
                <a16:creationId xmlns:a16="http://schemas.microsoft.com/office/drawing/2014/main" id="{841B6CDC-71AD-657D-34FB-EA1B8C89966F}"/>
              </a:ext>
            </a:extLst>
          </p:cNvPr>
          <p:cNvSpPr/>
          <p:nvPr/>
        </p:nvSpPr>
        <p:spPr>
          <a:xfrm>
            <a:off x="6035040" y="2898648"/>
            <a:ext cx="5788152" cy="2862072"/>
          </a:xfrm>
          <a:prstGeom prst="rect">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noProof="0"/>
          </a:p>
        </p:txBody>
      </p:sp>
      <p:pic>
        <p:nvPicPr>
          <p:cNvPr id="29" name="Picture 28">
            <a:extLst>
              <a:ext uri="{FF2B5EF4-FFF2-40B4-BE49-F238E27FC236}">
                <a16:creationId xmlns:a16="http://schemas.microsoft.com/office/drawing/2014/main" id="{3FA6C09A-F72D-78D6-23D6-B8E02273831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508623" y="3110384"/>
            <a:ext cx="2840985" cy="2420311"/>
          </a:xfrm>
          <a:prstGeom prst="rect">
            <a:avLst/>
          </a:prstGeom>
        </p:spPr>
      </p:pic>
      <p:sp>
        <p:nvSpPr>
          <p:cNvPr id="30" name="Rounded Rectangle 29">
            <a:extLst>
              <a:ext uri="{FF2B5EF4-FFF2-40B4-BE49-F238E27FC236}">
                <a16:creationId xmlns:a16="http://schemas.microsoft.com/office/drawing/2014/main" id="{45B424D9-2DFC-2FE4-921B-83E28C10280F}"/>
              </a:ext>
            </a:extLst>
          </p:cNvPr>
          <p:cNvSpPr/>
          <p:nvPr/>
        </p:nvSpPr>
        <p:spPr>
          <a:xfrm>
            <a:off x="0" y="6364224"/>
            <a:ext cx="12195048" cy="49682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noProof="0"/>
          </a:p>
        </p:txBody>
      </p:sp>
      <p:sp>
        <p:nvSpPr>
          <p:cNvPr id="31" name="Oval 30">
            <a:extLst>
              <a:ext uri="{FF2B5EF4-FFF2-40B4-BE49-F238E27FC236}">
                <a16:creationId xmlns:a16="http://schemas.microsoft.com/office/drawing/2014/main" id="{22C7A848-9A61-B500-E66E-3402717AE400}"/>
              </a:ext>
            </a:extLst>
          </p:cNvPr>
          <p:cNvSpPr/>
          <p:nvPr/>
        </p:nvSpPr>
        <p:spPr>
          <a:xfrm>
            <a:off x="231648" y="6490716"/>
            <a:ext cx="274320" cy="274320"/>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E" noProof="0"/>
          </a:p>
        </p:txBody>
      </p:sp>
      <p:sp>
        <p:nvSpPr>
          <p:cNvPr id="32" name="TextBox 31">
            <a:extLst>
              <a:ext uri="{FF2B5EF4-FFF2-40B4-BE49-F238E27FC236}">
                <a16:creationId xmlns:a16="http://schemas.microsoft.com/office/drawing/2014/main" id="{DF658356-4CC2-E9D3-6365-DDDD65D5ECDF}"/>
              </a:ext>
            </a:extLst>
          </p:cNvPr>
          <p:cNvSpPr txBox="1"/>
          <p:nvPr/>
        </p:nvSpPr>
        <p:spPr>
          <a:xfrm>
            <a:off x="563880" y="6398493"/>
            <a:ext cx="11490960" cy="477054"/>
          </a:xfrm>
          <a:prstGeom prst="rect">
            <a:avLst/>
          </a:prstGeom>
          <a:noFill/>
        </p:spPr>
        <p:txBody>
          <a:bodyPr wrap="square" lIns="0" tIns="45720" rIns="91440" bIns="45720" anchor="ctr">
            <a:spAutoFit/>
          </a:bodyPr>
          <a:lstStyle/>
          <a:p>
            <a:r>
              <a:rPr lang="en-IE" sz="1250" b="1" noProof="0">
                <a:solidFill>
                  <a:srgbClr val="FFFFFF"/>
                </a:solidFill>
              </a:rPr>
              <a:t>Takeaway:  </a:t>
            </a:r>
            <a:r>
              <a:rPr lang="en-IE" sz="1250" noProof="0">
                <a:solidFill>
                  <a:srgbClr val="FFFFFF"/>
                </a:solidFill>
              </a:rPr>
              <a:t>Correct dose-response and a significant survival split (p=0.0024) validate the checkpoint arm indirectly and produce the strongest prognostic signal for the ODE model.</a:t>
            </a:r>
          </a:p>
        </p:txBody>
      </p:sp>
    </p:spTree>
    <p:extLst>
      <p:ext uri="{BB962C8B-B14F-4D97-AF65-F5344CB8AC3E}">
        <p14:creationId xmlns:p14="http://schemas.microsoft.com/office/powerpoint/2010/main" val="2739536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365760" y="256032"/>
            <a:ext cx="11430000" cy="415498"/>
          </a:xfrm>
          <a:prstGeom prst="rect">
            <a:avLst/>
          </a:prstGeom>
          <a:noFill/>
        </p:spPr>
        <p:txBody>
          <a:bodyPr wrap="square" lIns="0" tIns="0" rIns="0" bIns="0" anchor="t">
            <a:spAutoFit/>
          </a:bodyPr>
          <a:lstStyle/>
          <a:p>
            <a:pPr algn="l"/>
            <a:r>
              <a:rPr sz="2700" b="1" i="0">
                <a:solidFill>
                  <a:srgbClr val="1B2A4A"/>
                </a:solidFill>
                <a:latin typeface="Calibri"/>
              </a:rPr>
              <a:t>The ODE digital twin reproduces real BRAF-inhibitor pharmacology</a:t>
            </a:r>
          </a:p>
        </p:txBody>
      </p:sp>
      <p:sp>
        <p:nvSpPr>
          <p:cNvPr id="3" name="Rectangle 2"/>
          <p:cNvSpPr/>
          <p:nvPr/>
        </p:nvSpPr>
        <p:spPr>
          <a:xfrm>
            <a:off x="365760" y="914400"/>
            <a:ext cx="1280160" cy="45720"/>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05840"/>
            <a:ext cx="11430000" cy="365760"/>
          </a:xfrm>
          <a:prstGeom prst="rect">
            <a:avLst/>
          </a:prstGeom>
          <a:noFill/>
        </p:spPr>
        <p:txBody>
          <a:bodyPr wrap="square" lIns="0" tIns="0" rIns="0" bIns="0" anchor="t">
            <a:spAutoFit/>
          </a:bodyPr>
          <a:lstStyle/>
          <a:p>
            <a:pPr algn="l"/>
            <a:r>
              <a:rPr sz="1300" b="0" i="1">
                <a:solidFill>
                  <a:srgbClr val="6B6B6B"/>
                </a:solidFill>
                <a:latin typeface="Calibri"/>
              </a:rPr>
              <a:t>A mechanistic digital twin — RAF-dimer drug binding → MAPK cascade → tumour-immune dynamics — solved per-patient from real TCGA-SKCM molecular data, for all 421 patients.</a:t>
            </a:r>
          </a:p>
        </p:txBody>
      </p:sp>
      <p:sp>
        <p:nvSpPr>
          <p:cNvPr id="5" name="Rectangle 4"/>
          <p:cNvSpPr/>
          <p:nvPr/>
        </p:nvSpPr>
        <p:spPr>
          <a:xfrm>
            <a:off x="365760" y="1417320"/>
            <a:ext cx="11457432" cy="16459"/>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65760" y="1554480"/>
            <a:ext cx="1795271" cy="70040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475488" y="1769364"/>
            <a:ext cx="347472" cy="347472"/>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609344"/>
            <a:ext cx="1155191" cy="349758"/>
          </a:xfrm>
          <a:prstGeom prst="rect">
            <a:avLst/>
          </a:prstGeom>
          <a:noFill/>
        </p:spPr>
        <p:txBody>
          <a:bodyPr wrap="square" lIns="0" tIns="0" rIns="0" bIns="0" anchor="t">
            <a:spAutoFit/>
          </a:bodyPr>
          <a:lstStyle/>
          <a:p>
            <a:pPr algn="l"/>
            <a:r>
              <a:rPr sz="950" b="1" i="0">
                <a:solidFill>
                  <a:srgbClr val="6B6B6B"/>
                </a:solidFill>
                <a:latin typeface="Calibri"/>
              </a:rPr>
              <a:t>PATIENTS SIMULATED</a:t>
            </a:r>
          </a:p>
        </p:txBody>
      </p:sp>
      <p:sp>
        <p:nvSpPr>
          <p:cNvPr id="9" name="TextBox 8"/>
          <p:cNvSpPr txBox="1"/>
          <p:nvPr/>
        </p:nvSpPr>
        <p:spPr>
          <a:xfrm>
            <a:off x="914400" y="1733643"/>
            <a:ext cx="1155191" cy="427482"/>
          </a:xfrm>
          <a:prstGeom prst="rect">
            <a:avLst/>
          </a:prstGeom>
          <a:noFill/>
        </p:spPr>
        <p:txBody>
          <a:bodyPr wrap="square" lIns="0" tIns="0" rIns="0" bIns="0" anchor="ctr">
            <a:spAutoFit/>
          </a:bodyPr>
          <a:lstStyle/>
          <a:p>
            <a:pPr algn="l"/>
            <a:r>
              <a:rPr sz="1500" b="1" i="0">
                <a:solidFill>
                  <a:srgbClr val="1B2A4A"/>
                </a:solidFill>
                <a:latin typeface="Calibri"/>
              </a:rPr>
              <a:t>421</a:t>
            </a:r>
          </a:p>
        </p:txBody>
      </p:sp>
      <p:sp>
        <p:nvSpPr>
          <p:cNvPr id="10" name="Rounded Rectangle 9"/>
          <p:cNvSpPr/>
          <p:nvPr/>
        </p:nvSpPr>
        <p:spPr>
          <a:xfrm>
            <a:off x="2298192" y="1554480"/>
            <a:ext cx="1795271" cy="70040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407920" y="1769364"/>
            <a:ext cx="347472" cy="347472"/>
          </a:xfrm>
          <a:prstGeom prst="ellipse">
            <a:avLst/>
          </a:prstGeom>
          <a:solidFill>
            <a:srgbClr val="0E6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46832" y="1609344"/>
            <a:ext cx="1155191" cy="349758"/>
          </a:xfrm>
          <a:prstGeom prst="rect">
            <a:avLst/>
          </a:prstGeom>
          <a:noFill/>
        </p:spPr>
        <p:txBody>
          <a:bodyPr wrap="square" lIns="0" tIns="0" rIns="0" bIns="0" anchor="t">
            <a:spAutoFit/>
          </a:bodyPr>
          <a:lstStyle/>
          <a:p>
            <a:pPr algn="l"/>
            <a:r>
              <a:rPr sz="950" b="1" i="0">
                <a:solidFill>
                  <a:srgbClr val="6B6B6B"/>
                </a:solidFill>
                <a:latin typeface="Calibri"/>
              </a:rPr>
              <a:t>BRAF-MUTANT</a:t>
            </a:r>
          </a:p>
        </p:txBody>
      </p:sp>
      <p:sp>
        <p:nvSpPr>
          <p:cNvPr id="13" name="TextBox 12"/>
          <p:cNvSpPr txBox="1"/>
          <p:nvPr/>
        </p:nvSpPr>
        <p:spPr>
          <a:xfrm>
            <a:off x="2846832" y="1733643"/>
            <a:ext cx="1155191" cy="427482"/>
          </a:xfrm>
          <a:prstGeom prst="rect">
            <a:avLst/>
          </a:prstGeom>
          <a:noFill/>
        </p:spPr>
        <p:txBody>
          <a:bodyPr wrap="square" lIns="0" tIns="0" rIns="0" bIns="0" anchor="ctr">
            <a:spAutoFit/>
          </a:bodyPr>
          <a:lstStyle/>
          <a:p>
            <a:pPr algn="l"/>
            <a:r>
              <a:rPr sz="1500" b="1" i="0">
                <a:solidFill>
                  <a:srgbClr val="1B2A4A"/>
                </a:solidFill>
                <a:latin typeface="Calibri"/>
              </a:rPr>
              <a:t>192 (45.6%)</a:t>
            </a:r>
          </a:p>
        </p:txBody>
      </p:sp>
      <p:sp>
        <p:nvSpPr>
          <p:cNvPr id="14" name="Rounded Rectangle 13"/>
          <p:cNvSpPr/>
          <p:nvPr/>
        </p:nvSpPr>
        <p:spPr>
          <a:xfrm>
            <a:off x="4230624" y="1554480"/>
            <a:ext cx="1795271" cy="70040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340352" y="1769364"/>
            <a:ext cx="347472" cy="347472"/>
          </a:xfrm>
          <a:prstGeom prst="ellipse">
            <a:avLst/>
          </a:prstGeom>
          <a:solidFill>
            <a:srgbClr val="2A6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779264" y="1609344"/>
            <a:ext cx="1155191" cy="349758"/>
          </a:xfrm>
          <a:prstGeom prst="rect">
            <a:avLst/>
          </a:prstGeom>
          <a:noFill/>
        </p:spPr>
        <p:txBody>
          <a:bodyPr wrap="square" lIns="0" tIns="0" rIns="0" bIns="0" anchor="t">
            <a:spAutoFit/>
          </a:bodyPr>
          <a:lstStyle/>
          <a:p>
            <a:pPr algn="l"/>
            <a:r>
              <a:rPr sz="950" b="1" i="0">
                <a:solidFill>
                  <a:srgbClr val="6B6B6B"/>
                </a:solidFill>
                <a:latin typeface="Calibri"/>
              </a:rPr>
              <a:t>NRAS-MUTANT</a:t>
            </a:r>
          </a:p>
        </p:txBody>
      </p:sp>
      <p:sp>
        <p:nvSpPr>
          <p:cNvPr id="17" name="TextBox 16"/>
          <p:cNvSpPr txBox="1"/>
          <p:nvPr/>
        </p:nvSpPr>
        <p:spPr>
          <a:xfrm>
            <a:off x="4779264" y="1752853"/>
            <a:ext cx="1155191" cy="427482"/>
          </a:xfrm>
          <a:prstGeom prst="rect">
            <a:avLst/>
          </a:prstGeom>
          <a:noFill/>
        </p:spPr>
        <p:txBody>
          <a:bodyPr wrap="square" lIns="0" tIns="0" rIns="0" bIns="0" anchor="ctr">
            <a:spAutoFit/>
          </a:bodyPr>
          <a:lstStyle/>
          <a:p>
            <a:pPr algn="l"/>
            <a:r>
              <a:rPr sz="1500" b="1" i="0">
                <a:solidFill>
                  <a:srgbClr val="1B2A4A"/>
                </a:solidFill>
                <a:latin typeface="Calibri"/>
              </a:rPr>
              <a:t>108</a:t>
            </a:r>
          </a:p>
        </p:txBody>
      </p:sp>
      <p:sp>
        <p:nvSpPr>
          <p:cNvPr id="18" name="Rounded Rectangle 17"/>
          <p:cNvSpPr/>
          <p:nvPr/>
        </p:nvSpPr>
        <p:spPr>
          <a:xfrm>
            <a:off x="6163056" y="1554480"/>
            <a:ext cx="1795271" cy="70040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272784" y="1769364"/>
            <a:ext cx="347472" cy="34747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11696" y="1609344"/>
            <a:ext cx="1155191" cy="349758"/>
          </a:xfrm>
          <a:prstGeom prst="rect">
            <a:avLst/>
          </a:prstGeom>
          <a:noFill/>
        </p:spPr>
        <p:txBody>
          <a:bodyPr wrap="square" lIns="0" tIns="0" rIns="0" bIns="0" anchor="t">
            <a:spAutoFit/>
          </a:bodyPr>
          <a:lstStyle/>
          <a:p>
            <a:pPr algn="l"/>
            <a:r>
              <a:rPr sz="950" b="1" i="0">
                <a:solidFill>
                  <a:srgbClr val="6B6B6B"/>
                </a:solidFill>
                <a:latin typeface="Calibri"/>
              </a:rPr>
              <a:t>MAPK-QUIET WT</a:t>
            </a:r>
          </a:p>
        </p:txBody>
      </p:sp>
      <p:sp>
        <p:nvSpPr>
          <p:cNvPr id="21" name="TextBox 20"/>
          <p:cNvSpPr txBox="1"/>
          <p:nvPr/>
        </p:nvSpPr>
        <p:spPr>
          <a:xfrm>
            <a:off x="6711696" y="1733643"/>
            <a:ext cx="1155191" cy="427482"/>
          </a:xfrm>
          <a:prstGeom prst="rect">
            <a:avLst/>
          </a:prstGeom>
          <a:noFill/>
        </p:spPr>
        <p:txBody>
          <a:bodyPr wrap="square" lIns="0" tIns="0" rIns="0" bIns="0" anchor="ctr">
            <a:spAutoFit/>
          </a:bodyPr>
          <a:lstStyle/>
          <a:p>
            <a:pPr algn="l"/>
            <a:r>
              <a:rPr sz="1500" b="1" i="0">
                <a:solidFill>
                  <a:srgbClr val="1B2A4A"/>
                </a:solidFill>
                <a:latin typeface="Calibri"/>
              </a:rPr>
              <a:t>121</a:t>
            </a:r>
          </a:p>
        </p:txBody>
      </p:sp>
      <p:sp>
        <p:nvSpPr>
          <p:cNvPr id="22" name="Rounded Rectangle 21"/>
          <p:cNvSpPr/>
          <p:nvPr/>
        </p:nvSpPr>
        <p:spPr>
          <a:xfrm>
            <a:off x="8095488" y="1554480"/>
            <a:ext cx="1795271" cy="70040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205215" y="1769364"/>
            <a:ext cx="347472" cy="347472"/>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44128" y="1609344"/>
            <a:ext cx="1155191" cy="349758"/>
          </a:xfrm>
          <a:prstGeom prst="rect">
            <a:avLst/>
          </a:prstGeom>
          <a:noFill/>
        </p:spPr>
        <p:txBody>
          <a:bodyPr wrap="square" lIns="0" tIns="0" rIns="0" bIns="0" anchor="t">
            <a:spAutoFit/>
          </a:bodyPr>
          <a:lstStyle/>
          <a:p>
            <a:pPr algn="l"/>
            <a:r>
              <a:rPr sz="950" b="1" i="0">
                <a:solidFill>
                  <a:srgbClr val="6B6B6B"/>
                </a:solidFill>
                <a:latin typeface="Calibri"/>
              </a:rPr>
              <a:t>BRAF-MUT pERK SUPPRESSION</a:t>
            </a:r>
          </a:p>
        </p:txBody>
      </p:sp>
      <p:sp>
        <p:nvSpPr>
          <p:cNvPr id="25" name="TextBox 24"/>
          <p:cNvSpPr txBox="1"/>
          <p:nvPr/>
        </p:nvSpPr>
        <p:spPr>
          <a:xfrm>
            <a:off x="8644128" y="1784870"/>
            <a:ext cx="1155191" cy="427482"/>
          </a:xfrm>
          <a:prstGeom prst="rect">
            <a:avLst/>
          </a:prstGeom>
          <a:noFill/>
        </p:spPr>
        <p:txBody>
          <a:bodyPr wrap="square" lIns="0" tIns="0" rIns="0" bIns="0" anchor="ctr">
            <a:spAutoFit/>
          </a:bodyPr>
          <a:lstStyle/>
          <a:p>
            <a:pPr algn="l"/>
            <a:r>
              <a:rPr sz="1500" b="1" i="0">
                <a:solidFill>
                  <a:srgbClr val="1B2A4A"/>
                </a:solidFill>
                <a:latin typeface="Calibri"/>
              </a:rPr>
              <a:t>-48.5%</a:t>
            </a:r>
          </a:p>
        </p:txBody>
      </p:sp>
      <p:sp>
        <p:nvSpPr>
          <p:cNvPr id="26" name="Rounded Rectangle 25"/>
          <p:cNvSpPr/>
          <p:nvPr/>
        </p:nvSpPr>
        <p:spPr>
          <a:xfrm>
            <a:off x="10027920" y="1554480"/>
            <a:ext cx="1795271" cy="70040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0137648" y="1769364"/>
            <a:ext cx="347472" cy="347472"/>
          </a:xfrm>
          <a:prstGeom prst="ellipse">
            <a:avLst/>
          </a:prstGeom>
          <a:solidFill>
            <a:srgbClr val="0E6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576560" y="1609344"/>
            <a:ext cx="1155191" cy="349758"/>
          </a:xfrm>
          <a:prstGeom prst="rect">
            <a:avLst/>
          </a:prstGeom>
          <a:noFill/>
        </p:spPr>
        <p:txBody>
          <a:bodyPr wrap="square" lIns="0" tIns="0" rIns="0" bIns="0" anchor="t">
            <a:spAutoFit/>
          </a:bodyPr>
          <a:lstStyle/>
          <a:p>
            <a:pPr algn="l"/>
            <a:r>
              <a:rPr sz="950" b="1" i="0">
                <a:solidFill>
                  <a:srgbClr val="6B6B6B"/>
                </a:solidFill>
                <a:latin typeface="Calibri"/>
              </a:rPr>
              <a:t>WT / NRAS pERK CHANGE</a:t>
            </a:r>
          </a:p>
        </p:txBody>
      </p:sp>
      <p:sp>
        <p:nvSpPr>
          <p:cNvPr id="29" name="TextBox 28"/>
          <p:cNvSpPr txBox="1"/>
          <p:nvPr/>
        </p:nvSpPr>
        <p:spPr>
          <a:xfrm>
            <a:off x="10576560" y="1784870"/>
            <a:ext cx="1155191" cy="427482"/>
          </a:xfrm>
          <a:prstGeom prst="rect">
            <a:avLst/>
          </a:prstGeom>
          <a:noFill/>
        </p:spPr>
        <p:txBody>
          <a:bodyPr wrap="square" lIns="0" tIns="0" rIns="0" bIns="0" anchor="ctr">
            <a:spAutoFit/>
          </a:bodyPr>
          <a:lstStyle/>
          <a:p>
            <a:pPr algn="l"/>
            <a:r>
              <a:rPr sz="1500" b="1" i="0">
                <a:solidFill>
                  <a:srgbClr val="1B2A4A"/>
                </a:solidFill>
                <a:latin typeface="Calibri"/>
              </a:rPr>
              <a:t>+3 to +5%</a:t>
            </a:r>
          </a:p>
        </p:txBody>
      </p:sp>
      <p:sp>
        <p:nvSpPr>
          <p:cNvPr id="30" name="Rounded Rectangle 29"/>
          <p:cNvSpPr/>
          <p:nvPr/>
        </p:nvSpPr>
        <p:spPr>
          <a:xfrm>
            <a:off x="365760" y="2526792"/>
            <a:ext cx="6583680" cy="38404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8640" y="2514600"/>
            <a:ext cx="6217920" cy="384048"/>
          </a:xfrm>
          <a:prstGeom prst="rect">
            <a:avLst/>
          </a:prstGeom>
          <a:noFill/>
        </p:spPr>
        <p:txBody>
          <a:bodyPr wrap="square" lIns="0" tIns="0" rIns="0" bIns="0" anchor="ctr">
            <a:spAutoFit/>
          </a:bodyPr>
          <a:lstStyle/>
          <a:p>
            <a:pPr algn="l"/>
            <a:r>
              <a:rPr sz="1300" b="1" i="0">
                <a:solidFill>
                  <a:srgbClr val="FFFFFF"/>
                </a:solidFill>
                <a:latin typeface="Calibri"/>
              </a:rPr>
              <a:t>pERK vs vemurafenib dose, by genotype</a:t>
            </a:r>
          </a:p>
        </p:txBody>
      </p:sp>
      <p:sp>
        <p:nvSpPr>
          <p:cNvPr id="32" name="Rectangle 31"/>
          <p:cNvSpPr/>
          <p:nvPr/>
        </p:nvSpPr>
        <p:spPr>
          <a:xfrm>
            <a:off x="365760" y="2927815"/>
            <a:ext cx="6583680" cy="2881239"/>
          </a:xfrm>
          <a:prstGeom prst="rect">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raf_paradox_chart.png"/>
          <p:cNvPicPr>
            <a:picLocks noChangeAspect="1"/>
          </p:cNvPicPr>
          <p:nvPr/>
        </p:nvPicPr>
        <p:blipFill>
          <a:blip r:embed="rId3"/>
          <a:stretch>
            <a:fillRect/>
          </a:stretch>
        </p:blipFill>
        <p:spPr>
          <a:xfrm>
            <a:off x="1510030" y="3017520"/>
            <a:ext cx="4295140" cy="2606039"/>
          </a:xfrm>
          <a:prstGeom prst="rect">
            <a:avLst/>
          </a:prstGeom>
        </p:spPr>
      </p:pic>
      <p:sp>
        <p:nvSpPr>
          <p:cNvPr id="34" name="Rounded Rectangle 33"/>
          <p:cNvSpPr/>
          <p:nvPr/>
        </p:nvSpPr>
        <p:spPr>
          <a:xfrm>
            <a:off x="7086600" y="2514600"/>
            <a:ext cx="4736592" cy="38404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269480" y="2514600"/>
            <a:ext cx="4370831" cy="384048"/>
          </a:xfrm>
          <a:prstGeom prst="rect">
            <a:avLst/>
          </a:prstGeom>
          <a:noFill/>
        </p:spPr>
        <p:txBody>
          <a:bodyPr wrap="square" lIns="0" tIns="0" rIns="0" bIns="0" anchor="ctr">
            <a:spAutoFit/>
          </a:bodyPr>
          <a:lstStyle/>
          <a:p>
            <a:pPr algn="l"/>
            <a:r>
              <a:rPr sz="1300" b="1" i="0">
                <a:solidFill>
                  <a:srgbClr val="FFFFFF"/>
                </a:solidFill>
                <a:latin typeface="Calibri"/>
              </a:rPr>
              <a:t>Why this happens</a:t>
            </a:r>
          </a:p>
        </p:txBody>
      </p:sp>
      <p:sp>
        <p:nvSpPr>
          <p:cNvPr id="36" name="Rectangle 35"/>
          <p:cNvSpPr/>
          <p:nvPr/>
        </p:nvSpPr>
        <p:spPr>
          <a:xfrm>
            <a:off x="7086600" y="2898648"/>
            <a:ext cx="4736592" cy="2862072"/>
          </a:xfrm>
          <a:prstGeom prst="rect">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269480" y="3044952"/>
            <a:ext cx="4434840" cy="2560320"/>
          </a:xfrm>
          <a:prstGeom prst="rect">
            <a:avLst/>
          </a:prstGeom>
          <a:noFill/>
        </p:spPr>
        <p:txBody>
          <a:bodyPr wrap="square" lIns="0" rIns="0">
            <a:spAutoFit/>
          </a:bodyPr>
          <a:lstStyle/>
          <a:p>
            <a:pPr>
              <a:spcAft>
                <a:spcPts val="1000"/>
              </a:spcAft>
            </a:pPr>
            <a:r>
              <a:rPr sz="1250" b="1">
                <a:solidFill>
                  <a:srgbClr val="2A2A2A"/>
                </a:solidFill>
                <a:latin typeface="Calibri"/>
              </a:rPr>
              <a:t>BRAF-mutant: </a:t>
            </a:r>
            <a:r>
              <a:rPr sz="1250">
                <a:solidFill>
                  <a:srgbClr val="2A2A2A"/>
                </a:solidFill>
                <a:latin typeface="Calibri"/>
              </a:rPr>
              <a:t>Vemurafenib blocks the constitutively active BRAF→MEK→ERK signal — pERK falls with dose.</a:t>
            </a:r>
          </a:p>
          <a:p>
            <a:pPr>
              <a:spcAft>
                <a:spcPts val="1000"/>
              </a:spcAft>
            </a:pPr>
            <a:r>
              <a:rPr sz="1250" b="1">
                <a:solidFill>
                  <a:srgbClr val="2A2A2A"/>
                </a:solidFill>
                <a:latin typeface="Calibri"/>
              </a:rPr>
              <a:t>BRAF-WT / NRAS-mutant: </a:t>
            </a:r>
            <a:r>
              <a:rPr sz="1250">
                <a:solidFill>
                  <a:srgbClr val="2A2A2A"/>
                </a:solidFill>
                <a:latin typeface="Calibri"/>
              </a:rPr>
              <a:t>the same drug paradoxically activates MAPK signalling via RAF dimers — a real, published effect, reproduced here directly from the mechanism, not fit to it.</a:t>
            </a:r>
          </a:p>
          <a:p>
            <a:pPr>
              <a:spcAft>
                <a:spcPts val="1000"/>
              </a:spcAft>
            </a:pPr>
            <a:r>
              <a:rPr sz="1250" b="1">
                <a:solidFill>
                  <a:srgbClr val="2A2A2A"/>
                </a:solidFill>
                <a:latin typeface="Calibri"/>
              </a:rPr>
              <a:t>Baseline hierarchy: </a:t>
            </a:r>
            <a:r>
              <a:rPr sz="1250">
                <a:solidFill>
                  <a:srgbClr val="2A2A2A"/>
                </a:solidFill>
                <a:latin typeface="Calibri"/>
              </a:rPr>
              <a:t>NRAS (259) &gt; BRAF-mutant (195) &gt; WT (162) — matches known MAPK-pathway activity across melanoma subtypes.</a:t>
            </a:r>
          </a:p>
        </p:txBody>
      </p:sp>
      <p:sp>
        <p:nvSpPr>
          <p:cNvPr id="38" name="Rounded Rectangle 37"/>
          <p:cNvSpPr/>
          <p:nvPr/>
        </p:nvSpPr>
        <p:spPr>
          <a:xfrm>
            <a:off x="0" y="6339840"/>
            <a:ext cx="12219432" cy="51511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91440" y="6460236"/>
            <a:ext cx="274320" cy="274320"/>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66344" y="6383253"/>
            <a:ext cx="11606784" cy="477054"/>
          </a:xfrm>
          <a:prstGeom prst="rect">
            <a:avLst/>
          </a:prstGeom>
          <a:noFill/>
        </p:spPr>
        <p:txBody>
          <a:bodyPr wrap="square" lIns="0" anchor="ctr">
            <a:spAutoFit/>
          </a:bodyPr>
          <a:lstStyle/>
          <a:p>
            <a:r>
              <a:rPr sz="1250" b="1">
                <a:solidFill>
                  <a:srgbClr val="FFFFFF"/>
                </a:solidFill>
              </a:rPr>
              <a:t>Takeaway:  </a:t>
            </a:r>
            <a:r>
              <a:rPr sz="1250">
                <a:solidFill>
                  <a:srgbClr val="FFFFFF"/>
                </a:solidFill>
              </a:rPr>
              <a:t>BRAF-mutant tumours respond to vemurafenib; BRAF-WT and NRAS-mutant tumours show the real RAF-inhibitor paradox — reproduced from the mechanism, matching published pharmacology.</a:t>
            </a:r>
          </a:p>
        </p:txBody>
      </p:sp>
    </p:spTree>
    <p:extLst>
      <p:ext uri="{BB962C8B-B14F-4D97-AF65-F5344CB8AC3E}">
        <p14:creationId xmlns:p14="http://schemas.microsoft.com/office/powerpoint/2010/main" val="17406511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365760" y="256032"/>
            <a:ext cx="11430000" cy="415498"/>
          </a:xfrm>
          <a:prstGeom prst="rect">
            <a:avLst/>
          </a:prstGeom>
          <a:noFill/>
        </p:spPr>
        <p:txBody>
          <a:bodyPr wrap="square" lIns="0" tIns="0" rIns="0" bIns="0" anchor="t">
            <a:spAutoFit/>
          </a:bodyPr>
          <a:lstStyle/>
          <a:p>
            <a:pPr algn="l"/>
            <a:r>
              <a:rPr sz="2700" b="1" i="0">
                <a:solidFill>
                  <a:srgbClr val="1B2A4A"/>
                </a:solidFill>
                <a:latin typeface="Calibri"/>
              </a:rPr>
              <a:t>Validation: ODE </a:t>
            </a:r>
            <a:r>
              <a:rPr sz="2700" b="1" i="0" err="1">
                <a:solidFill>
                  <a:srgbClr val="1B2A4A"/>
                </a:solidFill>
                <a:latin typeface="Calibri"/>
              </a:rPr>
              <a:t>pERK</a:t>
            </a:r>
            <a:r>
              <a:rPr sz="2700" b="1" i="0">
                <a:solidFill>
                  <a:srgbClr val="1B2A4A"/>
                </a:solidFill>
                <a:latin typeface="Calibri"/>
              </a:rPr>
              <a:t> matches real biology</a:t>
            </a:r>
          </a:p>
        </p:txBody>
      </p:sp>
      <p:sp>
        <p:nvSpPr>
          <p:cNvPr id="3" name="Rectangle 2"/>
          <p:cNvSpPr/>
          <p:nvPr/>
        </p:nvSpPr>
        <p:spPr>
          <a:xfrm>
            <a:off x="365760" y="914400"/>
            <a:ext cx="1280160" cy="45720"/>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05840"/>
            <a:ext cx="11430000" cy="365760"/>
          </a:xfrm>
          <a:prstGeom prst="rect">
            <a:avLst/>
          </a:prstGeom>
          <a:noFill/>
        </p:spPr>
        <p:txBody>
          <a:bodyPr wrap="square" lIns="0" tIns="0" rIns="0" bIns="0" anchor="t">
            <a:spAutoFit/>
          </a:bodyPr>
          <a:lstStyle/>
          <a:p>
            <a:pPr algn="l"/>
            <a:r>
              <a:rPr sz="1300" b="0" i="1">
                <a:solidFill>
                  <a:srgbClr val="6B6B6B"/>
                </a:solidFill>
                <a:latin typeface="Calibri"/>
              </a:rPr>
              <a:t>Baseline pERK, predicted purely from the BRAFi/MAPK mechanism, independently correlates with orthogonal RPPA protein measurements and correctly ranks genotype activity.</a:t>
            </a:r>
          </a:p>
        </p:txBody>
      </p:sp>
      <p:sp>
        <p:nvSpPr>
          <p:cNvPr id="5" name="Rectangle 4"/>
          <p:cNvSpPr/>
          <p:nvPr/>
        </p:nvSpPr>
        <p:spPr>
          <a:xfrm>
            <a:off x="365760" y="1417320"/>
            <a:ext cx="11457432" cy="16459"/>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65760" y="1554480"/>
            <a:ext cx="2761488" cy="687593"/>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475488" y="1769364"/>
            <a:ext cx="347472" cy="347472"/>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609344"/>
            <a:ext cx="2121408" cy="349758"/>
          </a:xfrm>
          <a:prstGeom prst="rect">
            <a:avLst/>
          </a:prstGeom>
          <a:noFill/>
        </p:spPr>
        <p:txBody>
          <a:bodyPr wrap="square" lIns="0" tIns="0" rIns="0" bIns="0" anchor="t">
            <a:spAutoFit/>
          </a:bodyPr>
          <a:lstStyle/>
          <a:p>
            <a:pPr algn="l"/>
            <a:r>
              <a:rPr sz="950" b="1" i="0">
                <a:solidFill>
                  <a:srgbClr val="6B6B6B"/>
                </a:solidFill>
                <a:latin typeface="Calibri"/>
              </a:rPr>
              <a:t>RPPA CORRELATION (n=310)</a:t>
            </a:r>
          </a:p>
        </p:txBody>
      </p:sp>
      <p:sp>
        <p:nvSpPr>
          <p:cNvPr id="9" name="TextBox 8"/>
          <p:cNvSpPr txBox="1"/>
          <p:nvPr/>
        </p:nvSpPr>
        <p:spPr>
          <a:xfrm>
            <a:off x="914400" y="1772063"/>
            <a:ext cx="2121408" cy="427482"/>
          </a:xfrm>
          <a:prstGeom prst="rect">
            <a:avLst/>
          </a:prstGeom>
          <a:noFill/>
        </p:spPr>
        <p:txBody>
          <a:bodyPr wrap="square" lIns="0" tIns="0" rIns="0" bIns="0" anchor="ctr">
            <a:spAutoFit/>
          </a:bodyPr>
          <a:lstStyle/>
          <a:p>
            <a:pPr algn="l"/>
            <a:r>
              <a:rPr sz="1500" b="1" i="0">
                <a:solidFill>
                  <a:srgbClr val="1B2A4A"/>
                </a:solidFill>
                <a:latin typeface="Calibri"/>
              </a:rPr>
              <a:t>r=0.175, p=0.002</a:t>
            </a:r>
          </a:p>
        </p:txBody>
      </p:sp>
      <p:sp>
        <p:nvSpPr>
          <p:cNvPr id="10" name="Rounded Rectangle 9"/>
          <p:cNvSpPr/>
          <p:nvPr/>
        </p:nvSpPr>
        <p:spPr>
          <a:xfrm>
            <a:off x="3264408" y="1554480"/>
            <a:ext cx="2761488" cy="687593"/>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374136" y="1769364"/>
            <a:ext cx="347472" cy="347472"/>
          </a:xfrm>
          <a:prstGeom prst="ellipse">
            <a:avLst/>
          </a:prstGeom>
          <a:solidFill>
            <a:srgbClr val="0E6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13048" y="1609344"/>
            <a:ext cx="2121408" cy="349758"/>
          </a:xfrm>
          <a:prstGeom prst="rect">
            <a:avLst/>
          </a:prstGeom>
          <a:noFill/>
        </p:spPr>
        <p:txBody>
          <a:bodyPr wrap="square" lIns="0" tIns="0" rIns="0" bIns="0" anchor="t">
            <a:spAutoFit/>
          </a:bodyPr>
          <a:lstStyle/>
          <a:p>
            <a:pPr algn="l"/>
            <a:r>
              <a:rPr sz="950" b="1" i="0">
                <a:solidFill>
                  <a:srgbClr val="6B6B6B"/>
                </a:solidFill>
                <a:latin typeface="Calibri"/>
              </a:rPr>
              <a:t>SPEARMAN</a:t>
            </a:r>
          </a:p>
        </p:txBody>
      </p:sp>
      <p:sp>
        <p:nvSpPr>
          <p:cNvPr id="13" name="TextBox 12"/>
          <p:cNvSpPr txBox="1"/>
          <p:nvPr/>
        </p:nvSpPr>
        <p:spPr>
          <a:xfrm>
            <a:off x="3813048" y="1733643"/>
            <a:ext cx="2121408" cy="427482"/>
          </a:xfrm>
          <a:prstGeom prst="rect">
            <a:avLst/>
          </a:prstGeom>
          <a:noFill/>
        </p:spPr>
        <p:txBody>
          <a:bodyPr wrap="square" lIns="0" tIns="0" rIns="0" bIns="0" anchor="ctr">
            <a:spAutoFit/>
          </a:bodyPr>
          <a:lstStyle/>
          <a:p>
            <a:pPr algn="l"/>
            <a:r>
              <a:rPr sz="1500" b="1" i="0">
                <a:solidFill>
                  <a:srgbClr val="1B2A4A"/>
                </a:solidFill>
                <a:latin typeface="Calibri"/>
              </a:rPr>
              <a:t>r=0.164, p=0.004</a:t>
            </a:r>
          </a:p>
        </p:txBody>
      </p:sp>
      <p:sp>
        <p:nvSpPr>
          <p:cNvPr id="14" name="Rounded Rectangle 13"/>
          <p:cNvSpPr/>
          <p:nvPr/>
        </p:nvSpPr>
        <p:spPr>
          <a:xfrm>
            <a:off x="6163056" y="1554480"/>
            <a:ext cx="2761488" cy="687593"/>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272784" y="1769364"/>
            <a:ext cx="347472" cy="347472"/>
          </a:xfrm>
          <a:prstGeom prst="ellipse">
            <a:avLst/>
          </a:prstGeom>
          <a:solidFill>
            <a:srgbClr val="2A6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11696" y="1609344"/>
            <a:ext cx="2121408" cy="349758"/>
          </a:xfrm>
          <a:prstGeom prst="rect">
            <a:avLst/>
          </a:prstGeom>
          <a:noFill/>
        </p:spPr>
        <p:txBody>
          <a:bodyPr wrap="square" lIns="0" tIns="0" rIns="0" bIns="0" anchor="t">
            <a:spAutoFit/>
          </a:bodyPr>
          <a:lstStyle/>
          <a:p>
            <a:pPr algn="l"/>
            <a:r>
              <a:rPr sz="950" b="1" i="0">
                <a:solidFill>
                  <a:srgbClr val="6B6B6B"/>
                </a:solidFill>
                <a:latin typeface="Calibri"/>
              </a:rPr>
              <a:t>GENOTYPE RANK AGREEMENT</a:t>
            </a:r>
          </a:p>
        </p:txBody>
      </p:sp>
      <p:sp>
        <p:nvSpPr>
          <p:cNvPr id="17" name="TextBox 16"/>
          <p:cNvSpPr txBox="1"/>
          <p:nvPr/>
        </p:nvSpPr>
        <p:spPr>
          <a:xfrm>
            <a:off x="6711696" y="1733643"/>
            <a:ext cx="2121408" cy="427482"/>
          </a:xfrm>
          <a:prstGeom prst="rect">
            <a:avLst/>
          </a:prstGeom>
          <a:noFill/>
        </p:spPr>
        <p:txBody>
          <a:bodyPr wrap="square" lIns="0" tIns="0" rIns="0" bIns="0" anchor="ctr">
            <a:spAutoFit/>
          </a:bodyPr>
          <a:lstStyle/>
          <a:p>
            <a:pPr algn="l"/>
            <a:r>
              <a:rPr sz="1500" b="1" i="0">
                <a:solidFill>
                  <a:srgbClr val="1B2A4A"/>
                </a:solidFill>
                <a:latin typeface="Calibri"/>
              </a:rPr>
              <a:t>p=3.2×10⁻⁹</a:t>
            </a:r>
          </a:p>
        </p:txBody>
      </p:sp>
      <p:sp>
        <p:nvSpPr>
          <p:cNvPr id="18" name="Rounded Rectangle 17"/>
          <p:cNvSpPr/>
          <p:nvPr/>
        </p:nvSpPr>
        <p:spPr>
          <a:xfrm>
            <a:off x="9061704" y="1554480"/>
            <a:ext cx="2761488" cy="687593"/>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171432" y="1769364"/>
            <a:ext cx="347472" cy="34747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10344" y="1609344"/>
            <a:ext cx="2121408" cy="349758"/>
          </a:xfrm>
          <a:prstGeom prst="rect">
            <a:avLst/>
          </a:prstGeom>
          <a:noFill/>
        </p:spPr>
        <p:txBody>
          <a:bodyPr wrap="square" lIns="0" tIns="0" rIns="0" bIns="0" anchor="t">
            <a:spAutoFit/>
          </a:bodyPr>
          <a:lstStyle/>
          <a:p>
            <a:pPr algn="l"/>
            <a:r>
              <a:rPr sz="950" b="1" i="0">
                <a:solidFill>
                  <a:srgbClr val="6B6B6B"/>
                </a:solidFill>
                <a:latin typeface="Calibri"/>
              </a:rPr>
              <a:t>BASELINE pERK HIERARCHY</a:t>
            </a:r>
          </a:p>
        </p:txBody>
      </p:sp>
      <p:sp>
        <p:nvSpPr>
          <p:cNvPr id="21" name="TextBox 20"/>
          <p:cNvSpPr txBox="1"/>
          <p:nvPr/>
        </p:nvSpPr>
        <p:spPr>
          <a:xfrm>
            <a:off x="9610344" y="1772063"/>
            <a:ext cx="2121408" cy="427482"/>
          </a:xfrm>
          <a:prstGeom prst="rect">
            <a:avLst/>
          </a:prstGeom>
          <a:noFill/>
        </p:spPr>
        <p:txBody>
          <a:bodyPr wrap="square" lIns="0" tIns="0" rIns="0" bIns="0" anchor="ctr">
            <a:spAutoFit/>
          </a:bodyPr>
          <a:lstStyle/>
          <a:p>
            <a:pPr algn="l"/>
            <a:r>
              <a:rPr sz="1500" b="1" i="0">
                <a:solidFill>
                  <a:srgbClr val="1B2A4A"/>
                </a:solidFill>
                <a:latin typeface="Calibri"/>
              </a:rPr>
              <a:t>NRAS&gt;BRAF-mut&gt;WT</a:t>
            </a:r>
          </a:p>
        </p:txBody>
      </p:sp>
      <p:sp>
        <p:nvSpPr>
          <p:cNvPr id="22" name="Rounded Rectangle 21"/>
          <p:cNvSpPr/>
          <p:nvPr/>
        </p:nvSpPr>
        <p:spPr>
          <a:xfrm>
            <a:off x="365760" y="2514600"/>
            <a:ext cx="6720840" cy="38404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8640" y="2514600"/>
            <a:ext cx="6355079" cy="384048"/>
          </a:xfrm>
          <a:prstGeom prst="rect">
            <a:avLst/>
          </a:prstGeom>
          <a:noFill/>
        </p:spPr>
        <p:txBody>
          <a:bodyPr wrap="square" lIns="0" tIns="0" rIns="0" bIns="0" anchor="ctr">
            <a:spAutoFit/>
          </a:bodyPr>
          <a:lstStyle/>
          <a:p>
            <a:pPr algn="l"/>
            <a:r>
              <a:rPr sz="1300" b="1" i="0">
                <a:solidFill>
                  <a:srgbClr val="FFFFFF"/>
                </a:solidFill>
                <a:latin typeface="Calibri"/>
              </a:rPr>
              <a:t>ODE pERK vs measured RPPA protein (n=310)</a:t>
            </a:r>
          </a:p>
        </p:txBody>
      </p:sp>
      <p:sp>
        <p:nvSpPr>
          <p:cNvPr id="24" name="Rectangle 23"/>
          <p:cNvSpPr/>
          <p:nvPr/>
        </p:nvSpPr>
        <p:spPr>
          <a:xfrm>
            <a:off x="365760" y="2898648"/>
            <a:ext cx="6720840" cy="2862072"/>
          </a:xfrm>
          <a:prstGeom prst="rect">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rppa_validation_left.png"/>
          <p:cNvPicPr>
            <a:picLocks noChangeAspect="1"/>
          </p:cNvPicPr>
          <p:nvPr/>
        </p:nvPicPr>
        <p:blipFill>
          <a:blip r:embed="rId3"/>
          <a:stretch>
            <a:fillRect/>
          </a:stretch>
        </p:blipFill>
        <p:spPr>
          <a:xfrm>
            <a:off x="2029673" y="3017520"/>
            <a:ext cx="3393012" cy="2606039"/>
          </a:xfrm>
          <a:prstGeom prst="rect">
            <a:avLst/>
          </a:prstGeom>
        </p:spPr>
      </p:pic>
      <p:sp>
        <p:nvSpPr>
          <p:cNvPr id="26" name="Rounded Rectangle 25"/>
          <p:cNvSpPr/>
          <p:nvPr/>
        </p:nvSpPr>
        <p:spPr>
          <a:xfrm>
            <a:off x="7269480" y="2514600"/>
            <a:ext cx="4553712" cy="38404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452360" y="2514600"/>
            <a:ext cx="4187952" cy="384048"/>
          </a:xfrm>
          <a:prstGeom prst="rect">
            <a:avLst/>
          </a:prstGeom>
          <a:noFill/>
        </p:spPr>
        <p:txBody>
          <a:bodyPr wrap="square" lIns="0" tIns="0" rIns="0" bIns="0" anchor="ctr">
            <a:spAutoFit/>
          </a:bodyPr>
          <a:lstStyle/>
          <a:p>
            <a:pPr algn="l"/>
            <a:r>
              <a:rPr sz="1300" b="1" i="0">
                <a:solidFill>
                  <a:srgbClr val="FFFFFF"/>
                </a:solidFill>
                <a:latin typeface="Calibri"/>
              </a:rPr>
              <a:t>Genotype hierarchy: model vs measurement</a:t>
            </a:r>
          </a:p>
        </p:txBody>
      </p:sp>
      <p:sp>
        <p:nvSpPr>
          <p:cNvPr id="28" name="Rectangle 27"/>
          <p:cNvSpPr/>
          <p:nvPr/>
        </p:nvSpPr>
        <p:spPr>
          <a:xfrm>
            <a:off x="7269480" y="2898648"/>
            <a:ext cx="4553712" cy="2862072"/>
          </a:xfrm>
          <a:prstGeom prst="rect">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ode_vs_rppa_subtype.png"/>
          <p:cNvPicPr>
            <a:picLocks noChangeAspect="1"/>
          </p:cNvPicPr>
          <p:nvPr/>
        </p:nvPicPr>
        <p:blipFill>
          <a:blip r:embed="rId4"/>
          <a:stretch>
            <a:fillRect/>
          </a:stretch>
        </p:blipFill>
        <p:spPr>
          <a:xfrm>
            <a:off x="7406640" y="3431798"/>
            <a:ext cx="4279392" cy="1777482"/>
          </a:xfrm>
          <a:prstGeom prst="rect">
            <a:avLst/>
          </a:prstGeom>
        </p:spPr>
      </p:pic>
      <p:sp>
        <p:nvSpPr>
          <p:cNvPr id="30" name="Rounded Rectangle 29"/>
          <p:cNvSpPr/>
          <p:nvPr/>
        </p:nvSpPr>
        <p:spPr>
          <a:xfrm>
            <a:off x="0" y="6358128"/>
            <a:ext cx="12188952" cy="5029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82880" y="6472428"/>
            <a:ext cx="292608" cy="274320"/>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94360" y="6371061"/>
            <a:ext cx="11381232" cy="477054"/>
          </a:xfrm>
          <a:prstGeom prst="rect">
            <a:avLst/>
          </a:prstGeom>
          <a:noFill/>
        </p:spPr>
        <p:txBody>
          <a:bodyPr wrap="square" lIns="0" anchor="ctr">
            <a:spAutoFit/>
          </a:bodyPr>
          <a:lstStyle/>
          <a:p>
            <a:r>
              <a:rPr sz="1250" b="1">
                <a:solidFill>
                  <a:srgbClr val="FFFFFF"/>
                </a:solidFill>
              </a:rPr>
              <a:t>Takeaway:  </a:t>
            </a:r>
            <a:r>
              <a:rPr sz="1250">
                <a:solidFill>
                  <a:srgbClr val="FFFFFF"/>
                </a:solidFill>
              </a:rPr>
              <a:t>Baseline pERK, derived purely from the mechanism, independently correlates with measured RPPA protein and reproduces the known MAPK-activity hierarchy across melanoma subtypes.</a:t>
            </a:r>
          </a:p>
        </p:txBody>
      </p:sp>
    </p:spTree>
    <p:extLst>
      <p:ext uri="{BB962C8B-B14F-4D97-AF65-F5344CB8AC3E}">
        <p14:creationId xmlns:p14="http://schemas.microsoft.com/office/powerpoint/2010/main" val="2558939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8D607C-4313-EF22-E867-6E60669F0E5A}"/>
            </a:ext>
          </a:extLst>
        </p:cNvPr>
        <p:cNvGrpSpPr/>
        <p:nvPr/>
      </p:nvGrpSpPr>
      <p:grpSpPr>
        <a:xfrm>
          <a:off x="0" y="0"/>
          <a:ext cx="0" cy="0"/>
          <a:chOff x="0" y="0"/>
          <a:chExt cx="0" cy="0"/>
        </a:xfrm>
      </p:grpSpPr>
      <p:sp>
        <p:nvSpPr>
          <p:cNvPr id="2" name="TextBox 1"/>
          <p:cNvSpPr txBox="1"/>
          <p:nvPr/>
        </p:nvSpPr>
        <p:spPr>
          <a:xfrm>
            <a:off x="365760" y="256032"/>
            <a:ext cx="11430000" cy="415498"/>
          </a:xfrm>
          <a:prstGeom prst="rect">
            <a:avLst/>
          </a:prstGeom>
          <a:noFill/>
        </p:spPr>
        <p:txBody>
          <a:bodyPr wrap="square" lIns="0" tIns="0" rIns="0" bIns="0" anchor="t">
            <a:spAutoFit/>
          </a:bodyPr>
          <a:lstStyle/>
          <a:p>
            <a:pPr algn="l"/>
            <a:r>
              <a:rPr sz="2700" b="1" i="0">
                <a:solidFill>
                  <a:srgbClr val="1B2A4A"/>
                </a:solidFill>
                <a:latin typeface="Calibri"/>
              </a:rPr>
              <a:t> ODE </a:t>
            </a:r>
            <a:r>
              <a:rPr lang="en-GB" sz="2700" b="1">
                <a:solidFill>
                  <a:srgbClr val="1B2A4A"/>
                </a:solidFill>
                <a:latin typeface="Calibri"/>
              </a:rPr>
              <a:t>Tumour</a:t>
            </a:r>
            <a:r>
              <a:rPr sz="2700" b="1" i="0">
                <a:solidFill>
                  <a:srgbClr val="1B2A4A"/>
                </a:solidFill>
                <a:latin typeface="Calibri"/>
              </a:rPr>
              <a:t> burden and </a:t>
            </a:r>
            <a:r>
              <a:rPr sz="2700" b="1" i="0" err="1">
                <a:solidFill>
                  <a:srgbClr val="1B2A4A"/>
                </a:solidFill>
                <a:latin typeface="Calibri"/>
              </a:rPr>
              <a:t>pERK</a:t>
            </a:r>
            <a:r>
              <a:rPr sz="2700" b="1" i="0">
                <a:solidFill>
                  <a:srgbClr val="1B2A4A"/>
                </a:solidFill>
                <a:latin typeface="Calibri"/>
              </a:rPr>
              <a:t> stratify real survival</a:t>
            </a:r>
          </a:p>
        </p:txBody>
      </p:sp>
      <p:sp>
        <p:nvSpPr>
          <p:cNvPr id="3" name="Rectangle 2"/>
          <p:cNvSpPr/>
          <p:nvPr/>
        </p:nvSpPr>
        <p:spPr>
          <a:xfrm>
            <a:off x="365760" y="914400"/>
            <a:ext cx="1280160" cy="45720"/>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65760" y="1005840"/>
            <a:ext cx="11430000" cy="365760"/>
          </a:xfrm>
          <a:prstGeom prst="rect">
            <a:avLst/>
          </a:prstGeom>
          <a:noFill/>
        </p:spPr>
        <p:txBody>
          <a:bodyPr wrap="square" lIns="0" tIns="0" rIns="0" bIns="0" anchor="t">
            <a:spAutoFit/>
          </a:bodyPr>
          <a:lstStyle/>
          <a:p>
            <a:pPr algn="l"/>
            <a:r>
              <a:rPr sz="1300" b="0" i="1">
                <a:solidFill>
                  <a:srgbClr val="6B6B6B"/>
                </a:solidFill>
                <a:latin typeface="Calibri"/>
              </a:rPr>
              <a:t>Both ODE readouts for the targeted-therapy arm — simulated tumour burden and baseline pERK — significantly separate patients by real TCGA-SKCM overall survival.</a:t>
            </a:r>
          </a:p>
        </p:txBody>
      </p:sp>
      <p:sp>
        <p:nvSpPr>
          <p:cNvPr id="5" name="Rectangle 4"/>
          <p:cNvSpPr/>
          <p:nvPr/>
        </p:nvSpPr>
        <p:spPr>
          <a:xfrm>
            <a:off x="365760" y="1417320"/>
            <a:ext cx="11457432" cy="16459"/>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65760" y="1554480"/>
            <a:ext cx="2761488" cy="66198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475488" y="1769364"/>
            <a:ext cx="347472" cy="347472"/>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609344"/>
            <a:ext cx="2121408" cy="349758"/>
          </a:xfrm>
          <a:prstGeom prst="rect">
            <a:avLst/>
          </a:prstGeom>
          <a:noFill/>
        </p:spPr>
        <p:txBody>
          <a:bodyPr wrap="square" lIns="0" tIns="0" rIns="0" bIns="0" anchor="t">
            <a:spAutoFit/>
          </a:bodyPr>
          <a:lstStyle/>
          <a:p>
            <a:pPr algn="l"/>
            <a:r>
              <a:rPr sz="950" b="1" i="0">
                <a:solidFill>
                  <a:srgbClr val="6B6B6B"/>
                </a:solidFill>
                <a:latin typeface="Calibri"/>
              </a:rPr>
              <a:t>PATIENTS (BRAFi ARM)</a:t>
            </a:r>
          </a:p>
        </p:txBody>
      </p:sp>
      <p:sp>
        <p:nvSpPr>
          <p:cNvPr id="9" name="TextBox 8"/>
          <p:cNvSpPr txBox="1"/>
          <p:nvPr/>
        </p:nvSpPr>
        <p:spPr>
          <a:xfrm>
            <a:off x="914400" y="1772063"/>
            <a:ext cx="2121408" cy="427482"/>
          </a:xfrm>
          <a:prstGeom prst="rect">
            <a:avLst/>
          </a:prstGeom>
          <a:noFill/>
        </p:spPr>
        <p:txBody>
          <a:bodyPr wrap="square" lIns="0" tIns="0" rIns="0" bIns="0" anchor="ctr">
            <a:spAutoFit/>
          </a:bodyPr>
          <a:lstStyle/>
          <a:p>
            <a:pPr algn="l"/>
            <a:r>
              <a:rPr sz="1500" b="1" i="0">
                <a:solidFill>
                  <a:srgbClr val="1B2A4A"/>
                </a:solidFill>
                <a:latin typeface="Calibri"/>
              </a:rPr>
              <a:t>421</a:t>
            </a:r>
          </a:p>
        </p:txBody>
      </p:sp>
      <p:sp>
        <p:nvSpPr>
          <p:cNvPr id="10" name="Rounded Rectangle 9"/>
          <p:cNvSpPr/>
          <p:nvPr/>
        </p:nvSpPr>
        <p:spPr>
          <a:xfrm>
            <a:off x="3264408" y="1554480"/>
            <a:ext cx="2761488" cy="66198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374136" y="1769364"/>
            <a:ext cx="347472" cy="347472"/>
          </a:xfrm>
          <a:prstGeom prst="ellipse">
            <a:avLst/>
          </a:prstGeom>
          <a:solidFill>
            <a:srgbClr val="0E6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13048" y="1609344"/>
            <a:ext cx="2121408" cy="349758"/>
          </a:xfrm>
          <a:prstGeom prst="rect">
            <a:avLst/>
          </a:prstGeom>
          <a:noFill/>
        </p:spPr>
        <p:txBody>
          <a:bodyPr wrap="square" lIns="0" tIns="0" rIns="0" bIns="0" anchor="t">
            <a:spAutoFit/>
          </a:bodyPr>
          <a:lstStyle/>
          <a:p>
            <a:pPr algn="l"/>
            <a:r>
              <a:rPr sz="950" b="1" i="0">
                <a:solidFill>
                  <a:srgbClr val="6B6B6B"/>
                </a:solidFill>
                <a:latin typeface="Calibri"/>
              </a:rPr>
              <a:t>BRAFi TUMOUR BURDEN</a:t>
            </a:r>
          </a:p>
        </p:txBody>
      </p:sp>
      <p:sp>
        <p:nvSpPr>
          <p:cNvPr id="13" name="TextBox 12"/>
          <p:cNvSpPr txBox="1"/>
          <p:nvPr/>
        </p:nvSpPr>
        <p:spPr>
          <a:xfrm>
            <a:off x="3813048" y="1733643"/>
            <a:ext cx="2121408" cy="427482"/>
          </a:xfrm>
          <a:prstGeom prst="rect">
            <a:avLst/>
          </a:prstGeom>
          <a:noFill/>
        </p:spPr>
        <p:txBody>
          <a:bodyPr wrap="square" lIns="0" tIns="0" rIns="0" bIns="0" anchor="ctr">
            <a:spAutoFit/>
          </a:bodyPr>
          <a:lstStyle/>
          <a:p>
            <a:pPr algn="l"/>
            <a:r>
              <a:rPr sz="1500" b="1" i="0">
                <a:solidFill>
                  <a:srgbClr val="1B2A4A"/>
                </a:solidFill>
                <a:latin typeface="Calibri"/>
              </a:rPr>
              <a:t>p=0.027 (68 vs 105 mo)</a:t>
            </a:r>
          </a:p>
        </p:txBody>
      </p:sp>
      <p:sp>
        <p:nvSpPr>
          <p:cNvPr id="14" name="Rounded Rectangle 13"/>
          <p:cNvSpPr/>
          <p:nvPr/>
        </p:nvSpPr>
        <p:spPr>
          <a:xfrm>
            <a:off x="6163056" y="1554480"/>
            <a:ext cx="2761488" cy="66198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272784" y="1769364"/>
            <a:ext cx="347472" cy="347472"/>
          </a:xfrm>
          <a:prstGeom prst="ellipse">
            <a:avLst/>
          </a:prstGeom>
          <a:solidFill>
            <a:srgbClr val="2A6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11696" y="1609344"/>
            <a:ext cx="2121408" cy="349758"/>
          </a:xfrm>
          <a:prstGeom prst="rect">
            <a:avLst/>
          </a:prstGeom>
          <a:noFill/>
        </p:spPr>
        <p:txBody>
          <a:bodyPr wrap="square" lIns="0" tIns="0" rIns="0" bIns="0" anchor="t">
            <a:spAutoFit/>
          </a:bodyPr>
          <a:lstStyle/>
          <a:p>
            <a:pPr algn="l"/>
            <a:r>
              <a:rPr sz="950" b="1" i="0">
                <a:solidFill>
                  <a:srgbClr val="6B6B6B"/>
                </a:solidFill>
                <a:latin typeface="Calibri"/>
              </a:rPr>
              <a:t>BRAFi pERK</a:t>
            </a:r>
          </a:p>
        </p:txBody>
      </p:sp>
      <p:sp>
        <p:nvSpPr>
          <p:cNvPr id="17" name="TextBox 16"/>
          <p:cNvSpPr txBox="1"/>
          <p:nvPr/>
        </p:nvSpPr>
        <p:spPr>
          <a:xfrm>
            <a:off x="6711696" y="1714433"/>
            <a:ext cx="2121408" cy="427482"/>
          </a:xfrm>
          <a:prstGeom prst="rect">
            <a:avLst/>
          </a:prstGeom>
          <a:noFill/>
        </p:spPr>
        <p:txBody>
          <a:bodyPr wrap="square" lIns="0" tIns="0" rIns="0" bIns="0" anchor="ctr">
            <a:spAutoFit/>
          </a:bodyPr>
          <a:lstStyle/>
          <a:p>
            <a:pPr algn="l"/>
            <a:r>
              <a:rPr sz="1500" b="1" i="0">
                <a:solidFill>
                  <a:srgbClr val="1B2A4A"/>
                </a:solidFill>
                <a:latin typeface="Calibri"/>
              </a:rPr>
              <a:t>p=0.025 (68 vs 103 mo)</a:t>
            </a:r>
          </a:p>
        </p:txBody>
      </p:sp>
      <p:sp>
        <p:nvSpPr>
          <p:cNvPr id="18" name="Rounded Rectangle 17"/>
          <p:cNvSpPr/>
          <p:nvPr/>
        </p:nvSpPr>
        <p:spPr>
          <a:xfrm>
            <a:off x="9061704" y="1554480"/>
            <a:ext cx="2761488" cy="66198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171432" y="1769364"/>
            <a:ext cx="347472" cy="34747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10344" y="1609344"/>
            <a:ext cx="2121408" cy="349758"/>
          </a:xfrm>
          <a:prstGeom prst="rect">
            <a:avLst/>
          </a:prstGeom>
          <a:noFill/>
        </p:spPr>
        <p:txBody>
          <a:bodyPr wrap="square" lIns="0" tIns="0" rIns="0" bIns="0" anchor="t">
            <a:spAutoFit/>
          </a:bodyPr>
          <a:lstStyle/>
          <a:p>
            <a:pPr algn="l"/>
            <a:r>
              <a:rPr sz="950" b="1" i="0">
                <a:solidFill>
                  <a:srgbClr val="6B6B6B"/>
                </a:solidFill>
                <a:latin typeface="Calibri"/>
              </a:rPr>
              <a:t>OPTIMAL BRAFi DOSE</a:t>
            </a:r>
          </a:p>
        </p:txBody>
      </p:sp>
      <p:sp>
        <p:nvSpPr>
          <p:cNvPr id="21" name="TextBox 20"/>
          <p:cNvSpPr txBox="1"/>
          <p:nvPr/>
        </p:nvSpPr>
        <p:spPr>
          <a:xfrm>
            <a:off x="9610344" y="1733643"/>
            <a:ext cx="2121408" cy="427482"/>
          </a:xfrm>
          <a:prstGeom prst="rect">
            <a:avLst/>
          </a:prstGeom>
          <a:noFill/>
        </p:spPr>
        <p:txBody>
          <a:bodyPr wrap="square" lIns="0" tIns="0" rIns="0" bIns="0" anchor="ctr">
            <a:spAutoFit/>
          </a:bodyPr>
          <a:lstStyle/>
          <a:p>
            <a:pPr algn="l"/>
            <a:r>
              <a:rPr sz="1500" b="1" i="0">
                <a:solidFill>
                  <a:srgbClr val="1B2A4A"/>
                </a:solidFill>
                <a:latin typeface="Calibri"/>
              </a:rPr>
              <a:t>0.23–0.56</a:t>
            </a:r>
          </a:p>
        </p:txBody>
      </p:sp>
      <p:sp>
        <p:nvSpPr>
          <p:cNvPr id="22" name="Rounded Rectangle 21"/>
          <p:cNvSpPr/>
          <p:nvPr/>
        </p:nvSpPr>
        <p:spPr>
          <a:xfrm>
            <a:off x="365760" y="2514600"/>
            <a:ext cx="5532120" cy="38404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8640" y="2514600"/>
            <a:ext cx="5166359" cy="384048"/>
          </a:xfrm>
          <a:prstGeom prst="rect">
            <a:avLst/>
          </a:prstGeom>
          <a:noFill/>
        </p:spPr>
        <p:txBody>
          <a:bodyPr wrap="square" lIns="0" tIns="0" rIns="0" bIns="0" anchor="ctr">
            <a:spAutoFit/>
          </a:bodyPr>
          <a:lstStyle/>
          <a:p>
            <a:pPr algn="l"/>
            <a:r>
              <a:rPr sz="1300" b="1" i="0">
                <a:solidFill>
                  <a:srgbClr val="FFFFFF"/>
                </a:solidFill>
                <a:latin typeface="Calibri"/>
              </a:rPr>
              <a:t>KM stratified by ODE tumour burden</a:t>
            </a:r>
          </a:p>
        </p:txBody>
      </p:sp>
      <p:sp>
        <p:nvSpPr>
          <p:cNvPr id="24" name="Rectangle 23"/>
          <p:cNvSpPr/>
          <p:nvPr/>
        </p:nvSpPr>
        <p:spPr>
          <a:xfrm>
            <a:off x="365760" y="2898648"/>
            <a:ext cx="5532120" cy="2862072"/>
          </a:xfrm>
          <a:prstGeom prst="rect">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km_tumour_burden.png"/>
          <p:cNvPicPr>
            <a:picLocks noChangeAspect="1"/>
          </p:cNvPicPr>
          <p:nvPr/>
        </p:nvPicPr>
        <p:blipFill>
          <a:blip r:embed="rId3"/>
          <a:stretch>
            <a:fillRect/>
          </a:stretch>
        </p:blipFill>
        <p:spPr>
          <a:xfrm>
            <a:off x="1711327" y="3017520"/>
            <a:ext cx="2840985" cy="2606039"/>
          </a:xfrm>
          <a:prstGeom prst="rect">
            <a:avLst/>
          </a:prstGeom>
        </p:spPr>
      </p:pic>
      <p:sp>
        <p:nvSpPr>
          <p:cNvPr id="26" name="Rounded Rectangle 25"/>
          <p:cNvSpPr/>
          <p:nvPr/>
        </p:nvSpPr>
        <p:spPr>
          <a:xfrm>
            <a:off x="6035040" y="2514600"/>
            <a:ext cx="5788152" cy="38404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17920" y="2514600"/>
            <a:ext cx="5422392" cy="384048"/>
          </a:xfrm>
          <a:prstGeom prst="rect">
            <a:avLst/>
          </a:prstGeom>
          <a:noFill/>
        </p:spPr>
        <p:txBody>
          <a:bodyPr wrap="square" lIns="0" tIns="0" rIns="0" bIns="0" anchor="ctr">
            <a:spAutoFit/>
          </a:bodyPr>
          <a:lstStyle/>
          <a:p>
            <a:pPr algn="l"/>
            <a:r>
              <a:rPr sz="1300" b="1" i="0">
                <a:solidFill>
                  <a:srgbClr val="FFFFFF"/>
                </a:solidFill>
                <a:latin typeface="Calibri"/>
              </a:rPr>
              <a:t>KM stratified by ODE baseline pERK</a:t>
            </a:r>
          </a:p>
        </p:txBody>
      </p:sp>
      <p:sp>
        <p:nvSpPr>
          <p:cNvPr id="28" name="Rectangle 27"/>
          <p:cNvSpPr/>
          <p:nvPr/>
        </p:nvSpPr>
        <p:spPr>
          <a:xfrm>
            <a:off x="6035040" y="2898648"/>
            <a:ext cx="5788152" cy="2862072"/>
          </a:xfrm>
          <a:prstGeom prst="rect">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km_pERK.png"/>
          <p:cNvPicPr>
            <a:picLocks noChangeAspect="1"/>
          </p:cNvPicPr>
          <p:nvPr/>
        </p:nvPicPr>
        <p:blipFill>
          <a:blip r:embed="rId4"/>
          <a:stretch>
            <a:fillRect/>
          </a:stretch>
        </p:blipFill>
        <p:spPr>
          <a:xfrm>
            <a:off x="7508623" y="3017520"/>
            <a:ext cx="2840985" cy="2606039"/>
          </a:xfrm>
          <a:prstGeom prst="rect">
            <a:avLst/>
          </a:prstGeom>
        </p:spPr>
      </p:pic>
      <p:sp>
        <p:nvSpPr>
          <p:cNvPr id="30" name="Rounded Rectangle 29"/>
          <p:cNvSpPr/>
          <p:nvPr/>
        </p:nvSpPr>
        <p:spPr>
          <a:xfrm>
            <a:off x="0" y="6345936"/>
            <a:ext cx="12207240" cy="509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201168" y="6466332"/>
            <a:ext cx="274320" cy="274320"/>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9224" y="6455049"/>
            <a:ext cx="10698480" cy="284693"/>
          </a:xfrm>
          <a:prstGeom prst="rect">
            <a:avLst/>
          </a:prstGeom>
          <a:noFill/>
        </p:spPr>
        <p:txBody>
          <a:bodyPr wrap="square" lIns="0" tIns="45720" rIns="91440" bIns="45720" anchor="ctr">
            <a:spAutoFit/>
          </a:bodyPr>
          <a:lstStyle/>
          <a:p>
            <a:r>
              <a:rPr sz="1250" b="1">
                <a:solidFill>
                  <a:srgbClr val="FFFFFF"/>
                </a:solidFill>
              </a:rPr>
              <a:t>Takeaway:  </a:t>
            </a:r>
            <a:r>
              <a:rPr sz="1250">
                <a:solidFill>
                  <a:srgbClr val="FFFFFF"/>
                </a:solidFill>
              </a:rPr>
              <a:t>Both ODE-derived readouts for the targeted-therapy arm significantly separate patients by real overall survival</a:t>
            </a:r>
            <a:endParaRPr lang="en-US" sz="1250">
              <a:solidFill>
                <a:srgbClr val="FFFFFF"/>
              </a:solidFill>
            </a:endParaRPr>
          </a:p>
        </p:txBody>
      </p:sp>
    </p:spTree>
    <p:extLst>
      <p:ext uri="{BB962C8B-B14F-4D97-AF65-F5344CB8AC3E}">
        <p14:creationId xmlns:p14="http://schemas.microsoft.com/office/powerpoint/2010/main" val="15114698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41644D-AB02-CACB-C3B2-625BEED1967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0241531-DCF1-5493-98A2-EC99A6B269CF}"/>
              </a:ext>
            </a:extLst>
          </p:cNvPr>
          <p:cNvSpPr>
            <a:spLocks noGrp="1"/>
          </p:cNvSpPr>
          <p:nvPr>
            <p:ph type="ftr" sz="quarter" idx="11"/>
          </p:nvPr>
        </p:nvSpPr>
        <p:spPr/>
        <p:txBody>
          <a:bodyPr/>
          <a:lstStyle/>
          <a:p>
            <a:r>
              <a:rPr lang="en-US"/>
              <a:t>
</a:t>
            </a:r>
          </a:p>
        </p:txBody>
      </p:sp>
      <p:sp>
        <p:nvSpPr>
          <p:cNvPr id="3" name="Date Placeholder 2">
            <a:extLst>
              <a:ext uri="{FF2B5EF4-FFF2-40B4-BE49-F238E27FC236}">
                <a16:creationId xmlns:a16="http://schemas.microsoft.com/office/drawing/2014/main" id="{E233DE3B-E904-73A5-7E73-08978BC77564}"/>
              </a:ext>
            </a:extLst>
          </p:cNvPr>
          <p:cNvSpPr>
            <a:spLocks noGrp="1"/>
          </p:cNvSpPr>
          <p:nvPr>
            <p:ph type="dt" sz="half" idx="10"/>
          </p:nvPr>
        </p:nvSpPr>
        <p:spPr/>
        <p:txBody>
          <a:bodyPr/>
          <a:lstStyle/>
          <a:p>
            <a:fld id="{8D0AFB9A-218D-47B3-804F-AED8F3B5451D}" type="datetime1">
              <a:t>8/9/2026</a:t>
            </a:fld>
            <a:endParaRPr lang="en-US"/>
          </a:p>
        </p:txBody>
      </p:sp>
      <p:sp>
        <p:nvSpPr>
          <p:cNvPr id="4" name="Slide Number Placeholder 3">
            <a:extLst>
              <a:ext uri="{FF2B5EF4-FFF2-40B4-BE49-F238E27FC236}">
                <a16:creationId xmlns:a16="http://schemas.microsoft.com/office/drawing/2014/main" id="{0F8738A4-F978-F296-1088-14573135728F}"/>
              </a:ext>
            </a:extLst>
          </p:cNvPr>
          <p:cNvSpPr>
            <a:spLocks noGrp="1"/>
          </p:cNvSpPr>
          <p:nvPr>
            <p:ph type="sldNum" sz="quarter" idx="12"/>
          </p:nvPr>
        </p:nvSpPr>
        <p:spPr/>
        <p:txBody>
          <a:bodyPr/>
          <a:lstStyle/>
          <a:p>
            <a:fld id="{753D0FD4-819D-4187-8797-C35567B41C78}" type="slidenum">
              <a:rPr lang="en-US" dirty="0"/>
              <a:t>17</a:t>
            </a:fld>
            <a:endParaRPr lang="en-US"/>
          </a:p>
        </p:txBody>
      </p:sp>
      <p:sp>
        <p:nvSpPr>
          <p:cNvPr id="5" name="Text 0">
            <a:extLst>
              <a:ext uri="{FF2B5EF4-FFF2-40B4-BE49-F238E27FC236}">
                <a16:creationId xmlns:a16="http://schemas.microsoft.com/office/drawing/2014/main" id="{4C16B6B7-E657-F190-509B-B0226AE10931}"/>
              </a:ext>
            </a:extLst>
          </p:cNvPr>
          <p:cNvSpPr/>
          <p:nvPr/>
        </p:nvSpPr>
        <p:spPr>
          <a:xfrm>
            <a:off x="1288229" y="2634191"/>
            <a:ext cx="9141657" cy="2481015"/>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700" b="1">
                <a:solidFill>
                  <a:srgbClr val="000000"/>
                </a:solidFill>
                <a:ea typeface="+mn-lt"/>
                <a:cs typeface="+mn-lt"/>
              </a:rPr>
              <a:t>Can a machine-learning framework predict both clinical immunotherapy response across melanoma trial cohorts and cell viability under standard-of-care treatments, and are these predictions biologically aligned?</a:t>
            </a:r>
            <a:endParaRPr lang="en-US"/>
          </a:p>
        </p:txBody>
      </p:sp>
      <p:sp>
        <p:nvSpPr>
          <p:cNvPr id="6" name="Shape 1">
            <a:extLst>
              <a:ext uri="{FF2B5EF4-FFF2-40B4-BE49-F238E27FC236}">
                <a16:creationId xmlns:a16="http://schemas.microsoft.com/office/drawing/2014/main" id="{81F212D6-956E-4565-835C-F99EFB882A5C}"/>
              </a:ext>
            </a:extLst>
          </p:cNvPr>
          <p:cNvSpPr/>
          <p:nvPr/>
        </p:nvSpPr>
        <p:spPr>
          <a:xfrm>
            <a:off x="5175819" y="2385953"/>
            <a:ext cx="1371600" cy="41148"/>
          </a:xfrm>
          <a:prstGeom prst="rect">
            <a:avLst/>
          </a:prstGeom>
          <a:solidFill>
            <a:srgbClr val="E07B39"/>
          </a:solidFill>
          <a:ln w="12700">
            <a:solidFill>
              <a:srgbClr val="E07B39"/>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4" name="TextBox 83">
            <a:extLst>
              <a:ext uri="{FF2B5EF4-FFF2-40B4-BE49-F238E27FC236}">
                <a16:creationId xmlns:a16="http://schemas.microsoft.com/office/drawing/2014/main" id="{AD5E5831-5F58-7530-D49C-3C3AD791F3CE}"/>
              </a:ext>
            </a:extLst>
          </p:cNvPr>
          <p:cNvSpPr txBox="1"/>
          <p:nvPr/>
        </p:nvSpPr>
        <p:spPr>
          <a:xfrm>
            <a:off x="4861034" y="1715814"/>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solidFill>
                  <a:srgbClr val="1B2A4A"/>
                </a:solidFill>
                <a:latin typeface="Calibri"/>
              </a:rPr>
              <a:t>Chapter 2</a:t>
            </a:r>
            <a:endParaRPr lang="en-US" sz="3600"/>
          </a:p>
          <a:p>
            <a:pPr algn="ctr"/>
            <a:endParaRPr lang="en-US"/>
          </a:p>
        </p:txBody>
      </p:sp>
      <p:sp>
        <p:nvSpPr>
          <p:cNvPr id="8" name="Arrow: Pentagon 7">
            <a:extLst>
              <a:ext uri="{FF2B5EF4-FFF2-40B4-BE49-F238E27FC236}">
                <a16:creationId xmlns:a16="http://schemas.microsoft.com/office/drawing/2014/main" id="{64DCC10C-BFBB-BA25-8B3B-1BF1C2DC875F}"/>
              </a:ext>
            </a:extLst>
          </p:cNvPr>
          <p:cNvSpPr/>
          <p:nvPr/>
        </p:nvSpPr>
        <p:spPr>
          <a:xfrm rot="5400000">
            <a:off x="9524999" y="567612"/>
            <a:ext cx="2328333" cy="1199444"/>
          </a:xfrm>
          <a:prstGeom prst="homePlate">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AF563BE9-8BCD-16E7-1B6F-2F4F66CD7B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238342" y="621535"/>
            <a:ext cx="914400" cy="914400"/>
          </a:xfrm>
          <a:prstGeom prst="rect">
            <a:avLst/>
          </a:prstGeom>
        </p:spPr>
      </p:pic>
    </p:spTree>
    <p:extLst>
      <p:ext uri="{BB962C8B-B14F-4D97-AF65-F5344CB8AC3E}">
        <p14:creationId xmlns:p14="http://schemas.microsoft.com/office/powerpoint/2010/main" val="33405781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3E78B1-2338-5C25-B074-6AFEC6BD172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2F174B5-F86B-EDF9-963B-7869624A6F76}"/>
              </a:ext>
            </a:extLst>
          </p:cNvPr>
          <p:cNvSpPr txBox="1"/>
          <p:nvPr/>
        </p:nvSpPr>
        <p:spPr>
          <a:xfrm>
            <a:off x="365760" y="256032"/>
            <a:ext cx="11430000" cy="415498"/>
          </a:xfrm>
          <a:prstGeom prst="rect">
            <a:avLst/>
          </a:prstGeom>
          <a:noFill/>
        </p:spPr>
        <p:txBody>
          <a:bodyPr wrap="square" lIns="0" tIns="0" rIns="0" bIns="0" anchor="t">
            <a:spAutoFit/>
          </a:bodyPr>
          <a:lstStyle/>
          <a:p>
            <a:r>
              <a:rPr sz="2700" b="1" i="0">
                <a:solidFill>
                  <a:srgbClr val="1B2A4A"/>
                </a:solidFill>
                <a:latin typeface="Calibri"/>
              </a:rPr>
              <a:t>The </a:t>
            </a:r>
            <a:r>
              <a:rPr lang="en-GB" sz="2700" b="1">
                <a:solidFill>
                  <a:srgbClr val="1B2A4A"/>
                </a:solidFill>
                <a:latin typeface="Calibri"/>
              </a:rPr>
              <a:t>clinical problem with immunotherapy</a:t>
            </a:r>
            <a:endParaRPr sz="2700" b="1" i="0">
              <a:solidFill>
                <a:srgbClr val="1B2A4A"/>
              </a:solidFill>
              <a:latin typeface="Calibri"/>
            </a:endParaRPr>
          </a:p>
        </p:txBody>
      </p:sp>
      <p:sp>
        <p:nvSpPr>
          <p:cNvPr id="3" name="Rectangle 2">
            <a:extLst>
              <a:ext uri="{FF2B5EF4-FFF2-40B4-BE49-F238E27FC236}">
                <a16:creationId xmlns:a16="http://schemas.microsoft.com/office/drawing/2014/main" id="{AF829F75-113A-0C81-F2A6-A8D4CFD36039}"/>
              </a:ext>
            </a:extLst>
          </p:cNvPr>
          <p:cNvSpPr/>
          <p:nvPr/>
        </p:nvSpPr>
        <p:spPr>
          <a:xfrm>
            <a:off x="365760" y="914400"/>
            <a:ext cx="1280160" cy="45720"/>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DCD41974-D0F8-49D1-8129-DA397D79EDD5}"/>
              </a:ext>
            </a:extLst>
          </p:cNvPr>
          <p:cNvSpPr txBox="1"/>
          <p:nvPr/>
        </p:nvSpPr>
        <p:spPr>
          <a:xfrm>
            <a:off x="365760" y="1005840"/>
            <a:ext cx="11430000" cy="200055"/>
          </a:xfrm>
          <a:prstGeom prst="rect">
            <a:avLst/>
          </a:prstGeom>
          <a:noFill/>
        </p:spPr>
        <p:txBody>
          <a:bodyPr wrap="square" lIns="0" tIns="0" rIns="0" bIns="0" anchor="t">
            <a:spAutoFit/>
          </a:bodyPr>
          <a:lstStyle/>
          <a:p>
            <a:r>
              <a:rPr lang="en-GB" sz="1300" i="1">
                <a:solidFill>
                  <a:srgbClr val="6B6B6B"/>
                </a:solidFill>
                <a:latin typeface="Calibri"/>
              </a:rPr>
              <a:t>Anti-PD-1</a:t>
            </a:r>
            <a:r>
              <a:rPr lang="en-GB" sz="1300" b="0" i="1">
                <a:solidFill>
                  <a:srgbClr val="6B6B6B"/>
                </a:solidFill>
                <a:latin typeface="Calibri"/>
              </a:rPr>
              <a:t> </a:t>
            </a:r>
            <a:r>
              <a:rPr lang="en-GB" sz="1300" i="1">
                <a:solidFill>
                  <a:srgbClr val="6B6B6B"/>
                </a:solidFill>
                <a:latin typeface="Calibri"/>
              </a:rPr>
              <a:t>therapy yields transformative survival for a minority, but leaves nearly 60% of patients non-</a:t>
            </a:r>
            <a:r>
              <a:rPr lang="en-GB" sz="1300" i="1" err="1">
                <a:solidFill>
                  <a:srgbClr val="6B6B6B"/>
                </a:solidFill>
                <a:latin typeface="Calibri"/>
              </a:rPr>
              <a:t>responsi</a:t>
            </a:r>
            <a:r>
              <a:rPr lang="en-GB" sz="1300" i="1">
                <a:solidFill>
                  <a:srgbClr val="6B6B6B"/>
                </a:solidFill>
                <a:latin typeface="Calibri"/>
              </a:rPr>
              <a:t>ve</a:t>
            </a:r>
            <a:endParaRPr lang="en-US" sz="1300" b="0" i="1">
              <a:solidFill>
                <a:srgbClr val="6B6B6B"/>
              </a:solidFill>
              <a:latin typeface="Calibri"/>
              <a:ea typeface="Calibri"/>
              <a:cs typeface="Calibri"/>
            </a:endParaRPr>
          </a:p>
        </p:txBody>
      </p:sp>
      <p:sp>
        <p:nvSpPr>
          <p:cNvPr id="5" name="Rectangle 4">
            <a:extLst>
              <a:ext uri="{FF2B5EF4-FFF2-40B4-BE49-F238E27FC236}">
                <a16:creationId xmlns:a16="http://schemas.microsoft.com/office/drawing/2014/main" id="{A47C81A4-F351-BE57-9271-FE141C57F28D}"/>
              </a:ext>
            </a:extLst>
          </p:cNvPr>
          <p:cNvSpPr/>
          <p:nvPr/>
        </p:nvSpPr>
        <p:spPr>
          <a:xfrm>
            <a:off x="365760" y="1417320"/>
            <a:ext cx="11457432" cy="16459"/>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a:extLst>
              <a:ext uri="{FF2B5EF4-FFF2-40B4-BE49-F238E27FC236}">
                <a16:creationId xmlns:a16="http://schemas.microsoft.com/office/drawing/2014/main" id="{9B17C4AD-60D5-C795-663C-3A64C13EAA46}"/>
              </a:ext>
            </a:extLst>
          </p:cNvPr>
          <p:cNvSpPr/>
          <p:nvPr/>
        </p:nvSpPr>
        <p:spPr>
          <a:xfrm>
            <a:off x="365760" y="1554480"/>
            <a:ext cx="1795271" cy="77724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a:extLst>
              <a:ext uri="{FF2B5EF4-FFF2-40B4-BE49-F238E27FC236}">
                <a16:creationId xmlns:a16="http://schemas.microsoft.com/office/drawing/2014/main" id="{02292D70-A2EC-3D12-79B9-8407FEA8971C}"/>
              </a:ext>
            </a:extLst>
          </p:cNvPr>
          <p:cNvSpPr/>
          <p:nvPr/>
        </p:nvSpPr>
        <p:spPr>
          <a:xfrm>
            <a:off x="475488" y="1769364"/>
            <a:ext cx="347472" cy="347472"/>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EA79883D-FE7A-6F0C-5FB4-9BAC517DB2A4}"/>
              </a:ext>
            </a:extLst>
          </p:cNvPr>
          <p:cNvSpPr txBox="1"/>
          <p:nvPr/>
        </p:nvSpPr>
        <p:spPr>
          <a:xfrm>
            <a:off x="914400" y="1609344"/>
            <a:ext cx="1155191" cy="146194"/>
          </a:xfrm>
          <a:prstGeom prst="rect">
            <a:avLst/>
          </a:prstGeom>
          <a:noFill/>
        </p:spPr>
        <p:txBody>
          <a:bodyPr wrap="square" lIns="0" tIns="0" rIns="0" bIns="0" anchor="t">
            <a:spAutoFit/>
          </a:bodyPr>
          <a:lstStyle/>
          <a:p>
            <a:r>
              <a:rPr lang="en-US" sz="950" b="1">
                <a:solidFill>
                  <a:srgbClr val="6B6B6B"/>
                </a:solidFill>
                <a:latin typeface="Calibri"/>
              </a:rPr>
              <a:t>NON-RESPONSE RATE</a:t>
            </a:r>
            <a:endParaRPr lang="en-US"/>
          </a:p>
        </p:txBody>
      </p:sp>
      <p:sp>
        <p:nvSpPr>
          <p:cNvPr id="9" name="TextBox 8">
            <a:extLst>
              <a:ext uri="{FF2B5EF4-FFF2-40B4-BE49-F238E27FC236}">
                <a16:creationId xmlns:a16="http://schemas.microsoft.com/office/drawing/2014/main" id="{10CF7659-3410-3CEE-B11C-CF8CAB15D1AD}"/>
              </a:ext>
            </a:extLst>
          </p:cNvPr>
          <p:cNvSpPr txBox="1"/>
          <p:nvPr/>
        </p:nvSpPr>
        <p:spPr>
          <a:xfrm>
            <a:off x="940230" y="1790897"/>
            <a:ext cx="1129361" cy="230832"/>
          </a:xfrm>
          <a:prstGeom prst="rect">
            <a:avLst/>
          </a:prstGeom>
          <a:noFill/>
        </p:spPr>
        <p:txBody>
          <a:bodyPr wrap="square" lIns="0" tIns="0" rIns="0" bIns="0" anchor="ctr">
            <a:spAutoFit/>
          </a:bodyPr>
          <a:lstStyle/>
          <a:p>
            <a:pPr algn="l"/>
            <a:r>
              <a:rPr lang="en-US" sz="1500" b="1">
                <a:solidFill>
                  <a:srgbClr val="1B2A4A"/>
                </a:solidFill>
                <a:latin typeface="Calibri"/>
              </a:rPr>
              <a:t>~60%</a:t>
            </a:r>
            <a:endParaRPr lang="en-US"/>
          </a:p>
        </p:txBody>
      </p:sp>
      <p:sp>
        <p:nvSpPr>
          <p:cNvPr id="10" name="Rounded Rectangle 9">
            <a:extLst>
              <a:ext uri="{FF2B5EF4-FFF2-40B4-BE49-F238E27FC236}">
                <a16:creationId xmlns:a16="http://schemas.microsoft.com/office/drawing/2014/main" id="{E72C9B4F-8AE1-6CF8-7103-11317BF8A093}"/>
              </a:ext>
            </a:extLst>
          </p:cNvPr>
          <p:cNvSpPr/>
          <p:nvPr/>
        </p:nvSpPr>
        <p:spPr>
          <a:xfrm>
            <a:off x="2298192" y="1554480"/>
            <a:ext cx="1795271" cy="77724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a:extLst>
              <a:ext uri="{FF2B5EF4-FFF2-40B4-BE49-F238E27FC236}">
                <a16:creationId xmlns:a16="http://schemas.microsoft.com/office/drawing/2014/main" id="{802D06B1-36C9-3C4E-873B-4A876F8B4128}"/>
              </a:ext>
            </a:extLst>
          </p:cNvPr>
          <p:cNvSpPr/>
          <p:nvPr/>
        </p:nvSpPr>
        <p:spPr>
          <a:xfrm>
            <a:off x="2407920" y="1769364"/>
            <a:ext cx="347472" cy="347472"/>
          </a:xfrm>
          <a:prstGeom prst="ellipse">
            <a:avLst/>
          </a:prstGeom>
          <a:solidFill>
            <a:srgbClr val="0E6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79B0F0BC-0EBE-6A29-656D-542CBA51921C}"/>
              </a:ext>
            </a:extLst>
          </p:cNvPr>
          <p:cNvSpPr txBox="1"/>
          <p:nvPr/>
        </p:nvSpPr>
        <p:spPr>
          <a:xfrm>
            <a:off x="2842527" y="1609344"/>
            <a:ext cx="1245597" cy="146194"/>
          </a:xfrm>
          <a:prstGeom prst="rect">
            <a:avLst/>
          </a:prstGeom>
          <a:noFill/>
        </p:spPr>
        <p:txBody>
          <a:bodyPr wrap="square" lIns="0" tIns="0" rIns="0" bIns="0" anchor="t">
            <a:spAutoFit/>
          </a:bodyPr>
          <a:lstStyle/>
          <a:p>
            <a:r>
              <a:rPr lang="en-US" sz="950" b="1">
                <a:solidFill>
                  <a:srgbClr val="6B6B6B"/>
                </a:solidFill>
                <a:latin typeface="Calibri"/>
              </a:rPr>
              <a:t>SURVIVAL PENALTY    </a:t>
            </a:r>
            <a:endParaRPr lang="en-US"/>
          </a:p>
        </p:txBody>
      </p:sp>
      <p:sp>
        <p:nvSpPr>
          <p:cNvPr id="13" name="TextBox 12">
            <a:extLst>
              <a:ext uri="{FF2B5EF4-FFF2-40B4-BE49-F238E27FC236}">
                <a16:creationId xmlns:a16="http://schemas.microsoft.com/office/drawing/2014/main" id="{DDDF066A-5496-BE53-7A50-8BDCA452FC4F}"/>
              </a:ext>
            </a:extLst>
          </p:cNvPr>
          <p:cNvSpPr txBox="1"/>
          <p:nvPr/>
        </p:nvSpPr>
        <p:spPr>
          <a:xfrm>
            <a:off x="2842527" y="1793050"/>
            <a:ext cx="1155191" cy="230832"/>
          </a:xfrm>
          <a:prstGeom prst="rect">
            <a:avLst/>
          </a:prstGeom>
          <a:noFill/>
        </p:spPr>
        <p:txBody>
          <a:bodyPr wrap="square" lIns="0" tIns="0" rIns="0" bIns="0" anchor="ctr">
            <a:spAutoFit/>
          </a:bodyPr>
          <a:lstStyle/>
          <a:p>
            <a:r>
              <a:rPr lang="en-US" sz="1500" b="1">
                <a:solidFill>
                  <a:srgbClr val="1B2A4A"/>
                </a:solidFill>
                <a:latin typeface="Calibri"/>
              </a:rPr>
              <a:t>9.2 </a:t>
            </a:r>
            <a:r>
              <a:rPr lang="en-US" sz="1500" b="1" err="1">
                <a:solidFill>
                  <a:srgbClr val="1B2A4A"/>
                </a:solidFill>
                <a:latin typeface="Calibri"/>
              </a:rPr>
              <a:t>mos</a:t>
            </a:r>
            <a:endParaRPr lang="en-US" err="1"/>
          </a:p>
        </p:txBody>
      </p:sp>
      <p:sp>
        <p:nvSpPr>
          <p:cNvPr id="14" name="Rounded Rectangle 13">
            <a:extLst>
              <a:ext uri="{FF2B5EF4-FFF2-40B4-BE49-F238E27FC236}">
                <a16:creationId xmlns:a16="http://schemas.microsoft.com/office/drawing/2014/main" id="{5ABC37D5-892A-3F58-BCC5-A7630D55DF6D}"/>
              </a:ext>
            </a:extLst>
          </p:cNvPr>
          <p:cNvSpPr/>
          <p:nvPr/>
        </p:nvSpPr>
        <p:spPr>
          <a:xfrm>
            <a:off x="4230624" y="1554480"/>
            <a:ext cx="1795271" cy="77724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0ED88491-7368-776B-DC7D-012B4422BE7B}"/>
              </a:ext>
            </a:extLst>
          </p:cNvPr>
          <p:cNvSpPr/>
          <p:nvPr/>
        </p:nvSpPr>
        <p:spPr>
          <a:xfrm>
            <a:off x="4340352" y="1769364"/>
            <a:ext cx="347472" cy="347472"/>
          </a:xfrm>
          <a:prstGeom prst="ellipse">
            <a:avLst/>
          </a:prstGeom>
          <a:solidFill>
            <a:srgbClr val="2A6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F53BF2C7-6A55-3357-14A9-B9D9C865BF31}"/>
              </a:ext>
            </a:extLst>
          </p:cNvPr>
          <p:cNvSpPr txBox="1"/>
          <p:nvPr/>
        </p:nvSpPr>
        <p:spPr>
          <a:xfrm>
            <a:off x="4779264" y="1609344"/>
            <a:ext cx="1155191" cy="146194"/>
          </a:xfrm>
          <a:prstGeom prst="rect">
            <a:avLst/>
          </a:prstGeom>
          <a:noFill/>
        </p:spPr>
        <p:txBody>
          <a:bodyPr wrap="square" lIns="0" tIns="0" rIns="0" bIns="0" anchor="t">
            <a:spAutoFit/>
          </a:bodyPr>
          <a:lstStyle/>
          <a:p>
            <a:r>
              <a:rPr lang="en-GB" sz="950" b="1">
                <a:solidFill>
                  <a:srgbClr val="6B6B6B"/>
                </a:solidFill>
                <a:latin typeface="Calibri"/>
                <a:ea typeface="Calibri"/>
                <a:cs typeface="Calibri"/>
              </a:rPr>
              <a:t>SURVIVAL BENEFIT</a:t>
            </a:r>
            <a:endParaRPr lang="en-GB" sz="950" b="1" i="0">
              <a:solidFill>
                <a:srgbClr val="6B6B6B"/>
              </a:solidFill>
              <a:latin typeface="Calibri"/>
              <a:ea typeface="Calibri"/>
              <a:cs typeface="Calibri"/>
            </a:endParaRPr>
          </a:p>
        </p:txBody>
      </p:sp>
      <p:sp>
        <p:nvSpPr>
          <p:cNvPr id="17" name="TextBox 16">
            <a:extLst>
              <a:ext uri="{FF2B5EF4-FFF2-40B4-BE49-F238E27FC236}">
                <a16:creationId xmlns:a16="http://schemas.microsoft.com/office/drawing/2014/main" id="{784D0953-32FE-CE76-215B-867617EAA461}"/>
              </a:ext>
            </a:extLst>
          </p:cNvPr>
          <p:cNvSpPr txBox="1"/>
          <p:nvPr/>
        </p:nvSpPr>
        <p:spPr>
          <a:xfrm>
            <a:off x="4779264" y="1793050"/>
            <a:ext cx="1155191" cy="230832"/>
          </a:xfrm>
          <a:prstGeom prst="rect">
            <a:avLst/>
          </a:prstGeom>
          <a:noFill/>
        </p:spPr>
        <p:txBody>
          <a:bodyPr wrap="square" lIns="0" tIns="0" rIns="0" bIns="0" anchor="ctr">
            <a:spAutoFit/>
          </a:bodyPr>
          <a:lstStyle/>
          <a:p>
            <a:pPr algn="l"/>
            <a:r>
              <a:rPr lang="en-GB" sz="1500" b="1">
                <a:solidFill>
                  <a:srgbClr val="1B2A4A"/>
                </a:solidFill>
                <a:latin typeface="Calibri"/>
              </a:rPr>
              <a:t>95%</a:t>
            </a:r>
            <a:endParaRPr sz="1500" b="1" i="0">
              <a:solidFill>
                <a:srgbClr val="1B2A4A"/>
              </a:solidFill>
              <a:latin typeface="Calibri"/>
            </a:endParaRPr>
          </a:p>
        </p:txBody>
      </p:sp>
      <p:sp>
        <p:nvSpPr>
          <p:cNvPr id="18" name="Rounded Rectangle 17">
            <a:extLst>
              <a:ext uri="{FF2B5EF4-FFF2-40B4-BE49-F238E27FC236}">
                <a16:creationId xmlns:a16="http://schemas.microsoft.com/office/drawing/2014/main" id="{A1557974-0D81-37ED-3E54-3B2327DE188F}"/>
              </a:ext>
            </a:extLst>
          </p:cNvPr>
          <p:cNvSpPr/>
          <p:nvPr/>
        </p:nvSpPr>
        <p:spPr>
          <a:xfrm>
            <a:off x="6163056" y="1554480"/>
            <a:ext cx="1795271" cy="77724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F7780266-98A5-061F-FD53-014C853FBBED}"/>
              </a:ext>
            </a:extLst>
          </p:cNvPr>
          <p:cNvSpPr/>
          <p:nvPr/>
        </p:nvSpPr>
        <p:spPr>
          <a:xfrm>
            <a:off x="6272784" y="1769364"/>
            <a:ext cx="347472" cy="34747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A9EF416B-288D-D588-9189-D7FA9A3713F3}"/>
              </a:ext>
            </a:extLst>
          </p:cNvPr>
          <p:cNvSpPr txBox="1"/>
          <p:nvPr/>
        </p:nvSpPr>
        <p:spPr>
          <a:xfrm>
            <a:off x="6711696" y="1609344"/>
            <a:ext cx="1155191" cy="146194"/>
          </a:xfrm>
          <a:prstGeom prst="rect">
            <a:avLst/>
          </a:prstGeom>
          <a:noFill/>
        </p:spPr>
        <p:txBody>
          <a:bodyPr wrap="square" lIns="0" tIns="0" rIns="0" bIns="0" anchor="t">
            <a:spAutoFit/>
          </a:bodyPr>
          <a:lstStyle/>
          <a:p>
            <a:r>
              <a:rPr lang="en-US" sz="950" b="1">
                <a:solidFill>
                  <a:srgbClr val="6B6B6B"/>
                </a:solidFill>
                <a:latin typeface="Calibri"/>
              </a:rPr>
              <a:t>2Y SURVIVAL GAP</a:t>
            </a:r>
            <a:endParaRPr lang="en-US"/>
          </a:p>
        </p:txBody>
      </p:sp>
      <p:sp>
        <p:nvSpPr>
          <p:cNvPr id="21" name="TextBox 20">
            <a:extLst>
              <a:ext uri="{FF2B5EF4-FFF2-40B4-BE49-F238E27FC236}">
                <a16:creationId xmlns:a16="http://schemas.microsoft.com/office/drawing/2014/main" id="{FAFDCBC6-BE38-0761-5CAB-BC9A6D607EC9}"/>
              </a:ext>
            </a:extLst>
          </p:cNvPr>
          <p:cNvSpPr txBox="1"/>
          <p:nvPr/>
        </p:nvSpPr>
        <p:spPr>
          <a:xfrm>
            <a:off x="6707391" y="1793050"/>
            <a:ext cx="1155191" cy="230832"/>
          </a:xfrm>
          <a:prstGeom prst="rect">
            <a:avLst/>
          </a:prstGeom>
          <a:noFill/>
        </p:spPr>
        <p:txBody>
          <a:bodyPr wrap="square" lIns="0" tIns="0" rIns="0" bIns="0" anchor="ctr">
            <a:spAutoFit/>
          </a:bodyPr>
          <a:lstStyle/>
          <a:p>
            <a:pPr algn="l"/>
            <a:r>
              <a:rPr lang="en-GB" sz="1500" b="1">
                <a:solidFill>
                  <a:srgbClr val="1B2A4A"/>
                </a:solidFill>
                <a:latin typeface="Calibri"/>
              </a:rPr>
              <a:t>93.6%</a:t>
            </a:r>
            <a:endParaRPr sz="1500" b="1" i="0">
              <a:solidFill>
                <a:srgbClr val="1B2A4A"/>
              </a:solidFill>
              <a:latin typeface="Calibri"/>
            </a:endParaRPr>
          </a:p>
        </p:txBody>
      </p:sp>
      <p:sp>
        <p:nvSpPr>
          <p:cNvPr id="22" name="Rounded Rectangle 21">
            <a:extLst>
              <a:ext uri="{FF2B5EF4-FFF2-40B4-BE49-F238E27FC236}">
                <a16:creationId xmlns:a16="http://schemas.microsoft.com/office/drawing/2014/main" id="{147677EB-3E6E-9308-6B9A-7ABF711D2A65}"/>
              </a:ext>
            </a:extLst>
          </p:cNvPr>
          <p:cNvSpPr/>
          <p:nvPr/>
        </p:nvSpPr>
        <p:spPr>
          <a:xfrm>
            <a:off x="8095488" y="1554480"/>
            <a:ext cx="1795271" cy="77724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a:extLst>
              <a:ext uri="{FF2B5EF4-FFF2-40B4-BE49-F238E27FC236}">
                <a16:creationId xmlns:a16="http://schemas.microsoft.com/office/drawing/2014/main" id="{02D772F4-EDE4-2834-A3C1-AF43A43A73CD}"/>
              </a:ext>
            </a:extLst>
          </p:cNvPr>
          <p:cNvSpPr/>
          <p:nvPr/>
        </p:nvSpPr>
        <p:spPr>
          <a:xfrm>
            <a:off x="8205215" y="1769364"/>
            <a:ext cx="347472" cy="347472"/>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82CB8226-3C05-AF8F-648D-5B91E915C3E6}"/>
              </a:ext>
            </a:extLst>
          </p:cNvPr>
          <p:cNvSpPr txBox="1"/>
          <p:nvPr/>
        </p:nvSpPr>
        <p:spPr>
          <a:xfrm>
            <a:off x="8644128" y="1609344"/>
            <a:ext cx="1155191" cy="146194"/>
          </a:xfrm>
          <a:prstGeom prst="rect">
            <a:avLst/>
          </a:prstGeom>
          <a:noFill/>
        </p:spPr>
        <p:txBody>
          <a:bodyPr wrap="square" lIns="0" tIns="0" rIns="0" bIns="0" anchor="t">
            <a:spAutoFit/>
          </a:bodyPr>
          <a:lstStyle/>
          <a:p>
            <a:r>
              <a:rPr lang="en-US" sz="950" b="1">
                <a:solidFill>
                  <a:srgbClr val="6B6B6B"/>
                </a:solidFill>
                <a:latin typeface="Calibri"/>
              </a:rPr>
              <a:t>TRIAL VALIDATION</a:t>
            </a:r>
            <a:endParaRPr lang="en-US"/>
          </a:p>
        </p:txBody>
      </p:sp>
      <p:sp>
        <p:nvSpPr>
          <p:cNvPr id="25" name="TextBox 24">
            <a:extLst>
              <a:ext uri="{FF2B5EF4-FFF2-40B4-BE49-F238E27FC236}">
                <a16:creationId xmlns:a16="http://schemas.microsoft.com/office/drawing/2014/main" id="{E4CC38E0-354C-7CE5-D00A-D689396F9245}"/>
              </a:ext>
            </a:extLst>
          </p:cNvPr>
          <p:cNvSpPr txBox="1"/>
          <p:nvPr/>
        </p:nvSpPr>
        <p:spPr>
          <a:xfrm>
            <a:off x="8644128" y="1793050"/>
            <a:ext cx="1155191" cy="230832"/>
          </a:xfrm>
          <a:prstGeom prst="rect">
            <a:avLst/>
          </a:prstGeom>
          <a:noFill/>
        </p:spPr>
        <p:txBody>
          <a:bodyPr wrap="square" lIns="0" tIns="0" rIns="0" bIns="0" anchor="ctr">
            <a:spAutoFit/>
          </a:bodyPr>
          <a:lstStyle/>
          <a:p>
            <a:r>
              <a:rPr lang="en-US" sz="1500" b="1">
                <a:solidFill>
                  <a:srgbClr val="1B2A4A"/>
                </a:solidFill>
                <a:latin typeface="Calibri"/>
              </a:rPr>
              <a:t>N = 194</a:t>
            </a:r>
            <a:endParaRPr lang="en-US"/>
          </a:p>
        </p:txBody>
      </p:sp>
      <p:sp>
        <p:nvSpPr>
          <p:cNvPr id="26" name="Rounded Rectangle 25">
            <a:extLst>
              <a:ext uri="{FF2B5EF4-FFF2-40B4-BE49-F238E27FC236}">
                <a16:creationId xmlns:a16="http://schemas.microsoft.com/office/drawing/2014/main" id="{1BDF7F82-E996-F986-B236-7F2567CF9491}"/>
              </a:ext>
            </a:extLst>
          </p:cNvPr>
          <p:cNvSpPr/>
          <p:nvPr/>
        </p:nvSpPr>
        <p:spPr>
          <a:xfrm>
            <a:off x="10027920" y="1554480"/>
            <a:ext cx="1795271" cy="77724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a:extLst>
              <a:ext uri="{FF2B5EF4-FFF2-40B4-BE49-F238E27FC236}">
                <a16:creationId xmlns:a16="http://schemas.microsoft.com/office/drawing/2014/main" id="{7E841209-A431-39B0-E7F8-C8EB3C7FE0B1}"/>
              </a:ext>
            </a:extLst>
          </p:cNvPr>
          <p:cNvSpPr/>
          <p:nvPr/>
        </p:nvSpPr>
        <p:spPr>
          <a:xfrm>
            <a:off x="10137648" y="1769364"/>
            <a:ext cx="347472" cy="347472"/>
          </a:xfrm>
          <a:prstGeom prst="ellipse">
            <a:avLst/>
          </a:prstGeom>
          <a:solidFill>
            <a:srgbClr val="0E6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389D5F49-70D5-6E1E-E850-121F6F79C8D5}"/>
              </a:ext>
            </a:extLst>
          </p:cNvPr>
          <p:cNvSpPr txBox="1"/>
          <p:nvPr/>
        </p:nvSpPr>
        <p:spPr>
          <a:xfrm>
            <a:off x="10576560" y="1609344"/>
            <a:ext cx="1155191" cy="146194"/>
          </a:xfrm>
          <a:prstGeom prst="rect">
            <a:avLst/>
          </a:prstGeom>
          <a:noFill/>
        </p:spPr>
        <p:txBody>
          <a:bodyPr wrap="square" lIns="0" tIns="0" rIns="0" bIns="0" anchor="t">
            <a:spAutoFit/>
          </a:bodyPr>
          <a:lstStyle/>
          <a:p>
            <a:r>
              <a:rPr lang="en-US" sz="950" b="1">
                <a:solidFill>
                  <a:srgbClr val="6B6B6B"/>
                </a:solidFill>
                <a:latin typeface="Calibri"/>
              </a:rPr>
              <a:t>CLINICAL TRIALS</a:t>
            </a:r>
            <a:endParaRPr lang="en-US"/>
          </a:p>
        </p:txBody>
      </p:sp>
      <p:sp>
        <p:nvSpPr>
          <p:cNvPr id="29" name="TextBox 28">
            <a:extLst>
              <a:ext uri="{FF2B5EF4-FFF2-40B4-BE49-F238E27FC236}">
                <a16:creationId xmlns:a16="http://schemas.microsoft.com/office/drawing/2014/main" id="{5FB04069-3488-2851-8723-2BE7E2DC7CDE}"/>
              </a:ext>
            </a:extLst>
          </p:cNvPr>
          <p:cNvSpPr txBox="1"/>
          <p:nvPr/>
        </p:nvSpPr>
        <p:spPr>
          <a:xfrm>
            <a:off x="10576560" y="1793050"/>
            <a:ext cx="1155191" cy="230832"/>
          </a:xfrm>
          <a:prstGeom prst="rect">
            <a:avLst/>
          </a:prstGeom>
          <a:noFill/>
        </p:spPr>
        <p:txBody>
          <a:bodyPr wrap="square" lIns="0" tIns="0" rIns="0" bIns="0" anchor="ctr">
            <a:spAutoFit/>
          </a:bodyPr>
          <a:lstStyle/>
          <a:p>
            <a:pPr algn="l"/>
            <a:r>
              <a:rPr sz="1500" b="1" i="0">
                <a:solidFill>
                  <a:srgbClr val="1B2A4A"/>
                </a:solidFill>
                <a:latin typeface="Calibri"/>
              </a:rPr>
              <a:t>3</a:t>
            </a:r>
            <a:endParaRPr lang="en-US"/>
          </a:p>
        </p:txBody>
      </p:sp>
      <p:sp>
        <p:nvSpPr>
          <p:cNvPr id="30" name="Rounded Rectangle 29">
            <a:extLst>
              <a:ext uri="{FF2B5EF4-FFF2-40B4-BE49-F238E27FC236}">
                <a16:creationId xmlns:a16="http://schemas.microsoft.com/office/drawing/2014/main" id="{2FD46F20-6CAC-B16B-B2B7-C1991D542024}"/>
              </a:ext>
            </a:extLst>
          </p:cNvPr>
          <p:cNvSpPr/>
          <p:nvPr/>
        </p:nvSpPr>
        <p:spPr>
          <a:xfrm>
            <a:off x="365760" y="2514600"/>
            <a:ext cx="11448425" cy="384048"/>
          </a:xfrm>
          <a:prstGeom prst="roundRect">
            <a:avLst>
              <a:gd name="adj" fmla="val 15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EC7234A1-9974-055C-F86D-3496B3263724}"/>
              </a:ext>
            </a:extLst>
          </p:cNvPr>
          <p:cNvSpPr txBox="1"/>
          <p:nvPr/>
        </p:nvSpPr>
        <p:spPr>
          <a:xfrm>
            <a:off x="548640" y="2606596"/>
            <a:ext cx="6217920" cy="200055"/>
          </a:xfrm>
          <a:prstGeom prst="rect">
            <a:avLst/>
          </a:prstGeom>
          <a:noFill/>
        </p:spPr>
        <p:txBody>
          <a:bodyPr wrap="square" lIns="0" tIns="0" rIns="0" bIns="0" anchor="ctr">
            <a:spAutoFit/>
          </a:bodyPr>
          <a:lstStyle/>
          <a:p>
            <a:r>
              <a:rPr lang="en-US" sz="1300" b="1">
                <a:solidFill>
                  <a:srgbClr val="FFFFFF"/>
                </a:solidFill>
                <a:latin typeface="Calibri"/>
              </a:rPr>
              <a:t>Responders survive 4x longer (log rank p &lt; 0.0001 across all 3 trials)</a:t>
            </a:r>
            <a:endParaRPr lang="en-US"/>
          </a:p>
        </p:txBody>
      </p:sp>
      <p:sp>
        <p:nvSpPr>
          <p:cNvPr id="32" name="Rectangle 31">
            <a:extLst>
              <a:ext uri="{FF2B5EF4-FFF2-40B4-BE49-F238E27FC236}">
                <a16:creationId xmlns:a16="http://schemas.microsoft.com/office/drawing/2014/main" id="{1844A3FC-91C9-3671-CE0B-0C6ED8A89E3C}"/>
              </a:ext>
            </a:extLst>
          </p:cNvPr>
          <p:cNvSpPr/>
          <p:nvPr/>
        </p:nvSpPr>
        <p:spPr>
          <a:xfrm>
            <a:off x="546574" y="2894343"/>
            <a:ext cx="11263307" cy="2857767"/>
          </a:xfrm>
          <a:prstGeom prst="rect">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a:extLst>
              <a:ext uri="{FF2B5EF4-FFF2-40B4-BE49-F238E27FC236}">
                <a16:creationId xmlns:a16="http://schemas.microsoft.com/office/drawing/2014/main" id="{60BBD66D-0D0E-D268-5B6D-6D0948C8B077}"/>
              </a:ext>
            </a:extLst>
          </p:cNvPr>
          <p:cNvSpPr/>
          <p:nvPr/>
        </p:nvSpPr>
        <p:spPr>
          <a:xfrm>
            <a:off x="365760" y="5943600"/>
            <a:ext cx="11457432" cy="502920"/>
          </a:xfrm>
          <a:prstGeom prst="roundRect">
            <a:avLst>
              <a:gd name="adj" fmla="val 25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a:extLst>
              <a:ext uri="{FF2B5EF4-FFF2-40B4-BE49-F238E27FC236}">
                <a16:creationId xmlns:a16="http://schemas.microsoft.com/office/drawing/2014/main" id="{9502A704-6187-F0C5-A0C3-EFE2EC2EAE02}"/>
              </a:ext>
            </a:extLst>
          </p:cNvPr>
          <p:cNvSpPr/>
          <p:nvPr/>
        </p:nvSpPr>
        <p:spPr>
          <a:xfrm>
            <a:off x="548640" y="6057900"/>
            <a:ext cx="274320" cy="274320"/>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A1699CF3-A61C-970C-7630-597751792A4D}"/>
              </a:ext>
            </a:extLst>
          </p:cNvPr>
          <p:cNvSpPr txBox="1"/>
          <p:nvPr/>
        </p:nvSpPr>
        <p:spPr>
          <a:xfrm>
            <a:off x="960120" y="6052713"/>
            <a:ext cx="10698480" cy="284693"/>
          </a:xfrm>
          <a:prstGeom prst="rect">
            <a:avLst/>
          </a:prstGeom>
          <a:noFill/>
        </p:spPr>
        <p:txBody>
          <a:bodyPr wrap="square" lIns="0" tIns="45720" rIns="91440" bIns="45720" anchor="ctr">
            <a:spAutoFit/>
          </a:bodyPr>
          <a:lstStyle/>
          <a:p>
            <a:r>
              <a:rPr sz="1250" b="1">
                <a:solidFill>
                  <a:srgbClr val="FFFFFF"/>
                </a:solidFill>
              </a:rPr>
              <a:t>Takeaway: </a:t>
            </a:r>
            <a:r>
              <a:rPr lang="en-GB" sz="1250" b="1">
                <a:solidFill>
                  <a:srgbClr val="FFFFFF"/>
                </a:solidFill>
              </a:rPr>
              <a:t>Accurate pre-treatment prediction is critical to bridge the 77% 2-year survival gap between responders and non-responders</a:t>
            </a:r>
            <a:endParaRPr lang="en-US" sz="1250">
              <a:solidFill>
                <a:srgbClr val="FFFFFF"/>
              </a:solidFill>
            </a:endParaRPr>
          </a:p>
        </p:txBody>
      </p:sp>
      <p:sp>
        <p:nvSpPr>
          <p:cNvPr id="41" name="TextBox 40">
            <a:extLst>
              <a:ext uri="{FF2B5EF4-FFF2-40B4-BE49-F238E27FC236}">
                <a16:creationId xmlns:a16="http://schemas.microsoft.com/office/drawing/2014/main" id="{EC92185A-A3CD-F739-8AE9-5DDB0072E941}"/>
              </a:ext>
            </a:extLst>
          </p:cNvPr>
          <p:cNvSpPr txBox="1"/>
          <p:nvPr/>
        </p:nvSpPr>
        <p:spPr>
          <a:xfrm>
            <a:off x="914399" y="2082903"/>
            <a:ext cx="1155191" cy="146194"/>
          </a:xfrm>
          <a:prstGeom prst="rect">
            <a:avLst/>
          </a:prstGeom>
          <a:noFill/>
        </p:spPr>
        <p:txBody>
          <a:bodyPr wrap="square" lIns="0" tIns="0" rIns="0" bIns="0" anchor="t">
            <a:spAutoFit/>
          </a:bodyPr>
          <a:lstStyle/>
          <a:p>
            <a:r>
              <a:rPr lang="en-US" sz="950">
                <a:solidFill>
                  <a:srgbClr val="6B6B6B"/>
                </a:solidFill>
                <a:latin typeface="Calibri"/>
              </a:rPr>
              <a:t>113/194 → PD</a:t>
            </a:r>
            <a:endParaRPr lang="en-US"/>
          </a:p>
        </p:txBody>
      </p:sp>
      <p:sp>
        <p:nvSpPr>
          <p:cNvPr id="42" name="TextBox 41">
            <a:extLst>
              <a:ext uri="{FF2B5EF4-FFF2-40B4-BE49-F238E27FC236}">
                <a16:creationId xmlns:a16="http://schemas.microsoft.com/office/drawing/2014/main" id="{8A196AA0-57EC-8E40-14D5-8B6AE743A74D}"/>
              </a:ext>
            </a:extLst>
          </p:cNvPr>
          <p:cNvSpPr txBox="1"/>
          <p:nvPr/>
        </p:nvSpPr>
        <p:spPr>
          <a:xfrm>
            <a:off x="2843076" y="2082902"/>
            <a:ext cx="1155191" cy="146194"/>
          </a:xfrm>
          <a:prstGeom prst="rect">
            <a:avLst/>
          </a:prstGeom>
          <a:noFill/>
        </p:spPr>
        <p:txBody>
          <a:bodyPr wrap="square" lIns="0" tIns="0" rIns="0" bIns="0" anchor="t">
            <a:spAutoFit/>
          </a:bodyPr>
          <a:lstStyle/>
          <a:p>
            <a:r>
              <a:rPr lang="en-US" sz="950">
                <a:solidFill>
                  <a:srgbClr val="6B6B6B"/>
                </a:solidFill>
                <a:latin typeface="Calibri"/>
              </a:rPr>
              <a:t>NR median OS</a:t>
            </a:r>
            <a:endParaRPr lang="en-US"/>
          </a:p>
        </p:txBody>
      </p:sp>
      <p:sp>
        <p:nvSpPr>
          <p:cNvPr id="44" name="TextBox 43">
            <a:extLst>
              <a:ext uri="{FF2B5EF4-FFF2-40B4-BE49-F238E27FC236}">
                <a16:creationId xmlns:a16="http://schemas.microsoft.com/office/drawing/2014/main" id="{A5319D1E-A99B-EA02-607F-3CB950B3E1E0}"/>
              </a:ext>
            </a:extLst>
          </p:cNvPr>
          <p:cNvSpPr txBox="1"/>
          <p:nvPr/>
        </p:nvSpPr>
        <p:spPr>
          <a:xfrm>
            <a:off x="4683932" y="2047068"/>
            <a:ext cx="1480950" cy="2231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850">
                <a:solidFill>
                  <a:srgbClr val="6B6B6B"/>
                </a:solidFill>
                <a:latin typeface="Calibri"/>
              </a:rPr>
              <a:t>HR 0.05 (95% CI: 0.02-0.10)</a:t>
            </a:r>
            <a:endParaRPr lang="en-US" sz="850"/>
          </a:p>
        </p:txBody>
      </p:sp>
      <p:sp>
        <p:nvSpPr>
          <p:cNvPr id="45" name="TextBox 44">
            <a:extLst>
              <a:ext uri="{FF2B5EF4-FFF2-40B4-BE49-F238E27FC236}">
                <a16:creationId xmlns:a16="http://schemas.microsoft.com/office/drawing/2014/main" id="{FEC29218-FCA6-5114-85CC-60CE36643A1C}"/>
              </a:ext>
            </a:extLst>
          </p:cNvPr>
          <p:cNvSpPr txBox="1"/>
          <p:nvPr/>
        </p:nvSpPr>
        <p:spPr>
          <a:xfrm>
            <a:off x="6704736" y="2082901"/>
            <a:ext cx="1155191" cy="146194"/>
          </a:xfrm>
          <a:prstGeom prst="rect">
            <a:avLst/>
          </a:prstGeom>
          <a:noFill/>
        </p:spPr>
        <p:txBody>
          <a:bodyPr wrap="square" lIns="0" tIns="0" rIns="0" bIns="0" anchor="t">
            <a:spAutoFit/>
          </a:bodyPr>
          <a:lstStyle/>
          <a:p>
            <a:r>
              <a:rPr lang="en-US" sz="950">
                <a:solidFill>
                  <a:srgbClr val="6B6B6B"/>
                </a:solidFill>
                <a:latin typeface="Calibri"/>
              </a:rPr>
              <a:t>vs 16.8% for NR</a:t>
            </a:r>
            <a:endParaRPr lang="en-US" sz="950">
              <a:solidFill>
                <a:srgbClr val="6B6B6B"/>
              </a:solidFill>
              <a:latin typeface="Calibri"/>
              <a:ea typeface="Calibri"/>
              <a:cs typeface="Calibri"/>
            </a:endParaRPr>
          </a:p>
        </p:txBody>
      </p:sp>
      <p:sp>
        <p:nvSpPr>
          <p:cNvPr id="46" name="TextBox 45">
            <a:extLst>
              <a:ext uri="{FF2B5EF4-FFF2-40B4-BE49-F238E27FC236}">
                <a16:creationId xmlns:a16="http://schemas.microsoft.com/office/drawing/2014/main" id="{828BE3ED-7E34-DCE2-FF40-2BEF80A9BDBA}"/>
              </a:ext>
            </a:extLst>
          </p:cNvPr>
          <p:cNvSpPr txBox="1"/>
          <p:nvPr/>
        </p:nvSpPr>
        <p:spPr>
          <a:xfrm>
            <a:off x="8637719" y="2082901"/>
            <a:ext cx="1155191" cy="146194"/>
          </a:xfrm>
          <a:prstGeom prst="rect">
            <a:avLst/>
          </a:prstGeom>
          <a:noFill/>
        </p:spPr>
        <p:txBody>
          <a:bodyPr wrap="square" lIns="0" tIns="0" rIns="0" bIns="0" anchor="t">
            <a:spAutoFit/>
          </a:bodyPr>
          <a:lstStyle/>
          <a:p>
            <a:r>
              <a:rPr lang="en-US" sz="950">
                <a:solidFill>
                  <a:srgbClr val="6B6B6B"/>
                </a:solidFill>
                <a:latin typeface="Calibri"/>
              </a:rPr>
              <a:t>Pooled clinical cohorts</a:t>
            </a:r>
            <a:endParaRPr lang="en-US"/>
          </a:p>
        </p:txBody>
      </p:sp>
      <p:sp>
        <p:nvSpPr>
          <p:cNvPr id="47" name="TextBox 46">
            <a:extLst>
              <a:ext uri="{FF2B5EF4-FFF2-40B4-BE49-F238E27FC236}">
                <a16:creationId xmlns:a16="http://schemas.microsoft.com/office/drawing/2014/main" id="{85C16EC1-C587-7744-481E-6954DA3CABCA}"/>
              </a:ext>
            </a:extLst>
          </p:cNvPr>
          <p:cNvSpPr txBox="1"/>
          <p:nvPr/>
        </p:nvSpPr>
        <p:spPr>
          <a:xfrm>
            <a:off x="10570703" y="2082901"/>
            <a:ext cx="1155191" cy="146194"/>
          </a:xfrm>
          <a:prstGeom prst="rect">
            <a:avLst/>
          </a:prstGeom>
          <a:noFill/>
        </p:spPr>
        <p:txBody>
          <a:bodyPr wrap="square" lIns="0" tIns="0" rIns="0" bIns="0" anchor="t">
            <a:spAutoFit/>
          </a:bodyPr>
          <a:lstStyle/>
          <a:p>
            <a:r>
              <a:rPr lang="en-US" sz="950" err="1">
                <a:solidFill>
                  <a:srgbClr val="6B6B6B"/>
                </a:solidFill>
                <a:latin typeface="Calibri"/>
                <a:ea typeface="Calibri"/>
                <a:cs typeface="Calibri"/>
              </a:rPr>
              <a:t>cBioPor</a:t>
            </a:r>
            <a:r>
              <a:rPr lang="en-US" sz="950">
                <a:solidFill>
                  <a:srgbClr val="6B6B6B"/>
                </a:solidFill>
                <a:latin typeface="Calibri"/>
                <a:ea typeface="Calibri"/>
                <a:cs typeface="Calibri"/>
              </a:rPr>
              <a:t>tal</a:t>
            </a:r>
          </a:p>
        </p:txBody>
      </p:sp>
      <p:grpSp>
        <p:nvGrpSpPr>
          <p:cNvPr id="33" name="Group 32">
            <a:extLst>
              <a:ext uri="{FF2B5EF4-FFF2-40B4-BE49-F238E27FC236}">
                <a16:creationId xmlns:a16="http://schemas.microsoft.com/office/drawing/2014/main" id="{FDE93A47-384B-6771-1846-A458C3E2944E}"/>
              </a:ext>
            </a:extLst>
          </p:cNvPr>
          <p:cNvGrpSpPr/>
          <p:nvPr/>
        </p:nvGrpSpPr>
        <p:grpSpPr>
          <a:xfrm>
            <a:off x="9777195" y="220773"/>
            <a:ext cx="3101325" cy="901814"/>
            <a:chOff x="9777195" y="220773"/>
            <a:chExt cx="3101325" cy="901814"/>
          </a:xfrm>
        </p:grpSpPr>
        <p:sp>
          <p:nvSpPr>
            <p:cNvPr id="34" name="TextBox 33">
              <a:extLst>
                <a:ext uri="{FF2B5EF4-FFF2-40B4-BE49-F238E27FC236}">
                  <a16:creationId xmlns:a16="http://schemas.microsoft.com/office/drawing/2014/main" id="{FBA70D26-E4DC-DB47-B87D-DA782595949E}"/>
                </a:ext>
              </a:extLst>
            </p:cNvPr>
            <p:cNvSpPr txBox="1"/>
            <p:nvPr/>
          </p:nvSpPr>
          <p:spPr>
            <a:xfrm>
              <a:off x="9777195" y="502370"/>
              <a:ext cx="2411369" cy="620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1100">
                  <a:latin typeface="Calibri"/>
                  <a:ea typeface="Calibri"/>
                  <a:cs typeface="Calibri"/>
                </a:rPr>
                <a:t>Liu et al. 2019 (N = 122)</a:t>
              </a:r>
              <a:endParaRPr lang="en-US" sz="1100">
                <a:latin typeface="Calibri"/>
                <a:ea typeface="Calibri"/>
                <a:cs typeface="Calibri"/>
              </a:endParaRPr>
            </a:p>
            <a:p>
              <a:pPr marL="285750" indent="-285750">
                <a:buFont typeface="Arial"/>
                <a:buChar char="•"/>
              </a:pPr>
              <a:r>
                <a:rPr lang="en-GB" sz="1100">
                  <a:latin typeface="Calibri"/>
                  <a:ea typeface="Calibri"/>
                  <a:cs typeface="Calibri"/>
                </a:rPr>
                <a:t>Hugo et al. 2016 (N = 27)</a:t>
              </a:r>
            </a:p>
            <a:p>
              <a:pPr marL="285750" indent="-285750">
                <a:buFont typeface="Arial"/>
                <a:buChar char="•"/>
              </a:pPr>
              <a:r>
                <a:rPr lang="en-GB" sz="1100">
                  <a:latin typeface="Calibri"/>
                  <a:ea typeface="Calibri"/>
                  <a:cs typeface="Calibri"/>
                </a:rPr>
                <a:t>Riaz et al. 2017 (N = 107)</a:t>
              </a:r>
              <a:endParaRPr lang="en-US" sz="1100">
                <a:latin typeface="Calibri"/>
                <a:ea typeface="Calibri"/>
                <a:cs typeface="Calibri"/>
              </a:endParaRPr>
            </a:p>
          </p:txBody>
        </p:sp>
        <p:sp>
          <p:nvSpPr>
            <p:cNvPr id="35" name="TextBox 34">
              <a:extLst>
                <a:ext uri="{FF2B5EF4-FFF2-40B4-BE49-F238E27FC236}">
                  <a16:creationId xmlns:a16="http://schemas.microsoft.com/office/drawing/2014/main" id="{3B941C18-81A9-25E1-5484-70F3030E7925}"/>
                </a:ext>
              </a:extLst>
            </p:cNvPr>
            <p:cNvSpPr txBox="1"/>
            <p:nvPr/>
          </p:nvSpPr>
          <p:spPr>
            <a:xfrm>
              <a:off x="9824505" y="220773"/>
              <a:ext cx="305401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err="1"/>
                <a:t>iAtlas</a:t>
              </a:r>
              <a:r>
                <a:rPr lang="en-GB" b="1"/>
                <a:t> datasets</a:t>
              </a:r>
              <a:endParaRPr lang="en-US"/>
            </a:p>
          </p:txBody>
        </p:sp>
      </p:grpSp>
      <p:pic>
        <p:nvPicPr>
          <p:cNvPr id="36" name="Picture 35">
            <a:extLst>
              <a:ext uri="{FF2B5EF4-FFF2-40B4-BE49-F238E27FC236}">
                <a16:creationId xmlns:a16="http://schemas.microsoft.com/office/drawing/2014/main" id="{BD081491-2BF4-F0F9-01E3-67060741065E}"/>
              </a:ext>
            </a:extLst>
          </p:cNvPr>
          <p:cNvPicPr>
            <a:picLocks noChangeAspect="1"/>
          </p:cNvPicPr>
          <p:nvPr/>
        </p:nvPicPr>
        <p:blipFill>
          <a:blip r:embed="rId3"/>
          <a:stretch>
            <a:fillRect/>
          </a:stretch>
        </p:blipFill>
        <p:spPr>
          <a:xfrm>
            <a:off x="642938" y="2895802"/>
            <a:ext cx="11056939" cy="2844399"/>
          </a:xfrm>
          <a:prstGeom prst="rect">
            <a:avLst/>
          </a:prstGeom>
        </p:spPr>
      </p:pic>
    </p:spTree>
    <p:extLst>
      <p:ext uri="{BB962C8B-B14F-4D97-AF65-F5344CB8AC3E}">
        <p14:creationId xmlns:p14="http://schemas.microsoft.com/office/powerpoint/2010/main" val="37880906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0C6EE2-E254-DA90-5E37-AAB978819823}"/>
            </a:ext>
          </a:extLst>
        </p:cNvPr>
        <p:cNvGrpSpPr/>
        <p:nvPr/>
      </p:nvGrpSpPr>
      <p:grpSpPr>
        <a:xfrm>
          <a:off x="0" y="0"/>
          <a:ext cx="0" cy="0"/>
          <a:chOff x="0" y="0"/>
          <a:chExt cx="0" cy="0"/>
        </a:xfrm>
      </p:grpSpPr>
      <p:sp>
        <p:nvSpPr>
          <p:cNvPr id="65" name="Rectangle 64">
            <a:extLst>
              <a:ext uri="{FF2B5EF4-FFF2-40B4-BE49-F238E27FC236}">
                <a16:creationId xmlns:a16="http://schemas.microsoft.com/office/drawing/2014/main" id="{BDF59FE4-F179-5994-5BAD-C8ED0F7BCBC2}"/>
              </a:ext>
            </a:extLst>
          </p:cNvPr>
          <p:cNvSpPr/>
          <p:nvPr/>
        </p:nvSpPr>
        <p:spPr>
          <a:xfrm>
            <a:off x="352954" y="2892125"/>
            <a:ext cx="11457170" cy="3155483"/>
          </a:xfrm>
          <a:prstGeom prst="rect">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32807006-A453-06D8-949E-A54858A01E59}"/>
              </a:ext>
            </a:extLst>
          </p:cNvPr>
          <p:cNvSpPr txBox="1"/>
          <p:nvPr/>
        </p:nvSpPr>
        <p:spPr>
          <a:xfrm>
            <a:off x="365760" y="256032"/>
            <a:ext cx="11430000" cy="415498"/>
          </a:xfrm>
          <a:prstGeom prst="rect">
            <a:avLst/>
          </a:prstGeom>
          <a:noFill/>
        </p:spPr>
        <p:txBody>
          <a:bodyPr wrap="square" lIns="0" tIns="0" rIns="0" bIns="0" anchor="t">
            <a:spAutoFit/>
          </a:bodyPr>
          <a:lstStyle/>
          <a:p>
            <a:r>
              <a:rPr lang="en-US" sz="2700" b="1">
                <a:solidFill>
                  <a:srgbClr val="1B2A4A"/>
                </a:solidFill>
                <a:latin typeface="Calibri"/>
              </a:rPr>
              <a:t>Feature engineering: curated signatures vs raw high-dimensional data</a:t>
            </a:r>
            <a:endParaRPr lang="en-US"/>
          </a:p>
        </p:txBody>
      </p:sp>
      <p:sp>
        <p:nvSpPr>
          <p:cNvPr id="3" name="Rectangle 2">
            <a:extLst>
              <a:ext uri="{FF2B5EF4-FFF2-40B4-BE49-F238E27FC236}">
                <a16:creationId xmlns:a16="http://schemas.microsoft.com/office/drawing/2014/main" id="{8D86CE79-02C6-F09A-385C-E33C86D05035}"/>
              </a:ext>
            </a:extLst>
          </p:cNvPr>
          <p:cNvSpPr/>
          <p:nvPr/>
        </p:nvSpPr>
        <p:spPr>
          <a:xfrm>
            <a:off x="365760" y="914400"/>
            <a:ext cx="1280160" cy="45720"/>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4C5385AA-7F03-880F-44CC-331EB43D5803}"/>
              </a:ext>
            </a:extLst>
          </p:cNvPr>
          <p:cNvSpPr txBox="1"/>
          <p:nvPr/>
        </p:nvSpPr>
        <p:spPr>
          <a:xfrm>
            <a:off x="365760" y="1005840"/>
            <a:ext cx="11430000" cy="200055"/>
          </a:xfrm>
          <a:prstGeom prst="rect">
            <a:avLst/>
          </a:prstGeom>
          <a:noFill/>
        </p:spPr>
        <p:txBody>
          <a:bodyPr wrap="square" lIns="0" tIns="0" rIns="0" bIns="0" anchor="t">
            <a:spAutoFit/>
          </a:bodyPr>
          <a:lstStyle/>
          <a:p>
            <a:r>
              <a:rPr lang="en-GB" sz="1300" i="1">
                <a:solidFill>
                  <a:srgbClr val="6B6B6B"/>
                </a:solidFill>
                <a:latin typeface="Calibri"/>
              </a:rPr>
              <a:t>Compressing ~20,000 raw genes into a lower dimensional space eliminates D </a:t>
            </a:r>
            <a:r>
              <a:rPr lang="en-GB" sz="1300">
                <a:solidFill>
                  <a:srgbClr val="6B6B6B"/>
                </a:solidFill>
                <a:ea typeface="+mn-lt"/>
                <a:cs typeface="+mn-lt"/>
              </a:rPr>
              <a:t>≫</a:t>
            </a:r>
            <a:r>
              <a:rPr lang="en-GB" sz="1300" i="1">
                <a:solidFill>
                  <a:srgbClr val="6B6B6B"/>
                </a:solidFill>
                <a:latin typeface="Calibri"/>
              </a:rPr>
              <a:t> N overfitting and preserves cross-cohort generalisation</a:t>
            </a:r>
            <a:endParaRPr lang="en-US"/>
          </a:p>
        </p:txBody>
      </p:sp>
      <p:sp>
        <p:nvSpPr>
          <p:cNvPr id="5" name="Rectangle 4">
            <a:extLst>
              <a:ext uri="{FF2B5EF4-FFF2-40B4-BE49-F238E27FC236}">
                <a16:creationId xmlns:a16="http://schemas.microsoft.com/office/drawing/2014/main" id="{359C75E5-5B4B-018A-DFFF-CD0B1AB49184}"/>
              </a:ext>
            </a:extLst>
          </p:cNvPr>
          <p:cNvSpPr/>
          <p:nvPr/>
        </p:nvSpPr>
        <p:spPr>
          <a:xfrm>
            <a:off x="365760" y="1417320"/>
            <a:ext cx="11457432" cy="16459"/>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a:extLst>
              <a:ext uri="{FF2B5EF4-FFF2-40B4-BE49-F238E27FC236}">
                <a16:creationId xmlns:a16="http://schemas.microsoft.com/office/drawing/2014/main" id="{A8AAB5EA-AE57-96FF-571E-173881D66C22}"/>
              </a:ext>
            </a:extLst>
          </p:cNvPr>
          <p:cNvSpPr/>
          <p:nvPr/>
        </p:nvSpPr>
        <p:spPr>
          <a:xfrm>
            <a:off x="7172" y="6353415"/>
            <a:ext cx="12187415" cy="5029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a:extLst>
              <a:ext uri="{FF2B5EF4-FFF2-40B4-BE49-F238E27FC236}">
                <a16:creationId xmlns:a16="http://schemas.microsoft.com/office/drawing/2014/main" id="{12680FAB-8B45-3598-7ABF-40BF35F5F0EE}"/>
              </a:ext>
            </a:extLst>
          </p:cNvPr>
          <p:cNvSpPr/>
          <p:nvPr/>
        </p:nvSpPr>
        <p:spPr>
          <a:xfrm>
            <a:off x="190052" y="6467715"/>
            <a:ext cx="293530" cy="274320"/>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751A49BD-8710-E48C-0ED7-43B605A81536}"/>
              </a:ext>
            </a:extLst>
          </p:cNvPr>
          <p:cNvSpPr txBox="1"/>
          <p:nvPr/>
        </p:nvSpPr>
        <p:spPr>
          <a:xfrm>
            <a:off x="601532" y="6462528"/>
            <a:ext cx="11377236" cy="284693"/>
          </a:xfrm>
          <a:prstGeom prst="rect">
            <a:avLst/>
          </a:prstGeom>
          <a:noFill/>
        </p:spPr>
        <p:txBody>
          <a:bodyPr wrap="square" lIns="0" tIns="45720" rIns="91440" bIns="45720" anchor="ctr">
            <a:spAutoFit/>
          </a:bodyPr>
          <a:lstStyle/>
          <a:p>
            <a:r>
              <a:rPr sz="1250" b="1">
                <a:solidFill>
                  <a:srgbClr val="FFFFFF"/>
                </a:solidFill>
              </a:rPr>
              <a:t>Takeaway: </a:t>
            </a:r>
            <a:r>
              <a:rPr lang="en-GB" sz="1250" b="1">
                <a:solidFill>
                  <a:srgbClr val="FFFFFF"/>
                </a:solidFill>
              </a:rPr>
              <a:t>Multimodal features outperform raw transcriptomics across cohorts without overfitting</a:t>
            </a:r>
            <a:endParaRPr lang="en-US" sz="1250">
              <a:solidFill>
                <a:srgbClr val="FFFFFF"/>
              </a:solidFill>
            </a:endParaRPr>
          </a:p>
        </p:txBody>
      </p:sp>
      <p:grpSp>
        <p:nvGrpSpPr>
          <p:cNvPr id="72" name="Group 71">
            <a:extLst>
              <a:ext uri="{FF2B5EF4-FFF2-40B4-BE49-F238E27FC236}">
                <a16:creationId xmlns:a16="http://schemas.microsoft.com/office/drawing/2014/main" id="{678CF65F-E553-EFFD-D098-E15DABFDB1F8}"/>
              </a:ext>
            </a:extLst>
          </p:cNvPr>
          <p:cNvGrpSpPr/>
          <p:nvPr/>
        </p:nvGrpSpPr>
        <p:grpSpPr>
          <a:xfrm>
            <a:off x="1097027" y="3081145"/>
            <a:ext cx="1795271" cy="777240"/>
            <a:chOff x="799233" y="3069354"/>
            <a:chExt cx="1795271" cy="777240"/>
          </a:xfrm>
        </p:grpSpPr>
        <p:sp>
          <p:nvSpPr>
            <p:cNvPr id="6" name="Rounded Rectangle 5">
              <a:extLst>
                <a:ext uri="{FF2B5EF4-FFF2-40B4-BE49-F238E27FC236}">
                  <a16:creationId xmlns:a16="http://schemas.microsoft.com/office/drawing/2014/main" id="{538ACD70-0CFA-B99E-3206-37499C4DD0F5}"/>
                </a:ext>
              </a:extLst>
            </p:cNvPr>
            <p:cNvSpPr/>
            <p:nvPr/>
          </p:nvSpPr>
          <p:spPr>
            <a:xfrm>
              <a:off x="799233" y="3069354"/>
              <a:ext cx="1795271" cy="77724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71" name="Group 70">
              <a:extLst>
                <a:ext uri="{FF2B5EF4-FFF2-40B4-BE49-F238E27FC236}">
                  <a16:creationId xmlns:a16="http://schemas.microsoft.com/office/drawing/2014/main" id="{7330519E-6267-4063-37D6-23C4F2E23CB1}"/>
                </a:ext>
              </a:extLst>
            </p:cNvPr>
            <p:cNvGrpSpPr/>
            <p:nvPr/>
          </p:nvGrpSpPr>
          <p:grpSpPr>
            <a:xfrm>
              <a:off x="904398" y="3124218"/>
              <a:ext cx="1598666" cy="596312"/>
              <a:chOff x="904398" y="3124218"/>
              <a:chExt cx="1598666" cy="596312"/>
            </a:xfrm>
          </p:grpSpPr>
          <p:sp>
            <p:nvSpPr>
              <p:cNvPr id="7" name="Oval 6">
                <a:extLst>
                  <a:ext uri="{FF2B5EF4-FFF2-40B4-BE49-F238E27FC236}">
                    <a16:creationId xmlns:a16="http://schemas.microsoft.com/office/drawing/2014/main" id="{7AD84788-AF75-1C45-E024-83808A48745F}"/>
                  </a:ext>
                </a:extLst>
              </p:cNvPr>
              <p:cNvSpPr/>
              <p:nvPr/>
            </p:nvSpPr>
            <p:spPr>
              <a:xfrm>
                <a:off x="904398" y="3284238"/>
                <a:ext cx="347472" cy="347472"/>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9B6177E5-020A-CE7C-906A-86D058AF66B9}"/>
                  </a:ext>
                </a:extLst>
              </p:cNvPr>
              <p:cNvSpPr txBox="1"/>
              <p:nvPr/>
            </p:nvSpPr>
            <p:spPr>
              <a:xfrm>
                <a:off x="1347873" y="3124218"/>
                <a:ext cx="1155191" cy="146194"/>
              </a:xfrm>
              <a:prstGeom prst="rect">
                <a:avLst/>
              </a:prstGeom>
              <a:noFill/>
            </p:spPr>
            <p:txBody>
              <a:bodyPr wrap="square" lIns="0" tIns="0" rIns="0" bIns="0" anchor="t">
                <a:spAutoFit/>
              </a:bodyPr>
              <a:lstStyle/>
              <a:p>
                <a:r>
                  <a:rPr lang="en-US" sz="950" b="1">
                    <a:solidFill>
                      <a:srgbClr val="6B6B6B"/>
                    </a:solidFill>
                    <a:latin typeface="Calibri"/>
                  </a:rPr>
                  <a:t>IMMUNE SIGATURES</a:t>
                </a:r>
                <a:endParaRPr lang="en-US"/>
              </a:p>
            </p:txBody>
          </p:sp>
          <p:sp>
            <p:nvSpPr>
              <p:cNvPr id="9" name="TextBox 8">
                <a:extLst>
                  <a:ext uri="{FF2B5EF4-FFF2-40B4-BE49-F238E27FC236}">
                    <a16:creationId xmlns:a16="http://schemas.microsoft.com/office/drawing/2014/main" id="{6FA1E5CD-1D82-E626-447E-331AA96E994F}"/>
                  </a:ext>
                </a:extLst>
              </p:cNvPr>
              <p:cNvSpPr txBox="1"/>
              <p:nvPr/>
            </p:nvSpPr>
            <p:spPr>
              <a:xfrm>
                <a:off x="1373703" y="3305771"/>
                <a:ext cx="1129361" cy="230832"/>
              </a:xfrm>
              <a:prstGeom prst="rect">
                <a:avLst/>
              </a:prstGeom>
              <a:noFill/>
            </p:spPr>
            <p:txBody>
              <a:bodyPr wrap="square" lIns="0" tIns="0" rIns="0" bIns="0" anchor="ctr">
                <a:spAutoFit/>
              </a:bodyPr>
              <a:lstStyle/>
              <a:p>
                <a:pPr algn="l"/>
                <a:r>
                  <a:rPr lang="en-US" sz="1500" b="1">
                    <a:solidFill>
                      <a:srgbClr val="1B2A4A"/>
                    </a:solidFill>
                    <a:latin typeface="Calibri"/>
                  </a:rPr>
                  <a:t>6</a:t>
                </a:r>
                <a:endParaRPr lang="en-US"/>
              </a:p>
            </p:txBody>
          </p:sp>
          <p:sp>
            <p:nvSpPr>
              <p:cNvPr id="41" name="TextBox 40">
                <a:extLst>
                  <a:ext uri="{FF2B5EF4-FFF2-40B4-BE49-F238E27FC236}">
                    <a16:creationId xmlns:a16="http://schemas.microsoft.com/office/drawing/2014/main" id="{B9A7CF25-71DD-1540-EE6B-ADFB10424A7E}"/>
                  </a:ext>
                </a:extLst>
              </p:cNvPr>
              <p:cNvSpPr txBox="1"/>
              <p:nvPr/>
            </p:nvSpPr>
            <p:spPr>
              <a:xfrm>
                <a:off x="1558821" y="3305032"/>
                <a:ext cx="944242" cy="415498"/>
              </a:xfrm>
              <a:prstGeom prst="rect">
                <a:avLst/>
              </a:prstGeom>
              <a:noFill/>
            </p:spPr>
            <p:txBody>
              <a:bodyPr wrap="square" lIns="0" tIns="0" rIns="0" bIns="0" anchor="t">
                <a:spAutoFit/>
              </a:bodyPr>
              <a:lstStyle/>
              <a:p>
                <a:r>
                  <a:rPr lang="en-US" sz="900">
                    <a:solidFill>
                      <a:srgbClr val="6B6B6B"/>
                    </a:solidFill>
                    <a:latin typeface="Trade Gothic Next Light"/>
                    <a:ea typeface="Calibri"/>
                    <a:cs typeface="Calibri"/>
                  </a:rPr>
                  <a:t>IFN-γ, TIS, CYT, CD8, IMPRES, </a:t>
                </a:r>
                <a:br>
                  <a:rPr lang="en-US" sz="900">
                    <a:solidFill>
                      <a:srgbClr val="6B6B6B"/>
                    </a:solidFill>
                    <a:latin typeface="Trade Gothic Next Light"/>
                    <a:ea typeface="Calibri"/>
                    <a:cs typeface="Calibri"/>
                  </a:rPr>
                </a:br>
                <a:r>
                  <a:rPr lang="en-US" sz="900">
                    <a:solidFill>
                      <a:srgbClr val="6B6B6B"/>
                    </a:solidFill>
                    <a:latin typeface="Trade Gothic Next Light"/>
                    <a:ea typeface="Calibri"/>
                    <a:cs typeface="Calibri"/>
                  </a:rPr>
                  <a:t>PD-L1</a:t>
                </a:r>
                <a:endParaRPr lang="en-US" sz="900"/>
              </a:p>
            </p:txBody>
          </p:sp>
        </p:grpSp>
      </p:grpSp>
      <p:grpSp>
        <p:nvGrpSpPr>
          <p:cNvPr id="58" name="Group 57">
            <a:extLst>
              <a:ext uri="{FF2B5EF4-FFF2-40B4-BE49-F238E27FC236}">
                <a16:creationId xmlns:a16="http://schemas.microsoft.com/office/drawing/2014/main" id="{BA20557F-550C-067A-7F5E-A8DAEE518C5C}"/>
              </a:ext>
            </a:extLst>
          </p:cNvPr>
          <p:cNvGrpSpPr/>
          <p:nvPr/>
        </p:nvGrpSpPr>
        <p:grpSpPr>
          <a:xfrm>
            <a:off x="1097027" y="3973187"/>
            <a:ext cx="1873496" cy="777240"/>
            <a:chOff x="2147617" y="733163"/>
            <a:chExt cx="1873496" cy="777240"/>
          </a:xfrm>
        </p:grpSpPr>
        <p:sp>
          <p:nvSpPr>
            <p:cNvPr id="10" name="Rounded Rectangle 9">
              <a:extLst>
                <a:ext uri="{FF2B5EF4-FFF2-40B4-BE49-F238E27FC236}">
                  <a16:creationId xmlns:a16="http://schemas.microsoft.com/office/drawing/2014/main" id="{B30FC1CC-7EB1-87D5-BC47-EEC9EFCB66F7}"/>
                </a:ext>
              </a:extLst>
            </p:cNvPr>
            <p:cNvSpPr/>
            <p:nvPr/>
          </p:nvSpPr>
          <p:spPr>
            <a:xfrm>
              <a:off x="2147617" y="733163"/>
              <a:ext cx="1795271" cy="77724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a:extLst>
                <a:ext uri="{FF2B5EF4-FFF2-40B4-BE49-F238E27FC236}">
                  <a16:creationId xmlns:a16="http://schemas.microsoft.com/office/drawing/2014/main" id="{2711FDCE-F50F-37BE-7B8A-8715C032505D}"/>
                </a:ext>
              </a:extLst>
            </p:cNvPr>
            <p:cNvSpPr/>
            <p:nvPr/>
          </p:nvSpPr>
          <p:spPr>
            <a:xfrm>
              <a:off x="2257345" y="948047"/>
              <a:ext cx="347472" cy="347472"/>
            </a:xfrm>
            <a:prstGeom prst="ellipse">
              <a:avLst/>
            </a:prstGeom>
            <a:solidFill>
              <a:srgbClr val="0E6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1A10CA59-80D4-2E30-0F92-75D756B245AC}"/>
                </a:ext>
              </a:extLst>
            </p:cNvPr>
            <p:cNvSpPr txBox="1"/>
            <p:nvPr/>
          </p:nvSpPr>
          <p:spPr>
            <a:xfrm>
              <a:off x="2691952" y="788027"/>
              <a:ext cx="1245597" cy="146194"/>
            </a:xfrm>
            <a:prstGeom prst="rect">
              <a:avLst/>
            </a:prstGeom>
            <a:noFill/>
          </p:spPr>
          <p:txBody>
            <a:bodyPr wrap="square" lIns="0" tIns="0" rIns="0" bIns="0" anchor="t">
              <a:spAutoFit/>
            </a:bodyPr>
            <a:lstStyle/>
            <a:p>
              <a:r>
                <a:rPr lang="en-US" sz="950" b="1">
                  <a:solidFill>
                    <a:srgbClr val="6B6B6B"/>
                  </a:solidFill>
                  <a:latin typeface="Calibri"/>
                </a:rPr>
                <a:t>MUTATIONAL BURDEN</a:t>
              </a:r>
              <a:endParaRPr lang="en-US"/>
            </a:p>
          </p:txBody>
        </p:sp>
        <p:sp>
          <p:nvSpPr>
            <p:cNvPr id="13" name="TextBox 12">
              <a:extLst>
                <a:ext uri="{FF2B5EF4-FFF2-40B4-BE49-F238E27FC236}">
                  <a16:creationId xmlns:a16="http://schemas.microsoft.com/office/drawing/2014/main" id="{510E2F68-C23E-22B5-7013-BA91A3AA8CD0}"/>
                </a:ext>
              </a:extLst>
            </p:cNvPr>
            <p:cNvSpPr txBox="1"/>
            <p:nvPr/>
          </p:nvSpPr>
          <p:spPr>
            <a:xfrm>
              <a:off x="2691952" y="971733"/>
              <a:ext cx="1155191" cy="230832"/>
            </a:xfrm>
            <a:prstGeom prst="rect">
              <a:avLst/>
            </a:prstGeom>
            <a:noFill/>
          </p:spPr>
          <p:txBody>
            <a:bodyPr wrap="square" lIns="0" tIns="0" rIns="0" bIns="0" anchor="ctr">
              <a:spAutoFit/>
            </a:bodyPr>
            <a:lstStyle/>
            <a:p>
              <a:r>
                <a:rPr lang="en-US" sz="1500" b="1">
                  <a:solidFill>
                    <a:srgbClr val="1B2A4A"/>
                  </a:solidFill>
                  <a:latin typeface="Calibri"/>
                </a:rPr>
                <a:t>1</a:t>
              </a:r>
              <a:endParaRPr lang="en-US"/>
            </a:p>
          </p:txBody>
        </p:sp>
        <p:sp>
          <p:nvSpPr>
            <p:cNvPr id="42" name="TextBox 41">
              <a:extLst>
                <a:ext uri="{FF2B5EF4-FFF2-40B4-BE49-F238E27FC236}">
                  <a16:creationId xmlns:a16="http://schemas.microsoft.com/office/drawing/2014/main" id="{F2DFA8DE-2894-82C2-2E81-EC79B68949D6}"/>
                </a:ext>
              </a:extLst>
            </p:cNvPr>
            <p:cNvSpPr txBox="1"/>
            <p:nvPr/>
          </p:nvSpPr>
          <p:spPr>
            <a:xfrm>
              <a:off x="2865922" y="1009336"/>
              <a:ext cx="1155191" cy="276999"/>
            </a:xfrm>
            <a:prstGeom prst="rect">
              <a:avLst/>
            </a:prstGeom>
            <a:noFill/>
          </p:spPr>
          <p:txBody>
            <a:bodyPr wrap="square" lIns="0" tIns="0" rIns="0" bIns="0" anchor="t">
              <a:spAutoFit/>
            </a:bodyPr>
            <a:lstStyle/>
            <a:p>
              <a:r>
                <a:rPr lang="en-US" sz="900">
                  <a:solidFill>
                    <a:srgbClr val="6B6B6B"/>
                  </a:solidFill>
                  <a:latin typeface="Trade Gothic Next Light"/>
                  <a:ea typeface="Calibri"/>
                  <a:cs typeface="Calibri"/>
                </a:rPr>
                <a:t>Nonsynonymous</a:t>
              </a:r>
              <a:br>
                <a:rPr lang="en-US" sz="900">
                  <a:solidFill>
                    <a:srgbClr val="6B6B6B"/>
                  </a:solidFill>
                  <a:latin typeface="Trade Gothic Next Light"/>
                  <a:ea typeface="Calibri"/>
                  <a:cs typeface="Calibri"/>
                </a:rPr>
              </a:br>
              <a:r>
                <a:rPr lang="en-US" sz="900">
                  <a:solidFill>
                    <a:srgbClr val="6B6B6B"/>
                  </a:solidFill>
                  <a:latin typeface="Trade Gothic Next Light"/>
                  <a:ea typeface="Calibri"/>
                  <a:cs typeface="Calibri"/>
                </a:rPr>
                <a:t>TMB</a:t>
              </a:r>
            </a:p>
          </p:txBody>
        </p:sp>
      </p:grpSp>
      <p:grpSp>
        <p:nvGrpSpPr>
          <p:cNvPr id="60" name="Group 59">
            <a:extLst>
              <a:ext uri="{FF2B5EF4-FFF2-40B4-BE49-F238E27FC236}">
                <a16:creationId xmlns:a16="http://schemas.microsoft.com/office/drawing/2014/main" id="{980B56E4-52FC-D839-305A-B6BDDAC3E02A}"/>
              </a:ext>
            </a:extLst>
          </p:cNvPr>
          <p:cNvGrpSpPr/>
          <p:nvPr/>
        </p:nvGrpSpPr>
        <p:grpSpPr>
          <a:xfrm>
            <a:off x="1097027" y="4865230"/>
            <a:ext cx="2212782" cy="777240"/>
            <a:chOff x="2049570" y="2745390"/>
            <a:chExt cx="2212782" cy="777240"/>
          </a:xfrm>
        </p:grpSpPr>
        <p:sp>
          <p:nvSpPr>
            <p:cNvPr id="14" name="Rounded Rectangle 13">
              <a:extLst>
                <a:ext uri="{FF2B5EF4-FFF2-40B4-BE49-F238E27FC236}">
                  <a16:creationId xmlns:a16="http://schemas.microsoft.com/office/drawing/2014/main" id="{99297EDB-DB70-2378-933B-DB73001021BB}"/>
                </a:ext>
              </a:extLst>
            </p:cNvPr>
            <p:cNvSpPr/>
            <p:nvPr/>
          </p:nvSpPr>
          <p:spPr>
            <a:xfrm>
              <a:off x="2049570" y="2745390"/>
              <a:ext cx="1795271" cy="77724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8FD0D477-3A8C-7911-1227-5752E332E65A}"/>
                </a:ext>
              </a:extLst>
            </p:cNvPr>
            <p:cNvSpPr/>
            <p:nvPr/>
          </p:nvSpPr>
          <p:spPr>
            <a:xfrm>
              <a:off x="2159298" y="2960274"/>
              <a:ext cx="347472" cy="347472"/>
            </a:xfrm>
            <a:prstGeom prst="ellipse">
              <a:avLst/>
            </a:prstGeom>
            <a:solidFill>
              <a:srgbClr val="2A6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84BFDE5A-9D8B-5D4A-0D21-A87942C786FB}"/>
                </a:ext>
              </a:extLst>
            </p:cNvPr>
            <p:cNvSpPr txBox="1"/>
            <p:nvPr/>
          </p:nvSpPr>
          <p:spPr>
            <a:xfrm>
              <a:off x="2598210" y="2800254"/>
              <a:ext cx="1155191" cy="146194"/>
            </a:xfrm>
            <a:prstGeom prst="rect">
              <a:avLst/>
            </a:prstGeom>
            <a:noFill/>
          </p:spPr>
          <p:txBody>
            <a:bodyPr wrap="square" lIns="0" tIns="0" rIns="0" bIns="0" anchor="t">
              <a:spAutoFit/>
            </a:bodyPr>
            <a:lstStyle/>
            <a:p>
              <a:r>
                <a:rPr lang="en-GB" sz="950" b="1">
                  <a:solidFill>
                    <a:srgbClr val="6B6B6B"/>
                  </a:solidFill>
                  <a:latin typeface="Calibri"/>
                  <a:ea typeface="Calibri"/>
                  <a:cs typeface="Calibri"/>
                </a:rPr>
                <a:t>DRIVER MUTATIONS</a:t>
              </a:r>
              <a:endParaRPr lang="en-US"/>
            </a:p>
          </p:txBody>
        </p:sp>
        <p:sp>
          <p:nvSpPr>
            <p:cNvPr id="17" name="TextBox 16">
              <a:extLst>
                <a:ext uri="{FF2B5EF4-FFF2-40B4-BE49-F238E27FC236}">
                  <a16:creationId xmlns:a16="http://schemas.microsoft.com/office/drawing/2014/main" id="{F6D8C2F7-7B3D-48B1-5E5B-6B1BF0A3F199}"/>
                </a:ext>
              </a:extLst>
            </p:cNvPr>
            <p:cNvSpPr txBox="1"/>
            <p:nvPr/>
          </p:nvSpPr>
          <p:spPr>
            <a:xfrm>
              <a:off x="2598210" y="2983960"/>
              <a:ext cx="1155191" cy="230832"/>
            </a:xfrm>
            <a:prstGeom prst="rect">
              <a:avLst/>
            </a:prstGeom>
            <a:noFill/>
          </p:spPr>
          <p:txBody>
            <a:bodyPr wrap="square" lIns="0" tIns="0" rIns="0" bIns="0" anchor="ctr">
              <a:spAutoFit/>
            </a:bodyPr>
            <a:lstStyle/>
            <a:p>
              <a:pPr algn="l"/>
              <a:r>
                <a:rPr lang="en-GB" sz="1500" b="1">
                  <a:solidFill>
                    <a:srgbClr val="1B2A4A"/>
                  </a:solidFill>
                  <a:latin typeface="Calibri"/>
                </a:rPr>
                <a:t>3</a:t>
              </a:r>
              <a:endParaRPr lang="en-US"/>
            </a:p>
          </p:txBody>
        </p:sp>
        <p:sp>
          <p:nvSpPr>
            <p:cNvPr id="44" name="TextBox 43">
              <a:extLst>
                <a:ext uri="{FF2B5EF4-FFF2-40B4-BE49-F238E27FC236}">
                  <a16:creationId xmlns:a16="http://schemas.microsoft.com/office/drawing/2014/main" id="{A48B5E05-9E8D-A2CA-4045-09112C233506}"/>
                </a:ext>
              </a:extLst>
            </p:cNvPr>
            <p:cNvSpPr txBox="1"/>
            <p:nvPr/>
          </p:nvSpPr>
          <p:spPr>
            <a:xfrm>
              <a:off x="2781402" y="2959453"/>
              <a:ext cx="1480950" cy="5078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a:solidFill>
                    <a:srgbClr val="6B6B6B"/>
                  </a:solidFill>
                  <a:latin typeface="Trade Gothic Next Light"/>
                  <a:ea typeface="Calibri"/>
                  <a:cs typeface="Calibri"/>
                </a:rPr>
                <a:t>BRAF</a:t>
              </a:r>
              <a:br>
                <a:rPr lang="en-US" sz="900">
                  <a:solidFill>
                    <a:srgbClr val="6B6B6B"/>
                  </a:solidFill>
                  <a:latin typeface="Trade Gothic Next Light"/>
                  <a:ea typeface="Calibri"/>
                  <a:cs typeface="Calibri"/>
                </a:rPr>
              </a:br>
              <a:r>
                <a:rPr lang="en-US" sz="900">
                  <a:solidFill>
                    <a:srgbClr val="6B6B6B"/>
                  </a:solidFill>
                  <a:latin typeface="Trade Gothic Next Light"/>
                  <a:ea typeface="Calibri"/>
                  <a:cs typeface="Calibri"/>
                </a:rPr>
                <a:t>NRAS</a:t>
              </a:r>
              <a:br>
                <a:rPr lang="en-US" sz="900">
                  <a:solidFill>
                    <a:srgbClr val="6B6B6B"/>
                  </a:solidFill>
                  <a:latin typeface="Trade Gothic Next Light"/>
                  <a:ea typeface="Calibri"/>
                  <a:cs typeface="Calibri"/>
                </a:rPr>
              </a:br>
              <a:r>
                <a:rPr lang="en-US" sz="900">
                  <a:solidFill>
                    <a:srgbClr val="6B6B6B"/>
                  </a:solidFill>
                  <a:latin typeface="Trade Gothic Next Light"/>
                  <a:ea typeface="Calibri"/>
                  <a:cs typeface="Calibri"/>
                </a:rPr>
                <a:t>NF1</a:t>
              </a:r>
            </a:p>
          </p:txBody>
        </p:sp>
      </p:grpSp>
      <p:grpSp>
        <p:nvGrpSpPr>
          <p:cNvPr id="61" name="Group 60">
            <a:extLst>
              <a:ext uri="{FF2B5EF4-FFF2-40B4-BE49-F238E27FC236}">
                <a16:creationId xmlns:a16="http://schemas.microsoft.com/office/drawing/2014/main" id="{734EE694-6FD9-CC65-D2FB-C25D65B7118A}"/>
              </a:ext>
            </a:extLst>
          </p:cNvPr>
          <p:cNvGrpSpPr/>
          <p:nvPr/>
        </p:nvGrpSpPr>
        <p:grpSpPr>
          <a:xfrm>
            <a:off x="3186934" y="3081145"/>
            <a:ext cx="1795271" cy="777240"/>
            <a:chOff x="6163056" y="1554480"/>
            <a:chExt cx="1795271" cy="777240"/>
          </a:xfrm>
        </p:grpSpPr>
        <p:sp>
          <p:nvSpPr>
            <p:cNvPr id="18" name="Rounded Rectangle 17">
              <a:extLst>
                <a:ext uri="{FF2B5EF4-FFF2-40B4-BE49-F238E27FC236}">
                  <a16:creationId xmlns:a16="http://schemas.microsoft.com/office/drawing/2014/main" id="{1CE425DC-4A20-EFD7-9D35-C519E7FD911D}"/>
                </a:ext>
              </a:extLst>
            </p:cNvPr>
            <p:cNvSpPr/>
            <p:nvPr/>
          </p:nvSpPr>
          <p:spPr>
            <a:xfrm>
              <a:off x="6163056" y="1554480"/>
              <a:ext cx="1795271" cy="77724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9" name="Oval 18">
              <a:extLst>
                <a:ext uri="{FF2B5EF4-FFF2-40B4-BE49-F238E27FC236}">
                  <a16:creationId xmlns:a16="http://schemas.microsoft.com/office/drawing/2014/main" id="{FDA4756A-5DA6-34D1-99C9-036C6586F1D2}"/>
                </a:ext>
              </a:extLst>
            </p:cNvPr>
            <p:cNvSpPr/>
            <p:nvPr/>
          </p:nvSpPr>
          <p:spPr>
            <a:xfrm>
              <a:off x="6272784" y="1769364"/>
              <a:ext cx="347472" cy="34747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DDEDCA93-4E19-66C7-F614-6FA9B8991CD5}"/>
                </a:ext>
              </a:extLst>
            </p:cNvPr>
            <p:cNvSpPr txBox="1"/>
            <p:nvPr/>
          </p:nvSpPr>
          <p:spPr>
            <a:xfrm>
              <a:off x="6711696" y="1609344"/>
              <a:ext cx="1155191" cy="146194"/>
            </a:xfrm>
            <a:prstGeom prst="rect">
              <a:avLst/>
            </a:prstGeom>
            <a:noFill/>
          </p:spPr>
          <p:txBody>
            <a:bodyPr wrap="square" lIns="0" tIns="0" rIns="0" bIns="0" anchor="t">
              <a:spAutoFit/>
            </a:bodyPr>
            <a:lstStyle/>
            <a:p>
              <a:r>
                <a:rPr lang="en-US" sz="950" b="1">
                  <a:solidFill>
                    <a:srgbClr val="6B6B6B"/>
                  </a:solidFill>
                  <a:latin typeface="Calibri"/>
                </a:rPr>
                <a:t>M1/M2 RATIO</a:t>
              </a:r>
              <a:endParaRPr lang="en-US"/>
            </a:p>
          </p:txBody>
        </p:sp>
        <p:sp>
          <p:nvSpPr>
            <p:cNvPr id="21" name="TextBox 20">
              <a:extLst>
                <a:ext uri="{FF2B5EF4-FFF2-40B4-BE49-F238E27FC236}">
                  <a16:creationId xmlns:a16="http://schemas.microsoft.com/office/drawing/2014/main" id="{E7490EFD-F252-4395-78E1-D7B135A086D7}"/>
                </a:ext>
              </a:extLst>
            </p:cNvPr>
            <p:cNvSpPr txBox="1"/>
            <p:nvPr/>
          </p:nvSpPr>
          <p:spPr>
            <a:xfrm>
              <a:off x="6707391" y="1793050"/>
              <a:ext cx="1155191" cy="230832"/>
            </a:xfrm>
            <a:prstGeom prst="rect">
              <a:avLst/>
            </a:prstGeom>
            <a:noFill/>
          </p:spPr>
          <p:txBody>
            <a:bodyPr wrap="square" lIns="0" tIns="0" rIns="0" bIns="0" anchor="ctr">
              <a:spAutoFit/>
            </a:bodyPr>
            <a:lstStyle/>
            <a:p>
              <a:pPr algn="l"/>
              <a:r>
                <a:rPr lang="en-GB" sz="1500" b="1">
                  <a:solidFill>
                    <a:srgbClr val="1B2A4A"/>
                  </a:solidFill>
                  <a:latin typeface="Calibri"/>
                </a:rPr>
                <a:t>1</a:t>
              </a:r>
              <a:endParaRPr lang="en-US"/>
            </a:p>
          </p:txBody>
        </p:sp>
        <p:sp>
          <p:nvSpPr>
            <p:cNvPr id="45" name="TextBox 44">
              <a:extLst>
                <a:ext uri="{FF2B5EF4-FFF2-40B4-BE49-F238E27FC236}">
                  <a16:creationId xmlns:a16="http://schemas.microsoft.com/office/drawing/2014/main" id="{A65F4F5F-7F02-A2DA-DE02-8932EA19EEAD}"/>
                </a:ext>
              </a:extLst>
            </p:cNvPr>
            <p:cNvSpPr txBox="1"/>
            <p:nvPr/>
          </p:nvSpPr>
          <p:spPr>
            <a:xfrm>
              <a:off x="6799329" y="1814887"/>
              <a:ext cx="1155191" cy="261610"/>
            </a:xfrm>
            <a:prstGeom prst="rect">
              <a:avLst/>
            </a:prstGeom>
            <a:noFill/>
          </p:spPr>
          <p:txBody>
            <a:bodyPr wrap="square" lIns="0" tIns="0" rIns="0" bIns="0" anchor="t">
              <a:spAutoFit/>
            </a:bodyPr>
            <a:lstStyle/>
            <a:p>
              <a:pPr algn="ctr"/>
              <a:r>
                <a:rPr lang="en-US" sz="850">
                  <a:solidFill>
                    <a:srgbClr val="6B6B6B"/>
                  </a:solidFill>
                  <a:latin typeface="Trade Gothic Next Light"/>
                  <a:ea typeface="Calibri"/>
                  <a:cs typeface="Calibri"/>
                </a:rPr>
                <a:t>Pro-inflammatory M1 </a:t>
              </a:r>
              <a:br>
                <a:rPr lang="en-US" sz="850">
                  <a:solidFill>
                    <a:srgbClr val="6B6B6B"/>
                  </a:solidFill>
                  <a:latin typeface="Trade Gothic Next Light"/>
                  <a:ea typeface="Calibri"/>
                  <a:cs typeface="Calibri"/>
                </a:rPr>
              </a:br>
              <a:r>
                <a:rPr lang="en-US" sz="850">
                  <a:solidFill>
                    <a:srgbClr val="6B6B6B"/>
                  </a:solidFill>
                  <a:latin typeface="Trade Gothic Next Light"/>
                  <a:ea typeface="Calibri"/>
                  <a:cs typeface="Calibri"/>
                </a:rPr>
                <a:t>Anti-inflammatory M2</a:t>
              </a:r>
              <a:endParaRPr lang="en-US" sz="850"/>
            </a:p>
          </p:txBody>
        </p:sp>
      </p:grpSp>
      <p:grpSp>
        <p:nvGrpSpPr>
          <p:cNvPr id="62" name="Group 61">
            <a:extLst>
              <a:ext uri="{FF2B5EF4-FFF2-40B4-BE49-F238E27FC236}">
                <a16:creationId xmlns:a16="http://schemas.microsoft.com/office/drawing/2014/main" id="{269F14F0-A8DD-A674-205F-B7468695745B}"/>
              </a:ext>
            </a:extLst>
          </p:cNvPr>
          <p:cNvGrpSpPr/>
          <p:nvPr/>
        </p:nvGrpSpPr>
        <p:grpSpPr>
          <a:xfrm>
            <a:off x="3159020" y="3970907"/>
            <a:ext cx="1856710" cy="777240"/>
            <a:chOff x="11759476" y="-722394"/>
            <a:chExt cx="1856710" cy="777240"/>
          </a:xfrm>
        </p:grpSpPr>
        <p:sp>
          <p:nvSpPr>
            <p:cNvPr id="22" name="Rounded Rectangle 21">
              <a:extLst>
                <a:ext uri="{FF2B5EF4-FFF2-40B4-BE49-F238E27FC236}">
                  <a16:creationId xmlns:a16="http://schemas.microsoft.com/office/drawing/2014/main" id="{0E944019-2DEA-5CBA-65A5-A620CDB0102D}"/>
                </a:ext>
              </a:extLst>
            </p:cNvPr>
            <p:cNvSpPr/>
            <p:nvPr/>
          </p:nvSpPr>
          <p:spPr>
            <a:xfrm>
              <a:off x="11759476" y="-722394"/>
              <a:ext cx="1795271" cy="77724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a:extLst>
                <a:ext uri="{FF2B5EF4-FFF2-40B4-BE49-F238E27FC236}">
                  <a16:creationId xmlns:a16="http://schemas.microsoft.com/office/drawing/2014/main" id="{9EAA236F-5431-CA1C-A3DB-7BFCCBC68645}"/>
                </a:ext>
              </a:extLst>
            </p:cNvPr>
            <p:cNvSpPr/>
            <p:nvPr/>
          </p:nvSpPr>
          <p:spPr>
            <a:xfrm>
              <a:off x="11869203" y="-507510"/>
              <a:ext cx="347472" cy="347472"/>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0AC2BB91-2F0A-EC0F-F0FE-AC086EE4F06C}"/>
                </a:ext>
              </a:extLst>
            </p:cNvPr>
            <p:cNvSpPr txBox="1"/>
            <p:nvPr/>
          </p:nvSpPr>
          <p:spPr>
            <a:xfrm>
              <a:off x="12308116" y="-667530"/>
              <a:ext cx="1155191" cy="146194"/>
            </a:xfrm>
            <a:prstGeom prst="rect">
              <a:avLst/>
            </a:prstGeom>
            <a:noFill/>
          </p:spPr>
          <p:txBody>
            <a:bodyPr wrap="square" lIns="0" tIns="0" rIns="0" bIns="0" anchor="t">
              <a:spAutoFit/>
            </a:bodyPr>
            <a:lstStyle/>
            <a:p>
              <a:r>
                <a:rPr lang="en-US" sz="950" b="1">
                  <a:solidFill>
                    <a:srgbClr val="6B6B6B"/>
                  </a:solidFill>
                  <a:latin typeface="Calibri"/>
                </a:rPr>
                <a:t>MACROPHAGE STV</a:t>
              </a:r>
              <a:endParaRPr lang="en-US"/>
            </a:p>
          </p:txBody>
        </p:sp>
        <p:sp>
          <p:nvSpPr>
            <p:cNvPr id="25" name="TextBox 24">
              <a:extLst>
                <a:ext uri="{FF2B5EF4-FFF2-40B4-BE49-F238E27FC236}">
                  <a16:creationId xmlns:a16="http://schemas.microsoft.com/office/drawing/2014/main" id="{47FD1D3F-7387-D1A2-20E1-4703EF393BAB}"/>
                </a:ext>
              </a:extLst>
            </p:cNvPr>
            <p:cNvSpPr txBox="1"/>
            <p:nvPr/>
          </p:nvSpPr>
          <p:spPr>
            <a:xfrm>
              <a:off x="12308116" y="-483824"/>
              <a:ext cx="1155191" cy="230832"/>
            </a:xfrm>
            <a:prstGeom prst="rect">
              <a:avLst/>
            </a:prstGeom>
            <a:noFill/>
          </p:spPr>
          <p:txBody>
            <a:bodyPr wrap="square" lIns="0" tIns="0" rIns="0" bIns="0" anchor="ctr">
              <a:spAutoFit/>
            </a:bodyPr>
            <a:lstStyle/>
            <a:p>
              <a:r>
                <a:rPr lang="en-US" sz="1500" b="1">
                  <a:solidFill>
                    <a:srgbClr val="1B2A4A"/>
                  </a:solidFill>
                  <a:latin typeface="Calibri"/>
                </a:rPr>
                <a:t>1</a:t>
              </a:r>
              <a:endParaRPr lang="en-US" sz="1500" b="1">
                <a:solidFill>
                  <a:srgbClr val="1B2A4A"/>
                </a:solidFill>
                <a:latin typeface="Calibri"/>
                <a:ea typeface="Calibri"/>
                <a:cs typeface="Calibri"/>
              </a:endParaRPr>
            </a:p>
          </p:txBody>
        </p:sp>
        <p:sp>
          <p:nvSpPr>
            <p:cNvPr id="46" name="TextBox 45">
              <a:extLst>
                <a:ext uri="{FF2B5EF4-FFF2-40B4-BE49-F238E27FC236}">
                  <a16:creationId xmlns:a16="http://schemas.microsoft.com/office/drawing/2014/main" id="{666B302B-3386-4E27-3D99-5BF27EB98A3B}"/>
                </a:ext>
              </a:extLst>
            </p:cNvPr>
            <p:cNvSpPr txBox="1"/>
            <p:nvPr/>
          </p:nvSpPr>
          <p:spPr>
            <a:xfrm>
              <a:off x="12460995" y="-447973"/>
              <a:ext cx="1155191" cy="276999"/>
            </a:xfrm>
            <a:prstGeom prst="rect">
              <a:avLst/>
            </a:prstGeom>
            <a:noFill/>
          </p:spPr>
          <p:txBody>
            <a:bodyPr wrap="square" lIns="0" tIns="0" rIns="0" bIns="0" anchor="t">
              <a:spAutoFit/>
            </a:bodyPr>
            <a:lstStyle/>
            <a:p>
              <a:r>
                <a:rPr lang="en-US" sz="900">
                  <a:solidFill>
                    <a:srgbClr val="6B6B6B"/>
                  </a:solidFill>
                  <a:latin typeface="Trade Gothic Next Light"/>
                  <a:ea typeface="Calibri"/>
                  <a:cs typeface="Calibri"/>
                </a:rPr>
                <a:t>M2 density and </a:t>
              </a:r>
              <a:br>
                <a:rPr lang="en-US" sz="900">
                  <a:solidFill>
                    <a:srgbClr val="6B6B6B"/>
                  </a:solidFill>
                  <a:latin typeface="Trade Gothic Next Light"/>
                  <a:ea typeface="Calibri"/>
                  <a:cs typeface="Calibri"/>
                </a:rPr>
              </a:br>
              <a:r>
                <a:rPr lang="en-US" sz="900">
                  <a:solidFill>
                    <a:srgbClr val="6B6B6B"/>
                  </a:solidFill>
                  <a:latin typeface="Trade Gothic Next Light"/>
                  <a:ea typeface="Calibri"/>
                  <a:cs typeface="Calibri"/>
                </a:rPr>
                <a:t>stromal barrier</a:t>
              </a:r>
            </a:p>
          </p:txBody>
        </p:sp>
      </p:grpSp>
      <p:grpSp>
        <p:nvGrpSpPr>
          <p:cNvPr id="63" name="Group 62">
            <a:extLst>
              <a:ext uri="{FF2B5EF4-FFF2-40B4-BE49-F238E27FC236}">
                <a16:creationId xmlns:a16="http://schemas.microsoft.com/office/drawing/2014/main" id="{A235D3E5-5E39-E21F-C0C1-8EF56160E4DF}"/>
              </a:ext>
            </a:extLst>
          </p:cNvPr>
          <p:cNvGrpSpPr/>
          <p:nvPr/>
        </p:nvGrpSpPr>
        <p:grpSpPr>
          <a:xfrm>
            <a:off x="3191043" y="4865230"/>
            <a:ext cx="1981754" cy="777240"/>
            <a:chOff x="10027920" y="1554480"/>
            <a:chExt cx="1981754" cy="777240"/>
          </a:xfrm>
        </p:grpSpPr>
        <p:sp>
          <p:nvSpPr>
            <p:cNvPr id="26" name="Rounded Rectangle 25">
              <a:extLst>
                <a:ext uri="{FF2B5EF4-FFF2-40B4-BE49-F238E27FC236}">
                  <a16:creationId xmlns:a16="http://schemas.microsoft.com/office/drawing/2014/main" id="{0F1AAFB5-64AF-232D-2B2E-4B1D7FFCE67D}"/>
                </a:ext>
              </a:extLst>
            </p:cNvPr>
            <p:cNvSpPr/>
            <p:nvPr/>
          </p:nvSpPr>
          <p:spPr>
            <a:xfrm>
              <a:off x="10027920" y="1554480"/>
              <a:ext cx="1795271" cy="77724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a:extLst>
                <a:ext uri="{FF2B5EF4-FFF2-40B4-BE49-F238E27FC236}">
                  <a16:creationId xmlns:a16="http://schemas.microsoft.com/office/drawing/2014/main" id="{B65A3F75-F23E-BFA8-4B82-15FE3A5BDF02}"/>
                </a:ext>
              </a:extLst>
            </p:cNvPr>
            <p:cNvSpPr/>
            <p:nvPr/>
          </p:nvSpPr>
          <p:spPr>
            <a:xfrm>
              <a:off x="10137648" y="1769364"/>
              <a:ext cx="347472" cy="347472"/>
            </a:xfrm>
            <a:prstGeom prst="ellipse">
              <a:avLst/>
            </a:prstGeom>
            <a:solidFill>
              <a:srgbClr val="0E6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90E25E31-5CAD-2E98-D3D3-FEC1637674B8}"/>
                </a:ext>
              </a:extLst>
            </p:cNvPr>
            <p:cNvSpPr txBox="1"/>
            <p:nvPr/>
          </p:nvSpPr>
          <p:spPr>
            <a:xfrm>
              <a:off x="10576560" y="1609344"/>
              <a:ext cx="1155191" cy="146194"/>
            </a:xfrm>
            <a:prstGeom prst="rect">
              <a:avLst/>
            </a:prstGeom>
            <a:noFill/>
          </p:spPr>
          <p:txBody>
            <a:bodyPr wrap="square" lIns="0" tIns="0" rIns="0" bIns="0" anchor="t">
              <a:spAutoFit/>
            </a:bodyPr>
            <a:lstStyle/>
            <a:p>
              <a:r>
                <a:rPr lang="en-US" sz="950" b="1">
                  <a:solidFill>
                    <a:srgbClr val="6B6B6B"/>
                  </a:solidFill>
                  <a:latin typeface="Calibri"/>
                </a:rPr>
                <a:t>COMBINED MATRIX</a:t>
              </a:r>
              <a:endParaRPr lang="en-US"/>
            </a:p>
          </p:txBody>
        </p:sp>
        <p:sp>
          <p:nvSpPr>
            <p:cNvPr id="29" name="TextBox 28">
              <a:extLst>
                <a:ext uri="{FF2B5EF4-FFF2-40B4-BE49-F238E27FC236}">
                  <a16:creationId xmlns:a16="http://schemas.microsoft.com/office/drawing/2014/main" id="{7B7004BC-F939-BA5F-4607-44B20C80B454}"/>
                </a:ext>
              </a:extLst>
            </p:cNvPr>
            <p:cNvSpPr txBox="1"/>
            <p:nvPr/>
          </p:nvSpPr>
          <p:spPr>
            <a:xfrm>
              <a:off x="10576560" y="1793050"/>
              <a:ext cx="1155191" cy="230832"/>
            </a:xfrm>
            <a:prstGeom prst="rect">
              <a:avLst/>
            </a:prstGeom>
            <a:noFill/>
          </p:spPr>
          <p:txBody>
            <a:bodyPr wrap="square" lIns="0" tIns="0" rIns="0" bIns="0" anchor="ctr">
              <a:spAutoFit/>
            </a:bodyPr>
            <a:lstStyle/>
            <a:p>
              <a:pPr algn="l"/>
              <a:r>
                <a:rPr lang="en-US" sz="1500" b="1">
                  <a:solidFill>
                    <a:srgbClr val="1B2A4A"/>
                  </a:solidFill>
                  <a:latin typeface="Calibri"/>
                  <a:ea typeface="Calibri"/>
                  <a:cs typeface="Calibri"/>
                </a:rPr>
                <a:t>12</a:t>
              </a:r>
            </a:p>
          </p:txBody>
        </p:sp>
        <p:sp>
          <p:nvSpPr>
            <p:cNvPr id="47" name="TextBox 46">
              <a:extLst>
                <a:ext uri="{FF2B5EF4-FFF2-40B4-BE49-F238E27FC236}">
                  <a16:creationId xmlns:a16="http://schemas.microsoft.com/office/drawing/2014/main" id="{C8F34936-6246-4FB8-DA5E-A24C3970BB37}"/>
                </a:ext>
              </a:extLst>
            </p:cNvPr>
            <p:cNvSpPr txBox="1"/>
            <p:nvPr/>
          </p:nvSpPr>
          <p:spPr>
            <a:xfrm>
              <a:off x="10854483" y="1788611"/>
              <a:ext cx="1155191" cy="415498"/>
            </a:xfrm>
            <a:prstGeom prst="rect">
              <a:avLst/>
            </a:prstGeom>
            <a:noFill/>
          </p:spPr>
          <p:txBody>
            <a:bodyPr wrap="square" lIns="0" tIns="0" rIns="0" bIns="0" anchor="t">
              <a:spAutoFit/>
            </a:bodyPr>
            <a:lstStyle/>
            <a:p>
              <a:r>
                <a:rPr lang="en-US" sz="900">
                  <a:solidFill>
                    <a:srgbClr val="6B6B6B"/>
                  </a:solidFill>
                  <a:latin typeface="Trade Gothic Next Light"/>
                  <a:ea typeface="Calibri"/>
                  <a:cs typeface="Calibri"/>
                </a:rPr>
                <a:t>Feature </a:t>
              </a:r>
              <a:br>
                <a:rPr lang="en-US" sz="900">
                  <a:solidFill>
                    <a:srgbClr val="6B6B6B"/>
                  </a:solidFill>
                  <a:latin typeface="Trade Gothic Next Light"/>
                  <a:ea typeface="Calibri"/>
                  <a:cs typeface="Calibri"/>
                </a:rPr>
              </a:br>
              <a:r>
                <a:rPr lang="en-US" sz="900">
                  <a:solidFill>
                    <a:srgbClr val="6B6B6B"/>
                  </a:solidFill>
                  <a:latin typeface="Trade Gothic Next Light"/>
                  <a:ea typeface="Calibri"/>
                  <a:cs typeface="Calibri"/>
                </a:rPr>
                <a:t>Multimodal </a:t>
              </a:r>
              <a:br>
                <a:rPr lang="en-US" sz="900">
                  <a:solidFill>
                    <a:srgbClr val="6B6B6B"/>
                  </a:solidFill>
                  <a:latin typeface="Trade Gothic Next Light"/>
                  <a:ea typeface="Calibri"/>
                  <a:cs typeface="Calibri"/>
                </a:rPr>
              </a:br>
              <a:r>
                <a:rPr lang="en-US" sz="900">
                  <a:solidFill>
                    <a:srgbClr val="6B6B6B"/>
                  </a:solidFill>
                  <a:latin typeface="Trade Gothic Next Light"/>
                  <a:ea typeface="Calibri"/>
                  <a:cs typeface="Calibri"/>
                </a:rPr>
                <a:t>integration</a:t>
              </a:r>
            </a:p>
          </p:txBody>
        </p:sp>
      </p:grpSp>
      <p:sp>
        <p:nvSpPr>
          <p:cNvPr id="67" name="Rounded Rectangle 29">
            <a:extLst>
              <a:ext uri="{FF2B5EF4-FFF2-40B4-BE49-F238E27FC236}">
                <a16:creationId xmlns:a16="http://schemas.microsoft.com/office/drawing/2014/main" id="{7F625853-5F45-9EE5-11E6-A899800B2C76}"/>
              </a:ext>
            </a:extLst>
          </p:cNvPr>
          <p:cNvSpPr/>
          <p:nvPr/>
        </p:nvSpPr>
        <p:spPr>
          <a:xfrm>
            <a:off x="365254" y="2514954"/>
            <a:ext cx="11458622" cy="38404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a:extLst>
              <a:ext uri="{FF2B5EF4-FFF2-40B4-BE49-F238E27FC236}">
                <a16:creationId xmlns:a16="http://schemas.microsoft.com/office/drawing/2014/main" id="{F2C5289C-3964-6A2C-E8BB-D9440F9EAB5E}"/>
              </a:ext>
            </a:extLst>
          </p:cNvPr>
          <p:cNvSpPr txBox="1"/>
          <p:nvPr/>
        </p:nvSpPr>
        <p:spPr>
          <a:xfrm>
            <a:off x="777333" y="2606951"/>
            <a:ext cx="12535157" cy="200055"/>
          </a:xfrm>
          <a:prstGeom prst="rect">
            <a:avLst/>
          </a:prstGeom>
          <a:noFill/>
        </p:spPr>
        <p:txBody>
          <a:bodyPr wrap="square" lIns="0" tIns="0" rIns="0" bIns="0" anchor="ctr">
            <a:spAutoFit/>
          </a:bodyPr>
          <a:lstStyle/>
          <a:p>
            <a:r>
              <a:rPr lang="en-US" sz="1300" b="1">
                <a:solidFill>
                  <a:srgbClr val="FFFFFF"/>
                </a:solidFill>
                <a:latin typeface="Calibri"/>
              </a:rPr>
              <a:t>Curated Signatures vs Uncurated Data-driven Feature Selection (SelectKBest)</a:t>
            </a:r>
            <a:endParaRPr lang="en-US" sz="1300">
              <a:solidFill>
                <a:srgbClr val="000000"/>
              </a:solidFill>
              <a:latin typeface="Calibri"/>
            </a:endParaRPr>
          </a:p>
        </p:txBody>
      </p:sp>
      <p:grpSp>
        <p:nvGrpSpPr>
          <p:cNvPr id="85" name="Group 84">
            <a:extLst>
              <a:ext uri="{FF2B5EF4-FFF2-40B4-BE49-F238E27FC236}">
                <a16:creationId xmlns:a16="http://schemas.microsoft.com/office/drawing/2014/main" id="{65A9D291-ECB2-6F1C-CA15-59EB90921CF2}"/>
              </a:ext>
            </a:extLst>
          </p:cNvPr>
          <p:cNvGrpSpPr/>
          <p:nvPr/>
        </p:nvGrpSpPr>
        <p:grpSpPr>
          <a:xfrm>
            <a:off x="958236" y="1572768"/>
            <a:ext cx="10238231" cy="828503"/>
            <a:chOff x="975360" y="1572768"/>
            <a:chExt cx="10238231" cy="828503"/>
          </a:xfrm>
        </p:grpSpPr>
        <p:grpSp>
          <p:nvGrpSpPr>
            <p:cNvPr id="35" name="Group 34">
              <a:extLst>
                <a:ext uri="{FF2B5EF4-FFF2-40B4-BE49-F238E27FC236}">
                  <a16:creationId xmlns:a16="http://schemas.microsoft.com/office/drawing/2014/main" id="{1C684AFD-E061-E726-1C1A-038236E6FF28}"/>
                </a:ext>
              </a:extLst>
            </p:cNvPr>
            <p:cNvGrpSpPr/>
            <p:nvPr/>
          </p:nvGrpSpPr>
          <p:grpSpPr>
            <a:xfrm>
              <a:off x="7298436" y="1578864"/>
              <a:ext cx="1795271" cy="777240"/>
              <a:chOff x="8095488" y="1554480"/>
              <a:chExt cx="1795271" cy="777240"/>
            </a:xfrm>
          </p:grpSpPr>
          <p:sp>
            <p:nvSpPr>
              <p:cNvPr id="31" name="Rounded Rectangle 21">
                <a:extLst>
                  <a:ext uri="{FF2B5EF4-FFF2-40B4-BE49-F238E27FC236}">
                    <a16:creationId xmlns:a16="http://schemas.microsoft.com/office/drawing/2014/main" id="{572BACC2-FD4C-2F6A-5FC0-88B72EC36246}"/>
                  </a:ext>
                </a:extLst>
              </p:cNvPr>
              <p:cNvSpPr/>
              <p:nvPr/>
            </p:nvSpPr>
            <p:spPr>
              <a:xfrm>
                <a:off x="8095488" y="1554480"/>
                <a:ext cx="1795271" cy="77724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a:extLst>
                  <a:ext uri="{FF2B5EF4-FFF2-40B4-BE49-F238E27FC236}">
                    <a16:creationId xmlns:a16="http://schemas.microsoft.com/office/drawing/2014/main" id="{89EABE32-7967-646C-DAD8-5C6A09496625}"/>
                  </a:ext>
                </a:extLst>
              </p:cNvPr>
              <p:cNvSpPr/>
              <p:nvPr/>
            </p:nvSpPr>
            <p:spPr>
              <a:xfrm>
                <a:off x="8205215" y="1769364"/>
                <a:ext cx="347472" cy="347472"/>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EAF3C56A-077A-178A-019E-0D9C7813AF0B}"/>
                  </a:ext>
                </a:extLst>
              </p:cNvPr>
              <p:cNvSpPr txBox="1"/>
              <p:nvPr/>
            </p:nvSpPr>
            <p:spPr>
              <a:xfrm>
                <a:off x="8644128" y="1609344"/>
                <a:ext cx="1155191" cy="146194"/>
              </a:xfrm>
              <a:prstGeom prst="rect">
                <a:avLst/>
              </a:prstGeom>
              <a:noFill/>
            </p:spPr>
            <p:txBody>
              <a:bodyPr wrap="square" lIns="0" tIns="0" rIns="0" bIns="0" anchor="t">
                <a:spAutoFit/>
              </a:bodyPr>
              <a:lstStyle/>
              <a:p>
                <a:r>
                  <a:rPr lang="en-US" sz="950" b="1">
                    <a:solidFill>
                      <a:srgbClr val="6B6B6B"/>
                    </a:solidFill>
                    <a:latin typeface="Calibri"/>
                  </a:rPr>
                  <a:t>TOTAL ICI COHORT</a:t>
                </a:r>
                <a:endParaRPr lang="en-US"/>
              </a:p>
            </p:txBody>
          </p:sp>
          <p:sp>
            <p:nvSpPr>
              <p:cNvPr id="34" name="TextBox 33">
                <a:extLst>
                  <a:ext uri="{FF2B5EF4-FFF2-40B4-BE49-F238E27FC236}">
                    <a16:creationId xmlns:a16="http://schemas.microsoft.com/office/drawing/2014/main" id="{C98E8C51-047D-423C-CBD0-EE29716D4D25}"/>
                  </a:ext>
                </a:extLst>
              </p:cNvPr>
              <p:cNvSpPr txBox="1"/>
              <p:nvPr/>
            </p:nvSpPr>
            <p:spPr>
              <a:xfrm>
                <a:off x="8644128" y="1793050"/>
                <a:ext cx="1155191" cy="230832"/>
              </a:xfrm>
              <a:prstGeom prst="rect">
                <a:avLst/>
              </a:prstGeom>
              <a:noFill/>
            </p:spPr>
            <p:txBody>
              <a:bodyPr wrap="square" lIns="0" tIns="0" rIns="0" bIns="0" anchor="ctr">
                <a:spAutoFit/>
              </a:bodyPr>
              <a:lstStyle/>
              <a:p>
                <a:r>
                  <a:rPr lang="en-US" sz="1500" b="1">
                    <a:solidFill>
                      <a:srgbClr val="1B2A4A"/>
                    </a:solidFill>
                    <a:latin typeface="Calibri"/>
                  </a:rPr>
                  <a:t>N = 256</a:t>
                </a:r>
                <a:endParaRPr lang="en-US"/>
              </a:p>
            </p:txBody>
          </p:sp>
        </p:grpSp>
        <p:grpSp>
          <p:nvGrpSpPr>
            <p:cNvPr id="51" name="Group 50">
              <a:extLst>
                <a:ext uri="{FF2B5EF4-FFF2-40B4-BE49-F238E27FC236}">
                  <a16:creationId xmlns:a16="http://schemas.microsoft.com/office/drawing/2014/main" id="{2ED82354-F473-14A1-547C-610ED857202E}"/>
                </a:ext>
              </a:extLst>
            </p:cNvPr>
            <p:cNvGrpSpPr/>
            <p:nvPr/>
          </p:nvGrpSpPr>
          <p:grpSpPr>
            <a:xfrm>
              <a:off x="975360" y="1578864"/>
              <a:ext cx="1795271" cy="777240"/>
              <a:chOff x="2298192" y="1554480"/>
              <a:chExt cx="1795271" cy="777240"/>
            </a:xfrm>
          </p:grpSpPr>
          <p:sp>
            <p:nvSpPr>
              <p:cNvPr id="37" name="Rounded Rectangle 9">
                <a:extLst>
                  <a:ext uri="{FF2B5EF4-FFF2-40B4-BE49-F238E27FC236}">
                    <a16:creationId xmlns:a16="http://schemas.microsoft.com/office/drawing/2014/main" id="{5BDD51A5-ACCC-FAC4-8BE4-1956C1643988}"/>
                  </a:ext>
                </a:extLst>
              </p:cNvPr>
              <p:cNvSpPr/>
              <p:nvPr/>
            </p:nvSpPr>
            <p:spPr>
              <a:xfrm>
                <a:off x="2298192" y="1554480"/>
                <a:ext cx="1795271" cy="77724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a:extLst>
                  <a:ext uri="{FF2B5EF4-FFF2-40B4-BE49-F238E27FC236}">
                    <a16:creationId xmlns:a16="http://schemas.microsoft.com/office/drawing/2014/main" id="{9212DA04-959E-2E71-724D-EA6136B0ED42}"/>
                  </a:ext>
                </a:extLst>
              </p:cNvPr>
              <p:cNvSpPr/>
              <p:nvPr/>
            </p:nvSpPr>
            <p:spPr>
              <a:xfrm>
                <a:off x="2407920" y="1769364"/>
                <a:ext cx="347472" cy="347472"/>
              </a:xfrm>
              <a:prstGeom prst="ellipse">
                <a:avLst/>
              </a:prstGeom>
              <a:solidFill>
                <a:srgbClr val="0E6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a:extLst>
                  <a:ext uri="{FF2B5EF4-FFF2-40B4-BE49-F238E27FC236}">
                    <a16:creationId xmlns:a16="http://schemas.microsoft.com/office/drawing/2014/main" id="{A8E92336-B4C5-96BA-DC4A-DAC2BF87DA10}"/>
                  </a:ext>
                </a:extLst>
              </p:cNvPr>
              <p:cNvSpPr txBox="1"/>
              <p:nvPr/>
            </p:nvSpPr>
            <p:spPr>
              <a:xfrm>
                <a:off x="2842527" y="1609344"/>
                <a:ext cx="1245597" cy="146194"/>
              </a:xfrm>
              <a:prstGeom prst="rect">
                <a:avLst/>
              </a:prstGeom>
              <a:noFill/>
            </p:spPr>
            <p:txBody>
              <a:bodyPr wrap="square" lIns="0" tIns="0" rIns="0" bIns="0" anchor="t">
                <a:spAutoFit/>
              </a:bodyPr>
              <a:lstStyle/>
              <a:p>
                <a:r>
                  <a:rPr lang="en-US" sz="950" b="1">
                    <a:solidFill>
                      <a:srgbClr val="6B6B6B"/>
                    </a:solidFill>
                    <a:latin typeface="Calibri"/>
                  </a:rPr>
                  <a:t>LIU 2019 (</a:t>
                </a:r>
                <a:r>
                  <a:rPr lang="en-US" sz="950" b="1" err="1">
                    <a:solidFill>
                      <a:srgbClr val="6B6B6B"/>
                    </a:solidFill>
                    <a:latin typeface="Calibri"/>
                  </a:rPr>
                  <a:t>iAtlas</a:t>
                </a:r>
                <a:r>
                  <a:rPr lang="en-US" sz="950" b="1">
                    <a:solidFill>
                      <a:srgbClr val="6B6B6B"/>
                    </a:solidFill>
                    <a:latin typeface="Calibri"/>
                  </a:rPr>
                  <a:t>)</a:t>
                </a:r>
                <a:endParaRPr lang="en-US"/>
              </a:p>
            </p:txBody>
          </p:sp>
          <p:sp>
            <p:nvSpPr>
              <p:cNvPr id="49" name="TextBox 48">
                <a:extLst>
                  <a:ext uri="{FF2B5EF4-FFF2-40B4-BE49-F238E27FC236}">
                    <a16:creationId xmlns:a16="http://schemas.microsoft.com/office/drawing/2014/main" id="{C8D428EB-622D-539A-AA7A-7235A32D5B6E}"/>
                  </a:ext>
                </a:extLst>
              </p:cNvPr>
              <p:cNvSpPr txBox="1"/>
              <p:nvPr/>
            </p:nvSpPr>
            <p:spPr>
              <a:xfrm>
                <a:off x="2842527" y="1793050"/>
                <a:ext cx="1155191" cy="230832"/>
              </a:xfrm>
              <a:prstGeom prst="rect">
                <a:avLst/>
              </a:prstGeom>
              <a:noFill/>
            </p:spPr>
            <p:txBody>
              <a:bodyPr wrap="square" lIns="0" tIns="0" rIns="0" bIns="0" anchor="ctr">
                <a:spAutoFit/>
              </a:bodyPr>
              <a:lstStyle/>
              <a:p>
                <a:r>
                  <a:rPr lang="en-US" sz="1500" b="1">
                    <a:solidFill>
                      <a:srgbClr val="1B2A4A"/>
                    </a:solidFill>
                    <a:latin typeface="Calibri"/>
                  </a:rPr>
                  <a:t>N = 122</a:t>
                </a:r>
                <a:endParaRPr lang="en-US"/>
              </a:p>
            </p:txBody>
          </p:sp>
          <p:sp>
            <p:nvSpPr>
              <p:cNvPr id="50" name="TextBox 49">
                <a:extLst>
                  <a:ext uri="{FF2B5EF4-FFF2-40B4-BE49-F238E27FC236}">
                    <a16:creationId xmlns:a16="http://schemas.microsoft.com/office/drawing/2014/main" id="{7CCE7FBC-5F17-C564-1E93-97323AF41707}"/>
                  </a:ext>
                </a:extLst>
              </p:cNvPr>
              <p:cNvSpPr txBox="1"/>
              <p:nvPr/>
            </p:nvSpPr>
            <p:spPr>
              <a:xfrm>
                <a:off x="2843076" y="2082902"/>
                <a:ext cx="1155191" cy="146194"/>
              </a:xfrm>
              <a:prstGeom prst="rect">
                <a:avLst/>
              </a:prstGeom>
              <a:noFill/>
            </p:spPr>
            <p:txBody>
              <a:bodyPr wrap="square" lIns="0" tIns="0" rIns="0" bIns="0" anchor="t">
                <a:spAutoFit/>
              </a:bodyPr>
              <a:lstStyle/>
              <a:p>
                <a:r>
                  <a:rPr lang="en-US" sz="950">
                    <a:solidFill>
                      <a:srgbClr val="6B6B6B"/>
                    </a:solidFill>
                    <a:latin typeface="Calibri"/>
                  </a:rPr>
                  <a:t>Primary trial cohort</a:t>
                </a:r>
                <a:endParaRPr lang="en-US"/>
              </a:p>
            </p:txBody>
          </p:sp>
        </p:grpSp>
        <p:grpSp>
          <p:nvGrpSpPr>
            <p:cNvPr id="59" name="Group 58">
              <a:extLst>
                <a:ext uri="{FF2B5EF4-FFF2-40B4-BE49-F238E27FC236}">
                  <a16:creationId xmlns:a16="http://schemas.microsoft.com/office/drawing/2014/main" id="{5D31A9A2-4DE6-17B6-5D0C-6650FFC60B9B}"/>
                </a:ext>
              </a:extLst>
            </p:cNvPr>
            <p:cNvGrpSpPr/>
            <p:nvPr/>
          </p:nvGrpSpPr>
          <p:grpSpPr>
            <a:xfrm>
              <a:off x="5178552" y="1572768"/>
              <a:ext cx="1795888" cy="828503"/>
              <a:chOff x="6163056" y="1554480"/>
              <a:chExt cx="1795888" cy="828503"/>
            </a:xfrm>
          </p:grpSpPr>
          <p:sp>
            <p:nvSpPr>
              <p:cNvPr id="53" name="Rounded Rectangle 17">
                <a:extLst>
                  <a:ext uri="{FF2B5EF4-FFF2-40B4-BE49-F238E27FC236}">
                    <a16:creationId xmlns:a16="http://schemas.microsoft.com/office/drawing/2014/main" id="{74F66251-896D-95E7-58EC-299CBFC50961}"/>
                  </a:ext>
                </a:extLst>
              </p:cNvPr>
              <p:cNvSpPr/>
              <p:nvPr/>
            </p:nvSpPr>
            <p:spPr>
              <a:xfrm>
                <a:off x="6163056" y="1554480"/>
                <a:ext cx="1795271" cy="77724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4" name="Oval 53">
                <a:extLst>
                  <a:ext uri="{FF2B5EF4-FFF2-40B4-BE49-F238E27FC236}">
                    <a16:creationId xmlns:a16="http://schemas.microsoft.com/office/drawing/2014/main" id="{1CE619F6-27BE-18F7-EE7C-80A493DF9F3F}"/>
                  </a:ext>
                </a:extLst>
              </p:cNvPr>
              <p:cNvSpPr/>
              <p:nvPr/>
            </p:nvSpPr>
            <p:spPr>
              <a:xfrm>
                <a:off x="6272784" y="1769364"/>
                <a:ext cx="347472" cy="347472"/>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a:extLst>
                  <a:ext uri="{FF2B5EF4-FFF2-40B4-BE49-F238E27FC236}">
                    <a16:creationId xmlns:a16="http://schemas.microsoft.com/office/drawing/2014/main" id="{4B9A9A30-0C79-AA0F-8346-8E62F3179476}"/>
                  </a:ext>
                </a:extLst>
              </p:cNvPr>
              <p:cNvSpPr txBox="1"/>
              <p:nvPr/>
            </p:nvSpPr>
            <p:spPr>
              <a:xfrm>
                <a:off x="6711696" y="1609344"/>
                <a:ext cx="1155191" cy="146194"/>
              </a:xfrm>
              <a:prstGeom prst="rect">
                <a:avLst/>
              </a:prstGeom>
              <a:noFill/>
            </p:spPr>
            <p:txBody>
              <a:bodyPr wrap="square" lIns="0" tIns="0" rIns="0" bIns="0" anchor="t">
                <a:spAutoFit/>
              </a:bodyPr>
              <a:lstStyle/>
              <a:p>
                <a:r>
                  <a:rPr lang="en-US" sz="950" b="1">
                    <a:solidFill>
                      <a:srgbClr val="6B6B6B"/>
                    </a:solidFill>
                    <a:latin typeface="Calibri"/>
                    <a:ea typeface="Calibri"/>
                    <a:cs typeface="Calibri"/>
                  </a:rPr>
                  <a:t>HUGO 2016 (</a:t>
                </a:r>
                <a:r>
                  <a:rPr lang="en-US" sz="950" b="1" err="1">
                    <a:solidFill>
                      <a:srgbClr val="6B6B6B"/>
                    </a:solidFill>
                    <a:latin typeface="Calibri"/>
                    <a:ea typeface="Calibri"/>
                    <a:cs typeface="Calibri"/>
                  </a:rPr>
                  <a:t>iAtlas</a:t>
                </a:r>
                <a:r>
                  <a:rPr lang="en-US" sz="950" b="1">
                    <a:solidFill>
                      <a:srgbClr val="6B6B6B"/>
                    </a:solidFill>
                    <a:latin typeface="Calibri"/>
                    <a:ea typeface="Calibri"/>
                    <a:cs typeface="Calibri"/>
                  </a:rPr>
                  <a:t>)</a:t>
                </a:r>
              </a:p>
            </p:txBody>
          </p:sp>
          <p:sp>
            <p:nvSpPr>
              <p:cNvPr id="56" name="TextBox 55">
                <a:extLst>
                  <a:ext uri="{FF2B5EF4-FFF2-40B4-BE49-F238E27FC236}">
                    <a16:creationId xmlns:a16="http://schemas.microsoft.com/office/drawing/2014/main" id="{BA37E4C6-1E8A-70D4-CA8B-1CA83D193412}"/>
                  </a:ext>
                </a:extLst>
              </p:cNvPr>
              <p:cNvSpPr txBox="1"/>
              <p:nvPr/>
            </p:nvSpPr>
            <p:spPr>
              <a:xfrm>
                <a:off x="6707391" y="1793050"/>
                <a:ext cx="1155191" cy="230832"/>
              </a:xfrm>
              <a:prstGeom prst="rect">
                <a:avLst/>
              </a:prstGeom>
              <a:noFill/>
            </p:spPr>
            <p:txBody>
              <a:bodyPr wrap="square" lIns="0" tIns="0" rIns="0" bIns="0" anchor="ctr">
                <a:spAutoFit/>
              </a:bodyPr>
              <a:lstStyle/>
              <a:p>
                <a:r>
                  <a:rPr lang="en-GB" sz="1500" b="1">
                    <a:solidFill>
                      <a:srgbClr val="1B2A4A"/>
                    </a:solidFill>
                    <a:latin typeface="Calibri"/>
                  </a:rPr>
                  <a:t>N = 27</a:t>
                </a:r>
                <a:endParaRPr lang="en-US"/>
              </a:p>
            </p:txBody>
          </p:sp>
          <p:sp>
            <p:nvSpPr>
              <p:cNvPr id="57" name="TextBox 56">
                <a:extLst>
                  <a:ext uri="{FF2B5EF4-FFF2-40B4-BE49-F238E27FC236}">
                    <a16:creationId xmlns:a16="http://schemas.microsoft.com/office/drawing/2014/main" id="{57DD466A-D5CC-6B07-C3D1-89F98DDC89F6}"/>
                  </a:ext>
                </a:extLst>
              </p:cNvPr>
              <p:cNvSpPr txBox="1"/>
              <p:nvPr/>
            </p:nvSpPr>
            <p:spPr>
              <a:xfrm>
                <a:off x="6709041" y="2082901"/>
                <a:ext cx="1249903" cy="300082"/>
              </a:xfrm>
              <a:prstGeom prst="rect">
                <a:avLst/>
              </a:prstGeom>
              <a:noFill/>
            </p:spPr>
            <p:txBody>
              <a:bodyPr wrap="square" lIns="0" tIns="0" rIns="0" bIns="0" anchor="t">
                <a:spAutoFit/>
              </a:bodyPr>
              <a:lstStyle/>
              <a:p>
                <a:r>
                  <a:rPr lang="en-US" sz="1000">
                    <a:solidFill>
                      <a:srgbClr val="6B6B6B"/>
                    </a:solidFill>
                    <a:latin typeface="Calibri"/>
                  </a:rPr>
                  <a:t>Validation trial cohort</a:t>
                </a:r>
                <a:endParaRPr lang="en-US" sz="1000">
                  <a:solidFill>
                    <a:srgbClr val="000000"/>
                  </a:solidFill>
                  <a:latin typeface="Calibri"/>
                </a:endParaRPr>
              </a:p>
              <a:p>
                <a:endParaRPr lang="en-US" sz="950">
                  <a:solidFill>
                    <a:srgbClr val="6B6B6B"/>
                  </a:solidFill>
                  <a:latin typeface="Calibri"/>
                  <a:ea typeface="Calibri"/>
                  <a:cs typeface="Calibri"/>
                </a:endParaRPr>
              </a:p>
            </p:txBody>
          </p:sp>
        </p:grpSp>
        <p:grpSp>
          <p:nvGrpSpPr>
            <p:cNvPr id="77" name="Group 76">
              <a:extLst>
                <a:ext uri="{FF2B5EF4-FFF2-40B4-BE49-F238E27FC236}">
                  <a16:creationId xmlns:a16="http://schemas.microsoft.com/office/drawing/2014/main" id="{A6CDEFD4-7ED1-D0F0-B8D3-B63C14631B84}"/>
                </a:ext>
              </a:extLst>
            </p:cNvPr>
            <p:cNvGrpSpPr/>
            <p:nvPr/>
          </p:nvGrpSpPr>
          <p:grpSpPr>
            <a:xfrm>
              <a:off x="9418320" y="1572768"/>
              <a:ext cx="1795271" cy="777240"/>
              <a:chOff x="10027920" y="1554480"/>
              <a:chExt cx="1795271" cy="777240"/>
            </a:xfrm>
          </p:grpSpPr>
          <p:sp>
            <p:nvSpPr>
              <p:cNvPr id="66" name="Rounded Rectangle 25">
                <a:extLst>
                  <a:ext uri="{FF2B5EF4-FFF2-40B4-BE49-F238E27FC236}">
                    <a16:creationId xmlns:a16="http://schemas.microsoft.com/office/drawing/2014/main" id="{EC61EA81-5977-CE4D-DFCD-1BE47DF5CD30}"/>
                  </a:ext>
                </a:extLst>
              </p:cNvPr>
              <p:cNvSpPr/>
              <p:nvPr/>
            </p:nvSpPr>
            <p:spPr>
              <a:xfrm>
                <a:off x="10027920" y="1554480"/>
                <a:ext cx="1795271" cy="77724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a:extLst>
                  <a:ext uri="{FF2B5EF4-FFF2-40B4-BE49-F238E27FC236}">
                    <a16:creationId xmlns:a16="http://schemas.microsoft.com/office/drawing/2014/main" id="{29747D3F-CD1E-FF58-EA25-8815B9565368}"/>
                  </a:ext>
                </a:extLst>
              </p:cNvPr>
              <p:cNvSpPr/>
              <p:nvPr/>
            </p:nvSpPr>
            <p:spPr>
              <a:xfrm>
                <a:off x="10137648" y="1769364"/>
                <a:ext cx="347472" cy="347472"/>
              </a:xfrm>
              <a:prstGeom prst="ellipse">
                <a:avLst/>
              </a:prstGeom>
              <a:solidFill>
                <a:srgbClr val="0E6B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a:extLst>
                  <a:ext uri="{FF2B5EF4-FFF2-40B4-BE49-F238E27FC236}">
                    <a16:creationId xmlns:a16="http://schemas.microsoft.com/office/drawing/2014/main" id="{F355932B-FA51-827F-8CDB-C418D2716495}"/>
                  </a:ext>
                </a:extLst>
              </p:cNvPr>
              <p:cNvSpPr txBox="1"/>
              <p:nvPr/>
            </p:nvSpPr>
            <p:spPr>
              <a:xfrm>
                <a:off x="10576560" y="1609344"/>
                <a:ext cx="1155191" cy="146194"/>
              </a:xfrm>
              <a:prstGeom prst="rect">
                <a:avLst/>
              </a:prstGeom>
              <a:noFill/>
            </p:spPr>
            <p:txBody>
              <a:bodyPr wrap="square" lIns="0" tIns="0" rIns="0" bIns="0" anchor="t">
                <a:spAutoFit/>
              </a:bodyPr>
              <a:lstStyle/>
              <a:p>
                <a:r>
                  <a:rPr lang="en-US" sz="950" b="1">
                    <a:solidFill>
                      <a:srgbClr val="6B6B6B"/>
                    </a:solidFill>
                    <a:latin typeface="Calibri"/>
                  </a:rPr>
                  <a:t>COMMON GENES</a:t>
                </a:r>
                <a:endParaRPr lang="en-US"/>
              </a:p>
            </p:txBody>
          </p:sp>
          <p:sp>
            <p:nvSpPr>
              <p:cNvPr id="75" name="TextBox 74">
                <a:extLst>
                  <a:ext uri="{FF2B5EF4-FFF2-40B4-BE49-F238E27FC236}">
                    <a16:creationId xmlns:a16="http://schemas.microsoft.com/office/drawing/2014/main" id="{9B3AF772-5629-A37B-306A-B246B5ACE710}"/>
                  </a:ext>
                </a:extLst>
              </p:cNvPr>
              <p:cNvSpPr txBox="1"/>
              <p:nvPr/>
            </p:nvSpPr>
            <p:spPr>
              <a:xfrm>
                <a:off x="10576560" y="1793050"/>
                <a:ext cx="1155191" cy="230832"/>
              </a:xfrm>
              <a:prstGeom prst="rect">
                <a:avLst/>
              </a:prstGeom>
              <a:noFill/>
            </p:spPr>
            <p:txBody>
              <a:bodyPr wrap="square" lIns="0" tIns="0" rIns="0" bIns="0" anchor="ctr">
                <a:spAutoFit/>
              </a:bodyPr>
              <a:lstStyle/>
              <a:p>
                <a:pPr algn="l"/>
                <a:r>
                  <a:rPr lang="en-US" sz="1500" b="1">
                    <a:solidFill>
                      <a:srgbClr val="1B2A4A"/>
                    </a:solidFill>
                    <a:latin typeface="Calibri"/>
                    <a:ea typeface="Calibri"/>
                    <a:cs typeface="Calibri"/>
                  </a:rPr>
                  <a:t>19,757</a:t>
                </a:r>
              </a:p>
            </p:txBody>
          </p:sp>
          <p:sp>
            <p:nvSpPr>
              <p:cNvPr id="76" name="TextBox 75">
                <a:extLst>
                  <a:ext uri="{FF2B5EF4-FFF2-40B4-BE49-F238E27FC236}">
                    <a16:creationId xmlns:a16="http://schemas.microsoft.com/office/drawing/2014/main" id="{6C633B49-B631-431B-00EB-F48A1A21D393}"/>
                  </a:ext>
                </a:extLst>
              </p:cNvPr>
              <p:cNvSpPr txBox="1"/>
              <p:nvPr/>
            </p:nvSpPr>
            <p:spPr>
              <a:xfrm>
                <a:off x="10570703" y="2082901"/>
                <a:ext cx="1155191" cy="146194"/>
              </a:xfrm>
              <a:prstGeom prst="rect">
                <a:avLst/>
              </a:prstGeom>
              <a:noFill/>
            </p:spPr>
            <p:txBody>
              <a:bodyPr wrap="square" lIns="0" tIns="0" rIns="0" bIns="0" anchor="t">
                <a:spAutoFit/>
              </a:bodyPr>
              <a:lstStyle/>
              <a:p>
                <a:r>
                  <a:rPr lang="en-US" sz="950" err="1">
                    <a:solidFill>
                      <a:srgbClr val="6B6B6B"/>
                    </a:solidFill>
                    <a:latin typeface="Calibri"/>
                    <a:ea typeface="Calibri"/>
                    <a:cs typeface="Calibri"/>
                  </a:rPr>
                  <a:t>Harmonised</a:t>
                </a:r>
                <a:r>
                  <a:rPr lang="en-US" sz="950">
                    <a:solidFill>
                      <a:srgbClr val="6B6B6B"/>
                    </a:solidFill>
                    <a:latin typeface="Calibri"/>
                    <a:ea typeface="Calibri"/>
                    <a:cs typeface="Calibri"/>
                  </a:rPr>
                  <a:t> transcripts</a:t>
                </a:r>
                <a:endParaRPr lang="en-US"/>
              </a:p>
            </p:txBody>
          </p:sp>
        </p:grpSp>
        <p:grpSp>
          <p:nvGrpSpPr>
            <p:cNvPr id="84" name="Group 83">
              <a:extLst>
                <a:ext uri="{FF2B5EF4-FFF2-40B4-BE49-F238E27FC236}">
                  <a16:creationId xmlns:a16="http://schemas.microsoft.com/office/drawing/2014/main" id="{3FE6A924-F048-CB94-0B48-F6FFFAB08711}"/>
                </a:ext>
              </a:extLst>
            </p:cNvPr>
            <p:cNvGrpSpPr/>
            <p:nvPr/>
          </p:nvGrpSpPr>
          <p:grpSpPr>
            <a:xfrm>
              <a:off x="3076956" y="1597152"/>
              <a:ext cx="1795271" cy="777240"/>
              <a:chOff x="3547872" y="1511808"/>
              <a:chExt cx="1795271" cy="777240"/>
            </a:xfrm>
          </p:grpSpPr>
          <p:sp>
            <p:nvSpPr>
              <p:cNvPr id="79" name="Rounded Rectangle 13">
                <a:extLst>
                  <a:ext uri="{FF2B5EF4-FFF2-40B4-BE49-F238E27FC236}">
                    <a16:creationId xmlns:a16="http://schemas.microsoft.com/office/drawing/2014/main" id="{BCB670BE-476E-EE9F-259D-EBFEA202B483}"/>
                  </a:ext>
                </a:extLst>
              </p:cNvPr>
              <p:cNvSpPr/>
              <p:nvPr/>
            </p:nvSpPr>
            <p:spPr>
              <a:xfrm>
                <a:off x="3547872" y="1511808"/>
                <a:ext cx="1795271" cy="777240"/>
              </a:xfrm>
              <a:prstGeom prst="roundRect">
                <a:avLst>
                  <a:gd name="adj" fmla="val 12000"/>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0" name="Oval 79">
                <a:extLst>
                  <a:ext uri="{FF2B5EF4-FFF2-40B4-BE49-F238E27FC236}">
                    <a16:creationId xmlns:a16="http://schemas.microsoft.com/office/drawing/2014/main" id="{1AD8A2E9-43FC-683F-7BCC-BAA6E86D45CA}"/>
                  </a:ext>
                </a:extLst>
              </p:cNvPr>
              <p:cNvSpPr/>
              <p:nvPr/>
            </p:nvSpPr>
            <p:spPr>
              <a:xfrm>
                <a:off x="3657600" y="1726692"/>
                <a:ext cx="347472" cy="347472"/>
              </a:xfrm>
              <a:prstGeom prst="ellipse">
                <a:avLst/>
              </a:prstGeom>
              <a:solidFill>
                <a:srgbClr val="2A6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33805FC5-E31A-0E6D-6C8F-971841E380FC}"/>
                  </a:ext>
                </a:extLst>
              </p:cNvPr>
              <p:cNvSpPr txBox="1"/>
              <p:nvPr/>
            </p:nvSpPr>
            <p:spPr>
              <a:xfrm>
                <a:off x="4096512" y="1566672"/>
                <a:ext cx="1155191" cy="146194"/>
              </a:xfrm>
              <a:prstGeom prst="rect">
                <a:avLst/>
              </a:prstGeom>
              <a:noFill/>
            </p:spPr>
            <p:txBody>
              <a:bodyPr wrap="square" lIns="0" tIns="0" rIns="0" bIns="0" anchor="t">
                <a:spAutoFit/>
              </a:bodyPr>
              <a:lstStyle/>
              <a:p>
                <a:r>
                  <a:rPr lang="en-GB" sz="950" b="1">
                    <a:solidFill>
                      <a:srgbClr val="6B6B6B"/>
                    </a:solidFill>
                    <a:latin typeface="Calibri"/>
                    <a:ea typeface="Calibri"/>
                    <a:cs typeface="Calibri"/>
                  </a:rPr>
                  <a:t>RIAZ 2017 (</a:t>
                </a:r>
                <a:r>
                  <a:rPr lang="en-GB" sz="950" b="1" err="1">
                    <a:solidFill>
                      <a:srgbClr val="6B6B6B"/>
                    </a:solidFill>
                    <a:latin typeface="Calibri"/>
                    <a:ea typeface="Calibri"/>
                    <a:cs typeface="Calibri"/>
                  </a:rPr>
                  <a:t>iAtlas</a:t>
                </a:r>
                <a:r>
                  <a:rPr lang="en-GB" sz="950" b="1">
                    <a:solidFill>
                      <a:srgbClr val="6B6B6B"/>
                    </a:solidFill>
                    <a:latin typeface="Calibri"/>
                    <a:ea typeface="Calibri"/>
                    <a:cs typeface="Calibri"/>
                  </a:rPr>
                  <a:t>)</a:t>
                </a:r>
                <a:endParaRPr lang="en-US"/>
              </a:p>
            </p:txBody>
          </p:sp>
          <p:sp>
            <p:nvSpPr>
              <p:cNvPr id="82" name="TextBox 81">
                <a:extLst>
                  <a:ext uri="{FF2B5EF4-FFF2-40B4-BE49-F238E27FC236}">
                    <a16:creationId xmlns:a16="http://schemas.microsoft.com/office/drawing/2014/main" id="{ADBAA7C4-6E1F-6D09-DEE0-73E14F85D624}"/>
                  </a:ext>
                </a:extLst>
              </p:cNvPr>
              <p:cNvSpPr txBox="1"/>
              <p:nvPr/>
            </p:nvSpPr>
            <p:spPr>
              <a:xfrm>
                <a:off x="4096512" y="1750378"/>
                <a:ext cx="1155191" cy="230832"/>
              </a:xfrm>
              <a:prstGeom prst="rect">
                <a:avLst/>
              </a:prstGeom>
              <a:noFill/>
            </p:spPr>
            <p:txBody>
              <a:bodyPr wrap="square" lIns="0" tIns="0" rIns="0" bIns="0" anchor="ctr">
                <a:spAutoFit/>
              </a:bodyPr>
              <a:lstStyle/>
              <a:p>
                <a:r>
                  <a:rPr lang="en-GB" sz="1500" b="1">
                    <a:solidFill>
                      <a:srgbClr val="1B2A4A"/>
                    </a:solidFill>
                    <a:latin typeface="Calibri"/>
                    <a:ea typeface="Calibri"/>
                    <a:cs typeface="Calibri"/>
                  </a:rPr>
                  <a:t>N = 107</a:t>
                </a:r>
                <a:endParaRPr lang="en-GB" sz="1500" b="1" i="0">
                  <a:solidFill>
                    <a:srgbClr val="1B2A4A"/>
                  </a:solidFill>
                  <a:latin typeface="Calibri"/>
                  <a:ea typeface="Calibri"/>
                  <a:cs typeface="Calibri"/>
                </a:endParaRPr>
              </a:p>
            </p:txBody>
          </p:sp>
          <p:sp>
            <p:nvSpPr>
              <p:cNvPr id="83" name="TextBox 82">
                <a:extLst>
                  <a:ext uri="{FF2B5EF4-FFF2-40B4-BE49-F238E27FC236}">
                    <a16:creationId xmlns:a16="http://schemas.microsoft.com/office/drawing/2014/main" id="{17AC1C75-A1F5-B1DD-7539-9CF816FB057C}"/>
                  </a:ext>
                </a:extLst>
              </p:cNvPr>
              <p:cNvSpPr txBox="1"/>
              <p:nvPr/>
            </p:nvSpPr>
            <p:spPr>
              <a:xfrm>
                <a:off x="4093306" y="2040229"/>
                <a:ext cx="1155191" cy="146194"/>
              </a:xfrm>
              <a:prstGeom prst="rect">
                <a:avLst/>
              </a:prstGeom>
              <a:noFill/>
            </p:spPr>
            <p:txBody>
              <a:bodyPr wrap="square" lIns="0" tIns="0" rIns="0" bIns="0" anchor="t">
                <a:spAutoFit/>
              </a:bodyPr>
              <a:lstStyle/>
              <a:p>
                <a:r>
                  <a:rPr lang="en-US" sz="950">
                    <a:solidFill>
                      <a:srgbClr val="6B6B6B"/>
                    </a:solidFill>
                    <a:latin typeface="Calibri"/>
                  </a:rPr>
                  <a:t>Validation trial cohort</a:t>
                </a:r>
                <a:endParaRPr lang="en-US"/>
              </a:p>
            </p:txBody>
          </p:sp>
        </p:grpSp>
      </p:grpSp>
      <p:sp>
        <p:nvSpPr>
          <p:cNvPr id="88" name="TextBox 87">
            <a:extLst>
              <a:ext uri="{FF2B5EF4-FFF2-40B4-BE49-F238E27FC236}">
                <a16:creationId xmlns:a16="http://schemas.microsoft.com/office/drawing/2014/main" id="{FC4A6CAA-BB23-A01B-FF7B-4469F204D8D5}"/>
              </a:ext>
            </a:extLst>
          </p:cNvPr>
          <p:cNvSpPr txBox="1"/>
          <p:nvPr/>
        </p:nvSpPr>
        <p:spPr>
          <a:xfrm>
            <a:off x="7822932" y="2102911"/>
            <a:ext cx="1249903" cy="153888"/>
          </a:xfrm>
          <a:prstGeom prst="rect">
            <a:avLst/>
          </a:prstGeom>
          <a:noFill/>
        </p:spPr>
        <p:txBody>
          <a:bodyPr wrap="square" lIns="0" tIns="0" rIns="0" bIns="0" anchor="t">
            <a:spAutoFit/>
          </a:bodyPr>
          <a:lstStyle/>
          <a:p>
            <a:r>
              <a:rPr lang="en-US" sz="1000">
                <a:solidFill>
                  <a:srgbClr val="6B6B6B"/>
                </a:solidFill>
                <a:latin typeface="Calibri"/>
              </a:rPr>
              <a:t>N = 195 after cleaning</a:t>
            </a:r>
            <a:endParaRPr lang="en-US"/>
          </a:p>
        </p:txBody>
      </p:sp>
      <p:sp>
        <p:nvSpPr>
          <p:cNvPr id="30" name="TextBox 29">
            <a:extLst>
              <a:ext uri="{FF2B5EF4-FFF2-40B4-BE49-F238E27FC236}">
                <a16:creationId xmlns:a16="http://schemas.microsoft.com/office/drawing/2014/main" id="{D730AA98-97A2-CB3C-192C-775160617435}"/>
              </a:ext>
            </a:extLst>
          </p:cNvPr>
          <p:cNvSpPr txBox="1"/>
          <p:nvPr/>
        </p:nvSpPr>
        <p:spPr>
          <a:xfrm>
            <a:off x="932372" y="5688167"/>
            <a:ext cx="450008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800"/>
              <a:t>Ayers et al. 2017, Auslander et al. 2018, Rooney et al. 2015, Liu et al. 2019, Charoentong et al. 2017, </a:t>
            </a:r>
            <a:r>
              <a:rPr lang="en-GB" sz="800">
                <a:ea typeface="+mn-lt"/>
                <a:cs typeface="+mn-lt"/>
              </a:rPr>
              <a:t>Rukhlenko </a:t>
            </a:r>
            <a:r>
              <a:rPr lang="en-GB" sz="800"/>
              <a:t>2026 (private communication, M1/M2 STV, by email)</a:t>
            </a:r>
            <a:endParaRPr lang="en-US"/>
          </a:p>
          <a:p>
            <a:endParaRPr lang="en-GB" sz="800"/>
          </a:p>
        </p:txBody>
      </p:sp>
      <p:pic>
        <p:nvPicPr>
          <p:cNvPr id="36" name="Picture 35">
            <a:extLst>
              <a:ext uri="{FF2B5EF4-FFF2-40B4-BE49-F238E27FC236}">
                <a16:creationId xmlns:a16="http://schemas.microsoft.com/office/drawing/2014/main" id="{E3286FD2-DB3E-300D-2D96-E5378CC9BDA4}"/>
              </a:ext>
            </a:extLst>
          </p:cNvPr>
          <p:cNvPicPr>
            <a:picLocks noChangeAspect="1"/>
          </p:cNvPicPr>
          <p:nvPr/>
        </p:nvPicPr>
        <p:blipFill>
          <a:blip r:embed="rId3"/>
          <a:stretch>
            <a:fillRect/>
          </a:stretch>
        </p:blipFill>
        <p:spPr>
          <a:xfrm>
            <a:off x="7341046" y="2947358"/>
            <a:ext cx="4296022" cy="3200401"/>
          </a:xfrm>
          <a:prstGeom prst="rect">
            <a:avLst/>
          </a:prstGeom>
        </p:spPr>
      </p:pic>
    </p:spTree>
    <p:extLst>
      <p:ext uri="{BB962C8B-B14F-4D97-AF65-F5344CB8AC3E}">
        <p14:creationId xmlns:p14="http://schemas.microsoft.com/office/powerpoint/2010/main" val="3052710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5F67A7-F0AD-9D96-9860-F8709C23EA9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52227A1-2081-2B73-4AB0-61E5EFEF2FE8}"/>
              </a:ext>
            </a:extLst>
          </p:cNvPr>
          <p:cNvSpPr txBox="1"/>
          <p:nvPr/>
        </p:nvSpPr>
        <p:spPr>
          <a:xfrm>
            <a:off x="365760" y="256032"/>
            <a:ext cx="11430000" cy="415498"/>
          </a:xfrm>
          <a:prstGeom prst="rect">
            <a:avLst/>
          </a:prstGeom>
          <a:noFill/>
        </p:spPr>
        <p:txBody>
          <a:bodyPr wrap="square" lIns="0" tIns="0" rIns="0" bIns="0" anchor="t">
            <a:spAutoFit/>
          </a:bodyPr>
          <a:lstStyle/>
          <a:p>
            <a:r>
              <a:rPr lang="en-US" sz="2700" b="1">
                <a:solidFill>
                  <a:srgbClr val="1B2A4A"/>
                </a:solidFill>
                <a:latin typeface="Calibri"/>
              </a:rPr>
              <a:t>Model performance: LOCO validation with curated feature set</a:t>
            </a:r>
            <a:endParaRPr lang="en-US"/>
          </a:p>
        </p:txBody>
      </p:sp>
      <p:sp>
        <p:nvSpPr>
          <p:cNvPr id="3" name="Rectangle 2">
            <a:extLst>
              <a:ext uri="{FF2B5EF4-FFF2-40B4-BE49-F238E27FC236}">
                <a16:creationId xmlns:a16="http://schemas.microsoft.com/office/drawing/2014/main" id="{D8C0846C-E12E-4A9D-6A14-C442CA9EA72A}"/>
              </a:ext>
            </a:extLst>
          </p:cNvPr>
          <p:cNvSpPr/>
          <p:nvPr/>
        </p:nvSpPr>
        <p:spPr>
          <a:xfrm>
            <a:off x="365760" y="914400"/>
            <a:ext cx="1280160" cy="45720"/>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6EC50ECA-BD6B-42EF-CA4E-969C19BAF240}"/>
              </a:ext>
            </a:extLst>
          </p:cNvPr>
          <p:cNvSpPr txBox="1"/>
          <p:nvPr/>
        </p:nvSpPr>
        <p:spPr>
          <a:xfrm>
            <a:off x="365760" y="1005840"/>
            <a:ext cx="11430000" cy="184666"/>
          </a:xfrm>
          <a:prstGeom prst="rect">
            <a:avLst/>
          </a:prstGeom>
          <a:noFill/>
        </p:spPr>
        <p:txBody>
          <a:bodyPr wrap="square" lIns="0" tIns="0" rIns="0" bIns="0" anchor="t">
            <a:spAutoFit/>
          </a:bodyPr>
          <a:lstStyle/>
          <a:p>
            <a:r>
              <a:rPr lang="en-US" sz="1200">
                <a:solidFill>
                  <a:srgbClr val="6B6B6B"/>
                </a:solidFill>
                <a:ea typeface="+mn-lt"/>
                <a:cs typeface="+mn-lt"/>
              </a:rPr>
              <a:t>Leave-One-Cohort-Out (LOCO) evaluation simulates deployment to unseen clinical sites, assessing true model </a:t>
            </a:r>
            <a:r>
              <a:rPr lang="en-US" sz="1200" err="1">
                <a:solidFill>
                  <a:srgbClr val="6B6B6B"/>
                </a:solidFill>
                <a:ea typeface="+mn-lt"/>
                <a:cs typeface="+mn-lt"/>
              </a:rPr>
              <a:t>generalisability</a:t>
            </a:r>
            <a:r>
              <a:rPr lang="en-US" sz="1200">
                <a:solidFill>
                  <a:srgbClr val="6B6B6B"/>
                </a:solidFill>
                <a:ea typeface="+mn-lt"/>
                <a:cs typeface="+mn-lt"/>
              </a:rPr>
              <a:t> under real-world platform shifts</a:t>
            </a:r>
            <a:endParaRPr lang="en-US" sz="1200"/>
          </a:p>
        </p:txBody>
      </p:sp>
      <p:sp>
        <p:nvSpPr>
          <p:cNvPr id="5" name="Rectangle 4">
            <a:extLst>
              <a:ext uri="{FF2B5EF4-FFF2-40B4-BE49-F238E27FC236}">
                <a16:creationId xmlns:a16="http://schemas.microsoft.com/office/drawing/2014/main" id="{DB54195D-F137-DDD0-1042-5769722CDF21}"/>
              </a:ext>
            </a:extLst>
          </p:cNvPr>
          <p:cNvSpPr/>
          <p:nvPr/>
        </p:nvSpPr>
        <p:spPr>
          <a:xfrm>
            <a:off x="365760" y="1417320"/>
            <a:ext cx="11457432" cy="16459"/>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3" name="Group 32">
            <a:extLst>
              <a:ext uri="{FF2B5EF4-FFF2-40B4-BE49-F238E27FC236}">
                <a16:creationId xmlns:a16="http://schemas.microsoft.com/office/drawing/2014/main" id="{87D19D96-4A48-F884-5DB3-4EB06EB33925}"/>
              </a:ext>
            </a:extLst>
          </p:cNvPr>
          <p:cNvGrpSpPr/>
          <p:nvPr/>
        </p:nvGrpSpPr>
        <p:grpSpPr>
          <a:xfrm>
            <a:off x="365254" y="1615965"/>
            <a:ext cx="12947236" cy="384048"/>
            <a:chOff x="344233" y="2514599"/>
            <a:chExt cx="6422327" cy="384048"/>
          </a:xfrm>
        </p:grpSpPr>
        <p:sp>
          <p:nvSpPr>
            <p:cNvPr id="49" name="Rounded Rectangle 29">
              <a:extLst>
                <a:ext uri="{FF2B5EF4-FFF2-40B4-BE49-F238E27FC236}">
                  <a16:creationId xmlns:a16="http://schemas.microsoft.com/office/drawing/2014/main" id="{A1EF7607-56D7-0CAA-059B-18AAAE171899}"/>
                </a:ext>
              </a:extLst>
            </p:cNvPr>
            <p:cNvSpPr/>
            <p:nvPr/>
          </p:nvSpPr>
          <p:spPr>
            <a:xfrm>
              <a:off x="344233" y="2514599"/>
              <a:ext cx="5683917" cy="38404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r>
                <a:rPr lang="en-GB" sz="1300" b="1">
                  <a:latin typeface="Calibri"/>
                  <a:ea typeface="Calibri"/>
                  <a:cs typeface="Calibri"/>
                </a:rPr>
                <a:t>5-fold validation vs Leave-One-Cohort-Out</a:t>
              </a:r>
              <a:endParaRPr lang="en-US" sz="1300" b="1">
                <a:latin typeface="Calibri"/>
                <a:ea typeface="Calibri"/>
                <a:cs typeface="Calibri"/>
              </a:endParaRPr>
            </a:p>
          </p:txBody>
        </p:sp>
        <p:sp>
          <p:nvSpPr>
            <p:cNvPr id="31" name="TextBox 30">
              <a:extLst>
                <a:ext uri="{FF2B5EF4-FFF2-40B4-BE49-F238E27FC236}">
                  <a16:creationId xmlns:a16="http://schemas.microsoft.com/office/drawing/2014/main" id="{9324919A-0287-4131-EDAC-A9408B34D062}"/>
                </a:ext>
              </a:extLst>
            </p:cNvPr>
            <p:cNvSpPr txBox="1"/>
            <p:nvPr/>
          </p:nvSpPr>
          <p:spPr>
            <a:xfrm>
              <a:off x="548640" y="2606596"/>
              <a:ext cx="6217920" cy="200055"/>
            </a:xfrm>
            <a:prstGeom prst="rect">
              <a:avLst/>
            </a:prstGeom>
            <a:noFill/>
          </p:spPr>
          <p:txBody>
            <a:bodyPr wrap="square" lIns="0" tIns="0" rIns="0" bIns="0" anchor="ctr">
              <a:spAutoFit/>
            </a:bodyPr>
            <a:lstStyle/>
            <a:p>
              <a:endParaRPr lang="en-US" sz="1300">
                <a:solidFill>
                  <a:srgbClr val="FFFFFF"/>
                </a:solidFill>
                <a:latin typeface="Trade Gothic Next Light"/>
              </a:endParaRPr>
            </a:p>
          </p:txBody>
        </p:sp>
      </p:grpSp>
      <p:sp>
        <p:nvSpPr>
          <p:cNvPr id="8" name="Rounded Rectangle 37">
            <a:extLst>
              <a:ext uri="{FF2B5EF4-FFF2-40B4-BE49-F238E27FC236}">
                <a16:creationId xmlns:a16="http://schemas.microsoft.com/office/drawing/2014/main" id="{F8D52CE7-D8AD-568B-E3EE-00432F16B5C3}"/>
              </a:ext>
            </a:extLst>
          </p:cNvPr>
          <p:cNvSpPr/>
          <p:nvPr/>
        </p:nvSpPr>
        <p:spPr>
          <a:xfrm>
            <a:off x="6326" y="6216771"/>
            <a:ext cx="12190677" cy="6466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a:p>
        </p:txBody>
      </p:sp>
      <p:sp>
        <p:nvSpPr>
          <p:cNvPr id="39" name="Oval 38">
            <a:extLst>
              <a:ext uri="{FF2B5EF4-FFF2-40B4-BE49-F238E27FC236}">
                <a16:creationId xmlns:a16="http://schemas.microsoft.com/office/drawing/2014/main" id="{1A929B9E-27E5-A2C6-CEDD-3E1E4899D465}"/>
              </a:ext>
            </a:extLst>
          </p:cNvPr>
          <p:cNvSpPr/>
          <p:nvPr/>
        </p:nvSpPr>
        <p:spPr>
          <a:xfrm>
            <a:off x="217961" y="6460466"/>
            <a:ext cx="274320" cy="274320"/>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3C7F21B1-54FB-0B27-BA47-3D3C035E867E}"/>
              </a:ext>
            </a:extLst>
          </p:cNvPr>
          <p:cNvSpPr txBox="1"/>
          <p:nvPr/>
        </p:nvSpPr>
        <p:spPr>
          <a:xfrm>
            <a:off x="496757" y="6322141"/>
            <a:ext cx="11334464" cy="5693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300" b="1">
                <a:solidFill>
                  <a:srgbClr val="FFFFFF"/>
                </a:solidFill>
              </a:rPr>
              <a:t>Takeaway: </a:t>
            </a:r>
            <a:r>
              <a:rPr lang="en-GB" sz="1300">
                <a:solidFill>
                  <a:srgbClr val="FFFFFF"/>
                </a:solidFill>
              </a:rPr>
              <a:t>LOCO evaluation reveals real-world performance limits, showing that SVM  and </a:t>
            </a:r>
            <a:r>
              <a:rPr lang="en-GB" sz="1300" err="1">
                <a:solidFill>
                  <a:srgbClr val="FFFFFF"/>
                </a:solidFill>
              </a:rPr>
              <a:t>ElasticNet</a:t>
            </a:r>
            <a:r>
              <a:rPr lang="en-GB" sz="1300">
                <a:solidFill>
                  <a:srgbClr val="FFFFFF"/>
                </a:solidFill>
              </a:rPr>
              <a:t> are the most resilient models across unseen datasets.</a:t>
            </a:r>
            <a:endParaRPr lang="en-US" sz="1300"/>
          </a:p>
          <a:p>
            <a:pPr algn="l"/>
            <a:endParaRPr lang="en-US"/>
          </a:p>
        </p:txBody>
      </p:sp>
      <p:pic>
        <p:nvPicPr>
          <p:cNvPr id="12" name="Picture 11">
            <a:extLst>
              <a:ext uri="{FF2B5EF4-FFF2-40B4-BE49-F238E27FC236}">
                <a16:creationId xmlns:a16="http://schemas.microsoft.com/office/drawing/2014/main" id="{3DCBC780-FC5A-2758-F5A4-202B2F43332F}"/>
              </a:ext>
            </a:extLst>
          </p:cNvPr>
          <p:cNvPicPr>
            <a:picLocks noChangeAspect="1"/>
          </p:cNvPicPr>
          <p:nvPr/>
        </p:nvPicPr>
        <p:blipFill>
          <a:blip r:embed="rId3"/>
          <a:stretch>
            <a:fillRect/>
          </a:stretch>
        </p:blipFill>
        <p:spPr>
          <a:xfrm>
            <a:off x="361265" y="2329132"/>
            <a:ext cx="5324587" cy="3200401"/>
          </a:xfrm>
          <a:prstGeom prst="rect">
            <a:avLst/>
          </a:prstGeom>
        </p:spPr>
      </p:pic>
      <p:pic>
        <p:nvPicPr>
          <p:cNvPr id="14" name="Picture 13">
            <a:extLst>
              <a:ext uri="{FF2B5EF4-FFF2-40B4-BE49-F238E27FC236}">
                <a16:creationId xmlns:a16="http://schemas.microsoft.com/office/drawing/2014/main" id="{EC9F4500-1BBA-190E-E661-57EC9D48F30E}"/>
              </a:ext>
            </a:extLst>
          </p:cNvPr>
          <p:cNvPicPr>
            <a:picLocks noChangeAspect="1"/>
          </p:cNvPicPr>
          <p:nvPr/>
        </p:nvPicPr>
        <p:blipFill>
          <a:blip r:embed="rId4"/>
          <a:stretch>
            <a:fillRect/>
          </a:stretch>
        </p:blipFill>
        <p:spPr>
          <a:xfrm>
            <a:off x="6414895" y="2372264"/>
            <a:ext cx="5371946" cy="3200401"/>
          </a:xfrm>
          <a:prstGeom prst="rect">
            <a:avLst/>
          </a:prstGeom>
        </p:spPr>
      </p:pic>
      <p:grpSp>
        <p:nvGrpSpPr>
          <p:cNvPr id="16" name="Group 15">
            <a:extLst>
              <a:ext uri="{FF2B5EF4-FFF2-40B4-BE49-F238E27FC236}">
                <a16:creationId xmlns:a16="http://schemas.microsoft.com/office/drawing/2014/main" id="{E8E35B0F-FAF5-4084-D15D-D86B0E3083B1}"/>
              </a:ext>
            </a:extLst>
          </p:cNvPr>
          <p:cNvGrpSpPr/>
          <p:nvPr/>
        </p:nvGrpSpPr>
        <p:grpSpPr>
          <a:xfrm>
            <a:off x="4259214" y="2507622"/>
            <a:ext cx="2170506" cy="2939231"/>
            <a:chOff x="4259214" y="2507622"/>
            <a:chExt cx="2170506" cy="2939231"/>
          </a:xfrm>
        </p:grpSpPr>
        <p:sp>
          <p:nvSpPr>
            <p:cNvPr id="13" name="Rectangle: Rounded Corners 12">
              <a:extLst>
                <a:ext uri="{FF2B5EF4-FFF2-40B4-BE49-F238E27FC236}">
                  <a16:creationId xmlns:a16="http://schemas.microsoft.com/office/drawing/2014/main" id="{1B1170FF-4964-8712-8CB7-6B93F5FC94C3}"/>
                </a:ext>
              </a:extLst>
            </p:cNvPr>
            <p:cNvSpPr/>
            <p:nvPr/>
          </p:nvSpPr>
          <p:spPr>
            <a:xfrm>
              <a:off x="4259214" y="2507622"/>
              <a:ext cx="862136" cy="2939231"/>
            </a:xfrm>
            <a:prstGeom prst="round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Arrow: Right 14">
              <a:extLst>
                <a:ext uri="{FF2B5EF4-FFF2-40B4-BE49-F238E27FC236}">
                  <a16:creationId xmlns:a16="http://schemas.microsoft.com/office/drawing/2014/main" id="{08707034-71B9-9DE9-0D9F-102E4A5A0884}"/>
                </a:ext>
              </a:extLst>
            </p:cNvPr>
            <p:cNvSpPr/>
            <p:nvPr/>
          </p:nvSpPr>
          <p:spPr>
            <a:xfrm>
              <a:off x="5128014" y="3643242"/>
              <a:ext cx="1301706" cy="356495"/>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469265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1E3177-C02F-FFC3-F5B1-C4F925C21F1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EACE43F-BCF6-6CBD-B24A-5784D454025D}"/>
              </a:ext>
            </a:extLst>
          </p:cNvPr>
          <p:cNvPicPr>
            <a:picLocks noChangeAspect="1"/>
          </p:cNvPicPr>
          <p:nvPr/>
        </p:nvPicPr>
        <p:blipFill>
          <a:blip r:embed="rId3"/>
          <a:stretch>
            <a:fillRect/>
          </a:stretch>
        </p:blipFill>
        <p:spPr>
          <a:xfrm>
            <a:off x="1910080" y="1817369"/>
            <a:ext cx="7752080" cy="4371342"/>
          </a:xfrm>
          <a:prstGeom prst="rect">
            <a:avLst/>
          </a:prstGeom>
        </p:spPr>
      </p:pic>
      <p:sp>
        <p:nvSpPr>
          <p:cNvPr id="2" name="TextBox 1">
            <a:extLst>
              <a:ext uri="{FF2B5EF4-FFF2-40B4-BE49-F238E27FC236}">
                <a16:creationId xmlns:a16="http://schemas.microsoft.com/office/drawing/2014/main" id="{4570B0F0-002D-38D2-FB83-93CCC7EFA842}"/>
              </a:ext>
            </a:extLst>
          </p:cNvPr>
          <p:cNvSpPr txBox="1"/>
          <p:nvPr/>
        </p:nvSpPr>
        <p:spPr>
          <a:xfrm>
            <a:off x="365760" y="256032"/>
            <a:ext cx="11430000" cy="415498"/>
          </a:xfrm>
          <a:prstGeom prst="rect">
            <a:avLst/>
          </a:prstGeom>
          <a:noFill/>
        </p:spPr>
        <p:txBody>
          <a:bodyPr wrap="square" lIns="0" tIns="0" rIns="0" bIns="0" anchor="t">
            <a:spAutoFit/>
          </a:bodyPr>
          <a:lstStyle/>
          <a:p>
            <a:r>
              <a:rPr lang="en-US" sz="2700" b="1">
                <a:solidFill>
                  <a:srgbClr val="1B2A4A"/>
                </a:solidFill>
                <a:latin typeface="Calibri"/>
                <a:ea typeface="Calibri"/>
                <a:cs typeface="Calibri"/>
              </a:rPr>
              <a:t>Do our cohorts cluster?</a:t>
            </a:r>
          </a:p>
        </p:txBody>
      </p:sp>
      <p:sp>
        <p:nvSpPr>
          <p:cNvPr id="3" name="Rectangle 2">
            <a:extLst>
              <a:ext uri="{FF2B5EF4-FFF2-40B4-BE49-F238E27FC236}">
                <a16:creationId xmlns:a16="http://schemas.microsoft.com/office/drawing/2014/main" id="{0FA813DC-620E-1EB9-2959-4D24A57FF13E}"/>
              </a:ext>
            </a:extLst>
          </p:cNvPr>
          <p:cNvSpPr/>
          <p:nvPr/>
        </p:nvSpPr>
        <p:spPr>
          <a:xfrm>
            <a:off x="365760" y="914400"/>
            <a:ext cx="1280160" cy="45720"/>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D2314E0-986A-4011-32D2-21FB56F86ABE}"/>
              </a:ext>
            </a:extLst>
          </p:cNvPr>
          <p:cNvSpPr txBox="1"/>
          <p:nvPr/>
        </p:nvSpPr>
        <p:spPr>
          <a:xfrm>
            <a:off x="365760" y="1005840"/>
            <a:ext cx="11430000" cy="184666"/>
          </a:xfrm>
          <a:prstGeom prst="rect">
            <a:avLst/>
          </a:prstGeom>
          <a:noFill/>
        </p:spPr>
        <p:txBody>
          <a:bodyPr wrap="square" lIns="0" tIns="0" rIns="0" bIns="0" anchor="t">
            <a:spAutoFit/>
          </a:bodyPr>
          <a:lstStyle/>
          <a:p>
            <a:r>
              <a:rPr lang="en-US" sz="1200">
                <a:solidFill>
                  <a:srgbClr val="6B6B6B"/>
                </a:solidFill>
                <a:ea typeface="+mn-lt"/>
                <a:cs typeface="+mn-lt"/>
              </a:rPr>
              <a:t>Does applying a two-stage unsupervised Gaussian Mixture Model (GMM) stratification to the anti-PD-1 ICI trial cohorts reveal any natural clustering?</a:t>
            </a:r>
            <a:endParaRPr lang="en-US"/>
          </a:p>
        </p:txBody>
      </p:sp>
      <p:sp>
        <p:nvSpPr>
          <p:cNvPr id="8" name="Rounded Rectangle 37">
            <a:extLst>
              <a:ext uri="{FF2B5EF4-FFF2-40B4-BE49-F238E27FC236}">
                <a16:creationId xmlns:a16="http://schemas.microsoft.com/office/drawing/2014/main" id="{1B711619-20DF-058C-5D0B-64A718A60FDA}"/>
              </a:ext>
            </a:extLst>
          </p:cNvPr>
          <p:cNvSpPr/>
          <p:nvPr/>
        </p:nvSpPr>
        <p:spPr>
          <a:xfrm>
            <a:off x="6326" y="6216771"/>
            <a:ext cx="12190677" cy="6466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a:p>
        </p:txBody>
      </p:sp>
      <p:grpSp>
        <p:nvGrpSpPr>
          <p:cNvPr id="7" name="Group 6">
            <a:extLst>
              <a:ext uri="{FF2B5EF4-FFF2-40B4-BE49-F238E27FC236}">
                <a16:creationId xmlns:a16="http://schemas.microsoft.com/office/drawing/2014/main" id="{BB34D8CB-4B45-C6F7-594A-9452D50C36B6}"/>
              </a:ext>
            </a:extLst>
          </p:cNvPr>
          <p:cNvGrpSpPr/>
          <p:nvPr/>
        </p:nvGrpSpPr>
        <p:grpSpPr>
          <a:xfrm>
            <a:off x="365254" y="1417320"/>
            <a:ext cx="11458622" cy="582693"/>
            <a:chOff x="365254" y="1417320"/>
            <a:chExt cx="11458622" cy="582693"/>
          </a:xfrm>
        </p:grpSpPr>
        <p:sp>
          <p:nvSpPr>
            <p:cNvPr id="5" name="Rectangle 4">
              <a:extLst>
                <a:ext uri="{FF2B5EF4-FFF2-40B4-BE49-F238E27FC236}">
                  <a16:creationId xmlns:a16="http://schemas.microsoft.com/office/drawing/2014/main" id="{B07C9790-2026-ADB2-4358-06D67F838A5B}"/>
                </a:ext>
              </a:extLst>
            </p:cNvPr>
            <p:cNvSpPr/>
            <p:nvPr/>
          </p:nvSpPr>
          <p:spPr>
            <a:xfrm>
              <a:off x="365760" y="1417320"/>
              <a:ext cx="11457432" cy="16459"/>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29">
              <a:extLst>
                <a:ext uri="{FF2B5EF4-FFF2-40B4-BE49-F238E27FC236}">
                  <a16:creationId xmlns:a16="http://schemas.microsoft.com/office/drawing/2014/main" id="{DD379276-EFC0-AE85-138B-875B3C6BC08D}"/>
                </a:ext>
              </a:extLst>
            </p:cNvPr>
            <p:cNvSpPr/>
            <p:nvPr/>
          </p:nvSpPr>
          <p:spPr>
            <a:xfrm>
              <a:off x="365254" y="1615965"/>
              <a:ext cx="11458622" cy="38404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r>
                <a:rPr lang="en-GB" sz="1600" b="1">
                  <a:latin typeface="Calibri"/>
                  <a:ea typeface="Calibri"/>
                  <a:cs typeface="Calibri"/>
                </a:rPr>
                <a:t>2D t-SNE projection of patient subtypes (ICI cohorts, N = 256)</a:t>
              </a:r>
              <a:endParaRPr lang="en-US" sz="1600" b="1">
                <a:latin typeface="Calibri"/>
                <a:ea typeface="Calibri"/>
                <a:cs typeface="Calibri"/>
              </a:endParaRPr>
            </a:p>
          </p:txBody>
        </p:sp>
      </p:grpSp>
      <p:sp>
        <p:nvSpPr>
          <p:cNvPr id="39" name="Oval 38">
            <a:extLst>
              <a:ext uri="{FF2B5EF4-FFF2-40B4-BE49-F238E27FC236}">
                <a16:creationId xmlns:a16="http://schemas.microsoft.com/office/drawing/2014/main" id="{7E58C8FA-D0C3-150E-4C4B-8D98A305FECF}"/>
              </a:ext>
            </a:extLst>
          </p:cNvPr>
          <p:cNvSpPr/>
          <p:nvPr/>
        </p:nvSpPr>
        <p:spPr>
          <a:xfrm>
            <a:off x="217961" y="6460466"/>
            <a:ext cx="274320" cy="274320"/>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A6E22589-1584-E268-9319-613880AA81A2}"/>
              </a:ext>
            </a:extLst>
          </p:cNvPr>
          <p:cNvSpPr txBox="1"/>
          <p:nvPr/>
        </p:nvSpPr>
        <p:spPr>
          <a:xfrm>
            <a:off x="496757" y="6322141"/>
            <a:ext cx="11334464"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300" b="1">
                <a:solidFill>
                  <a:srgbClr val="FFFFFF"/>
                </a:solidFill>
              </a:rPr>
              <a:t>Takeaway: </a:t>
            </a:r>
            <a:r>
              <a:rPr lang="en-GB" sz="1300">
                <a:solidFill>
                  <a:srgbClr val="FFFFFF"/>
                </a:solidFill>
              </a:rPr>
              <a:t>Yes, our data clusters naturally into 4 groups: immune hot, immune cold, mutant-driven, and immunosuppressive M2 High</a:t>
            </a:r>
            <a:endParaRPr lang="en-US" sz="1300"/>
          </a:p>
        </p:txBody>
      </p:sp>
    </p:spTree>
    <p:extLst>
      <p:ext uri="{BB962C8B-B14F-4D97-AF65-F5344CB8AC3E}">
        <p14:creationId xmlns:p14="http://schemas.microsoft.com/office/powerpoint/2010/main" val="41590246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D69D9F-2985-439E-B2F7-7601C16191DA}"/>
            </a:ext>
          </a:extLst>
        </p:cNvPr>
        <p:cNvGrpSpPr/>
        <p:nvPr/>
      </p:nvGrpSpPr>
      <p:grpSpPr>
        <a:xfrm>
          <a:off x="0" y="0"/>
          <a:ext cx="0" cy="0"/>
          <a:chOff x="0" y="0"/>
          <a:chExt cx="0" cy="0"/>
        </a:xfrm>
      </p:grpSpPr>
      <p:sp>
        <p:nvSpPr>
          <p:cNvPr id="43" name="Rectangle 42">
            <a:extLst>
              <a:ext uri="{FF2B5EF4-FFF2-40B4-BE49-F238E27FC236}">
                <a16:creationId xmlns:a16="http://schemas.microsoft.com/office/drawing/2014/main" id="{A3BFA32E-2EA8-D7ED-652E-B51E7D6EF4CD}"/>
              </a:ext>
            </a:extLst>
          </p:cNvPr>
          <p:cNvSpPr/>
          <p:nvPr/>
        </p:nvSpPr>
        <p:spPr>
          <a:xfrm>
            <a:off x="365759" y="1901115"/>
            <a:ext cx="11458847" cy="3850994"/>
          </a:xfrm>
          <a:prstGeom prst="rect">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a:extLst>
              <a:ext uri="{FF2B5EF4-FFF2-40B4-BE49-F238E27FC236}">
                <a16:creationId xmlns:a16="http://schemas.microsoft.com/office/drawing/2014/main" id="{7E3EB385-55FB-66BF-2F56-91B4B057ED55}"/>
              </a:ext>
            </a:extLst>
          </p:cNvPr>
          <p:cNvSpPr txBox="1"/>
          <p:nvPr/>
        </p:nvSpPr>
        <p:spPr>
          <a:xfrm>
            <a:off x="365760" y="256032"/>
            <a:ext cx="11430000" cy="415498"/>
          </a:xfrm>
          <a:prstGeom prst="rect">
            <a:avLst/>
          </a:prstGeom>
          <a:noFill/>
        </p:spPr>
        <p:txBody>
          <a:bodyPr wrap="square" lIns="0" tIns="0" rIns="0" bIns="0" anchor="t">
            <a:spAutoFit/>
          </a:bodyPr>
          <a:lstStyle/>
          <a:p>
            <a:r>
              <a:rPr lang="en-US" sz="2700" b="1">
                <a:solidFill>
                  <a:srgbClr val="1B2A4A"/>
                </a:solidFill>
                <a:latin typeface="Calibri"/>
              </a:rPr>
              <a:t>Final Q1 Model Evaluation</a:t>
            </a:r>
            <a:endParaRPr lang="en-US"/>
          </a:p>
        </p:txBody>
      </p:sp>
      <p:sp>
        <p:nvSpPr>
          <p:cNvPr id="3" name="Rectangle 2">
            <a:extLst>
              <a:ext uri="{FF2B5EF4-FFF2-40B4-BE49-F238E27FC236}">
                <a16:creationId xmlns:a16="http://schemas.microsoft.com/office/drawing/2014/main" id="{BB4981DB-5E88-88A2-387E-4479A7E61125}"/>
              </a:ext>
            </a:extLst>
          </p:cNvPr>
          <p:cNvSpPr/>
          <p:nvPr/>
        </p:nvSpPr>
        <p:spPr>
          <a:xfrm>
            <a:off x="365760" y="914400"/>
            <a:ext cx="1280160" cy="45720"/>
          </a:xfrm>
          <a:prstGeom prst="rect">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38FD1C13-6139-1596-A575-D55FCC57AB4E}"/>
              </a:ext>
            </a:extLst>
          </p:cNvPr>
          <p:cNvSpPr txBox="1"/>
          <p:nvPr/>
        </p:nvSpPr>
        <p:spPr>
          <a:xfrm>
            <a:off x="365760" y="1005840"/>
            <a:ext cx="11430000" cy="877163"/>
          </a:xfrm>
          <a:prstGeom prst="rect">
            <a:avLst/>
          </a:prstGeom>
          <a:noFill/>
        </p:spPr>
        <p:txBody>
          <a:bodyPr wrap="square" lIns="0" tIns="0" rIns="0" bIns="0" anchor="t">
            <a:spAutoFit/>
          </a:bodyPr>
          <a:lstStyle/>
          <a:p>
            <a:r>
              <a:rPr lang="en-US" sz="1300">
                <a:solidFill>
                  <a:srgbClr val="6B6B6B"/>
                </a:solidFill>
                <a:ea typeface="+mn-lt"/>
                <a:cs typeface="+mn-lt"/>
              </a:rPr>
              <a:t>Balancing predictive accuracy and clinical explainability identifies Support Vector Machines and </a:t>
            </a:r>
            <a:r>
              <a:rPr lang="en-US" sz="1300" err="1">
                <a:solidFill>
                  <a:srgbClr val="6B6B6B"/>
                </a:solidFill>
                <a:ea typeface="+mn-lt"/>
                <a:cs typeface="+mn-lt"/>
              </a:rPr>
              <a:t>regularised</a:t>
            </a:r>
            <a:r>
              <a:rPr lang="en-US" sz="1300">
                <a:solidFill>
                  <a:srgbClr val="6B6B6B"/>
                </a:solidFill>
                <a:ea typeface="+mn-lt"/>
                <a:cs typeface="+mn-lt"/>
              </a:rPr>
              <a:t> linear models as superior to complex tree ensembles for out-of-cohort response prediction</a:t>
            </a:r>
            <a:endParaRPr lang="en-US"/>
          </a:p>
          <a:p>
            <a:endParaRPr lang="en-US"/>
          </a:p>
          <a:p>
            <a:endParaRPr lang="en-US" sz="1300" i="1">
              <a:solidFill>
                <a:srgbClr val="6B6B6B"/>
              </a:solidFill>
              <a:latin typeface="Calibri"/>
              <a:ea typeface="Calibri"/>
              <a:cs typeface="Calibri"/>
            </a:endParaRPr>
          </a:p>
        </p:txBody>
      </p:sp>
      <p:sp>
        <p:nvSpPr>
          <p:cNvPr id="5" name="Rectangle 4">
            <a:extLst>
              <a:ext uri="{FF2B5EF4-FFF2-40B4-BE49-F238E27FC236}">
                <a16:creationId xmlns:a16="http://schemas.microsoft.com/office/drawing/2014/main" id="{8FABA9D4-DC82-E241-3EC5-B9B47493BF64}"/>
              </a:ext>
            </a:extLst>
          </p:cNvPr>
          <p:cNvSpPr/>
          <p:nvPr/>
        </p:nvSpPr>
        <p:spPr>
          <a:xfrm>
            <a:off x="365760" y="1417320"/>
            <a:ext cx="11457432" cy="16459"/>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33" name="Group 32">
            <a:extLst>
              <a:ext uri="{FF2B5EF4-FFF2-40B4-BE49-F238E27FC236}">
                <a16:creationId xmlns:a16="http://schemas.microsoft.com/office/drawing/2014/main" id="{B7871AAA-9863-C809-D292-98AB115EFEB9}"/>
              </a:ext>
            </a:extLst>
          </p:cNvPr>
          <p:cNvGrpSpPr/>
          <p:nvPr/>
        </p:nvGrpSpPr>
        <p:grpSpPr>
          <a:xfrm>
            <a:off x="365254" y="1615965"/>
            <a:ext cx="11459351" cy="384048"/>
            <a:chOff x="344233" y="2514599"/>
            <a:chExt cx="11459351" cy="384048"/>
          </a:xfrm>
        </p:grpSpPr>
        <p:sp>
          <p:nvSpPr>
            <p:cNvPr id="49" name="Rounded Rectangle 29">
              <a:extLst>
                <a:ext uri="{FF2B5EF4-FFF2-40B4-BE49-F238E27FC236}">
                  <a16:creationId xmlns:a16="http://schemas.microsoft.com/office/drawing/2014/main" id="{98138FD4-E93E-2341-FD5D-ACEE1DCCA180}"/>
                </a:ext>
              </a:extLst>
            </p:cNvPr>
            <p:cNvSpPr/>
            <p:nvPr/>
          </p:nvSpPr>
          <p:spPr>
            <a:xfrm>
              <a:off x="344233" y="2514599"/>
              <a:ext cx="11459351" cy="384048"/>
            </a:xfrm>
            <a:prstGeom prst="roundRect">
              <a:avLst>
                <a:gd name="adj" fmla="val 15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a:extLst>
                <a:ext uri="{FF2B5EF4-FFF2-40B4-BE49-F238E27FC236}">
                  <a16:creationId xmlns:a16="http://schemas.microsoft.com/office/drawing/2014/main" id="{2C0C999A-07DA-005A-6191-B80C932AACBE}"/>
                </a:ext>
              </a:extLst>
            </p:cNvPr>
            <p:cNvSpPr txBox="1"/>
            <p:nvPr/>
          </p:nvSpPr>
          <p:spPr>
            <a:xfrm>
              <a:off x="548640" y="2606596"/>
              <a:ext cx="6217920" cy="200055"/>
            </a:xfrm>
            <a:prstGeom prst="rect">
              <a:avLst/>
            </a:prstGeom>
            <a:noFill/>
          </p:spPr>
          <p:txBody>
            <a:bodyPr wrap="square" lIns="0" tIns="0" rIns="0" bIns="0" anchor="ctr">
              <a:spAutoFit/>
            </a:bodyPr>
            <a:lstStyle/>
            <a:p>
              <a:r>
                <a:rPr lang="en-US" sz="1300">
                  <a:solidFill>
                    <a:srgbClr val="FFFFFF"/>
                  </a:solidFill>
                  <a:ea typeface="+mn-lt"/>
                  <a:cs typeface="+mn-lt"/>
                </a:rPr>
                <a:t>Q1 Model Benchmarking: Accuracy, Generalisability &amp; Explainability</a:t>
              </a:r>
              <a:endParaRPr lang="en-US"/>
            </a:p>
          </p:txBody>
        </p:sp>
      </p:grpSp>
      <p:sp>
        <p:nvSpPr>
          <p:cNvPr id="38" name="Rounded Rectangle 37">
            <a:extLst>
              <a:ext uri="{FF2B5EF4-FFF2-40B4-BE49-F238E27FC236}">
                <a16:creationId xmlns:a16="http://schemas.microsoft.com/office/drawing/2014/main" id="{73133C68-7EC8-0997-BEAB-01599BF3FEE9}"/>
              </a:ext>
            </a:extLst>
          </p:cNvPr>
          <p:cNvSpPr/>
          <p:nvPr/>
        </p:nvSpPr>
        <p:spPr>
          <a:xfrm>
            <a:off x="6326" y="6331789"/>
            <a:ext cx="12190677" cy="53167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a:extLst>
              <a:ext uri="{FF2B5EF4-FFF2-40B4-BE49-F238E27FC236}">
                <a16:creationId xmlns:a16="http://schemas.microsoft.com/office/drawing/2014/main" id="{2983FFA7-4709-2C2C-8DA9-443C6E7A8CCA}"/>
              </a:ext>
            </a:extLst>
          </p:cNvPr>
          <p:cNvSpPr/>
          <p:nvPr/>
        </p:nvSpPr>
        <p:spPr>
          <a:xfrm>
            <a:off x="232338" y="6460466"/>
            <a:ext cx="274320" cy="274320"/>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F1ACE01A-DA63-B9D5-E1D3-183FC0FD5DDB}"/>
              </a:ext>
            </a:extLst>
          </p:cNvPr>
          <p:cNvSpPr txBox="1"/>
          <p:nvPr/>
        </p:nvSpPr>
        <p:spPr>
          <a:xfrm>
            <a:off x="730083" y="6359099"/>
            <a:ext cx="11460479" cy="477054"/>
          </a:xfrm>
          <a:prstGeom prst="rect">
            <a:avLst/>
          </a:prstGeom>
          <a:noFill/>
        </p:spPr>
        <p:txBody>
          <a:bodyPr wrap="square" lIns="0" tIns="45720" rIns="91440" bIns="45720" anchor="ctr">
            <a:spAutoFit/>
          </a:bodyPr>
          <a:lstStyle/>
          <a:p>
            <a:r>
              <a:rPr sz="1250" b="1">
                <a:solidFill>
                  <a:srgbClr val="FFFFFF"/>
                </a:solidFill>
              </a:rPr>
              <a:t>Takeaway: </a:t>
            </a:r>
            <a:r>
              <a:rPr lang="en-US" sz="1250">
                <a:solidFill>
                  <a:srgbClr val="FFFFFF"/>
                </a:solidFill>
                <a:ea typeface="+mn-lt"/>
                <a:cs typeface="+mn-lt"/>
              </a:rPr>
              <a:t>SVM delivers peak cross-cohort </a:t>
            </a:r>
            <a:r>
              <a:rPr lang="en-US" sz="1250" err="1">
                <a:solidFill>
                  <a:srgbClr val="FFFFFF"/>
                </a:solidFill>
                <a:ea typeface="+mn-lt"/>
                <a:cs typeface="+mn-lt"/>
              </a:rPr>
              <a:t>generalisability</a:t>
            </a:r>
            <a:r>
              <a:rPr lang="en-US" sz="1250">
                <a:solidFill>
                  <a:srgbClr val="FFFFFF"/>
                </a:solidFill>
                <a:ea typeface="+mn-lt"/>
                <a:cs typeface="+mn-lt"/>
              </a:rPr>
              <a:t> (AUC = 0.684 / 0.685), while </a:t>
            </a:r>
            <a:r>
              <a:rPr lang="en-US" sz="1250" err="1">
                <a:solidFill>
                  <a:srgbClr val="FFFFFF"/>
                </a:solidFill>
                <a:ea typeface="+mn-lt"/>
                <a:cs typeface="+mn-lt"/>
              </a:rPr>
              <a:t>ElasticNet</a:t>
            </a:r>
            <a:r>
              <a:rPr lang="en-US" sz="1250">
                <a:solidFill>
                  <a:srgbClr val="FFFFFF"/>
                </a:solidFill>
                <a:ea typeface="+mn-lt"/>
                <a:cs typeface="+mn-lt"/>
              </a:rPr>
              <a:t> offers the highest clinical interpretability with stable out-of-cohort performance.</a:t>
            </a:r>
            <a:endParaRPr lang="en-GB" sz="1250" b="1">
              <a:solidFill>
                <a:srgbClr val="FFFFFF"/>
              </a:solidFill>
            </a:endParaRPr>
          </a:p>
        </p:txBody>
      </p:sp>
      <p:graphicFrame>
        <p:nvGraphicFramePr>
          <p:cNvPr id="6" name="Table 5">
            <a:extLst>
              <a:ext uri="{FF2B5EF4-FFF2-40B4-BE49-F238E27FC236}">
                <a16:creationId xmlns:a16="http://schemas.microsoft.com/office/drawing/2014/main" id="{82C4E488-2C04-B842-CA92-33FB22BE501A}"/>
              </a:ext>
            </a:extLst>
          </p:cNvPr>
          <p:cNvGraphicFramePr>
            <a:graphicFrameLocks noGrp="1"/>
          </p:cNvGraphicFramePr>
          <p:nvPr>
            <p:extLst>
              <p:ext uri="{D42A27DB-BD31-4B8C-83A1-F6EECF244321}">
                <p14:modId xmlns:p14="http://schemas.microsoft.com/office/powerpoint/2010/main" val="3368828488"/>
              </p:ext>
            </p:extLst>
          </p:nvPr>
        </p:nvGraphicFramePr>
        <p:xfrm>
          <a:off x="814889" y="2190552"/>
          <a:ext cx="10666975" cy="3108960"/>
        </p:xfrm>
        <a:graphic>
          <a:graphicData uri="http://schemas.openxmlformats.org/drawingml/2006/table">
            <a:tbl>
              <a:tblPr firstRow="1" bandRow="1">
                <a:tableStyleId>{68D230F3-CF80-4859-8CE7-A43EE81993B5}</a:tableStyleId>
              </a:tblPr>
              <a:tblGrid>
                <a:gridCol w="2133395">
                  <a:extLst>
                    <a:ext uri="{9D8B030D-6E8A-4147-A177-3AD203B41FA5}">
                      <a16:colId xmlns:a16="http://schemas.microsoft.com/office/drawing/2014/main" val="1610395699"/>
                    </a:ext>
                  </a:extLst>
                </a:gridCol>
                <a:gridCol w="2133395">
                  <a:extLst>
                    <a:ext uri="{9D8B030D-6E8A-4147-A177-3AD203B41FA5}">
                      <a16:colId xmlns:a16="http://schemas.microsoft.com/office/drawing/2014/main" val="754471269"/>
                    </a:ext>
                  </a:extLst>
                </a:gridCol>
                <a:gridCol w="2133395">
                  <a:extLst>
                    <a:ext uri="{9D8B030D-6E8A-4147-A177-3AD203B41FA5}">
                      <a16:colId xmlns:a16="http://schemas.microsoft.com/office/drawing/2014/main" val="1123398961"/>
                    </a:ext>
                  </a:extLst>
                </a:gridCol>
                <a:gridCol w="2133395">
                  <a:extLst>
                    <a:ext uri="{9D8B030D-6E8A-4147-A177-3AD203B41FA5}">
                      <a16:colId xmlns:a16="http://schemas.microsoft.com/office/drawing/2014/main" val="208435372"/>
                    </a:ext>
                  </a:extLst>
                </a:gridCol>
                <a:gridCol w="2133395">
                  <a:extLst>
                    <a:ext uri="{9D8B030D-6E8A-4147-A177-3AD203B41FA5}">
                      <a16:colId xmlns:a16="http://schemas.microsoft.com/office/drawing/2014/main" val="2198115133"/>
                    </a:ext>
                  </a:extLst>
                </a:gridCol>
              </a:tblGrid>
              <a:tr h="439997">
                <a:tc>
                  <a:txBody>
                    <a:bodyPr/>
                    <a:lstStyle/>
                    <a:p>
                      <a:r>
                        <a:rPr lang="en-GB" sz="1200">
                          <a:latin typeface="Calibri"/>
                          <a:ea typeface="Calibri"/>
                          <a:cs typeface="Calibri"/>
                        </a:rPr>
                        <a:t>MODEL ARCHITECTURE</a:t>
                      </a:r>
                    </a:p>
                  </a:txBody>
                  <a:tcPr/>
                </a:tc>
                <a:tc>
                  <a:txBody>
                    <a:bodyPr/>
                    <a:lstStyle/>
                    <a:p>
                      <a:r>
                        <a:rPr lang="en-GB" sz="1200">
                          <a:latin typeface="Calibri"/>
                          <a:ea typeface="Calibri"/>
                          <a:cs typeface="Calibri"/>
                        </a:rPr>
                        <a:t>POOLED 5-FOLD CV AUC</a:t>
                      </a:r>
                      <a:br>
                        <a:rPr lang="en-GB" sz="1200">
                          <a:latin typeface="Calibri"/>
                          <a:ea typeface="Calibri"/>
                          <a:cs typeface="Calibri"/>
                        </a:rPr>
                      </a:br>
                      <a:r>
                        <a:rPr lang="en-GB" sz="1200">
                          <a:latin typeface="Calibri"/>
                          <a:ea typeface="Calibri"/>
                          <a:cs typeface="Calibri"/>
                        </a:rPr>
                        <a:t>(95% CI)</a:t>
                      </a:r>
                    </a:p>
                  </a:txBody>
                  <a:tcPr/>
                </a:tc>
                <a:tc>
                  <a:txBody>
                    <a:bodyPr/>
                    <a:lstStyle/>
                    <a:p>
                      <a:r>
                        <a:rPr lang="en-GB" sz="1200">
                          <a:latin typeface="Calibri"/>
                          <a:ea typeface="Calibri"/>
                          <a:cs typeface="Calibri"/>
                        </a:rPr>
                        <a:t>BEST LOCO AUC </a:t>
                      </a:r>
                      <a:br>
                        <a:rPr lang="en-GB" sz="1200">
                          <a:latin typeface="Calibri"/>
                          <a:ea typeface="Calibri"/>
                          <a:cs typeface="Calibri"/>
                        </a:rPr>
                      </a:br>
                      <a:r>
                        <a:rPr lang="en-GB" sz="1200" b="1" i="0" u="none" strike="noStrike" noProof="0">
                          <a:solidFill>
                            <a:srgbClr val="000000"/>
                          </a:solidFill>
                          <a:latin typeface="Calibri"/>
                          <a:ea typeface="Calibri"/>
                          <a:cs typeface="Calibri"/>
                        </a:rPr>
                        <a:t>(95% CI) [</a:t>
                      </a:r>
                      <a:r>
                        <a:rPr lang="en-GB" sz="1200">
                          <a:latin typeface="Calibri"/>
                          <a:ea typeface="Calibri"/>
                          <a:cs typeface="Calibri"/>
                        </a:rPr>
                        <a:t>Cohort]</a:t>
                      </a:r>
                    </a:p>
                  </a:txBody>
                  <a:tcPr/>
                </a:tc>
                <a:tc>
                  <a:txBody>
                    <a:bodyPr/>
                    <a:lstStyle/>
                    <a:p>
                      <a:r>
                        <a:rPr lang="en-GB" sz="1200">
                          <a:latin typeface="Calibri"/>
                          <a:ea typeface="Calibri"/>
                          <a:cs typeface="Calibri"/>
                        </a:rPr>
                        <a:t>MODEL EXPLAINABILITY</a:t>
                      </a:r>
                    </a:p>
                  </a:txBody>
                  <a:tcPr/>
                </a:tc>
                <a:tc>
                  <a:txBody>
                    <a:bodyPr/>
                    <a:lstStyle/>
                    <a:p>
                      <a:r>
                        <a:rPr lang="en-GB" sz="1200">
                          <a:latin typeface="Calibri"/>
                          <a:ea typeface="Calibri"/>
                          <a:cs typeface="Calibri"/>
                        </a:rPr>
                        <a:t>CLINICAL ASSESSMENT</a:t>
                      </a:r>
                    </a:p>
                  </a:txBody>
                  <a:tcPr/>
                </a:tc>
                <a:extLst>
                  <a:ext uri="{0D108BD9-81ED-4DB2-BD59-A6C34878D82A}">
                    <a16:rowId xmlns:a16="http://schemas.microsoft.com/office/drawing/2014/main" val="3834428119"/>
                  </a:ext>
                </a:extLst>
              </a:tr>
              <a:tr h="439997">
                <a:tc>
                  <a:txBody>
                    <a:bodyPr/>
                    <a:lstStyle/>
                    <a:p>
                      <a:r>
                        <a:rPr lang="en-GB" sz="1200">
                          <a:latin typeface="Calibri"/>
                          <a:ea typeface="Calibri"/>
                          <a:cs typeface="Calibri"/>
                        </a:rPr>
                        <a:t>XGBOOST</a:t>
                      </a:r>
                    </a:p>
                  </a:txBody>
                  <a:tcPr/>
                </a:tc>
                <a:tc>
                  <a:txBody>
                    <a:bodyPr/>
                    <a:lstStyle/>
                    <a:p>
                      <a:r>
                        <a:rPr lang="en-GB" sz="1200">
                          <a:latin typeface="Calibri"/>
                          <a:ea typeface="Calibri"/>
                          <a:cs typeface="Calibri"/>
                        </a:rPr>
                        <a:t>0.636 (0.56-0.71)</a:t>
                      </a:r>
                    </a:p>
                  </a:txBody>
                  <a:tcPr/>
                </a:tc>
                <a:tc>
                  <a:txBody>
                    <a:bodyPr/>
                    <a:lstStyle/>
                    <a:p>
                      <a:r>
                        <a:rPr lang="en-GB" sz="1200">
                          <a:latin typeface="Calibri"/>
                          <a:ea typeface="Calibri"/>
                          <a:cs typeface="Calibri"/>
                        </a:rPr>
                        <a:t>0.575 (0.479-0.671) [Liu] </a:t>
                      </a:r>
                      <a:br>
                        <a:rPr lang="en-GB" sz="1200">
                          <a:latin typeface="Calibri"/>
                          <a:ea typeface="Calibri"/>
                          <a:cs typeface="Calibri"/>
                        </a:rPr>
                      </a:br>
                      <a:r>
                        <a:rPr lang="en-GB" sz="1200">
                          <a:latin typeface="Calibri"/>
                          <a:ea typeface="Calibri"/>
                          <a:cs typeface="Calibri"/>
                        </a:rPr>
                        <a:t>Mean LOCO: 0.418</a:t>
                      </a:r>
                    </a:p>
                  </a:txBody>
                  <a:tcPr/>
                </a:tc>
                <a:tc>
                  <a:txBody>
                    <a:bodyPr/>
                    <a:lstStyle/>
                    <a:p>
                      <a:endParaRPr lang="en-GB" sz="1200">
                        <a:latin typeface="Calibri"/>
                        <a:ea typeface="Calibri"/>
                        <a:cs typeface="Calibri"/>
                      </a:endParaRPr>
                    </a:p>
                  </a:txBody>
                  <a:tcPr/>
                </a:tc>
                <a:tc>
                  <a:txBody>
                    <a:bodyPr/>
                    <a:lstStyle/>
                    <a:p>
                      <a:r>
                        <a:rPr lang="en-GB" sz="1200">
                          <a:latin typeface="Calibri"/>
                          <a:ea typeface="Calibri"/>
                          <a:cs typeface="Calibri"/>
                        </a:rPr>
                        <a:t>Captures complex multi-gene non-linear interactions</a:t>
                      </a:r>
                    </a:p>
                  </a:txBody>
                  <a:tcPr/>
                </a:tc>
                <a:extLst>
                  <a:ext uri="{0D108BD9-81ED-4DB2-BD59-A6C34878D82A}">
                    <a16:rowId xmlns:a16="http://schemas.microsoft.com/office/drawing/2014/main" val="4051871173"/>
                  </a:ext>
                </a:extLst>
              </a:tr>
              <a:tr h="439997">
                <a:tc>
                  <a:txBody>
                    <a:bodyPr/>
                    <a:lstStyle/>
                    <a:p>
                      <a:r>
                        <a:rPr lang="en-GB" sz="1200">
                          <a:latin typeface="Calibri"/>
                          <a:ea typeface="Calibri"/>
                          <a:cs typeface="Calibri"/>
                        </a:rPr>
                        <a:t>RANDOM FOREST</a:t>
                      </a:r>
                    </a:p>
                  </a:txBody>
                  <a:tcPr/>
                </a:tc>
                <a:tc>
                  <a:txBody>
                    <a:bodyPr/>
                    <a:lstStyle/>
                    <a:p>
                      <a:r>
                        <a:rPr lang="en-GB" sz="1200">
                          <a:latin typeface="Calibri"/>
                          <a:ea typeface="Calibri"/>
                          <a:cs typeface="Calibri"/>
                        </a:rPr>
                        <a:t>0.656 (0.58-0.73)</a:t>
                      </a:r>
                    </a:p>
                  </a:txBody>
                  <a:tcPr/>
                </a:tc>
                <a:tc>
                  <a:txBody>
                    <a:bodyPr/>
                    <a:lstStyle/>
                    <a:p>
                      <a:r>
                        <a:rPr lang="en-GB" sz="1200">
                          <a:latin typeface="Calibri"/>
                          <a:ea typeface="Calibri"/>
                          <a:cs typeface="Calibri"/>
                        </a:rPr>
                        <a:t>0.621 (0.518-0.724) [Riaz]</a:t>
                      </a:r>
                      <a:br>
                        <a:rPr lang="en-GB" sz="1200">
                          <a:latin typeface="Calibri"/>
                          <a:ea typeface="Calibri"/>
                          <a:cs typeface="Calibri"/>
                        </a:rPr>
                      </a:br>
                      <a:r>
                        <a:rPr lang="en-GB" sz="1200">
                          <a:latin typeface="Calibri"/>
                          <a:ea typeface="Calibri"/>
                          <a:cs typeface="Calibri"/>
                        </a:rPr>
                        <a:t>Mean LOCO: 0.511</a:t>
                      </a:r>
                    </a:p>
                  </a:txBody>
                  <a:tcPr/>
                </a:tc>
                <a:tc>
                  <a:txBody>
                    <a:bodyPr/>
                    <a:lstStyle/>
                    <a:p>
                      <a:endParaRPr lang="en-GB" sz="1200">
                        <a:latin typeface="Calibri"/>
                        <a:ea typeface="Calibri"/>
                        <a:cs typeface="Calibri"/>
                      </a:endParaRPr>
                    </a:p>
                  </a:txBody>
                  <a:tcPr/>
                </a:tc>
                <a:tc>
                  <a:txBody>
                    <a:bodyPr/>
                    <a:lstStyle/>
                    <a:p>
                      <a:r>
                        <a:rPr lang="en-GB" sz="1200">
                          <a:latin typeface="Calibri"/>
                          <a:ea typeface="Calibri"/>
                          <a:cs typeface="Calibri"/>
                        </a:rPr>
                        <a:t>High feature importance stability; resistant to outliers</a:t>
                      </a:r>
                    </a:p>
                  </a:txBody>
                  <a:tcPr/>
                </a:tc>
                <a:extLst>
                  <a:ext uri="{0D108BD9-81ED-4DB2-BD59-A6C34878D82A}">
                    <a16:rowId xmlns:a16="http://schemas.microsoft.com/office/drawing/2014/main" val="3108504195"/>
                  </a:ext>
                </a:extLst>
              </a:tr>
              <a:tr h="615997">
                <a:tc>
                  <a:txBody>
                    <a:bodyPr/>
                    <a:lstStyle/>
                    <a:p>
                      <a:r>
                        <a:rPr lang="en-GB" sz="1200">
                          <a:latin typeface="Calibri"/>
                          <a:ea typeface="Calibri"/>
                          <a:cs typeface="Calibri"/>
                        </a:rPr>
                        <a:t>SVM</a:t>
                      </a:r>
                    </a:p>
                  </a:txBody>
                  <a:tcPr/>
                </a:tc>
                <a:tc>
                  <a:txBody>
                    <a:bodyPr/>
                    <a:lstStyle/>
                    <a:p>
                      <a:r>
                        <a:rPr lang="en-GB" sz="1200" b="1">
                          <a:latin typeface="Calibri"/>
                          <a:ea typeface="Calibri"/>
                          <a:cs typeface="Calibri"/>
                        </a:rPr>
                        <a:t>0.684 </a:t>
                      </a:r>
                      <a:r>
                        <a:rPr lang="en-GB" sz="1200" b="0">
                          <a:latin typeface="Calibri"/>
                          <a:ea typeface="Calibri"/>
                          <a:cs typeface="Calibri"/>
                        </a:rPr>
                        <a:t>(0.61-0.76)</a:t>
                      </a:r>
                    </a:p>
                  </a:txBody>
                  <a:tcPr/>
                </a:tc>
                <a:tc>
                  <a:txBody>
                    <a:bodyPr/>
                    <a:lstStyle/>
                    <a:p>
                      <a:r>
                        <a:rPr lang="en-GB" sz="1200" b="1">
                          <a:latin typeface="Calibri"/>
                          <a:ea typeface="Calibri"/>
                          <a:cs typeface="Calibri"/>
                        </a:rPr>
                        <a:t>0.685 </a:t>
                      </a:r>
                      <a:r>
                        <a:rPr lang="en-GB" sz="1200" b="0">
                          <a:latin typeface="Calibri"/>
                          <a:ea typeface="Calibri"/>
                          <a:cs typeface="Calibri"/>
                        </a:rPr>
                        <a:t>(0.586-0.784)</a:t>
                      </a:r>
                      <a:r>
                        <a:rPr lang="en-GB" sz="1200">
                          <a:latin typeface="Calibri"/>
                          <a:ea typeface="Calibri"/>
                          <a:cs typeface="Calibri"/>
                        </a:rPr>
                        <a:t> [Riaz]</a:t>
                      </a:r>
                      <a:br>
                        <a:rPr lang="en-GB" sz="1200">
                          <a:latin typeface="Calibri"/>
                          <a:ea typeface="Calibri"/>
                          <a:cs typeface="Calibri"/>
                        </a:rPr>
                      </a:br>
                      <a:r>
                        <a:rPr lang="en-GB" sz="1200">
                          <a:latin typeface="Calibri"/>
                          <a:ea typeface="Calibri"/>
                          <a:cs typeface="Calibri"/>
                        </a:rPr>
                        <a:t>Mean LOCO: 0.521</a:t>
                      </a:r>
                    </a:p>
                  </a:txBody>
                  <a:tcPr/>
                </a:tc>
                <a:tc>
                  <a:txBody>
                    <a:bodyPr/>
                    <a:lstStyle/>
                    <a:p>
                      <a:endParaRPr lang="en-GB" sz="1200">
                        <a:latin typeface="Calibri"/>
                        <a:ea typeface="Calibri"/>
                        <a:cs typeface="Calibri"/>
                      </a:endParaRPr>
                    </a:p>
                  </a:txBody>
                  <a:tcPr/>
                </a:tc>
                <a:tc>
                  <a:txBody>
                    <a:bodyPr/>
                    <a:lstStyle/>
                    <a:p>
                      <a:r>
                        <a:rPr lang="en-GB" sz="1200">
                          <a:latin typeface="Calibri"/>
                          <a:ea typeface="Calibri"/>
                          <a:cs typeface="Calibri"/>
                        </a:rPr>
                        <a:t>Strongest OOC generalisation; good margin separation in high feature space</a:t>
                      </a:r>
                    </a:p>
                  </a:txBody>
                  <a:tcPr/>
                </a:tc>
                <a:extLst>
                  <a:ext uri="{0D108BD9-81ED-4DB2-BD59-A6C34878D82A}">
                    <a16:rowId xmlns:a16="http://schemas.microsoft.com/office/drawing/2014/main" val="3361926426"/>
                  </a:ext>
                </a:extLst>
              </a:tr>
              <a:tr h="615997">
                <a:tc>
                  <a:txBody>
                    <a:bodyPr/>
                    <a:lstStyle/>
                    <a:p>
                      <a:r>
                        <a:rPr lang="en-GB" sz="1200">
                          <a:latin typeface="Calibri"/>
                          <a:ea typeface="Calibri"/>
                          <a:cs typeface="Calibri"/>
                        </a:rPr>
                        <a:t>ELASTIC-NET LR</a:t>
                      </a:r>
                    </a:p>
                  </a:txBody>
                  <a:tcPr/>
                </a:tc>
                <a:tc>
                  <a:txBody>
                    <a:bodyPr/>
                    <a:lstStyle/>
                    <a:p>
                      <a:r>
                        <a:rPr lang="en-GB" sz="1200">
                          <a:latin typeface="Calibri"/>
                          <a:ea typeface="Calibri"/>
                          <a:cs typeface="Calibri"/>
                        </a:rPr>
                        <a:t>0.593 (0.51-0.67)</a:t>
                      </a:r>
                    </a:p>
                  </a:txBody>
                  <a:tcPr/>
                </a:tc>
                <a:tc>
                  <a:txBody>
                    <a:bodyPr/>
                    <a:lstStyle/>
                    <a:p>
                      <a:r>
                        <a:rPr lang="en-GB" sz="1200">
                          <a:latin typeface="Calibri"/>
                          <a:ea typeface="Calibri"/>
                          <a:cs typeface="Calibri"/>
                        </a:rPr>
                        <a:t>0.586 (0.490-0.682) [Liu]</a:t>
                      </a:r>
                      <a:br>
                        <a:rPr lang="en-GB" sz="1200">
                          <a:latin typeface="Calibri"/>
                          <a:ea typeface="Calibri"/>
                          <a:cs typeface="Calibri"/>
                        </a:rPr>
                      </a:br>
                      <a:r>
                        <a:rPr lang="en-GB" sz="1200">
                          <a:latin typeface="Calibri"/>
                          <a:ea typeface="Calibri"/>
                          <a:cs typeface="Calibri"/>
                        </a:rPr>
                        <a:t>Mean LOCO: </a:t>
                      </a:r>
                      <a:r>
                        <a:rPr lang="en-GB" sz="1200" b="1">
                          <a:latin typeface="Calibri"/>
                          <a:ea typeface="Calibri"/>
                          <a:cs typeface="Calibri"/>
                        </a:rPr>
                        <a:t>0.557</a:t>
                      </a:r>
                    </a:p>
                  </a:txBody>
                  <a:tcPr/>
                </a:tc>
                <a:tc>
                  <a:txBody>
                    <a:bodyPr/>
                    <a:lstStyle/>
                    <a:p>
                      <a:endParaRPr lang="en-GB" sz="1200">
                        <a:latin typeface="Calibri"/>
                        <a:ea typeface="Calibri"/>
                        <a:cs typeface="Calibri"/>
                      </a:endParaRPr>
                    </a:p>
                  </a:txBody>
                  <a:tcPr/>
                </a:tc>
                <a:tc>
                  <a:txBody>
                    <a:bodyPr/>
                    <a:lstStyle/>
                    <a:p>
                      <a:r>
                        <a:rPr lang="en-GB" sz="1200">
                          <a:latin typeface="Calibri"/>
                          <a:ea typeface="Calibri"/>
                          <a:cs typeface="Calibri"/>
                        </a:rPr>
                        <a:t>Regularised feature selection; highly interpretable but suffers from non</a:t>
                      </a:r>
                    </a:p>
                  </a:txBody>
                  <a:tcPr/>
                </a:tc>
                <a:extLst>
                  <a:ext uri="{0D108BD9-81ED-4DB2-BD59-A6C34878D82A}">
                    <a16:rowId xmlns:a16="http://schemas.microsoft.com/office/drawing/2014/main" val="3237848107"/>
                  </a:ext>
                </a:extLst>
              </a:tr>
              <a:tr h="439997">
                <a:tc>
                  <a:txBody>
                    <a:bodyPr/>
                    <a:lstStyle/>
                    <a:p>
                      <a:r>
                        <a:rPr lang="en-GB" sz="1200">
                          <a:latin typeface="Calibri"/>
                          <a:ea typeface="Calibri"/>
                          <a:cs typeface="Calibri"/>
                        </a:rPr>
                        <a:t>L1 LASSO LR</a:t>
                      </a:r>
                    </a:p>
                  </a:txBody>
                  <a:tcPr/>
                </a:tc>
                <a:tc>
                  <a:txBody>
                    <a:bodyPr/>
                    <a:lstStyle/>
                    <a:p>
                      <a:r>
                        <a:rPr lang="en-GB" sz="1200">
                          <a:latin typeface="Calibri"/>
                          <a:ea typeface="Calibri"/>
                          <a:cs typeface="Calibri"/>
                        </a:rPr>
                        <a:t>0.596 (0.52-0.68)</a:t>
                      </a:r>
                    </a:p>
                  </a:txBody>
                  <a:tcPr/>
                </a:tc>
                <a:tc>
                  <a:txBody>
                    <a:bodyPr/>
                    <a:lstStyle/>
                    <a:p>
                      <a:r>
                        <a:rPr lang="en-GB" sz="1200">
                          <a:latin typeface="Calibri"/>
                          <a:ea typeface="Calibri"/>
                          <a:cs typeface="Calibri"/>
                        </a:rPr>
                        <a:t>0.585 (0.388-0.782) [Hugo]</a:t>
                      </a:r>
                      <a:br>
                        <a:rPr lang="en-GB" sz="1200">
                          <a:latin typeface="Calibri"/>
                          <a:ea typeface="Calibri"/>
                          <a:cs typeface="Calibri"/>
                        </a:rPr>
                      </a:br>
                      <a:r>
                        <a:rPr lang="en-GB" sz="1200">
                          <a:latin typeface="Calibri"/>
                          <a:ea typeface="Calibri"/>
                          <a:cs typeface="Calibri"/>
                        </a:rPr>
                        <a:t>Mean LOCO: 0.501</a:t>
                      </a:r>
                    </a:p>
                  </a:txBody>
                  <a:tcPr/>
                </a:tc>
                <a:tc>
                  <a:txBody>
                    <a:bodyPr/>
                    <a:lstStyle/>
                    <a:p>
                      <a:endParaRPr lang="en-GB" sz="1200">
                        <a:latin typeface="Calibri"/>
                        <a:ea typeface="Calibri"/>
                        <a:cs typeface="Calibri"/>
                      </a:endParaRPr>
                    </a:p>
                  </a:txBody>
                  <a:tcPr/>
                </a:tc>
                <a:tc>
                  <a:txBody>
                    <a:bodyPr/>
                    <a:lstStyle/>
                    <a:p>
                      <a:r>
                        <a:rPr lang="en-GB" sz="1200">
                          <a:latin typeface="Calibri"/>
                          <a:ea typeface="Calibri"/>
                          <a:cs typeface="Calibri"/>
                        </a:rPr>
                        <a:t>Baseline linear odds ratio</a:t>
                      </a:r>
                    </a:p>
                  </a:txBody>
                  <a:tcPr/>
                </a:tc>
                <a:extLst>
                  <a:ext uri="{0D108BD9-81ED-4DB2-BD59-A6C34878D82A}">
                    <a16:rowId xmlns:a16="http://schemas.microsoft.com/office/drawing/2014/main" val="4006032815"/>
                  </a:ext>
                </a:extLst>
              </a:tr>
            </a:tbl>
          </a:graphicData>
        </a:graphic>
      </p:graphicFrame>
      <p:sp>
        <p:nvSpPr>
          <p:cNvPr id="9" name="TextBox 8">
            <a:extLst>
              <a:ext uri="{FF2B5EF4-FFF2-40B4-BE49-F238E27FC236}">
                <a16:creationId xmlns:a16="http://schemas.microsoft.com/office/drawing/2014/main" id="{4D6E89CD-0C16-64F3-DD5A-AACA4D5F8867}"/>
              </a:ext>
            </a:extLst>
          </p:cNvPr>
          <p:cNvSpPr txBox="1"/>
          <p:nvPr/>
        </p:nvSpPr>
        <p:spPr>
          <a:xfrm>
            <a:off x="7309003" y="2696103"/>
            <a:ext cx="1474491" cy="306467"/>
          </a:xfrm>
          <a:prstGeom prst="roundRect">
            <a:avLst/>
          </a:prstGeom>
          <a:solidFill>
            <a:schemeClr val="accent1"/>
          </a:solid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latin typeface="Calibri"/>
                <a:ea typeface="Calibri"/>
                <a:cs typeface="Calibri"/>
              </a:rPr>
              <a:t>Low (Black Box)</a:t>
            </a:r>
          </a:p>
        </p:txBody>
      </p:sp>
      <p:sp>
        <p:nvSpPr>
          <p:cNvPr id="10" name="TextBox 9">
            <a:extLst>
              <a:ext uri="{FF2B5EF4-FFF2-40B4-BE49-F238E27FC236}">
                <a16:creationId xmlns:a16="http://schemas.microsoft.com/office/drawing/2014/main" id="{BA79C78D-DE1B-D3B9-1C00-5153CD4D3FF1}"/>
              </a:ext>
            </a:extLst>
          </p:cNvPr>
          <p:cNvSpPr txBox="1"/>
          <p:nvPr/>
        </p:nvSpPr>
        <p:spPr>
          <a:xfrm>
            <a:off x="7317612" y="3160889"/>
            <a:ext cx="1465881" cy="306467"/>
          </a:xfrm>
          <a:prstGeom prst="roundRect">
            <a:avLst/>
          </a:prstGeom>
          <a:solidFill>
            <a:schemeClr val="accent1"/>
          </a:solid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latin typeface="Calibri"/>
                <a:ea typeface="Calibri"/>
                <a:cs typeface="Calibri"/>
              </a:rPr>
              <a:t>Low (Black Box)</a:t>
            </a:r>
          </a:p>
        </p:txBody>
      </p:sp>
      <p:sp>
        <p:nvSpPr>
          <p:cNvPr id="11" name="TextBox 10">
            <a:extLst>
              <a:ext uri="{FF2B5EF4-FFF2-40B4-BE49-F238E27FC236}">
                <a16:creationId xmlns:a16="http://schemas.microsoft.com/office/drawing/2014/main" id="{38BC5155-5D88-BC61-DA29-4670BA1D9BA3}"/>
              </a:ext>
            </a:extLst>
          </p:cNvPr>
          <p:cNvSpPr txBox="1"/>
          <p:nvPr/>
        </p:nvSpPr>
        <p:spPr>
          <a:xfrm>
            <a:off x="7329147" y="3696020"/>
            <a:ext cx="1474491" cy="306467"/>
          </a:xfrm>
          <a:prstGeom prst="roundRect">
            <a:avLst/>
          </a:prstGeom>
          <a:solidFill>
            <a:srgbClr val="FFC000"/>
          </a:solidFill>
          <a:ln>
            <a:solidFill>
              <a:srgbClr val="FFC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latin typeface="Calibri"/>
                <a:ea typeface="Calibri"/>
                <a:cs typeface="Calibri"/>
              </a:rPr>
              <a:t>Medium-Low</a:t>
            </a:r>
            <a:endParaRPr lang="en-US"/>
          </a:p>
        </p:txBody>
      </p:sp>
      <p:sp>
        <p:nvSpPr>
          <p:cNvPr id="12" name="TextBox 11">
            <a:extLst>
              <a:ext uri="{FF2B5EF4-FFF2-40B4-BE49-F238E27FC236}">
                <a16:creationId xmlns:a16="http://schemas.microsoft.com/office/drawing/2014/main" id="{8636E350-71C3-7946-9C60-F824D527E0F4}"/>
              </a:ext>
            </a:extLst>
          </p:cNvPr>
          <p:cNvSpPr txBox="1"/>
          <p:nvPr/>
        </p:nvSpPr>
        <p:spPr>
          <a:xfrm>
            <a:off x="7342061" y="4304498"/>
            <a:ext cx="1470186" cy="306467"/>
          </a:xfrm>
          <a:prstGeom prst="roundRect">
            <a:avLst/>
          </a:prstGeom>
          <a:solidFill>
            <a:srgbClr val="92D050"/>
          </a:solidFill>
          <a:ln>
            <a:solidFill>
              <a:srgbClr val="92D05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latin typeface="Calibri"/>
                <a:ea typeface="Calibri"/>
                <a:cs typeface="Calibri"/>
              </a:rPr>
              <a:t>High (Linear Odds)</a:t>
            </a:r>
          </a:p>
        </p:txBody>
      </p:sp>
      <p:sp>
        <p:nvSpPr>
          <p:cNvPr id="13" name="TextBox 12">
            <a:extLst>
              <a:ext uri="{FF2B5EF4-FFF2-40B4-BE49-F238E27FC236}">
                <a16:creationId xmlns:a16="http://schemas.microsoft.com/office/drawing/2014/main" id="{E76581BA-DB4B-D1EA-D57D-A93138DE92E8}"/>
              </a:ext>
            </a:extLst>
          </p:cNvPr>
          <p:cNvSpPr txBox="1"/>
          <p:nvPr/>
        </p:nvSpPr>
        <p:spPr>
          <a:xfrm>
            <a:off x="7356437" y="4839627"/>
            <a:ext cx="1470186" cy="306467"/>
          </a:xfrm>
          <a:prstGeom prst="roundRect">
            <a:avLst/>
          </a:prstGeom>
          <a:solidFill>
            <a:srgbClr val="92D050"/>
          </a:solidFill>
          <a:ln>
            <a:solidFill>
              <a:srgbClr val="92D05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latin typeface="Calibri"/>
                <a:ea typeface="Calibri"/>
                <a:cs typeface="Calibri"/>
              </a:rPr>
              <a:t>High (Linear Odds)</a:t>
            </a:r>
          </a:p>
        </p:txBody>
      </p:sp>
      <p:sp>
        <p:nvSpPr>
          <p:cNvPr id="7" name="TextBox 6">
            <a:extLst>
              <a:ext uri="{FF2B5EF4-FFF2-40B4-BE49-F238E27FC236}">
                <a16:creationId xmlns:a16="http://schemas.microsoft.com/office/drawing/2014/main" id="{DA81C8D3-70BE-68AB-22D0-725D516BCEFC}"/>
              </a:ext>
            </a:extLst>
          </p:cNvPr>
          <p:cNvSpPr txBox="1"/>
          <p:nvPr/>
        </p:nvSpPr>
        <p:spPr>
          <a:xfrm>
            <a:off x="818012" y="5350288"/>
            <a:ext cx="953197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ea typeface="+mn-lt"/>
                <a:cs typeface="+mn-lt"/>
              </a:rPr>
              <a:t>(Note: 95% CIs reflect standard error across evaluated validation folds / DeLong bootstrap iterations).</a:t>
            </a:r>
            <a:endParaRPr lang="en-US" sz="1200"/>
          </a:p>
        </p:txBody>
      </p:sp>
    </p:spTree>
    <p:extLst>
      <p:ext uri="{BB962C8B-B14F-4D97-AF65-F5344CB8AC3E}">
        <p14:creationId xmlns:p14="http://schemas.microsoft.com/office/powerpoint/2010/main" val="7548469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FC136-DEC6-5D2C-0585-8D35EEFD7546}"/>
              </a:ext>
            </a:extLst>
          </p:cNvPr>
          <p:cNvSpPr>
            <a:spLocks noGrp="1"/>
          </p:cNvSpPr>
          <p:nvPr>
            <p:ph type="title"/>
          </p:nvPr>
        </p:nvSpPr>
        <p:spPr>
          <a:xfrm>
            <a:off x="166424" y="1862867"/>
            <a:ext cx="11666735" cy="1150813"/>
          </a:xfrm>
        </p:spPr>
        <p:txBody>
          <a:bodyPr vert="horz" lIns="91440" tIns="45720" rIns="91440" bIns="45720" rtlCol="0" anchor="b">
            <a:noAutofit/>
          </a:bodyPr>
          <a:lstStyle/>
          <a:p>
            <a:pPr algn="ctr"/>
            <a:r>
              <a:rPr lang="en-GB" sz="3600" b="1">
                <a:solidFill>
                  <a:schemeClr val="accent6">
                    <a:lumMod val="49000"/>
                  </a:schemeClr>
                </a:solidFill>
                <a:latin typeface="Calibri"/>
                <a:ea typeface="Calibri"/>
                <a:cs typeface="Calibri"/>
              </a:rPr>
              <a:t>Predicting drug response from gene expression</a:t>
            </a:r>
            <a:endParaRPr lang="en-US" sz="3600" b="1">
              <a:solidFill>
                <a:schemeClr val="accent6">
                  <a:lumMod val="49000"/>
                </a:schemeClr>
              </a:solidFill>
              <a:latin typeface="Calibri"/>
              <a:ea typeface="Calibri"/>
              <a:cs typeface="Calibri"/>
            </a:endParaRPr>
          </a:p>
          <a:p>
            <a:br>
              <a:rPr lang="en-US"/>
            </a:br>
            <a:endParaRPr lang="en-US"/>
          </a:p>
        </p:txBody>
      </p:sp>
      <p:sp>
        <p:nvSpPr>
          <p:cNvPr id="5" name="Date Placeholder 4">
            <a:extLst>
              <a:ext uri="{FF2B5EF4-FFF2-40B4-BE49-F238E27FC236}">
                <a16:creationId xmlns:a16="http://schemas.microsoft.com/office/drawing/2014/main" id="{2A8717EC-D3C0-2692-C6C7-52C543AA77A5}"/>
              </a:ext>
            </a:extLst>
          </p:cNvPr>
          <p:cNvSpPr>
            <a:spLocks noGrp="1"/>
          </p:cNvSpPr>
          <p:nvPr>
            <p:ph type="dt" sz="half" idx="10"/>
          </p:nvPr>
        </p:nvSpPr>
        <p:spPr/>
        <p:txBody>
          <a:bodyPr/>
          <a:lstStyle/>
          <a:p>
            <a:fld id="{D9779AA7-1D62-4576-AA7D-8CC14F036F31}" type="datetime1">
              <a:t>8/9/2026</a:t>
            </a:fld>
            <a:endParaRPr lang="en-US"/>
          </a:p>
        </p:txBody>
      </p:sp>
      <p:sp>
        <p:nvSpPr>
          <p:cNvPr id="3" name="Content Placeholder 2">
            <a:extLst>
              <a:ext uri="{FF2B5EF4-FFF2-40B4-BE49-F238E27FC236}">
                <a16:creationId xmlns:a16="http://schemas.microsoft.com/office/drawing/2014/main" id="{049D95AC-0263-1795-AB93-3E8C5CFED027}"/>
              </a:ext>
            </a:extLst>
          </p:cNvPr>
          <p:cNvSpPr>
            <a:spLocks noGrp="1"/>
          </p:cNvSpPr>
          <p:nvPr>
            <p:ph idx="1"/>
          </p:nvPr>
        </p:nvSpPr>
        <p:spPr>
          <a:xfrm>
            <a:off x="2310637" y="1422084"/>
            <a:ext cx="11246270" cy="389760"/>
          </a:xfrm>
        </p:spPr>
        <p:txBody>
          <a:bodyPr vert="horz" lIns="91440" tIns="45720" rIns="91440" bIns="45720" rtlCol="0" anchor="t">
            <a:normAutofit/>
          </a:bodyPr>
          <a:lstStyle/>
          <a:p>
            <a:pPr marL="0" indent="0">
              <a:buNone/>
            </a:pPr>
            <a:r>
              <a:rPr lang="en-GB" sz="1400" i="1">
                <a:solidFill>
                  <a:srgbClr val="002060"/>
                </a:solidFill>
                <a:ea typeface="+mn-lt"/>
                <a:cs typeface="+mn-lt"/>
              </a:rPr>
              <a:t>LASSO models trained on melanoma cell lines across five standard-of-care agents</a:t>
            </a:r>
            <a:endParaRPr lang="en-US"/>
          </a:p>
          <a:p>
            <a:endParaRPr lang="en-GB" sz="1400" i="1">
              <a:solidFill>
                <a:srgbClr val="002060"/>
              </a:solidFill>
              <a:ea typeface="+mn-lt"/>
              <a:cs typeface="+mn-lt"/>
            </a:endParaRPr>
          </a:p>
          <a:p>
            <a:endParaRPr lang="en-GB" sz="1400" i="1">
              <a:solidFill>
                <a:srgbClr val="002060"/>
              </a:solidFill>
              <a:ea typeface="+mn-lt"/>
              <a:cs typeface="+mn-lt"/>
            </a:endParaRPr>
          </a:p>
        </p:txBody>
      </p:sp>
      <p:sp>
        <p:nvSpPr>
          <p:cNvPr id="4" name="Footer Placeholder 3">
            <a:extLst>
              <a:ext uri="{FF2B5EF4-FFF2-40B4-BE49-F238E27FC236}">
                <a16:creationId xmlns:a16="http://schemas.microsoft.com/office/drawing/2014/main" id="{58265E0B-1205-734A-75D6-C67D8642717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6E8F51CE-15ED-13CF-BFBD-1E241EB78AF1}"/>
              </a:ext>
            </a:extLst>
          </p:cNvPr>
          <p:cNvSpPr>
            <a:spLocks noGrp="1"/>
          </p:cNvSpPr>
          <p:nvPr>
            <p:ph type="sldNum" sz="quarter" idx="12"/>
          </p:nvPr>
        </p:nvSpPr>
        <p:spPr/>
        <p:txBody>
          <a:bodyPr/>
          <a:lstStyle/>
          <a:p>
            <a:fld id="{753D0FD4-819D-4187-8797-C35567B41C78}" type="slidenum">
              <a:rPr lang="en-US" dirty="0"/>
              <a:t>23</a:t>
            </a:fld>
            <a:endParaRPr lang="en-US"/>
          </a:p>
        </p:txBody>
      </p:sp>
      <p:sp>
        <p:nvSpPr>
          <p:cNvPr id="8" name="Shape 47">
            <a:extLst>
              <a:ext uri="{FF2B5EF4-FFF2-40B4-BE49-F238E27FC236}">
                <a16:creationId xmlns:a16="http://schemas.microsoft.com/office/drawing/2014/main" id="{78B52250-4624-049E-F984-FCD56E74FD75}"/>
              </a:ext>
            </a:extLst>
          </p:cNvPr>
          <p:cNvSpPr/>
          <p:nvPr/>
        </p:nvSpPr>
        <p:spPr>
          <a:xfrm>
            <a:off x="14796" y="1713005"/>
            <a:ext cx="12176316" cy="454626"/>
          </a:xfrm>
          <a:prstGeom prst="rect">
            <a:avLst/>
          </a:prstGeom>
          <a:solidFill>
            <a:srgbClr val="1B2A4A"/>
          </a:solidFill>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 name="TextBox 9">
            <a:extLst>
              <a:ext uri="{FF2B5EF4-FFF2-40B4-BE49-F238E27FC236}">
                <a16:creationId xmlns:a16="http://schemas.microsoft.com/office/drawing/2014/main" id="{7AD60505-9483-E6D8-BC00-16076762BB43}"/>
              </a:ext>
            </a:extLst>
          </p:cNvPr>
          <p:cNvSpPr txBox="1"/>
          <p:nvPr/>
        </p:nvSpPr>
        <p:spPr>
          <a:xfrm>
            <a:off x="3526295" y="1723714"/>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0" i="0">
                <a:solidFill>
                  <a:schemeClr val="bg1"/>
                </a:solidFill>
              </a:rPr>
              <a:t>Model performance across five </a:t>
            </a:r>
            <a:r>
              <a:rPr lang="en-US">
                <a:solidFill>
                  <a:schemeClr val="bg1"/>
                </a:solidFill>
              </a:rPr>
              <a:t>drugs</a:t>
            </a:r>
            <a:endParaRPr lang="en-US" b="0" i="0">
              <a:solidFill>
                <a:schemeClr val="bg1"/>
              </a:solidFill>
            </a:endParaRPr>
          </a:p>
          <a:p>
            <a:pPr algn="ctr"/>
            <a:endParaRPr lang="en-US" b="0" i="0"/>
          </a:p>
        </p:txBody>
      </p:sp>
      <p:pic>
        <p:nvPicPr>
          <p:cNvPr id="14" name="Picture 13">
            <a:extLst>
              <a:ext uri="{FF2B5EF4-FFF2-40B4-BE49-F238E27FC236}">
                <a16:creationId xmlns:a16="http://schemas.microsoft.com/office/drawing/2014/main" id="{06746785-F68B-A489-7363-2171ACE17436}"/>
              </a:ext>
            </a:extLst>
          </p:cNvPr>
          <p:cNvPicPr>
            <a:picLocks noChangeAspect="1"/>
          </p:cNvPicPr>
          <p:nvPr/>
        </p:nvPicPr>
        <p:blipFill>
          <a:blip r:embed="rId3"/>
          <a:srcRect l="137" t="10432" r="228" b="-592"/>
          <a:stretch>
            <a:fillRect/>
          </a:stretch>
        </p:blipFill>
        <p:spPr>
          <a:xfrm>
            <a:off x="163362" y="2829224"/>
            <a:ext cx="5353434" cy="3301511"/>
          </a:xfrm>
          <a:prstGeom prst="rect">
            <a:avLst/>
          </a:prstGeom>
        </p:spPr>
      </p:pic>
      <p:sp>
        <p:nvSpPr>
          <p:cNvPr id="16" name="Rounded Rectangle 29">
            <a:extLst>
              <a:ext uri="{FF2B5EF4-FFF2-40B4-BE49-F238E27FC236}">
                <a16:creationId xmlns:a16="http://schemas.microsoft.com/office/drawing/2014/main" id="{FA817D34-D5BE-BB6B-0709-BB0DD140167F}"/>
              </a:ext>
            </a:extLst>
          </p:cNvPr>
          <p:cNvSpPr/>
          <p:nvPr/>
        </p:nvSpPr>
        <p:spPr>
          <a:xfrm>
            <a:off x="10909" y="6319343"/>
            <a:ext cx="12182187" cy="542065"/>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a:extLst>
              <a:ext uri="{FF2B5EF4-FFF2-40B4-BE49-F238E27FC236}">
                <a16:creationId xmlns:a16="http://schemas.microsoft.com/office/drawing/2014/main" id="{1135C23C-9E0A-4D91-908A-B59EB6326CF8}"/>
              </a:ext>
            </a:extLst>
          </p:cNvPr>
          <p:cNvSpPr/>
          <p:nvPr/>
        </p:nvSpPr>
        <p:spPr>
          <a:xfrm>
            <a:off x="314166" y="6450639"/>
            <a:ext cx="274320" cy="274320"/>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312DA158-F52F-2D82-6915-354D88D245A9}"/>
              </a:ext>
            </a:extLst>
          </p:cNvPr>
          <p:cNvSpPr txBox="1"/>
          <p:nvPr/>
        </p:nvSpPr>
        <p:spPr>
          <a:xfrm>
            <a:off x="685119" y="6127580"/>
            <a:ext cx="11366111" cy="707886"/>
          </a:xfrm>
          <a:prstGeom prst="rect">
            <a:avLst/>
          </a:prstGeom>
          <a:noFill/>
        </p:spPr>
        <p:txBody>
          <a:bodyPr wrap="square" lIns="0" tIns="45720" rIns="91440" bIns="45720" anchor="ctr">
            <a:spAutoFit/>
          </a:bodyPr>
          <a:lstStyle/>
          <a:p>
            <a:br>
              <a:rPr lang="en-US" sz="1200" b="1">
                <a:latin typeface="Trade Gothic Next Light"/>
                <a:cs typeface="Arial"/>
              </a:rPr>
            </a:br>
            <a:r>
              <a:rPr lang="en-US" sz="1400" b="1">
                <a:solidFill>
                  <a:srgbClr val="FFFFFF"/>
                </a:solidFill>
                <a:latin typeface="Trade Gothic Next Light"/>
                <a:cs typeface="Arial"/>
              </a:rPr>
              <a:t>Takeaway: Dacarbazine has the highest correlation, but it is not the  best model because </a:t>
            </a:r>
            <a:r>
              <a:rPr lang="en-US" sz="1400" i="1">
                <a:solidFill>
                  <a:srgbClr val="FFFFFF"/>
                </a:solidFill>
                <a:ea typeface="+mn-lt"/>
                <a:cs typeface="+mn-lt"/>
              </a:rPr>
              <a:t>every cell line survived at nearly the same rate, </a:t>
            </a:r>
            <a:endParaRPr lang="en-US" sz="1400" b="1">
              <a:solidFill>
                <a:srgbClr val="000000"/>
              </a:solidFill>
              <a:ea typeface="+mn-lt"/>
              <a:cs typeface="Arial"/>
            </a:endParaRPr>
          </a:p>
          <a:p>
            <a:r>
              <a:rPr lang="en-US" sz="1400" i="1">
                <a:solidFill>
                  <a:srgbClr val="FFFFFF"/>
                </a:solidFill>
                <a:ea typeface="+mn-lt"/>
                <a:cs typeface="+mn-lt"/>
              </a:rPr>
              <a:t>so there was almost nothing to predict.</a:t>
            </a:r>
            <a:endParaRPr lang="en-US" sz="1400" b="1">
              <a:solidFill>
                <a:srgbClr val="000000"/>
              </a:solidFill>
              <a:latin typeface="Trade Gothic Next Light"/>
              <a:cs typeface="Arial"/>
            </a:endParaRPr>
          </a:p>
        </p:txBody>
      </p:sp>
      <p:sp>
        <p:nvSpPr>
          <p:cNvPr id="28" name="TextBox 27">
            <a:extLst>
              <a:ext uri="{FF2B5EF4-FFF2-40B4-BE49-F238E27FC236}">
                <a16:creationId xmlns:a16="http://schemas.microsoft.com/office/drawing/2014/main" id="{C48437F9-7400-B11E-6A17-C21D8A0D268B}"/>
              </a:ext>
            </a:extLst>
          </p:cNvPr>
          <p:cNvSpPr txBox="1"/>
          <p:nvPr/>
        </p:nvSpPr>
        <p:spPr>
          <a:xfrm>
            <a:off x="1370314" y="2363518"/>
            <a:ext cx="10821877"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i="1">
                <a:ea typeface="+mn-lt"/>
                <a:cs typeface="+mn-lt"/>
              </a:rPr>
              <a:t>Two BRAF inhibitors </a:t>
            </a:r>
            <a:r>
              <a:rPr lang="en-US" sz="1200" b="1" i="1">
                <a:ea typeface="+mn-lt"/>
                <a:cs typeface="+mn-lt"/>
              </a:rPr>
              <a:t>(Dabrafenib, PLX-4720) </a:t>
            </a:r>
            <a:r>
              <a:rPr lang="en-US" sz="1200" i="1">
                <a:ea typeface="+mn-lt"/>
                <a:cs typeface="+mn-lt"/>
              </a:rPr>
              <a:t>-  One MEK inhibitor</a:t>
            </a:r>
            <a:r>
              <a:rPr lang="en-US" sz="1200" b="1" i="1">
                <a:ea typeface="+mn-lt"/>
                <a:cs typeface="+mn-lt"/>
              </a:rPr>
              <a:t> (Trametinib)</a:t>
            </a:r>
            <a:r>
              <a:rPr lang="en-US" sz="1200" i="1">
                <a:ea typeface="+mn-lt"/>
                <a:cs typeface="+mn-lt"/>
              </a:rPr>
              <a:t> - Two chemotherapy agents </a:t>
            </a:r>
            <a:r>
              <a:rPr lang="en-US" sz="1200" b="1" i="1">
                <a:ea typeface="+mn-lt"/>
                <a:cs typeface="+mn-lt"/>
              </a:rPr>
              <a:t>(Dacarbazine, Temozolomide)</a:t>
            </a:r>
            <a:endParaRPr lang="en-US" sz="1200" b="1" i="1"/>
          </a:p>
        </p:txBody>
      </p:sp>
      <p:graphicFrame>
        <p:nvGraphicFramePr>
          <p:cNvPr id="7" name="Table 6">
            <a:extLst>
              <a:ext uri="{FF2B5EF4-FFF2-40B4-BE49-F238E27FC236}">
                <a16:creationId xmlns:a16="http://schemas.microsoft.com/office/drawing/2014/main" id="{06122A64-E1F0-AB44-C7F6-B1106CB42C34}"/>
              </a:ext>
            </a:extLst>
          </p:cNvPr>
          <p:cNvGraphicFramePr>
            <a:graphicFrameLocks noGrp="1"/>
          </p:cNvGraphicFramePr>
          <p:nvPr>
            <p:extLst>
              <p:ext uri="{D42A27DB-BD31-4B8C-83A1-F6EECF244321}">
                <p14:modId xmlns:p14="http://schemas.microsoft.com/office/powerpoint/2010/main" val="3660985108"/>
              </p:ext>
            </p:extLst>
          </p:nvPr>
        </p:nvGraphicFramePr>
        <p:xfrm>
          <a:off x="5719813" y="3650891"/>
          <a:ext cx="6117620" cy="822960"/>
        </p:xfrm>
        <a:graphic>
          <a:graphicData uri="http://schemas.openxmlformats.org/drawingml/2006/table">
            <a:tbl>
              <a:tblPr firstRow="1" bandRow="1">
                <a:tableStyleId>{68D230F3-CF80-4859-8CE7-A43EE81993B5}</a:tableStyleId>
              </a:tblPr>
              <a:tblGrid>
                <a:gridCol w="1223524">
                  <a:extLst>
                    <a:ext uri="{9D8B030D-6E8A-4147-A177-3AD203B41FA5}">
                      <a16:colId xmlns:a16="http://schemas.microsoft.com/office/drawing/2014/main" val="2923073"/>
                    </a:ext>
                  </a:extLst>
                </a:gridCol>
                <a:gridCol w="1223524">
                  <a:extLst>
                    <a:ext uri="{9D8B030D-6E8A-4147-A177-3AD203B41FA5}">
                      <a16:colId xmlns:a16="http://schemas.microsoft.com/office/drawing/2014/main" val="324270945"/>
                    </a:ext>
                  </a:extLst>
                </a:gridCol>
                <a:gridCol w="1223524">
                  <a:extLst>
                    <a:ext uri="{9D8B030D-6E8A-4147-A177-3AD203B41FA5}">
                      <a16:colId xmlns:a16="http://schemas.microsoft.com/office/drawing/2014/main" val="4213201637"/>
                    </a:ext>
                  </a:extLst>
                </a:gridCol>
                <a:gridCol w="1223524">
                  <a:extLst>
                    <a:ext uri="{9D8B030D-6E8A-4147-A177-3AD203B41FA5}">
                      <a16:colId xmlns:a16="http://schemas.microsoft.com/office/drawing/2014/main" val="4253582770"/>
                    </a:ext>
                  </a:extLst>
                </a:gridCol>
                <a:gridCol w="1223524">
                  <a:extLst>
                    <a:ext uri="{9D8B030D-6E8A-4147-A177-3AD203B41FA5}">
                      <a16:colId xmlns:a16="http://schemas.microsoft.com/office/drawing/2014/main" val="1449924792"/>
                    </a:ext>
                  </a:extLst>
                </a:gridCol>
              </a:tblGrid>
              <a:tr h="268606">
                <a:tc>
                  <a:txBody>
                    <a:bodyPr/>
                    <a:lstStyle/>
                    <a:p>
                      <a:pPr lvl="0">
                        <a:buNone/>
                      </a:pPr>
                      <a:r>
                        <a:rPr lang="en-US" sz="1400" b="1"/>
                        <a:t>Drugs Modelled</a:t>
                      </a:r>
                    </a:p>
                  </a:txBody>
                  <a:tcPr/>
                </a:tc>
                <a:tc>
                  <a:txBody>
                    <a:bodyPr/>
                    <a:lstStyle/>
                    <a:p>
                      <a:r>
                        <a:rPr lang="en-US" sz="1400" b="1"/>
                        <a:t>Cell Lines</a:t>
                      </a:r>
                    </a:p>
                  </a:txBody>
                  <a:tcPr/>
                </a:tc>
                <a:tc>
                  <a:txBody>
                    <a:bodyPr/>
                    <a:lstStyle/>
                    <a:p>
                      <a:r>
                        <a:rPr lang="en-US" sz="1400" b="1"/>
                        <a:t>Test Set</a:t>
                      </a:r>
                    </a:p>
                  </a:txBody>
                  <a:tcPr/>
                </a:tc>
                <a:tc>
                  <a:txBody>
                    <a:bodyPr/>
                    <a:lstStyle/>
                    <a:p>
                      <a:r>
                        <a:rPr lang="en-US" sz="1400" b="1"/>
                        <a:t>Highest r</a:t>
                      </a:r>
                    </a:p>
                  </a:txBody>
                  <a:tcPr/>
                </a:tc>
                <a:tc>
                  <a:txBody>
                    <a:bodyPr/>
                    <a:lstStyle/>
                    <a:p>
                      <a:r>
                        <a:rPr lang="en-US" sz="1400" b="1"/>
                        <a:t>Significant</a:t>
                      </a:r>
                    </a:p>
                  </a:txBody>
                  <a:tcPr/>
                </a:tc>
                <a:extLst>
                  <a:ext uri="{0D108BD9-81ED-4DB2-BD59-A6C34878D82A}">
                    <a16:rowId xmlns:a16="http://schemas.microsoft.com/office/drawing/2014/main" val="2740030531"/>
                  </a:ext>
                </a:extLst>
              </a:tr>
              <a:tr h="268606">
                <a:tc>
                  <a:txBody>
                    <a:bodyPr/>
                    <a:lstStyle/>
                    <a:p>
                      <a:r>
                        <a:rPr lang="en-US" sz="1400"/>
                        <a:t>5</a:t>
                      </a:r>
                    </a:p>
                  </a:txBody>
                  <a:tcPr/>
                </a:tc>
                <a:tc>
                  <a:txBody>
                    <a:bodyPr/>
                    <a:lstStyle/>
                    <a:p>
                      <a:r>
                        <a:rPr lang="en-US" sz="1400"/>
                        <a:t>37</a:t>
                      </a:r>
                    </a:p>
                  </a:txBody>
                  <a:tcPr/>
                </a:tc>
                <a:tc>
                  <a:txBody>
                    <a:bodyPr/>
                    <a:lstStyle/>
                    <a:p>
                      <a:r>
                        <a:rPr lang="en-US" sz="1400"/>
                        <a:t>8</a:t>
                      </a:r>
                    </a:p>
                  </a:txBody>
                  <a:tcPr/>
                </a:tc>
                <a:tc>
                  <a:txBody>
                    <a:bodyPr/>
                    <a:lstStyle/>
                    <a:p>
                      <a:r>
                        <a:rPr lang="en-US" sz="1400"/>
                        <a:t>0.797</a:t>
                      </a:r>
                    </a:p>
                  </a:txBody>
                  <a:tcPr/>
                </a:tc>
                <a:tc>
                  <a:txBody>
                    <a:bodyPr/>
                    <a:lstStyle/>
                    <a:p>
                      <a:r>
                        <a:rPr lang="en-US" sz="1400"/>
                        <a:t>1 of 5</a:t>
                      </a:r>
                    </a:p>
                  </a:txBody>
                  <a:tcPr/>
                </a:tc>
                <a:extLst>
                  <a:ext uri="{0D108BD9-81ED-4DB2-BD59-A6C34878D82A}">
                    <a16:rowId xmlns:a16="http://schemas.microsoft.com/office/drawing/2014/main" val="2782541449"/>
                  </a:ext>
                </a:extLst>
              </a:tr>
            </a:tbl>
          </a:graphicData>
        </a:graphic>
      </p:graphicFrame>
    </p:spTree>
    <p:extLst>
      <p:ext uri="{BB962C8B-B14F-4D97-AF65-F5344CB8AC3E}">
        <p14:creationId xmlns:p14="http://schemas.microsoft.com/office/powerpoint/2010/main" val="38376611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9BDB4-7D07-EF1B-77A2-AC2E86ABEDBE}"/>
              </a:ext>
            </a:extLst>
          </p:cNvPr>
          <p:cNvSpPr>
            <a:spLocks noGrp="1"/>
          </p:cNvSpPr>
          <p:nvPr>
            <p:ph type="title"/>
          </p:nvPr>
        </p:nvSpPr>
        <p:spPr>
          <a:xfrm>
            <a:off x="1175754" y="-72602"/>
            <a:ext cx="11253668" cy="1106424"/>
          </a:xfrm>
        </p:spPr>
        <p:txBody>
          <a:bodyPr vert="horz" lIns="91440" tIns="45720" rIns="91440" bIns="45720" rtlCol="0" anchor="b">
            <a:noAutofit/>
          </a:bodyPr>
          <a:lstStyle/>
          <a:p>
            <a:pPr marL="228600" indent="-228600">
              <a:lnSpc>
                <a:spcPct val="120000"/>
              </a:lnSpc>
              <a:spcBef>
                <a:spcPts val="1000"/>
              </a:spcBef>
            </a:pPr>
            <a:r>
              <a:rPr lang="en-GB" sz="2800" b="1">
                <a:solidFill>
                  <a:schemeClr val="accent6">
                    <a:lumMod val="49000"/>
                  </a:schemeClr>
                </a:solidFill>
                <a:latin typeface="Calibri"/>
                <a:ea typeface="Calibri"/>
                <a:cs typeface="Calibri"/>
              </a:rPr>
              <a:t>Results: The highest number is not the best result</a:t>
            </a:r>
          </a:p>
        </p:txBody>
      </p:sp>
      <p:sp>
        <p:nvSpPr>
          <p:cNvPr id="5" name="Date Placeholder 4">
            <a:extLst>
              <a:ext uri="{FF2B5EF4-FFF2-40B4-BE49-F238E27FC236}">
                <a16:creationId xmlns:a16="http://schemas.microsoft.com/office/drawing/2014/main" id="{E11C1B6F-F472-D824-FF74-0284057CE3FC}"/>
              </a:ext>
            </a:extLst>
          </p:cNvPr>
          <p:cNvSpPr>
            <a:spLocks noGrp="1"/>
          </p:cNvSpPr>
          <p:nvPr>
            <p:ph type="dt" sz="half" idx="10"/>
          </p:nvPr>
        </p:nvSpPr>
        <p:spPr/>
        <p:txBody>
          <a:bodyPr/>
          <a:lstStyle/>
          <a:p>
            <a:fld id="{FD04943A-8F88-4104-A818-73BD9B5432C3}" type="datetime1">
              <a:t>8/9/2026</a:t>
            </a:fld>
            <a:endParaRPr lang="en-US"/>
          </a:p>
        </p:txBody>
      </p:sp>
      <p:sp>
        <p:nvSpPr>
          <p:cNvPr id="4" name="Footer Placeholder 3">
            <a:extLst>
              <a:ext uri="{FF2B5EF4-FFF2-40B4-BE49-F238E27FC236}">
                <a16:creationId xmlns:a16="http://schemas.microsoft.com/office/drawing/2014/main" id="{81F9E500-7164-D9D0-9302-834A70E84DA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1FFA0289-17B4-6D96-16CC-257F5660193A}"/>
              </a:ext>
            </a:extLst>
          </p:cNvPr>
          <p:cNvSpPr>
            <a:spLocks noGrp="1"/>
          </p:cNvSpPr>
          <p:nvPr>
            <p:ph type="sldNum" sz="quarter" idx="12"/>
          </p:nvPr>
        </p:nvSpPr>
        <p:spPr/>
        <p:txBody>
          <a:bodyPr/>
          <a:lstStyle/>
          <a:p>
            <a:fld id="{753D0FD4-819D-4187-8797-C35567B41C78}" type="slidenum">
              <a:rPr lang="en-US" dirty="0"/>
              <a:t>24</a:t>
            </a:fld>
            <a:endParaRPr lang="en-US"/>
          </a:p>
        </p:txBody>
      </p:sp>
      <p:sp>
        <p:nvSpPr>
          <p:cNvPr id="7" name="TextBox 6">
            <a:extLst>
              <a:ext uri="{FF2B5EF4-FFF2-40B4-BE49-F238E27FC236}">
                <a16:creationId xmlns:a16="http://schemas.microsoft.com/office/drawing/2014/main" id="{AC6B2B77-4647-B3C6-1CD8-A9787D28C2B8}"/>
              </a:ext>
            </a:extLst>
          </p:cNvPr>
          <p:cNvSpPr txBox="1"/>
          <p:nvPr/>
        </p:nvSpPr>
        <p:spPr>
          <a:xfrm>
            <a:off x="7053697" y="2002228"/>
            <a:ext cx="4065483" cy="10310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rtl="0"/>
            <a:r>
              <a:rPr lang="en-GB" sz="1500" b="1">
                <a:solidFill>
                  <a:srgbClr val="00853C"/>
                </a:solidFill>
                <a:ea typeface="+mn-lt"/>
                <a:cs typeface="+mn-lt"/>
              </a:rPr>
              <a:t>Dabrafenib — real variation​</a:t>
            </a:r>
            <a:endParaRPr lang="en-US" sz="1500" b="1">
              <a:solidFill>
                <a:srgbClr val="00853C"/>
              </a:solidFill>
              <a:ea typeface="+mn-lt"/>
              <a:cs typeface="+mn-lt"/>
            </a:endParaRPr>
          </a:p>
          <a:p>
            <a:pPr marL="228600" lvl="0" indent="-228600" algn="l" rtl="0">
              <a:buFont typeface=""/>
              <a:buChar char="•"/>
            </a:pPr>
            <a:r>
              <a:rPr lang="en-GB" sz="1200" b="1">
                <a:ea typeface="+mn-lt"/>
                <a:cs typeface="+mn-lt"/>
              </a:rPr>
              <a:t>range 0.60 · n = 8 · p = 0.032​</a:t>
            </a:r>
          </a:p>
          <a:p>
            <a:pPr marL="228600" indent="-228600">
              <a:buFont typeface=""/>
              <a:buChar char="•"/>
            </a:pPr>
            <a:r>
              <a:rPr lang="en-GB" sz="1200" b="1">
                <a:ea typeface="+mn-lt"/>
                <a:cs typeface="+mn-lt"/>
              </a:rPr>
              <a:t>Some died, some survived. The only significant model in the panel.</a:t>
            </a:r>
          </a:p>
          <a:p>
            <a:pPr algn="ctr"/>
            <a:endParaRPr lang="en-US" sz="1000"/>
          </a:p>
        </p:txBody>
      </p:sp>
      <p:sp>
        <p:nvSpPr>
          <p:cNvPr id="8" name="TextBox 7">
            <a:extLst>
              <a:ext uri="{FF2B5EF4-FFF2-40B4-BE49-F238E27FC236}">
                <a16:creationId xmlns:a16="http://schemas.microsoft.com/office/drawing/2014/main" id="{4BB1FFEF-BACD-ADAC-0C0D-D301B98E398F}"/>
              </a:ext>
            </a:extLst>
          </p:cNvPr>
          <p:cNvSpPr txBox="1"/>
          <p:nvPr/>
        </p:nvSpPr>
        <p:spPr>
          <a:xfrm>
            <a:off x="3283727" y="1033360"/>
            <a:ext cx="841489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a:solidFill>
                  <a:srgbClr val="52514E"/>
                </a:solidFill>
                <a:ea typeface="+mn-lt"/>
                <a:cs typeface="+mn-lt"/>
              </a:rPr>
              <a:t>Dacarbazine is a chemotherapy agent · Dabrafenib </a:t>
            </a:r>
            <a:r>
              <a:rPr lang="en-GB" sz="1200" b="0" u="none" strike="noStrike" baseline="0">
                <a:solidFill>
                  <a:srgbClr val="52514E"/>
                </a:solidFill>
                <a:ea typeface="+mn-lt"/>
                <a:cs typeface="+mn-lt"/>
              </a:rPr>
              <a:t>is </a:t>
            </a:r>
            <a:r>
              <a:rPr lang="en-GB" sz="1200">
                <a:solidFill>
                  <a:srgbClr val="52514E"/>
                </a:solidFill>
                <a:ea typeface="+mn-lt"/>
                <a:cs typeface="+mn-lt"/>
              </a:rPr>
              <a:t>a BRAF inhibitor</a:t>
            </a:r>
            <a:endParaRPr lang="en-US" sz="1200"/>
          </a:p>
        </p:txBody>
      </p:sp>
      <p:pic>
        <p:nvPicPr>
          <p:cNvPr id="9" name="Picture 8">
            <a:extLst>
              <a:ext uri="{FF2B5EF4-FFF2-40B4-BE49-F238E27FC236}">
                <a16:creationId xmlns:a16="http://schemas.microsoft.com/office/drawing/2014/main" id="{C6732C6F-7D09-8778-10C7-3110994A01B8}"/>
              </a:ext>
            </a:extLst>
          </p:cNvPr>
          <p:cNvPicPr>
            <a:picLocks noChangeAspect="1"/>
          </p:cNvPicPr>
          <p:nvPr/>
        </p:nvPicPr>
        <p:blipFill>
          <a:blip r:embed="rId2"/>
          <a:srcRect l="125" t="6997" r="-127"/>
          <a:stretch>
            <a:fillRect/>
          </a:stretch>
        </p:blipFill>
        <p:spPr>
          <a:xfrm>
            <a:off x="1443602" y="2835442"/>
            <a:ext cx="4027811" cy="3256322"/>
          </a:xfrm>
          <a:prstGeom prst="rect">
            <a:avLst/>
          </a:prstGeom>
        </p:spPr>
      </p:pic>
      <p:pic>
        <p:nvPicPr>
          <p:cNvPr id="10" name="Picture 9">
            <a:extLst>
              <a:ext uri="{FF2B5EF4-FFF2-40B4-BE49-F238E27FC236}">
                <a16:creationId xmlns:a16="http://schemas.microsoft.com/office/drawing/2014/main" id="{FF08EFB1-20D8-4C63-9B04-55A9152C4A83}"/>
              </a:ext>
            </a:extLst>
          </p:cNvPr>
          <p:cNvPicPr>
            <a:picLocks noChangeAspect="1"/>
          </p:cNvPicPr>
          <p:nvPr/>
        </p:nvPicPr>
        <p:blipFill>
          <a:blip r:embed="rId3"/>
          <a:srcRect t="6845" r="-119" b="137"/>
          <a:stretch>
            <a:fillRect/>
          </a:stretch>
        </p:blipFill>
        <p:spPr>
          <a:xfrm>
            <a:off x="7051583" y="2833581"/>
            <a:ext cx="4066097" cy="3272945"/>
          </a:xfrm>
          <a:prstGeom prst="rect">
            <a:avLst/>
          </a:prstGeom>
        </p:spPr>
      </p:pic>
      <p:sp>
        <p:nvSpPr>
          <p:cNvPr id="13" name="TextBox 12">
            <a:extLst>
              <a:ext uri="{FF2B5EF4-FFF2-40B4-BE49-F238E27FC236}">
                <a16:creationId xmlns:a16="http://schemas.microsoft.com/office/drawing/2014/main" id="{BE0ADA33-E6AC-29C4-B8E2-1CF338A778A5}"/>
              </a:ext>
            </a:extLst>
          </p:cNvPr>
          <p:cNvSpPr txBox="1"/>
          <p:nvPr/>
        </p:nvSpPr>
        <p:spPr>
          <a:xfrm>
            <a:off x="1434324" y="2005642"/>
            <a:ext cx="4053586" cy="10310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500" b="1">
                <a:solidFill>
                  <a:schemeClr val="accent1"/>
                </a:solidFill>
                <a:ea typeface="+mn-lt"/>
                <a:cs typeface="+mn-lt"/>
              </a:rPr>
              <a:t>Dacarbazine — no variation</a:t>
            </a:r>
            <a:endParaRPr lang="en-US" sz="1500" b="1">
              <a:solidFill>
                <a:schemeClr val="accent1"/>
              </a:solidFill>
              <a:ea typeface="+mn-lt"/>
              <a:cs typeface="+mn-lt"/>
            </a:endParaRPr>
          </a:p>
          <a:p>
            <a:pPr>
              <a:buFont typeface="Arial"/>
              <a:buChar char="•"/>
            </a:pPr>
            <a:r>
              <a:rPr lang="en-GB" sz="1200" b="1">
                <a:ea typeface="+mn-lt"/>
                <a:cs typeface="+mn-lt"/>
              </a:rPr>
              <a:t> range</a:t>
            </a:r>
            <a:r>
              <a:rPr lang="en-GB" sz="1200" b="1" i="0" u="none" strike="noStrike" baseline="0">
                <a:ea typeface="+mn-lt"/>
                <a:cs typeface="+mn-lt"/>
              </a:rPr>
              <a:t> </a:t>
            </a:r>
            <a:r>
              <a:rPr lang="en-GB" sz="1200" b="1">
                <a:ea typeface="+mn-lt"/>
                <a:cs typeface="+mn-lt"/>
              </a:rPr>
              <a:t>0.03 </a:t>
            </a:r>
            <a:r>
              <a:rPr lang="en-GB" sz="1200" b="1" i="0" u="none" strike="noStrike" baseline="0">
                <a:ea typeface="+mn-lt"/>
                <a:cs typeface="+mn-lt"/>
              </a:rPr>
              <a:t>· n = </a:t>
            </a:r>
            <a:r>
              <a:rPr lang="en-GB" sz="1200" b="1">
                <a:ea typeface="+mn-lt"/>
                <a:cs typeface="+mn-lt"/>
              </a:rPr>
              <a:t>5 </a:t>
            </a:r>
            <a:r>
              <a:rPr lang="en-GB" sz="1200" b="1" i="0" u="none" strike="noStrike" baseline="0">
                <a:ea typeface="+mn-lt"/>
                <a:cs typeface="+mn-lt"/>
              </a:rPr>
              <a:t>· p = </a:t>
            </a:r>
            <a:r>
              <a:rPr lang="en-GB" sz="1200" b="1">
                <a:ea typeface="+mn-lt"/>
                <a:cs typeface="+mn-lt"/>
              </a:rPr>
              <a:t>0.106</a:t>
            </a:r>
            <a:endParaRPr lang="en-GB" sz="1200" b="1"/>
          </a:p>
          <a:p>
            <a:pPr>
              <a:buFont typeface="Arial"/>
              <a:buChar char="•"/>
            </a:pPr>
            <a:r>
              <a:rPr lang="en-GB" sz="1200" b="1">
                <a:ea typeface="+mn-lt"/>
                <a:cs typeface="+mn-lt"/>
              </a:rPr>
              <a:t> Every cell survived at</a:t>
            </a:r>
            <a:r>
              <a:rPr lang="en-GB" sz="1200" b="1" i="0" u="none" strike="noStrike" baseline="0">
                <a:ea typeface="+mn-lt"/>
                <a:cs typeface="+mn-lt"/>
              </a:rPr>
              <a:t> </a:t>
            </a:r>
            <a:r>
              <a:rPr lang="en-GB" sz="1200" b="1">
                <a:ea typeface="+mn-lt"/>
                <a:cs typeface="+mn-lt"/>
              </a:rPr>
              <a:t>nearly the same rate. Nothing to predict</a:t>
            </a:r>
            <a:r>
              <a:rPr lang="en-GB" sz="1200" b="1" i="0" u="none" strike="noStrike" baseline="0">
                <a:ea typeface="+mn-lt"/>
                <a:cs typeface="+mn-lt"/>
              </a:rPr>
              <a:t>.</a:t>
            </a:r>
            <a:endParaRPr lang="en-GB" sz="1200" b="1">
              <a:ea typeface="+mn-lt"/>
              <a:cs typeface="+mn-lt"/>
            </a:endParaRPr>
          </a:p>
          <a:p>
            <a:pPr marL="228600" lvl="0" indent="-228600" algn="l">
              <a:buFont typeface=""/>
              <a:buChar char="•"/>
            </a:pPr>
            <a:endParaRPr lang="en-GB" sz="1000" b="0" i="0">
              <a:solidFill>
                <a:srgbClr val="000000"/>
              </a:solidFill>
              <a:latin typeface="Trade Gothic Next Light"/>
              <a:ea typeface="Arial"/>
              <a:cs typeface="Arial"/>
            </a:endParaRPr>
          </a:p>
        </p:txBody>
      </p:sp>
      <p:sp>
        <p:nvSpPr>
          <p:cNvPr id="22" name="Shape 47">
            <a:extLst>
              <a:ext uri="{FF2B5EF4-FFF2-40B4-BE49-F238E27FC236}">
                <a16:creationId xmlns:a16="http://schemas.microsoft.com/office/drawing/2014/main" id="{4325F2F9-38D8-E224-65C5-195BE08EB0F4}"/>
              </a:ext>
            </a:extLst>
          </p:cNvPr>
          <p:cNvSpPr/>
          <p:nvPr/>
        </p:nvSpPr>
        <p:spPr>
          <a:xfrm>
            <a:off x="14796" y="1460832"/>
            <a:ext cx="12176316" cy="454626"/>
          </a:xfrm>
          <a:prstGeom prst="rect">
            <a:avLst/>
          </a:prstGeom>
          <a:solidFill>
            <a:srgbClr val="1B2A4A"/>
          </a:solidFill>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TextBox 19">
            <a:extLst>
              <a:ext uri="{FF2B5EF4-FFF2-40B4-BE49-F238E27FC236}">
                <a16:creationId xmlns:a16="http://schemas.microsoft.com/office/drawing/2014/main" id="{0ABFEE0F-D920-7D78-5700-3EB45D18C2BD}"/>
              </a:ext>
            </a:extLst>
          </p:cNvPr>
          <p:cNvSpPr txBox="1"/>
          <p:nvPr/>
        </p:nvSpPr>
        <p:spPr>
          <a:xfrm>
            <a:off x="132569" y="1559800"/>
            <a:ext cx="795111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chemeClr val="bg1"/>
                </a:solidFill>
                <a:ea typeface="+mn-lt"/>
                <a:cs typeface="+mn-lt"/>
              </a:rPr>
              <a:t>A high score means nothing if every cell responded the same (bottom axis on each plot)</a:t>
            </a:r>
            <a:endParaRPr lang="en-US" sz="1400">
              <a:solidFill>
                <a:schemeClr val="bg1"/>
              </a:solidFill>
            </a:endParaRPr>
          </a:p>
        </p:txBody>
      </p:sp>
      <p:sp>
        <p:nvSpPr>
          <p:cNvPr id="25" name="Rounded Rectangle 29">
            <a:extLst>
              <a:ext uri="{FF2B5EF4-FFF2-40B4-BE49-F238E27FC236}">
                <a16:creationId xmlns:a16="http://schemas.microsoft.com/office/drawing/2014/main" id="{4DB37E7B-DCE7-2233-C28A-BC178551E3CD}"/>
              </a:ext>
            </a:extLst>
          </p:cNvPr>
          <p:cNvSpPr/>
          <p:nvPr/>
        </p:nvSpPr>
        <p:spPr>
          <a:xfrm>
            <a:off x="16201" y="6117595"/>
            <a:ext cx="12169241" cy="7502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E13138B7-650D-A7B3-B547-6666E897F0F9}"/>
              </a:ext>
            </a:extLst>
          </p:cNvPr>
          <p:cNvSpPr txBox="1"/>
          <p:nvPr/>
        </p:nvSpPr>
        <p:spPr>
          <a:xfrm>
            <a:off x="461422" y="5882667"/>
            <a:ext cx="11737301"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br>
              <a:rPr lang="en-US"/>
            </a:br>
            <a:r>
              <a:rPr lang="en-US" sz="1200">
                <a:solidFill>
                  <a:schemeClr val="bg1"/>
                </a:solidFill>
              </a:rPr>
              <a:t>Takeaway: Chemotherapy attacks any cell that's dividing quickly, and melanoma barely reacts to it in a dish — so all the cells survived and there was nothing for the model to spot. Dabrafenib is different: it only kills cells with the broken BRAF switch, so some died and some didn't. Those real differences are what the model learns from, which is why only the targeted drugs gave a result we can trust.</a:t>
            </a:r>
          </a:p>
          <a:p>
            <a:pPr algn="ctr"/>
            <a:endParaRPr lang="en-US" sz="1200"/>
          </a:p>
        </p:txBody>
      </p:sp>
      <p:sp>
        <p:nvSpPr>
          <p:cNvPr id="28" name="Oval 27">
            <a:extLst>
              <a:ext uri="{FF2B5EF4-FFF2-40B4-BE49-F238E27FC236}">
                <a16:creationId xmlns:a16="http://schemas.microsoft.com/office/drawing/2014/main" id="{E477E8D7-D409-A819-3574-140AC4C1ABFB}"/>
              </a:ext>
            </a:extLst>
          </p:cNvPr>
          <p:cNvSpPr/>
          <p:nvPr/>
        </p:nvSpPr>
        <p:spPr>
          <a:xfrm>
            <a:off x="186213" y="6300417"/>
            <a:ext cx="274320" cy="274320"/>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1481106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22BA1915-A20D-0505-FBFD-FCF0E81A8D9A}"/>
              </a:ext>
            </a:extLst>
          </p:cNvPr>
          <p:cNvSpPr/>
          <p:nvPr/>
        </p:nvSpPr>
        <p:spPr>
          <a:xfrm>
            <a:off x="4691269" y="3026977"/>
            <a:ext cx="6480313" cy="195236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1E3126-801E-0BAF-FC0B-080144D15919}"/>
              </a:ext>
            </a:extLst>
          </p:cNvPr>
          <p:cNvSpPr>
            <a:spLocks noGrp="1"/>
          </p:cNvSpPr>
          <p:nvPr>
            <p:ph type="title"/>
          </p:nvPr>
        </p:nvSpPr>
        <p:spPr>
          <a:xfrm>
            <a:off x="468574" y="415296"/>
            <a:ext cx="12114344" cy="1166726"/>
          </a:xfrm>
        </p:spPr>
        <p:txBody>
          <a:bodyPr>
            <a:normAutofit/>
          </a:bodyPr>
          <a:lstStyle/>
          <a:p>
            <a:r>
              <a:rPr lang="en-GB" sz="2800" b="1">
                <a:solidFill>
                  <a:schemeClr val="accent6">
                    <a:lumMod val="49000"/>
                  </a:schemeClr>
                </a:solidFill>
                <a:latin typeface="Arial"/>
                <a:ea typeface="+mj-lt"/>
                <a:cs typeface="Arial"/>
              </a:rPr>
              <a:t>Does it agree with the immunotherapy predictor?</a:t>
            </a:r>
            <a:r>
              <a:rPr lang="en-GB" sz="3200" b="1">
                <a:solidFill>
                  <a:schemeClr val="accent6">
                    <a:lumMod val="49000"/>
                  </a:schemeClr>
                </a:solidFill>
                <a:latin typeface="Arial"/>
                <a:ea typeface="+mj-lt"/>
                <a:cs typeface="Arial"/>
              </a:rPr>
              <a:t>”</a:t>
            </a:r>
            <a:endParaRPr lang="en-US" b="1">
              <a:solidFill>
                <a:schemeClr val="accent6">
                  <a:lumMod val="49000"/>
                </a:schemeClr>
              </a:solidFill>
              <a:latin typeface="Arial"/>
              <a:cs typeface="Arial"/>
            </a:endParaRPr>
          </a:p>
          <a:p>
            <a:endParaRPr lang="en-GB" sz="3200" b="1">
              <a:solidFill>
                <a:schemeClr val="accent6">
                  <a:lumMod val="49000"/>
                </a:schemeClr>
              </a:solidFill>
              <a:latin typeface="Arial"/>
              <a:cs typeface="Arial"/>
            </a:endParaRPr>
          </a:p>
        </p:txBody>
      </p:sp>
      <p:sp>
        <p:nvSpPr>
          <p:cNvPr id="5" name="Date Placeholder 4">
            <a:extLst>
              <a:ext uri="{FF2B5EF4-FFF2-40B4-BE49-F238E27FC236}">
                <a16:creationId xmlns:a16="http://schemas.microsoft.com/office/drawing/2014/main" id="{310D9AC0-2F55-EB5A-4F43-2E2A103AC48F}"/>
              </a:ext>
            </a:extLst>
          </p:cNvPr>
          <p:cNvSpPr>
            <a:spLocks noGrp="1"/>
          </p:cNvSpPr>
          <p:nvPr>
            <p:ph type="dt" sz="half" idx="10"/>
          </p:nvPr>
        </p:nvSpPr>
        <p:spPr/>
        <p:txBody>
          <a:bodyPr/>
          <a:lstStyle/>
          <a:p>
            <a:fld id="{64C8EDB2-72D9-4B6D-9E9C-C685F6EB63F4}" type="datetime1">
              <a:t>8/9/2026</a:t>
            </a:fld>
            <a:endParaRPr lang="en-US"/>
          </a:p>
        </p:txBody>
      </p:sp>
      <p:sp>
        <p:nvSpPr>
          <p:cNvPr id="3" name="Content Placeholder 2">
            <a:extLst>
              <a:ext uri="{FF2B5EF4-FFF2-40B4-BE49-F238E27FC236}">
                <a16:creationId xmlns:a16="http://schemas.microsoft.com/office/drawing/2014/main" id="{87DDE126-9AE2-49EA-310C-B255FCE7636B}"/>
              </a:ext>
            </a:extLst>
          </p:cNvPr>
          <p:cNvSpPr>
            <a:spLocks noGrp="1"/>
          </p:cNvSpPr>
          <p:nvPr>
            <p:ph idx="1"/>
          </p:nvPr>
        </p:nvSpPr>
        <p:spPr>
          <a:xfrm>
            <a:off x="6098602" y="2073912"/>
            <a:ext cx="3545956" cy="434680"/>
          </a:xfrm>
        </p:spPr>
        <p:txBody>
          <a:bodyPr vert="horz" lIns="91440" tIns="45720" rIns="91440" bIns="45720" rtlCol="0" anchor="t">
            <a:normAutofit/>
          </a:bodyPr>
          <a:lstStyle/>
          <a:p>
            <a:pPr marL="0" indent="0">
              <a:buNone/>
            </a:pPr>
            <a:r>
              <a:rPr lang="en-GB" sz="1400" b="1">
                <a:solidFill>
                  <a:srgbClr val="002060"/>
                </a:solidFill>
              </a:rPr>
              <a:t>DABRAFENIB vs Q1       PLX-4720 vs Q1</a:t>
            </a:r>
            <a:endParaRPr lang="en-GB" sz="1400" b="1">
              <a:solidFill>
                <a:srgbClr val="000000"/>
              </a:solidFill>
            </a:endParaRPr>
          </a:p>
          <a:p>
            <a:endParaRPr lang="en-GB"/>
          </a:p>
        </p:txBody>
      </p:sp>
      <p:sp>
        <p:nvSpPr>
          <p:cNvPr id="4" name="Footer Placeholder 3">
            <a:extLst>
              <a:ext uri="{FF2B5EF4-FFF2-40B4-BE49-F238E27FC236}">
                <a16:creationId xmlns:a16="http://schemas.microsoft.com/office/drawing/2014/main" id="{CB0992C1-E562-020F-9608-7FB60386766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A3D4E464-952D-A19F-0487-852D60DA5F20}"/>
              </a:ext>
            </a:extLst>
          </p:cNvPr>
          <p:cNvSpPr>
            <a:spLocks noGrp="1"/>
          </p:cNvSpPr>
          <p:nvPr>
            <p:ph type="sldNum" sz="quarter" idx="12"/>
          </p:nvPr>
        </p:nvSpPr>
        <p:spPr/>
        <p:txBody>
          <a:bodyPr/>
          <a:lstStyle/>
          <a:p>
            <a:fld id="{753D0FD4-819D-4187-8797-C35567B41C78}" type="slidenum">
              <a:rPr lang="en-US" dirty="0"/>
              <a:t>25</a:t>
            </a:fld>
            <a:endParaRPr lang="en-US"/>
          </a:p>
        </p:txBody>
      </p:sp>
      <p:sp>
        <p:nvSpPr>
          <p:cNvPr id="7" name="TextBox 6">
            <a:extLst>
              <a:ext uri="{FF2B5EF4-FFF2-40B4-BE49-F238E27FC236}">
                <a16:creationId xmlns:a16="http://schemas.microsoft.com/office/drawing/2014/main" id="{D39F42FA-E353-1C0C-938D-63472C6B66DE}"/>
              </a:ext>
            </a:extLst>
          </p:cNvPr>
          <p:cNvSpPr txBox="1"/>
          <p:nvPr/>
        </p:nvSpPr>
        <p:spPr>
          <a:xfrm>
            <a:off x="794892" y="1252640"/>
            <a:ext cx="11040776" cy="13542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solidFill>
                  <a:srgbClr val="52514E"/>
                </a:solidFill>
                <a:ea typeface="+mn-lt"/>
                <a:cs typeface="+mn-lt"/>
              </a:rPr>
              <a:t>Barely — immunotherapy response and drug-induced viability measure different biological outcomes,</a:t>
            </a:r>
            <a:endParaRPr lang="en-US">
              <a:ea typeface="+mn-lt"/>
              <a:cs typeface="+mn-lt"/>
            </a:endParaRPr>
          </a:p>
          <a:p>
            <a:endParaRPr lang="en-US" sz="1400" b="1" i="1">
              <a:solidFill>
                <a:srgbClr val="52514E"/>
              </a:solidFill>
            </a:endParaRPr>
          </a:p>
          <a:p>
            <a:endParaRPr lang="en-US">
              <a:solidFill>
                <a:srgbClr val="0B0B0B"/>
              </a:solidFill>
              <a:latin typeface="Anthropic Sans"/>
            </a:endParaRPr>
          </a:p>
          <a:p>
            <a:endParaRPr lang="en-US"/>
          </a:p>
          <a:p>
            <a:pPr algn="ctr"/>
            <a:endParaRPr lang="en-US"/>
          </a:p>
        </p:txBody>
      </p:sp>
      <p:sp>
        <p:nvSpPr>
          <p:cNvPr id="10" name="Rounded Rectangle 29">
            <a:extLst>
              <a:ext uri="{FF2B5EF4-FFF2-40B4-BE49-F238E27FC236}">
                <a16:creationId xmlns:a16="http://schemas.microsoft.com/office/drawing/2014/main" id="{F14B973E-A4C0-B6CD-865B-556D320C39CA}"/>
              </a:ext>
            </a:extLst>
          </p:cNvPr>
          <p:cNvSpPr/>
          <p:nvPr/>
        </p:nvSpPr>
        <p:spPr>
          <a:xfrm>
            <a:off x="-2623" y="6285985"/>
            <a:ext cx="12212373" cy="577681"/>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3F78C86E-4129-7040-9D7A-AEAF3ADECDBF}"/>
              </a:ext>
            </a:extLst>
          </p:cNvPr>
          <p:cNvSpPr txBox="1"/>
          <p:nvPr/>
        </p:nvSpPr>
        <p:spPr>
          <a:xfrm>
            <a:off x="465144" y="6210656"/>
            <a:ext cx="1172313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br>
              <a:rPr lang="en-US" sz="1200"/>
            </a:br>
            <a:r>
              <a:rPr lang="en-US" sz="1200" b="0" i="0">
                <a:solidFill>
                  <a:srgbClr val="FFFFFF"/>
                </a:solidFill>
                <a:latin typeface="Anthropic Sans"/>
                <a:ea typeface="Anthropic Sans"/>
                <a:cs typeface="Anthropic Sans"/>
              </a:rPr>
              <a:t>Takeaway: </a:t>
            </a:r>
            <a:r>
              <a:rPr lang="en-US" sz="1200">
                <a:solidFill>
                  <a:srgbClr val="FFFFFF"/>
                </a:solidFill>
                <a:ea typeface="+mn-lt"/>
                <a:cs typeface="+mn-lt"/>
              </a:rPr>
              <a:t>Weak agreement is expected. BRAF drugs block a protein inside the </a:t>
            </a:r>
            <a:r>
              <a:rPr lang="en-US" sz="1200" err="1">
                <a:solidFill>
                  <a:srgbClr val="FFFFFF"/>
                </a:solidFill>
                <a:ea typeface="+mn-lt"/>
                <a:cs typeface="+mn-lt"/>
              </a:rPr>
              <a:t>tumour</a:t>
            </a:r>
            <a:r>
              <a:rPr lang="en-US" sz="1200">
                <a:solidFill>
                  <a:srgbClr val="FFFFFF"/>
                </a:solidFill>
                <a:ea typeface="+mn-lt"/>
                <a:cs typeface="+mn-lt"/>
              </a:rPr>
              <a:t> cell, while immunotherapy works through the immune system, and my cells had no immune system at all. The two models measure different things, which is exactly why you'd run both.</a:t>
            </a:r>
            <a:endParaRPr lang="en-US" sz="1200">
              <a:solidFill>
                <a:srgbClr val="FFFFFF"/>
              </a:solidFill>
              <a:latin typeface="Anthropic Sans"/>
            </a:endParaRPr>
          </a:p>
        </p:txBody>
      </p:sp>
      <p:pic>
        <p:nvPicPr>
          <p:cNvPr id="11" name="Picture 10">
            <a:extLst>
              <a:ext uri="{FF2B5EF4-FFF2-40B4-BE49-F238E27FC236}">
                <a16:creationId xmlns:a16="http://schemas.microsoft.com/office/drawing/2014/main" id="{0573DB35-074E-5BBF-8896-4B58EFCF047A}"/>
              </a:ext>
            </a:extLst>
          </p:cNvPr>
          <p:cNvPicPr>
            <a:picLocks noChangeAspect="1"/>
          </p:cNvPicPr>
          <p:nvPr/>
        </p:nvPicPr>
        <p:blipFill>
          <a:blip r:embed="rId2"/>
          <a:stretch>
            <a:fillRect/>
          </a:stretch>
        </p:blipFill>
        <p:spPr>
          <a:xfrm>
            <a:off x="320502" y="2148950"/>
            <a:ext cx="3739126" cy="3102822"/>
          </a:xfrm>
          <a:prstGeom prst="rect">
            <a:avLst/>
          </a:prstGeom>
        </p:spPr>
      </p:pic>
      <p:sp>
        <p:nvSpPr>
          <p:cNvPr id="12" name="TextBox 11">
            <a:extLst>
              <a:ext uri="{FF2B5EF4-FFF2-40B4-BE49-F238E27FC236}">
                <a16:creationId xmlns:a16="http://schemas.microsoft.com/office/drawing/2014/main" id="{FA794C3C-E226-966C-41B5-15CEA775D65F}"/>
              </a:ext>
            </a:extLst>
          </p:cNvPr>
          <p:cNvSpPr txBox="1"/>
          <p:nvPr/>
        </p:nvSpPr>
        <p:spPr>
          <a:xfrm>
            <a:off x="465971" y="5314812"/>
            <a:ext cx="3448187" cy="6572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1" i="0">
                <a:solidFill>
                  <a:srgbClr val="52514E"/>
                </a:solidFill>
                <a:latin typeface="Anthropic Sans"/>
                <a:ea typeface="Anthropic Sans"/>
                <a:cs typeface="Anthropic Sans"/>
              </a:rPr>
              <a:t>Each dot is one patient. The red line slopes down slightly, but the dots are a loose cloud rather than a line.</a:t>
            </a:r>
            <a:endParaRPr lang="en-US" sz="900" b="1"/>
          </a:p>
          <a:p>
            <a:pPr algn="ctr"/>
            <a:endParaRPr lang="en-US"/>
          </a:p>
        </p:txBody>
      </p:sp>
      <p:sp>
        <p:nvSpPr>
          <p:cNvPr id="13" name="TextBox 12">
            <a:extLst>
              <a:ext uri="{FF2B5EF4-FFF2-40B4-BE49-F238E27FC236}">
                <a16:creationId xmlns:a16="http://schemas.microsoft.com/office/drawing/2014/main" id="{FB6AFB81-9F44-05BD-81CB-1988D6CCFA64}"/>
              </a:ext>
            </a:extLst>
          </p:cNvPr>
          <p:cNvSpPr txBox="1"/>
          <p:nvPr/>
        </p:nvSpPr>
        <p:spPr>
          <a:xfrm>
            <a:off x="6501669" y="2392899"/>
            <a:ext cx="98676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185FA5"/>
                </a:solidFill>
                <a:latin typeface="Anthropic Sans"/>
                <a:ea typeface="Anthropic Sans"/>
                <a:cs typeface="Anthropic Sans"/>
              </a:rPr>
              <a:t>-</a:t>
            </a:r>
            <a:r>
              <a:rPr lang="en-US" b="0" i="0">
                <a:solidFill>
                  <a:srgbClr val="185FA5"/>
                </a:solidFill>
                <a:latin typeface="Anthropic Sans"/>
                <a:ea typeface="Anthropic Sans"/>
                <a:cs typeface="Anthropic Sans"/>
              </a:rPr>
              <a:t>0.178</a:t>
            </a:r>
            <a:endParaRPr lang="en-US"/>
          </a:p>
          <a:p>
            <a:pPr algn="ctr"/>
            <a:endParaRPr lang="en-US"/>
          </a:p>
        </p:txBody>
      </p:sp>
      <p:sp>
        <p:nvSpPr>
          <p:cNvPr id="14" name="TextBox 13">
            <a:extLst>
              <a:ext uri="{FF2B5EF4-FFF2-40B4-BE49-F238E27FC236}">
                <a16:creationId xmlns:a16="http://schemas.microsoft.com/office/drawing/2014/main" id="{A9BB1E30-F8C7-AF44-65B7-AD33C0C98DB9}"/>
              </a:ext>
            </a:extLst>
          </p:cNvPr>
          <p:cNvSpPr txBox="1"/>
          <p:nvPr/>
        </p:nvSpPr>
        <p:spPr>
          <a:xfrm>
            <a:off x="8151755" y="2392899"/>
            <a:ext cx="9758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0" i="0">
                <a:solidFill>
                  <a:srgbClr val="5F5E5A"/>
                </a:solidFill>
                <a:latin typeface="Anthropic Sans"/>
                <a:ea typeface="Anthropic Sans"/>
                <a:cs typeface="Anthropic Sans"/>
              </a:rPr>
              <a:t>−0.004</a:t>
            </a:r>
            <a:endParaRPr lang="en-US"/>
          </a:p>
          <a:p>
            <a:pPr algn="ctr"/>
            <a:endParaRPr lang="en-US"/>
          </a:p>
        </p:txBody>
      </p:sp>
      <p:sp>
        <p:nvSpPr>
          <p:cNvPr id="15" name="TextBox 14">
            <a:extLst>
              <a:ext uri="{FF2B5EF4-FFF2-40B4-BE49-F238E27FC236}">
                <a16:creationId xmlns:a16="http://schemas.microsoft.com/office/drawing/2014/main" id="{0B09EFB3-22C6-E4A6-6167-FA26967F6705}"/>
              </a:ext>
            </a:extLst>
          </p:cNvPr>
          <p:cNvSpPr txBox="1"/>
          <p:nvPr/>
        </p:nvSpPr>
        <p:spPr>
          <a:xfrm>
            <a:off x="4818691" y="3094597"/>
            <a:ext cx="6096000" cy="19697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nthropic Sans"/>
              </a:rPr>
              <a:t>What the weak </a:t>
            </a:r>
            <a:r>
              <a:rPr lang="en-US" b="1" err="1">
                <a:latin typeface="Anthropic Sans"/>
              </a:rPr>
              <a:t>correllation</a:t>
            </a:r>
            <a:r>
              <a:rPr lang="en-US" b="1">
                <a:latin typeface="Anthropic Sans"/>
              </a:rPr>
              <a:t> tells us</a:t>
            </a:r>
            <a:endParaRPr lang="en-US"/>
          </a:p>
          <a:p>
            <a:endParaRPr lang="en-US" sz="1600" b="1">
              <a:solidFill>
                <a:srgbClr val="854F0B"/>
              </a:solidFill>
              <a:latin typeface="Anthropic Sans"/>
              <a:ea typeface="Anthropic Sans"/>
              <a:cs typeface="Anthropic Sans"/>
            </a:endParaRPr>
          </a:p>
          <a:p>
            <a:r>
              <a:rPr lang="en-US" sz="1400">
                <a:ea typeface="+mn-lt"/>
                <a:cs typeface="+mn-lt"/>
              </a:rPr>
              <a:t>0.178 is close to zero, meaning almost no relationship between the two predictions. The negative sign lines up with the fact that the scales run opposite ways, high viability is bad, high response is good, but the size of the number matters more than the sign, and this one is too small to call it agreement.</a:t>
            </a:r>
            <a:endParaRPr lang="en-US">
              <a:ea typeface="+mn-lt"/>
              <a:cs typeface="+mn-lt"/>
            </a:endParaRPr>
          </a:p>
          <a:p>
            <a:pPr algn="ctr"/>
            <a:endParaRPr lang="en-US"/>
          </a:p>
        </p:txBody>
      </p:sp>
      <p:sp>
        <p:nvSpPr>
          <p:cNvPr id="19" name="Oval 18">
            <a:extLst>
              <a:ext uri="{FF2B5EF4-FFF2-40B4-BE49-F238E27FC236}">
                <a16:creationId xmlns:a16="http://schemas.microsoft.com/office/drawing/2014/main" id="{9F8E09AE-E736-1050-5A5A-296DEC79A128}"/>
              </a:ext>
            </a:extLst>
          </p:cNvPr>
          <p:cNvSpPr/>
          <p:nvPr/>
        </p:nvSpPr>
        <p:spPr>
          <a:xfrm>
            <a:off x="175560" y="6440053"/>
            <a:ext cx="274320" cy="274320"/>
          </a:xfrm>
          <a:prstGeom prst="ellipse">
            <a:avLst/>
          </a:prstGeom>
          <a:solidFill>
            <a:srgbClr val="E07B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4278594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24BDB7-A184-AF0D-8DD7-FD994913580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868CE3-560C-2A6C-D628-B1264D07DB7E}"/>
              </a:ext>
            </a:extLst>
          </p:cNvPr>
          <p:cNvSpPr>
            <a:spLocks noGrp="1"/>
          </p:cNvSpPr>
          <p:nvPr>
            <p:ph type="ftr" sz="quarter" idx="11"/>
          </p:nvPr>
        </p:nvSpPr>
        <p:spPr/>
        <p:txBody>
          <a:bodyPr/>
          <a:lstStyle/>
          <a:p>
            <a:r>
              <a:rPr lang="en-US"/>
              <a:t>
</a:t>
            </a:r>
          </a:p>
        </p:txBody>
      </p:sp>
      <p:sp>
        <p:nvSpPr>
          <p:cNvPr id="3" name="Date Placeholder 2">
            <a:extLst>
              <a:ext uri="{FF2B5EF4-FFF2-40B4-BE49-F238E27FC236}">
                <a16:creationId xmlns:a16="http://schemas.microsoft.com/office/drawing/2014/main" id="{CF42A3D5-3571-6118-C5BD-DDB0BEA82124}"/>
              </a:ext>
            </a:extLst>
          </p:cNvPr>
          <p:cNvSpPr>
            <a:spLocks noGrp="1"/>
          </p:cNvSpPr>
          <p:nvPr>
            <p:ph type="dt" sz="half" idx="10"/>
          </p:nvPr>
        </p:nvSpPr>
        <p:spPr/>
        <p:txBody>
          <a:bodyPr/>
          <a:lstStyle/>
          <a:p>
            <a:fld id="{8D0AFB9A-218D-47B3-804F-AED8F3B5451D}" type="datetime1">
              <a:t>8/9/2026</a:t>
            </a:fld>
            <a:endParaRPr lang="en-US"/>
          </a:p>
        </p:txBody>
      </p:sp>
      <p:sp>
        <p:nvSpPr>
          <p:cNvPr id="4" name="Slide Number Placeholder 3">
            <a:extLst>
              <a:ext uri="{FF2B5EF4-FFF2-40B4-BE49-F238E27FC236}">
                <a16:creationId xmlns:a16="http://schemas.microsoft.com/office/drawing/2014/main" id="{0D270866-6950-53B8-7777-897CC077BB36}"/>
              </a:ext>
            </a:extLst>
          </p:cNvPr>
          <p:cNvSpPr>
            <a:spLocks noGrp="1"/>
          </p:cNvSpPr>
          <p:nvPr>
            <p:ph type="sldNum" sz="quarter" idx="12"/>
          </p:nvPr>
        </p:nvSpPr>
        <p:spPr/>
        <p:txBody>
          <a:bodyPr/>
          <a:lstStyle/>
          <a:p>
            <a:fld id="{753D0FD4-819D-4187-8797-C35567B41C78}" type="slidenum">
              <a:rPr lang="en-US" dirty="0"/>
              <a:t>26</a:t>
            </a:fld>
            <a:endParaRPr lang="en-US"/>
          </a:p>
        </p:txBody>
      </p:sp>
      <p:sp>
        <p:nvSpPr>
          <p:cNvPr id="5" name="Text 0">
            <a:extLst>
              <a:ext uri="{FF2B5EF4-FFF2-40B4-BE49-F238E27FC236}">
                <a16:creationId xmlns:a16="http://schemas.microsoft.com/office/drawing/2014/main" id="{B3A36F3A-7F50-F315-486A-C6492E0E0831}"/>
              </a:ext>
            </a:extLst>
          </p:cNvPr>
          <p:cNvSpPr/>
          <p:nvPr/>
        </p:nvSpPr>
        <p:spPr>
          <a:xfrm>
            <a:off x="1178999" y="2655154"/>
            <a:ext cx="9359672" cy="1545441"/>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700" b="1">
                <a:solidFill>
                  <a:srgbClr val="000000"/>
                </a:solidFill>
                <a:ea typeface="+mn-lt"/>
                <a:cs typeface="+mn-lt"/>
              </a:rPr>
              <a:t>Can </a:t>
            </a:r>
            <a:r>
              <a:rPr lang="en-US" sz="2700" b="1" err="1">
                <a:solidFill>
                  <a:srgbClr val="000000"/>
                </a:solidFill>
                <a:ea typeface="+mn-lt"/>
                <a:cs typeface="+mn-lt"/>
              </a:rPr>
              <a:t>DepMap</a:t>
            </a:r>
            <a:r>
              <a:rPr lang="en-US" sz="2700" b="1">
                <a:solidFill>
                  <a:srgbClr val="000000"/>
                </a:solidFill>
                <a:ea typeface="+mn-lt"/>
                <a:cs typeface="+mn-lt"/>
              </a:rPr>
              <a:t> dependency and expression data identify melanoma-selective vulnerabilities and nominate potential new drug targets?</a:t>
            </a:r>
            <a:endParaRPr lang="en-US" b="1"/>
          </a:p>
        </p:txBody>
      </p:sp>
      <p:sp>
        <p:nvSpPr>
          <p:cNvPr id="6" name="Shape 1">
            <a:extLst>
              <a:ext uri="{FF2B5EF4-FFF2-40B4-BE49-F238E27FC236}">
                <a16:creationId xmlns:a16="http://schemas.microsoft.com/office/drawing/2014/main" id="{F2C39B65-6A7D-0EF9-7AF5-138F40F0F00F}"/>
              </a:ext>
            </a:extLst>
          </p:cNvPr>
          <p:cNvSpPr/>
          <p:nvPr/>
        </p:nvSpPr>
        <p:spPr>
          <a:xfrm>
            <a:off x="5175819" y="2385953"/>
            <a:ext cx="1371600" cy="41148"/>
          </a:xfrm>
          <a:prstGeom prst="rect">
            <a:avLst/>
          </a:prstGeom>
          <a:solidFill>
            <a:srgbClr val="E07B39"/>
          </a:solidFill>
          <a:ln w="12700">
            <a:solidFill>
              <a:srgbClr val="E07B39"/>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4" name="TextBox 83">
            <a:extLst>
              <a:ext uri="{FF2B5EF4-FFF2-40B4-BE49-F238E27FC236}">
                <a16:creationId xmlns:a16="http://schemas.microsoft.com/office/drawing/2014/main" id="{49364B55-E6FA-5E29-00BC-3EF8748FEB46}"/>
              </a:ext>
            </a:extLst>
          </p:cNvPr>
          <p:cNvSpPr txBox="1"/>
          <p:nvPr/>
        </p:nvSpPr>
        <p:spPr>
          <a:xfrm>
            <a:off x="4861034" y="1715814"/>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solidFill>
                  <a:srgbClr val="1B2A4A"/>
                </a:solidFill>
                <a:latin typeface="Calibri"/>
              </a:rPr>
              <a:t>Chapter 3</a:t>
            </a:r>
            <a:endParaRPr lang="en-US" sz="3600"/>
          </a:p>
          <a:p>
            <a:pPr algn="ctr"/>
            <a:endParaRPr lang="en-US"/>
          </a:p>
        </p:txBody>
      </p:sp>
      <p:sp>
        <p:nvSpPr>
          <p:cNvPr id="8" name="Arrow: Pentagon 7">
            <a:extLst>
              <a:ext uri="{FF2B5EF4-FFF2-40B4-BE49-F238E27FC236}">
                <a16:creationId xmlns:a16="http://schemas.microsoft.com/office/drawing/2014/main" id="{88CA1E8E-678F-8241-3514-14EF7BC96514}"/>
              </a:ext>
            </a:extLst>
          </p:cNvPr>
          <p:cNvSpPr/>
          <p:nvPr/>
        </p:nvSpPr>
        <p:spPr>
          <a:xfrm rot="5400000">
            <a:off x="9524999" y="567612"/>
            <a:ext cx="2328333" cy="1199444"/>
          </a:xfrm>
          <a:prstGeom prst="homePlate">
            <a:avLst/>
          </a:prstGeom>
          <a:solidFill>
            <a:srgbClr val="002060"/>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35113853-9EE9-AB39-BEAB-8F3AE74BCF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238342" y="621535"/>
            <a:ext cx="914400" cy="914400"/>
          </a:xfrm>
          <a:prstGeom prst="rect">
            <a:avLst/>
          </a:prstGeom>
        </p:spPr>
      </p:pic>
    </p:spTree>
    <p:extLst>
      <p:ext uri="{BB962C8B-B14F-4D97-AF65-F5344CB8AC3E}">
        <p14:creationId xmlns:p14="http://schemas.microsoft.com/office/powerpoint/2010/main" val="26107469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951051-A135-4768-F50A-20B28BDD0A4C}"/>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9AF43A20-FA59-0CC9-79A4-F8E3AC400F0E}"/>
              </a:ext>
            </a:extLst>
          </p:cNvPr>
          <p:cNvSpPr>
            <a:spLocks noGrp="1"/>
          </p:cNvSpPr>
          <p:nvPr>
            <p:ph type="dt" sz="half" idx="10"/>
          </p:nvPr>
        </p:nvSpPr>
        <p:spPr/>
        <p:txBody>
          <a:bodyPr/>
          <a:lstStyle/>
          <a:p>
            <a:fld id="{79DE17D0-60CD-46C9-BD04-B48B62216DD5}" type="datetime1">
              <a:t>8/9/2026</a:t>
            </a:fld>
            <a:endParaRPr lang="en-US"/>
          </a:p>
        </p:txBody>
      </p:sp>
      <p:sp>
        <p:nvSpPr>
          <p:cNvPr id="66" name="Text 0">
            <a:extLst>
              <a:ext uri="{FF2B5EF4-FFF2-40B4-BE49-F238E27FC236}">
                <a16:creationId xmlns:a16="http://schemas.microsoft.com/office/drawing/2014/main" id="{FFA85DB1-8E47-3D23-638A-8D40C0C891E3}"/>
              </a:ext>
            </a:extLst>
          </p:cNvPr>
          <p:cNvSpPr/>
          <p:nvPr/>
        </p:nvSpPr>
        <p:spPr>
          <a:xfrm>
            <a:off x="502920" y="320040"/>
            <a:ext cx="11247120" cy="4114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1">
                <a:solidFill>
                  <a:srgbClr val="17294D"/>
                </a:solidFill>
                <a:latin typeface="Calibri"/>
                <a:ea typeface="Calibri"/>
                <a:cs typeface="Calibri"/>
              </a:rPr>
              <a:t>3.1a </a:t>
            </a:r>
            <a:r>
              <a:rPr lang="en-US" sz="2700" b="1">
                <a:solidFill>
                  <a:srgbClr val="17294D"/>
                </a:solidFill>
                <a:latin typeface="Calibri"/>
                <a:ea typeface="Calibri"/>
                <a:cs typeface="Calibri"/>
              </a:rPr>
              <a:t>Methods</a:t>
            </a:r>
            <a:r>
              <a:rPr lang="en-US" sz="2400" b="1">
                <a:solidFill>
                  <a:srgbClr val="17294D"/>
                </a:solidFill>
                <a:latin typeface="Calibri"/>
                <a:ea typeface="Calibri"/>
                <a:cs typeface="Calibri"/>
              </a:rPr>
              <a:t> for </a:t>
            </a:r>
            <a:r>
              <a:rPr lang="en-US" sz="2400" b="1" err="1">
                <a:solidFill>
                  <a:srgbClr val="17294D"/>
                </a:solidFill>
                <a:latin typeface="Calibri"/>
                <a:ea typeface="Calibri"/>
                <a:cs typeface="Calibri"/>
              </a:rPr>
              <a:t>DepMap</a:t>
            </a:r>
            <a:r>
              <a:rPr lang="en-US" sz="2400" b="1">
                <a:solidFill>
                  <a:srgbClr val="17294D"/>
                </a:solidFill>
                <a:latin typeface="Calibri"/>
                <a:ea typeface="Calibri"/>
                <a:cs typeface="Calibri"/>
              </a:rPr>
              <a:t> dependency screen and ranking</a:t>
            </a:r>
            <a:endParaRPr lang="en-US" sz="2400" b="1">
              <a:latin typeface="Calibri"/>
              <a:ea typeface="Calibri"/>
              <a:cs typeface="Calibri"/>
            </a:endParaRPr>
          </a:p>
        </p:txBody>
      </p:sp>
      <p:sp>
        <p:nvSpPr>
          <p:cNvPr id="67" name="Shape 1">
            <a:extLst>
              <a:ext uri="{FF2B5EF4-FFF2-40B4-BE49-F238E27FC236}">
                <a16:creationId xmlns:a16="http://schemas.microsoft.com/office/drawing/2014/main" id="{1441498E-EA58-C08B-CD86-ECC64317C1B5}"/>
              </a:ext>
            </a:extLst>
          </p:cNvPr>
          <p:cNvSpPr/>
          <p:nvPr/>
        </p:nvSpPr>
        <p:spPr>
          <a:xfrm>
            <a:off x="512064" y="804672"/>
            <a:ext cx="1417320" cy="54864"/>
          </a:xfrm>
          <a:prstGeom prst="rect">
            <a:avLst/>
          </a:prstGeom>
          <a:solidFill>
            <a:srgbClr val="E67833"/>
          </a:solidFill>
          <a:ln w="12700">
            <a:solidFill>
              <a:srgbClr val="E67833"/>
            </a:solidFill>
            <a:prstDash val="solid"/>
          </a:ln>
        </p:spPr>
        <p:txBody>
          <a:bodyPr/>
          <a:lstStyle/>
          <a:p>
            <a:endParaRPr lang="en-US"/>
          </a:p>
        </p:txBody>
      </p:sp>
      <p:sp>
        <p:nvSpPr>
          <p:cNvPr id="68" name="Text 2">
            <a:extLst>
              <a:ext uri="{FF2B5EF4-FFF2-40B4-BE49-F238E27FC236}">
                <a16:creationId xmlns:a16="http://schemas.microsoft.com/office/drawing/2014/main" id="{01B9B67E-8584-629C-D6DD-7C61E819297F}"/>
              </a:ext>
            </a:extLst>
          </p:cNvPr>
          <p:cNvSpPr/>
          <p:nvPr/>
        </p:nvSpPr>
        <p:spPr>
          <a:xfrm>
            <a:off x="502920" y="969264"/>
            <a:ext cx="11064240"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i="1">
                <a:solidFill>
                  <a:srgbClr val="7E91A8"/>
                </a:solidFill>
              </a:rPr>
              <a:t>The screen first defined melanoma models, then compared CRISPR dependency in melanoma against all other cancer models.</a:t>
            </a:r>
            <a:endParaRPr lang="en-US" sz="1050"/>
          </a:p>
        </p:txBody>
      </p:sp>
      <p:sp>
        <p:nvSpPr>
          <p:cNvPr id="69" name="Shape 3">
            <a:extLst>
              <a:ext uri="{FF2B5EF4-FFF2-40B4-BE49-F238E27FC236}">
                <a16:creationId xmlns:a16="http://schemas.microsoft.com/office/drawing/2014/main" id="{9716CCE6-E7ED-6777-F8B8-7AEDDAE2BB02}"/>
              </a:ext>
            </a:extLst>
          </p:cNvPr>
          <p:cNvSpPr/>
          <p:nvPr/>
        </p:nvSpPr>
        <p:spPr>
          <a:xfrm>
            <a:off x="502920" y="1243584"/>
            <a:ext cx="2706624" cy="384048"/>
          </a:xfrm>
          <a:prstGeom prst="roundRect">
            <a:avLst>
              <a:gd name="adj" fmla="val 19048"/>
            </a:avLst>
          </a:prstGeom>
          <a:solidFill>
            <a:srgbClr val="0E7485"/>
          </a:solidFill>
          <a:ln w="12700">
            <a:solidFill>
              <a:srgbClr val="FFFFFF"/>
            </a:solidFill>
            <a:prstDash val="solid"/>
          </a:ln>
        </p:spPr>
        <p:txBody>
          <a:bodyPr/>
          <a:lstStyle/>
          <a:p>
            <a:endParaRPr lang="en-US"/>
          </a:p>
        </p:txBody>
      </p:sp>
      <p:sp>
        <p:nvSpPr>
          <p:cNvPr id="70" name="Text 4">
            <a:extLst>
              <a:ext uri="{FF2B5EF4-FFF2-40B4-BE49-F238E27FC236}">
                <a16:creationId xmlns:a16="http://schemas.microsoft.com/office/drawing/2014/main" id="{DCD21ED4-4E46-1AD8-7BFB-652C5B79EA4A}"/>
              </a:ext>
            </a:extLst>
          </p:cNvPr>
          <p:cNvSpPr/>
          <p:nvPr/>
        </p:nvSpPr>
        <p:spPr>
          <a:xfrm>
            <a:off x="548640" y="1362456"/>
            <a:ext cx="2615184" cy="12801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a:solidFill>
                  <a:srgbClr val="FFFFFF"/>
                </a:solidFill>
              </a:rPr>
              <a:t>DepMap inputs</a:t>
            </a:r>
            <a:endParaRPr lang="en-US" sz="850"/>
          </a:p>
        </p:txBody>
      </p:sp>
      <p:sp>
        <p:nvSpPr>
          <p:cNvPr id="71" name="Shape 5">
            <a:extLst>
              <a:ext uri="{FF2B5EF4-FFF2-40B4-BE49-F238E27FC236}">
                <a16:creationId xmlns:a16="http://schemas.microsoft.com/office/drawing/2014/main" id="{50827FD2-6C62-72BE-C76F-96C3A01ACCA1}"/>
              </a:ext>
            </a:extLst>
          </p:cNvPr>
          <p:cNvSpPr/>
          <p:nvPr/>
        </p:nvSpPr>
        <p:spPr>
          <a:xfrm>
            <a:off x="3319272" y="1243584"/>
            <a:ext cx="2706624" cy="384048"/>
          </a:xfrm>
          <a:prstGeom prst="roundRect">
            <a:avLst>
              <a:gd name="adj" fmla="val 19048"/>
            </a:avLst>
          </a:prstGeom>
          <a:solidFill>
            <a:srgbClr val="EAF1F7"/>
          </a:solidFill>
          <a:ln w="12700">
            <a:solidFill>
              <a:srgbClr val="D7E1EA"/>
            </a:solidFill>
            <a:prstDash val="solid"/>
          </a:ln>
        </p:spPr>
        <p:txBody>
          <a:bodyPr/>
          <a:lstStyle/>
          <a:p>
            <a:endParaRPr lang="en-US"/>
          </a:p>
        </p:txBody>
      </p:sp>
      <p:sp>
        <p:nvSpPr>
          <p:cNvPr id="72" name="Text 6">
            <a:extLst>
              <a:ext uri="{FF2B5EF4-FFF2-40B4-BE49-F238E27FC236}">
                <a16:creationId xmlns:a16="http://schemas.microsoft.com/office/drawing/2014/main" id="{A9D7B18A-E227-33F7-70CF-BD888024B2D2}"/>
              </a:ext>
            </a:extLst>
          </p:cNvPr>
          <p:cNvSpPr/>
          <p:nvPr/>
        </p:nvSpPr>
        <p:spPr>
          <a:xfrm>
            <a:off x="3364992" y="1362456"/>
            <a:ext cx="2615184" cy="12801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a:solidFill>
                  <a:srgbClr val="17294D"/>
                </a:solidFill>
              </a:rPr>
              <a:t>Explicit melanoma group</a:t>
            </a:r>
            <a:endParaRPr lang="en-US" sz="850"/>
          </a:p>
        </p:txBody>
      </p:sp>
      <p:sp>
        <p:nvSpPr>
          <p:cNvPr id="73" name="Shape 7">
            <a:extLst>
              <a:ext uri="{FF2B5EF4-FFF2-40B4-BE49-F238E27FC236}">
                <a16:creationId xmlns:a16="http://schemas.microsoft.com/office/drawing/2014/main" id="{EC8B0C3E-943B-FFE2-9E45-C948FC5363C8}"/>
              </a:ext>
            </a:extLst>
          </p:cNvPr>
          <p:cNvSpPr/>
          <p:nvPr/>
        </p:nvSpPr>
        <p:spPr>
          <a:xfrm>
            <a:off x="6135624" y="1243584"/>
            <a:ext cx="2706624" cy="384048"/>
          </a:xfrm>
          <a:prstGeom prst="roundRect">
            <a:avLst>
              <a:gd name="adj" fmla="val 19048"/>
            </a:avLst>
          </a:prstGeom>
          <a:solidFill>
            <a:srgbClr val="EAF1F7"/>
          </a:solidFill>
          <a:ln w="12700">
            <a:solidFill>
              <a:srgbClr val="D7E1EA"/>
            </a:solidFill>
            <a:prstDash val="solid"/>
          </a:ln>
        </p:spPr>
        <p:txBody>
          <a:bodyPr/>
          <a:lstStyle/>
          <a:p>
            <a:endParaRPr lang="en-US"/>
          </a:p>
        </p:txBody>
      </p:sp>
      <p:sp>
        <p:nvSpPr>
          <p:cNvPr id="74" name="Text 8">
            <a:extLst>
              <a:ext uri="{FF2B5EF4-FFF2-40B4-BE49-F238E27FC236}">
                <a16:creationId xmlns:a16="http://schemas.microsoft.com/office/drawing/2014/main" id="{3A2CAAA6-9737-8B4C-DF7C-8E05B671B8B3}"/>
              </a:ext>
            </a:extLst>
          </p:cNvPr>
          <p:cNvSpPr/>
          <p:nvPr/>
        </p:nvSpPr>
        <p:spPr>
          <a:xfrm>
            <a:off x="6181344" y="1362456"/>
            <a:ext cx="2615184" cy="12801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a:solidFill>
                  <a:srgbClr val="17294D"/>
                </a:solidFill>
              </a:rPr>
              <a:t>Gene-level statistics</a:t>
            </a:r>
            <a:endParaRPr lang="en-US" sz="850"/>
          </a:p>
        </p:txBody>
      </p:sp>
      <p:sp>
        <p:nvSpPr>
          <p:cNvPr id="75" name="Shape 9">
            <a:extLst>
              <a:ext uri="{FF2B5EF4-FFF2-40B4-BE49-F238E27FC236}">
                <a16:creationId xmlns:a16="http://schemas.microsoft.com/office/drawing/2014/main" id="{F344A528-051E-7406-B739-48B38F52B488}"/>
              </a:ext>
            </a:extLst>
          </p:cNvPr>
          <p:cNvSpPr/>
          <p:nvPr/>
        </p:nvSpPr>
        <p:spPr>
          <a:xfrm>
            <a:off x="8951976" y="1243584"/>
            <a:ext cx="2706624" cy="384048"/>
          </a:xfrm>
          <a:prstGeom prst="roundRect">
            <a:avLst>
              <a:gd name="adj" fmla="val 19048"/>
            </a:avLst>
          </a:prstGeom>
          <a:solidFill>
            <a:srgbClr val="E67833"/>
          </a:solidFill>
          <a:ln w="12700">
            <a:solidFill>
              <a:srgbClr val="FFFFFF"/>
            </a:solidFill>
            <a:prstDash val="solid"/>
          </a:ln>
        </p:spPr>
        <p:txBody>
          <a:bodyPr/>
          <a:lstStyle/>
          <a:p>
            <a:endParaRPr lang="en-US"/>
          </a:p>
        </p:txBody>
      </p:sp>
      <p:sp>
        <p:nvSpPr>
          <p:cNvPr id="76" name="Text 10">
            <a:extLst>
              <a:ext uri="{FF2B5EF4-FFF2-40B4-BE49-F238E27FC236}">
                <a16:creationId xmlns:a16="http://schemas.microsoft.com/office/drawing/2014/main" id="{C422E252-AFC4-5333-BEDD-159ED58A5A4D}"/>
              </a:ext>
            </a:extLst>
          </p:cNvPr>
          <p:cNvSpPr/>
          <p:nvPr/>
        </p:nvSpPr>
        <p:spPr>
          <a:xfrm>
            <a:off x="8997696" y="1362456"/>
            <a:ext cx="2615184" cy="12801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a:solidFill>
                  <a:srgbClr val="FFFFFF"/>
                </a:solidFill>
              </a:rPr>
              <a:t>Candidate ranking</a:t>
            </a:r>
            <a:endParaRPr lang="en-US" sz="850"/>
          </a:p>
        </p:txBody>
      </p:sp>
      <p:sp>
        <p:nvSpPr>
          <p:cNvPr id="77" name="Shape 11">
            <a:extLst>
              <a:ext uri="{FF2B5EF4-FFF2-40B4-BE49-F238E27FC236}">
                <a16:creationId xmlns:a16="http://schemas.microsoft.com/office/drawing/2014/main" id="{A51F5718-2E3E-C537-5274-968145A4E6E1}"/>
              </a:ext>
            </a:extLst>
          </p:cNvPr>
          <p:cNvSpPr/>
          <p:nvPr/>
        </p:nvSpPr>
        <p:spPr>
          <a:xfrm>
            <a:off x="502920" y="1810512"/>
            <a:ext cx="2788920" cy="4297680"/>
          </a:xfrm>
          <a:prstGeom prst="roundRect">
            <a:avLst>
              <a:gd name="adj" fmla="val 2623"/>
            </a:avLst>
          </a:prstGeom>
          <a:solidFill>
            <a:srgbClr val="FFFFFF"/>
          </a:solidFill>
          <a:ln w="12700">
            <a:solidFill>
              <a:srgbClr val="D7E1EA"/>
            </a:solidFill>
            <a:prstDash val="solid"/>
          </a:ln>
        </p:spPr>
        <p:txBody>
          <a:bodyPr/>
          <a:lstStyle/>
          <a:p>
            <a:endParaRPr lang="en-US"/>
          </a:p>
        </p:txBody>
      </p:sp>
      <p:sp>
        <p:nvSpPr>
          <p:cNvPr id="78" name="Shape 12">
            <a:extLst>
              <a:ext uri="{FF2B5EF4-FFF2-40B4-BE49-F238E27FC236}">
                <a16:creationId xmlns:a16="http://schemas.microsoft.com/office/drawing/2014/main" id="{4502E779-D080-D157-A106-3652DA4B5A83}"/>
              </a:ext>
            </a:extLst>
          </p:cNvPr>
          <p:cNvSpPr/>
          <p:nvPr/>
        </p:nvSpPr>
        <p:spPr>
          <a:xfrm>
            <a:off x="576072" y="1883664"/>
            <a:ext cx="2642616" cy="329184"/>
          </a:xfrm>
          <a:prstGeom prst="roundRect">
            <a:avLst>
              <a:gd name="adj" fmla="val 22222"/>
            </a:avLst>
          </a:prstGeom>
          <a:solidFill>
            <a:srgbClr val="17294D"/>
          </a:solidFill>
          <a:ln w="12700">
            <a:solidFill>
              <a:srgbClr val="17294D"/>
            </a:solidFill>
            <a:prstDash val="solid"/>
          </a:ln>
        </p:spPr>
        <p:txBody>
          <a:bodyPr/>
          <a:lstStyle/>
          <a:p>
            <a:endParaRPr lang="en-US"/>
          </a:p>
        </p:txBody>
      </p:sp>
      <p:sp>
        <p:nvSpPr>
          <p:cNvPr id="79" name="Text 13">
            <a:extLst>
              <a:ext uri="{FF2B5EF4-FFF2-40B4-BE49-F238E27FC236}">
                <a16:creationId xmlns:a16="http://schemas.microsoft.com/office/drawing/2014/main" id="{CFC80DCE-FF9A-547E-1D0E-FA4BBEDA6C69}"/>
              </a:ext>
            </a:extLst>
          </p:cNvPr>
          <p:cNvSpPr/>
          <p:nvPr/>
        </p:nvSpPr>
        <p:spPr>
          <a:xfrm>
            <a:off x="640080" y="1975104"/>
            <a:ext cx="2514600" cy="12801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20" b="1">
                <a:solidFill>
                  <a:srgbClr val="FFFFFF"/>
                </a:solidFill>
              </a:rPr>
              <a:t>1. Cohort and matrices</a:t>
            </a:r>
            <a:endParaRPr lang="en-US" sz="920"/>
          </a:p>
        </p:txBody>
      </p:sp>
      <p:sp>
        <p:nvSpPr>
          <p:cNvPr id="80" name="Text 14">
            <a:extLst>
              <a:ext uri="{FF2B5EF4-FFF2-40B4-BE49-F238E27FC236}">
                <a16:creationId xmlns:a16="http://schemas.microsoft.com/office/drawing/2014/main" id="{077DF99E-9D14-F2BE-5BAF-5B63A0DA619F}"/>
              </a:ext>
            </a:extLst>
          </p:cNvPr>
          <p:cNvSpPr/>
          <p:nvPr/>
        </p:nvSpPr>
        <p:spPr>
          <a:xfrm>
            <a:off x="713232" y="2350008"/>
            <a:ext cx="2377440" cy="2057400"/>
          </a:xfrm>
          <a:prstGeom prst="rect">
            <a:avLst/>
          </a:prstGeom>
          <a:noFill/>
          <a:ln/>
        </p:spPr>
        <p:txBody>
          <a:bodyPr wrap="square" lIns="381" tIns="381" rIns="381" bIns="381"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a:solidFill>
                  <a:srgbClr val="172033"/>
                </a:solidFill>
              </a:rPr>
              <a:t>• </a:t>
            </a:r>
            <a:r>
              <a:rPr lang="en-US" sz="1100">
                <a:solidFill>
                  <a:srgbClr val="172033"/>
                </a:solidFill>
              </a:rPr>
              <a:t>Inputs: Model metadata, CRISPR Chronos gene-effect scores, dependency probabilities, RNA expression, and inferred common-essential genes.
</a:t>
            </a:r>
            <a:r>
              <a:rPr lang="en-US" sz="1100" b="1">
                <a:solidFill>
                  <a:srgbClr val="172033"/>
                </a:solidFill>
              </a:rPr>
              <a:t>• </a:t>
            </a:r>
            <a:r>
              <a:rPr lang="en-US" sz="1100">
                <a:solidFill>
                  <a:srgbClr val="172033"/>
                </a:solidFill>
              </a:rPr>
              <a:t>Melanoma models were selected from </a:t>
            </a:r>
            <a:r>
              <a:rPr lang="en-US" sz="1100" err="1">
                <a:solidFill>
                  <a:srgbClr val="172033"/>
                </a:solidFill>
              </a:rPr>
              <a:t>OncoTree</a:t>
            </a:r>
            <a:r>
              <a:rPr lang="en-US" sz="1100">
                <a:solidFill>
                  <a:srgbClr val="172033"/>
                </a:solidFill>
              </a:rPr>
              <a:t> </a:t>
            </a:r>
            <a:r>
              <a:rPr lang="en-US" sz="1100" err="1">
                <a:solidFill>
                  <a:srgbClr val="172033"/>
                </a:solidFill>
              </a:rPr>
              <a:t>PrimaryDisease</a:t>
            </a:r>
            <a:r>
              <a:rPr lang="en-US" sz="1100">
                <a:solidFill>
                  <a:srgbClr val="172033"/>
                </a:solidFill>
              </a:rPr>
              <a:t>/Subtype, avoiding a broad “Skin” lineage definition.
</a:t>
            </a:r>
            <a:r>
              <a:rPr lang="en-US" sz="1100" b="1">
                <a:solidFill>
                  <a:srgbClr val="172033"/>
                </a:solidFill>
              </a:rPr>
              <a:t>• </a:t>
            </a:r>
            <a:r>
              <a:rPr lang="en-US" sz="1100">
                <a:solidFill>
                  <a:srgbClr val="172033"/>
                </a:solidFill>
              </a:rPr>
              <a:t>Gene symbols were cleaned and duplicate gene columns were averaged before analysis.</a:t>
            </a:r>
            <a:endParaRPr lang="en-US" sz="1100"/>
          </a:p>
        </p:txBody>
      </p:sp>
      <p:sp>
        <p:nvSpPr>
          <p:cNvPr id="81" name="Text 15">
            <a:extLst>
              <a:ext uri="{FF2B5EF4-FFF2-40B4-BE49-F238E27FC236}">
                <a16:creationId xmlns:a16="http://schemas.microsoft.com/office/drawing/2014/main" id="{FE27E388-F427-C2AB-C35C-277A7330ECFF}"/>
              </a:ext>
            </a:extLst>
          </p:cNvPr>
          <p:cNvSpPr/>
          <p:nvPr/>
        </p:nvSpPr>
        <p:spPr>
          <a:xfrm>
            <a:off x="713232" y="4654296"/>
            <a:ext cx="2359152" cy="475488"/>
          </a:xfrm>
          <a:prstGeom prst="rect">
            <a:avLst/>
          </a:prstGeom>
          <a:noFill/>
          <a:ln/>
        </p:spPr>
        <p:txBody>
          <a:bodyPr wrap="square" lIns="508" tIns="508" rIns="508" bIns="508"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a:solidFill>
                  <a:srgbClr val="17294D"/>
                </a:solidFill>
              </a:rPr>
              <a:t>Notation: </a:t>
            </a:r>
            <a:r>
              <a:rPr lang="en-US" sz="1000" err="1">
                <a:solidFill>
                  <a:srgbClr val="17294D"/>
                </a:solidFill>
              </a:rPr>
              <a:t>Cg,i</a:t>
            </a:r>
            <a:r>
              <a:rPr lang="en-US" sz="1000">
                <a:solidFill>
                  <a:srgbClr val="17294D"/>
                </a:solidFill>
              </a:rPr>
              <a:t> is the Chronos score for gene g in model </a:t>
            </a:r>
            <a:r>
              <a:rPr lang="en-US" sz="1000" err="1">
                <a:solidFill>
                  <a:srgbClr val="17294D"/>
                </a:solidFill>
              </a:rPr>
              <a:t>i</a:t>
            </a:r>
            <a:r>
              <a:rPr lang="en-US" sz="1000">
                <a:solidFill>
                  <a:srgbClr val="17294D"/>
                </a:solidFill>
              </a:rPr>
              <a:t>. More negative values indicate stronger dependency.</a:t>
            </a:r>
            <a:endParaRPr lang="en-US" sz="1000"/>
          </a:p>
        </p:txBody>
      </p:sp>
      <p:sp>
        <p:nvSpPr>
          <p:cNvPr id="82" name="Shape 16">
            <a:extLst>
              <a:ext uri="{FF2B5EF4-FFF2-40B4-BE49-F238E27FC236}">
                <a16:creationId xmlns:a16="http://schemas.microsoft.com/office/drawing/2014/main" id="{D27C5AA3-E289-760B-C1B4-A694E8DDF730}"/>
              </a:ext>
            </a:extLst>
          </p:cNvPr>
          <p:cNvSpPr/>
          <p:nvPr/>
        </p:nvSpPr>
        <p:spPr>
          <a:xfrm>
            <a:off x="3493008" y="1810512"/>
            <a:ext cx="4133088" cy="4297680"/>
          </a:xfrm>
          <a:prstGeom prst="roundRect">
            <a:avLst>
              <a:gd name="adj" fmla="val 1770"/>
            </a:avLst>
          </a:prstGeom>
          <a:solidFill>
            <a:srgbClr val="FFFFFF"/>
          </a:solidFill>
          <a:ln w="12700">
            <a:solidFill>
              <a:srgbClr val="D7E1EA"/>
            </a:solidFill>
            <a:prstDash val="solid"/>
          </a:ln>
        </p:spPr>
        <p:txBody>
          <a:bodyPr/>
          <a:lstStyle/>
          <a:p>
            <a:endParaRPr lang="en-US"/>
          </a:p>
        </p:txBody>
      </p:sp>
      <p:sp>
        <p:nvSpPr>
          <p:cNvPr id="83" name="Shape 17">
            <a:extLst>
              <a:ext uri="{FF2B5EF4-FFF2-40B4-BE49-F238E27FC236}">
                <a16:creationId xmlns:a16="http://schemas.microsoft.com/office/drawing/2014/main" id="{8DC4E13D-BCEE-1D46-A85F-9A179F64256F}"/>
              </a:ext>
            </a:extLst>
          </p:cNvPr>
          <p:cNvSpPr/>
          <p:nvPr/>
        </p:nvSpPr>
        <p:spPr>
          <a:xfrm>
            <a:off x="3566160" y="1883664"/>
            <a:ext cx="3986784" cy="329184"/>
          </a:xfrm>
          <a:prstGeom prst="roundRect">
            <a:avLst>
              <a:gd name="adj" fmla="val 22222"/>
            </a:avLst>
          </a:prstGeom>
          <a:solidFill>
            <a:srgbClr val="17294D"/>
          </a:solidFill>
          <a:ln w="12700">
            <a:solidFill>
              <a:srgbClr val="17294D"/>
            </a:solidFill>
            <a:prstDash val="solid"/>
          </a:ln>
        </p:spPr>
        <p:txBody>
          <a:bodyPr/>
          <a:lstStyle/>
          <a:p>
            <a:endParaRPr lang="en-US"/>
          </a:p>
        </p:txBody>
      </p:sp>
      <p:sp>
        <p:nvSpPr>
          <p:cNvPr id="84" name="Text 18">
            <a:extLst>
              <a:ext uri="{FF2B5EF4-FFF2-40B4-BE49-F238E27FC236}">
                <a16:creationId xmlns:a16="http://schemas.microsoft.com/office/drawing/2014/main" id="{D0E85879-BE48-48FD-2B75-8C78028BFFB6}"/>
              </a:ext>
            </a:extLst>
          </p:cNvPr>
          <p:cNvSpPr/>
          <p:nvPr/>
        </p:nvSpPr>
        <p:spPr>
          <a:xfrm>
            <a:off x="3630168" y="1975104"/>
            <a:ext cx="3858768" cy="12801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20" b="1">
                <a:solidFill>
                  <a:srgbClr val="FFFFFF"/>
                </a:solidFill>
              </a:rPr>
              <a:t>2. Dependency, selectivity and statistics</a:t>
            </a:r>
            <a:endParaRPr lang="en-US" sz="920"/>
          </a:p>
        </p:txBody>
      </p:sp>
      <p:sp>
        <p:nvSpPr>
          <p:cNvPr id="85" name="Shape 19">
            <a:extLst>
              <a:ext uri="{FF2B5EF4-FFF2-40B4-BE49-F238E27FC236}">
                <a16:creationId xmlns:a16="http://schemas.microsoft.com/office/drawing/2014/main" id="{4DD0B0A2-4393-CCFD-5C62-9AEA1FB100F5}"/>
              </a:ext>
            </a:extLst>
          </p:cNvPr>
          <p:cNvSpPr/>
          <p:nvPr/>
        </p:nvSpPr>
        <p:spPr>
          <a:xfrm>
            <a:off x="3730752" y="2322576"/>
            <a:ext cx="3611880" cy="502920"/>
          </a:xfrm>
          <a:prstGeom prst="roundRect">
            <a:avLst>
              <a:gd name="adj" fmla="val 10909"/>
            </a:avLst>
          </a:prstGeom>
          <a:solidFill>
            <a:srgbClr val="FFFFFF"/>
          </a:solidFill>
          <a:ln w="10160">
            <a:solidFill>
              <a:srgbClr val="E2E8F0"/>
            </a:solidFill>
            <a:prstDash val="solid"/>
          </a:ln>
        </p:spPr>
        <p:txBody>
          <a:bodyPr/>
          <a:lstStyle/>
          <a:p>
            <a:endParaRPr lang="en-US"/>
          </a:p>
        </p:txBody>
      </p:sp>
      <p:pic>
        <p:nvPicPr>
          <p:cNvPr id="86" name="Image 0">
            <a:extLst>
              <a:ext uri="{FF2B5EF4-FFF2-40B4-BE49-F238E27FC236}">
                <a16:creationId xmlns:a16="http://schemas.microsoft.com/office/drawing/2014/main" id="{7EA46059-1FA8-2A40-6F9A-7884E5CCE547}"/>
              </a:ext>
            </a:extLst>
          </p:cNvPr>
          <p:cNvPicPr>
            <a:picLocks noChangeAspect="1"/>
          </p:cNvPicPr>
          <p:nvPr/>
        </p:nvPicPr>
        <p:blipFill>
          <a:blip r:embed="rId3"/>
          <a:stretch>
            <a:fillRect/>
          </a:stretch>
        </p:blipFill>
        <p:spPr>
          <a:xfrm>
            <a:off x="3830113" y="2444391"/>
            <a:ext cx="1689462" cy="322352"/>
          </a:xfrm>
          <a:prstGeom prst="rect">
            <a:avLst/>
          </a:prstGeom>
        </p:spPr>
      </p:pic>
      <p:sp>
        <p:nvSpPr>
          <p:cNvPr id="87" name="Shape 20">
            <a:extLst>
              <a:ext uri="{FF2B5EF4-FFF2-40B4-BE49-F238E27FC236}">
                <a16:creationId xmlns:a16="http://schemas.microsoft.com/office/drawing/2014/main" id="{A993C38E-BFEA-B263-7F09-40BE12572F7B}"/>
              </a:ext>
            </a:extLst>
          </p:cNvPr>
          <p:cNvSpPr/>
          <p:nvPr/>
        </p:nvSpPr>
        <p:spPr>
          <a:xfrm>
            <a:off x="3730752" y="2880360"/>
            <a:ext cx="3611880" cy="502920"/>
          </a:xfrm>
          <a:prstGeom prst="roundRect">
            <a:avLst>
              <a:gd name="adj" fmla="val 10909"/>
            </a:avLst>
          </a:prstGeom>
          <a:solidFill>
            <a:srgbClr val="FFFFFF"/>
          </a:solidFill>
          <a:ln w="10160">
            <a:solidFill>
              <a:srgbClr val="E2E8F0"/>
            </a:solidFill>
            <a:prstDash val="solid"/>
          </a:ln>
        </p:spPr>
        <p:txBody>
          <a:bodyPr/>
          <a:lstStyle/>
          <a:p>
            <a:endParaRPr lang="en-US"/>
          </a:p>
        </p:txBody>
      </p:sp>
      <p:pic>
        <p:nvPicPr>
          <p:cNvPr id="88" name="Image 1">
            <a:extLst>
              <a:ext uri="{FF2B5EF4-FFF2-40B4-BE49-F238E27FC236}">
                <a16:creationId xmlns:a16="http://schemas.microsoft.com/office/drawing/2014/main" id="{58F6BA5A-07AF-0AEB-47A1-881516467D16}"/>
              </a:ext>
            </a:extLst>
          </p:cNvPr>
          <p:cNvPicPr>
            <a:picLocks noChangeAspect="1"/>
          </p:cNvPicPr>
          <p:nvPr/>
        </p:nvPicPr>
        <p:blipFill>
          <a:blip r:embed="rId4"/>
          <a:stretch>
            <a:fillRect/>
          </a:stretch>
        </p:blipFill>
        <p:spPr>
          <a:xfrm>
            <a:off x="3829574" y="2944368"/>
            <a:ext cx="2373713" cy="374904"/>
          </a:xfrm>
          <a:prstGeom prst="rect">
            <a:avLst/>
          </a:prstGeom>
        </p:spPr>
      </p:pic>
      <p:sp>
        <p:nvSpPr>
          <p:cNvPr id="89" name="Shape 21">
            <a:extLst>
              <a:ext uri="{FF2B5EF4-FFF2-40B4-BE49-F238E27FC236}">
                <a16:creationId xmlns:a16="http://schemas.microsoft.com/office/drawing/2014/main" id="{9C8C458C-CBEE-A174-A6EB-6FAA0B745A1A}"/>
              </a:ext>
            </a:extLst>
          </p:cNvPr>
          <p:cNvSpPr/>
          <p:nvPr/>
        </p:nvSpPr>
        <p:spPr>
          <a:xfrm>
            <a:off x="3730752" y="3438144"/>
            <a:ext cx="3611880" cy="502920"/>
          </a:xfrm>
          <a:prstGeom prst="roundRect">
            <a:avLst>
              <a:gd name="adj" fmla="val 10909"/>
            </a:avLst>
          </a:prstGeom>
          <a:solidFill>
            <a:srgbClr val="FFFFFF"/>
          </a:solidFill>
          <a:ln w="10160">
            <a:solidFill>
              <a:srgbClr val="E2E8F0"/>
            </a:solidFill>
            <a:prstDash val="solid"/>
          </a:ln>
        </p:spPr>
        <p:txBody>
          <a:bodyPr lIns="91440" tIns="45720" rIns="91440" bIns="45720" anchor="ctr"/>
          <a:lstStyle/>
          <a:p>
            <a:pPr algn="ctr"/>
            <a:r>
              <a:rPr lang="en-US" sz="1500">
                <a:solidFill>
                  <a:schemeClr val="tx2"/>
                </a:solidFill>
                <a:latin typeface="Calibri"/>
                <a:ea typeface="Calibri"/>
                <a:cs typeface="Calibri"/>
              </a:rPr>
              <a:t>Welch's two-sample t-test</a:t>
            </a:r>
            <a:endParaRPr lang="en-US"/>
          </a:p>
        </p:txBody>
      </p:sp>
      <p:sp>
        <p:nvSpPr>
          <p:cNvPr id="91" name="Shape 22">
            <a:extLst>
              <a:ext uri="{FF2B5EF4-FFF2-40B4-BE49-F238E27FC236}">
                <a16:creationId xmlns:a16="http://schemas.microsoft.com/office/drawing/2014/main" id="{9B0CBF98-5821-C6E9-C9C0-E9716638991D}"/>
              </a:ext>
            </a:extLst>
          </p:cNvPr>
          <p:cNvSpPr/>
          <p:nvPr/>
        </p:nvSpPr>
        <p:spPr>
          <a:xfrm>
            <a:off x="3730752" y="3995928"/>
            <a:ext cx="3611880" cy="502920"/>
          </a:xfrm>
          <a:prstGeom prst="roundRect">
            <a:avLst>
              <a:gd name="adj" fmla="val 10909"/>
            </a:avLst>
          </a:prstGeom>
          <a:solidFill>
            <a:srgbClr val="FFFFFF"/>
          </a:solidFill>
          <a:ln w="10160">
            <a:solidFill>
              <a:srgbClr val="E2E8F0"/>
            </a:solidFill>
            <a:prstDash val="solid"/>
          </a:ln>
        </p:spPr>
        <p:txBody>
          <a:bodyPr/>
          <a:lstStyle/>
          <a:p>
            <a:endParaRPr lang="en-US"/>
          </a:p>
        </p:txBody>
      </p:sp>
      <p:pic>
        <p:nvPicPr>
          <p:cNvPr id="92" name="Image 3">
            <a:extLst>
              <a:ext uri="{FF2B5EF4-FFF2-40B4-BE49-F238E27FC236}">
                <a16:creationId xmlns:a16="http://schemas.microsoft.com/office/drawing/2014/main" id="{6D1032BB-E81B-5F07-C2BC-CBE933A01A0A}"/>
              </a:ext>
            </a:extLst>
          </p:cNvPr>
          <p:cNvPicPr>
            <a:picLocks noChangeAspect="1"/>
          </p:cNvPicPr>
          <p:nvPr/>
        </p:nvPicPr>
        <p:blipFill>
          <a:blip r:embed="rId5"/>
          <a:stretch>
            <a:fillRect/>
          </a:stretch>
        </p:blipFill>
        <p:spPr>
          <a:xfrm>
            <a:off x="3829431" y="4059936"/>
            <a:ext cx="1470109" cy="364394"/>
          </a:xfrm>
          <a:prstGeom prst="rect">
            <a:avLst/>
          </a:prstGeom>
        </p:spPr>
      </p:pic>
      <p:sp>
        <p:nvSpPr>
          <p:cNvPr id="93" name="Shape 23">
            <a:extLst>
              <a:ext uri="{FF2B5EF4-FFF2-40B4-BE49-F238E27FC236}">
                <a16:creationId xmlns:a16="http://schemas.microsoft.com/office/drawing/2014/main" id="{EDE48DD0-38E2-2EC6-ED63-37C821903EB9}"/>
              </a:ext>
            </a:extLst>
          </p:cNvPr>
          <p:cNvSpPr/>
          <p:nvPr/>
        </p:nvSpPr>
        <p:spPr>
          <a:xfrm>
            <a:off x="3730752" y="4553712"/>
            <a:ext cx="3611880" cy="502920"/>
          </a:xfrm>
          <a:prstGeom prst="roundRect">
            <a:avLst>
              <a:gd name="adj" fmla="val 10909"/>
            </a:avLst>
          </a:prstGeom>
          <a:solidFill>
            <a:srgbClr val="FFFFFF"/>
          </a:solidFill>
          <a:ln w="10160">
            <a:solidFill>
              <a:srgbClr val="E2E8F0"/>
            </a:solidFill>
            <a:prstDash val="solid"/>
          </a:ln>
        </p:spPr>
        <p:txBody>
          <a:bodyPr/>
          <a:lstStyle/>
          <a:p>
            <a:endParaRPr lang="en-US"/>
          </a:p>
        </p:txBody>
      </p:sp>
      <p:pic>
        <p:nvPicPr>
          <p:cNvPr id="94" name="Image 4">
            <a:extLst>
              <a:ext uri="{FF2B5EF4-FFF2-40B4-BE49-F238E27FC236}">
                <a16:creationId xmlns:a16="http://schemas.microsoft.com/office/drawing/2014/main" id="{E1FE5C70-0C2A-DB59-512F-28FD7A17D216}"/>
              </a:ext>
            </a:extLst>
          </p:cNvPr>
          <p:cNvPicPr>
            <a:picLocks noChangeAspect="1"/>
          </p:cNvPicPr>
          <p:nvPr/>
        </p:nvPicPr>
        <p:blipFill>
          <a:blip r:embed="rId6"/>
          <a:stretch>
            <a:fillRect/>
          </a:stretch>
        </p:blipFill>
        <p:spPr>
          <a:xfrm>
            <a:off x="3829169" y="4654506"/>
            <a:ext cx="2637281" cy="290822"/>
          </a:xfrm>
          <a:prstGeom prst="rect">
            <a:avLst/>
          </a:prstGeom>
        </p:spPr>
      </p:pic>
      <p:sp>
        <p:nvSpPr>
          <p:cNvPr id="95" name="Text 24">
            <a:extLst>
              <a:ext uri="{FF2B5EF4-FFF2-40B4-BE49-F238E27FC236}">
                <a16:creationId xmlns:a16="http://schemas.microsoft.com/office/drawing/2014/main" id="{26657F2B-3F7A-CF70-EC48-BB10CBED8DFD}"/>
              </a:ext>
            </a:extLst>
          </p:cNvPr>
          <p:cNvSpPr/>
          <p:nvPr/>
        </p:nvSpPr>
        <p:spPr>
          <a:xfrm>
            <a:off x="3730752" y="5184648"/>
            <a:ext cx="3611880" cy="475488"/>
          </a:xfrm>
          <a:prstGeom prst="rect">
            <a:avLst/>
          </a:prstGeom>
          <a:noFill/>
          <a:ln/>
        </p:spPr>
        <p:txBody>
          <a:bodyPr wrap="square" lIns="508" tIns="508" rIns="508" bIns="508"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a:solidFill>
                  <a:srgbClr val="172033"/>
                </a:solidFill>
              </a:rPr>
              <a:t>Welch’s test was used because gene-effect variance and group size can differ between melanoma and non-melanoma models. BH-FDR controlled the thousands of gene-wise tests.</a:t>
            </a:r>
            <a:endParaRPr lang="en-US" sz="1000"/>
          </a:p>
        </p:txBody>
      </p:sp>
      <p:sp>
        <p:nvSpPr>
          <p:cNvPr id="96" name="Shape 25">
            <a:extLst>
              <a:ext uri="{FF2B5EF4-FFF2-40B4-BE49-F238E27FC236}">
                <a16:creationId xmlns:a16="http://schemas.microsoft.com/office/drawing/2014/main" id="{E07095EA-F033-269B-49F7-7EFA25E9C9E7}"/>
              </a:ext>
            </a:extLst>
          </p:cNvPr>
          <p:cNvSpPr/>
          <p:nvPr/>
        </p:nvSpPr>
        <p:spPr>
          <a:xfrm>
            <a:off x="7818120" y="1810512"/>
            <a:ext cx="3886200" cy="4297680"/>
          </a:xfrm>
          <a:prstGeom prst="roundRect">
            <a:avLst>
              <a:gd name="adj" fmla="val 1882"/>
            </a:avLst>
          </a:prstGeom>
          <a:solidFill>
            <a:srgbClr val="FFFFFF"/>
          </a:solidFill>
          <a:ln w="12700">
            <a:solidFill>
              <a:srgbClr val="D7E1EA"/>
            </a:solidFill>
            <a:prstDash val="solid"/>
          </a:ln>
        </p:spPr>
        <p:txBody>
          <a:bodyPr/>
          <a:lstStyle/>
          <a:p>
            <a:endParaRPr lang="en-US"/>
          </a:p>
        </p:txBody>
      </p:sp>
      <p:sp>
        <p:nvSpPr>
          <p:cNvPr id="97" name="Shape 26">
            <a:extLst>
              <a:ext uri="{FF2B5EF4-FFF2-40B4-BE49-F238E27FC236}">
                <a16:creationId xmlns:a16="http://schemas.microsoft.com/office/drawing/2014/main" id="{1455C181-6453-32E4-466E-E7BC9CADE8D0}"/>
              </a:ext>
            </a:extLst>
          </p:cNvPr>
          <p:cNvSpPr/>
          <p:nvPr/>
        </p:nvSpPr>
        <p:spPr>
          <a:xfrm>
            <a:off x="7891272" y="1883664"/>
            <a:ext cx="3739896" cy="329184"/>
          </a:xfrm>
          <a:prstGeom prst="roundRect">
            <a:avLst>
              <a:gd name="adj" fmla="val 22222"/>
            </a:avLst>
          </a:prstGeom>
          <a:solidFill>
            <a:srgbClr val="17294D"/>
          </a:solidFill>
          <a:ln w="12700">
            <a:solidFill>
              <a:srgbClr val="17294D"/>
            </a:solidFill>
            <a:prstDash val="solid"/>
          </a:ln>
        </p:spPr>
        <p:txBody>
          <a:bodyPr/>
          <a:lstStyle/>
          <a:p>
            <a:endParaRPr lang="en-US"/>
          </a:p>
        </p:txBody>
      </p:sp>
      <p:sp>
        <p:nvSpPr>
          <p:cNvPr id="98" name="Text 27">
            <a:extLst>
              <a:ext uri="{FF2B5EF4-FFF2-40B4-BE49-F238E27FC236}">
                <a16:creationId xmlns:a16="http://schemas.microsoft.com/office/drawing/2014/main" id="{C66FB1BC-F3CE-A7FD-DD90-F529C686DEDD}"/>
              </a:ext>
            </a:extLst>
          </p:cNvPr>
          <p:cNvSpPr/>
          <p:nvPr/>
        </p:nvSpPr>
        <p:spPr>
          <a:xfrm>
            <a:off x="7955280" y="1975104"/>
            <a:ext cx="3611880" cy="12801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20" b="1">
                <a:solidFill>
                  <a:srgbClr val="FFFFFF"/>
                </a:solidFill>
              </a:rPr>
              <a:t>3. Candidate rules and aggregate rank</a:t>
            </a:r>
            <a:endParaRPr lang="en-US" sz="920"/>
          </a:p>
        </p:txBody>
      </p:sp>
      <p:sp>
        <p:nvSpPr>
          <p:cNvPr id="99" name="Text 28">
            <a:extLst>
              <a:ext uri="{FF2B5EF4-FFF2-40B4-BE49-F238E27FC236}">
                <a16:creationId xmlns:a16="http://schemas.microsoft.com/office/drawing/2014/main" id="{38A134D4-E96F-1C7A-D359-32D16EE50185}"/>
              </a:ext>
            </a:extLst>
          </p:cNvPr>
          <p:cNvSpPr/>
          <p:nvPr/>
        </p:nvSpPr>
        <p:spPr>
          <a:xfrm>
            <a:off x="8065008" y="2267712"/>
            <a:ext cx="3429000" cy="1938528"/>
          </a:xfrm>
          <a:prstGeom prst="rect">
            <a:avLst/>
          </a:prstGeom>
          <a:noFill/>
          <a:ln/>
        </p:spPr>
        <p:txBody>
          <a:bodyPr wrap="square" lIns="381" tIns="381" rIns="381" bIns="381"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a:solidFill>
                  <a:srgbClr val="172033"/>
                </a:solidFill>
              </a:rPr>
              <a:t>• </a:t>
            </a:r>
            <a:r>
              <a:rPr lang="en-US" sz="1100">
                <a:solidFill>
                  <a:srgbClr val="172033"/>
                </a:solidFill>
              </a:rPr>
              <a:t>Retain non-common-essential genes only.
</a:t>
            </a:r>
            <a:r>
              <a:rPr lang="en-US" sz="1100" b="1">
                <a:solidFill>
                  <a:srgbClr val="172033"/>
                </a:solidFill>
              </a:rPr>
              <a:t>• </a:t>
            </a:r>
            <a:r>
              <a:rPr lang="en-US" sz="1100">
                <a:solidFill>
                  <a:srgbClr val="172033"/>
                </a:solidFill>
              </a:rPr>
              <a:t>Primary dependency/selectivity: mean melanoma effect &lt; −0.50 and selectivity &lt; −0.20.
</a:t>
            </a:r>
            <a:r>
              <a:rPr lang="en-US" sz="1100" b="1">
                <a:solidFill>
                  <a:srgbClr val="172033"/>
                </a:solidFill>
              </a:rPr>
              <a:t>• </a:t>
            </a:r>
            <a:r>
              <a:rPr lang="en-US" sz="1100">
                <a:solidFill>
                  <a:srgbClr val="172033"/>
                </a:solidFill>
              </a:rPr>
              <a:t>Evidence filters: FDR &lt; 0.05, melanoma dependent fraction ≥ 0.40, other-cancer dependent fraction ≤ 0.20.
</a:t>
            </a:r>
            <a:r>
              <a:rPr lang="en-US" sz="1100" b="1">
                <a:solidFill>
                  <a:srgbClr val="172033"/>
                </a:solidFill>
              </a:rPr>
              <a:t>• </a:t>
            </a:r>
            <a:r>
              <a:rPr lang="en-US" sz="1100">
                <a:solidFill>
                  <a:srgbClr val="172033"/>
                </a:solidFill>
              </a:rPr>
              <a:t>Expression filters: mean expression ≥ 1.0 log2(TPM+1) and expression prevalence ≥ 0.50.
</a:t>
            </a:r>
            <a:r>
              <a:rPr lang="en-US" sz="1100" b="1">
                <a:solidFill>
                  <a:srgbClr val="172033"/>
                </a:solidFill>
              </a:rPr>
              <a:t>• </a:t>
            </a:r>
            <a:r>
              <a:rPr lang="en-US" sz="1100">
                <a:solidFill>
                  <a:srgbClr val="172033"/>
                </a:solidFill>
              </a:rPr>
              <a:t>Minimum melanoma model overlap: n ≥ 10.</a:t>
            </a:r>
            <a:endParaRPr lang="en-US" sz="1100"/>
          </a:p>
        </p:txBody>
      </p:sp>
      <p:sp>
        <p:nvSpPr>
          <p:cNvPr id="100" name="Shape 29">
            <a:extLst>
              <a:ext uri="{FF2B5EF4-FFF2-40B4-BE49-F238E27FC236}">
                <a16:creationId xmlns:a16="http://schemas.microsoft.com/office/drawing/2014/main" id="{EBB92DC9-9EAD-CCDA-F34D-D1870919D1F4}"/>
              </a:ext>
            </a:extLst>
          </p:cNvPr>
          <p:cNvSpPr/>
          <p:nvPr/>
        </p:nvSpPr>
        <p:spPr>
          <a:xfrm>
            <a:off x="8065008" y="4370832"/>
            <a:ext cx="3429000" cy="658368"/>
          </a:xfrm>
          <a:prstGeom prst="roundRect">
            <a:avLst>
              <a:gd name="adj" fmla="val 8333"/>
            </a:avLst>
          </a:prstGeom>
          <a:solidFill>
            <a:srgbClr val="FFFFFF"/>
          </a:solidFill>
          <a:ln w="10160">
            <a:solidFill>
              <a:srgbClr val="E2E8F0"/>
            </a:solidFill>
            <a:prstDash val="solid"/>
          </a:ln>
        </p:spPr>
        <p:txBody>
          <a:bodyPr/>
          <a:lstStyle/>
          <a:p>
            <a:endParaRPr lang="en-US"/>
          </a:p>
        </p:txBody>
      </p:sp>
      <p:sp>
        <p:nvSpPr>
          <p:cNvPr id="101" name="Text 30">
            <a:extLst>
              <a:ext uri="{FF2B5EF4-FFF2-40B4-BE49-F238E27FC236}">
                <a16:creationId xmlns:a16="http://schemas.microsoft.com/office/drawing/2014/main" id="{7F8904D5-9736-CAB6-2F60-ACBEF2D0BFFA}"/>
              </a:ext>
            </a:extLst>
          </p:cNvPr>
          <p:cNvSpPr/>
          <p:nvPr/>
        </p:nvSpPr>
        <p:spPr>
          <a:xfrm>
            <a:off x="8211312" y="4507992"/>
            <a:ext cx="3154680" cy="34747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20" i="1">
                <a:solidFill>
                  <a:srgbClr val="172033"/>
                </a:solidFill>
              </a:rPr>
              <a:t>S = 0.30R_effect + 0.30R_selectivity + 0.20R_prevalence</a:t>
            </a:r>
            <a:endParaRPr lang="en-US" sz="920"/>
          </a:p>
          <a:p>
            <a:pPr marL="0" indent="0" algn="ctr">
              <a:buNone/>
            </a:pPr>
            <a:r>
              <a:rPr lang="en-US" sz="920" i="1">
                <a:solidFill>
                  <a:srgbClr val="172033"/>
                </a:solidFill>
              </a:rPr>
              <a:t>    + 0.10R_probability + 0.10R_FDR</a:t>
            </a:r>
            <a:endParaRPr lang="en-US" sz="920"/>
          </a:p>
        </p:txBody>
      </p:sp>
      <p:sp>
        <p:nvSpPr>
          <p:cNvPr id="102" name="Text 31">
            <a:extLst>
              <a:ext uri="{FF2B5EF4-FFF2-40B4-BE49-F238E27FC236}">
                <a16:creationId xmlns:a16="http://schemas.microsoft.com/office/drawing/2014/main" id="{3C4430BD-66D3-324C-B66E-C6B2268A6CEB}"/>
              </a:ext>
            </a:extLst>
          </p:cNvPr>
          <p:cNvSpPr/>
          <p:nvPr/>
        </p:nvSpPr>
        <p:spPr>
          <a:xfrm>
            <a:off x="8065008" y="5102352"/>
            <a:ext cx="3429000" cy="475488"/>
          </a:xfrm>
          <a:prstGeom prst="rect">
            <a:avLst/>
          </a:prstGeom>
          <a:noFill/>
          <a:ln/>
        </p:spPr>
        <p:txBody>
          <a:bodyPr wrap="square" lIns="508" tIns="508" rIns="508" bIns="508"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a:solidFill>
                  <a:srgbClr val="17294D"/>
                </a:solidFill>
              </a:rPr>
              <a:t>Lower aggregate score indicates stronger combined evidence. This prevents a single metric from dominating the screen.</a:t>
            </a:r>
            <a:endParaRPr lang="en-US" sz="1000"/>
          </a:p>
        </p:txBody>
      </p:sp>
      <p:sp>
        <p:nvSpPr>
          <p:cNvPr id="103" name="Shape 32">
            <a:extLst>
              <a:ext uri="{FF2B5EF4-FFF2-40B4-BE49-F238E27FC236}">
                <a16:creationId xmlns:a16="http://schemas.microsoft.com/office/drawing/2014/main" id="{5EF4CF68-445C-CA72-DA10-D162BDDF6EDF}"/>
              </a:ext>
            </a:extLst>
          </p:cNvPr>
          <p:cNvSpPr/>
          <p:nvPr/>
        </p:nvSpPr>
        <p:spPr>
          <a:xfrm>
            <a:off x="0" y="6357183"/>
            <a:ext cx="12191695" cy="500817"/>
          </a:xfrm>
          <a:prstGeom prst="rect">
            <a:avLst/>
          </a:prstGeom>
          <a:solidFill>
            <a:srgbClr val="17294D"/>
          </a:solidFill>
          <a:ln w="12700">
            <a:solidFill>
              <a:srgbClr val="17294D"/>
            </a:solidFill>
            <a:prstDash val="solid"/>
          </a:ln>
        </p:spPr>
        <p:txBody>
          <a:bodyPr/>
          <a:lstStyle/>
          <a:p>
            <a:endParaRPr lang="en-US"/>
          </a:p>
        </p:txBody>
      </p:sp>
      <p:sp>
        <p:nvSpPr>
          <p:cNvPr id="104" name="Text 33">
            <a:extLst>
              <a:ext uri="{FF2B5EF4-FFF2-40B4-BE49-F238E27FC236}">
                <a16:creationId xmlns:a16="http://schemas.microsoft.com/office/drawing/2014/main" id="{BEDC70C4-F0A8-A072-7D5B-FD07FE26F8AB}"/>
              </a:ext>
            </a:extLst>
          </p:cNvPr>
          <p:cNvSpPr/>
          <p:nvPr/>
        </p:nvSpPr>
        <p:spPr>
          <a:xfrm>
            <a:off x="713232" y="6556248"/>
            <a:ext cx="10881360" cy="182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80" b="1">
                <a:solidFill>
                  <a:srgbClr val="FFFFFF"/>
                </a:solidFill>
              </a:rPr>
              <a:t>Takeaway: </a:t>
            </a:r>
            <a:r>
              <a:rPr lang="en-US" sz="1080">
                <a:solidFill>
                  <a:srgbClr val="FFFFFF"/>
                </a:solidFill>
              </a:rPr>
              <a:t>SOX10 was selected through a transparent screen combining dependency strength, melanoma selectivity, prevalence, probability, expression, and FDR.</a:t>
            </a:r>
            <a:endParaRPr lang="en-US" sz="1080"/>
          </a:p>
        </p:txBody>
      </p:sp>
      <p:sp>
        <p:nvSpPr>
          <p:cNvPr id="105" name="Shape 34">
            <a:extLst>
              <a:ext uri="{FF2B5EF4-FFF2-40B4-BE49-F238E27FC236}">
                <a16:creationId xmlns:a16="http://schemas.microsoft.com/office/drawing/2014/main" id="{091A3614-0FBA-E968-AD03-F4E5E161066F}"/>
              </a:ext>
            </a:extLst>
          </p:cNvPr>
          <p:cNvSpPr/>
          <p:nvPr/>
        </p:nvSpPr>
        <p:spPr>
          <a:xfrm>
            <a:off x="288509" y="6451355"/>
            <a:ext cx="291662" cy="291662"/>
          </a:xfrm>
          <a:prstGeom prst="ellipse">
            <a:avLst/>
          </a:prstGeom>
          <a:solidFill>
            <a:srgbClr val="0E7485"/>
          </a:solidFill>
          <a:ln w="12700">
            <a:solidFill>
              <a:srgbClr val="0E7485"/>
            </a:solidFill>
            <a:prstDash val="solid"/>
          </a:ln>
        </p:spPr>
        <p:txBody>
          <a:bodyPr lIns="91440" tIns="45720" rIns="91440" bIns="45720" anchor="t"/>
          <a:lstStyle/>
          <a:p>
            <a:r>
              <a:rPr lang="en-US" sz="1000"/>
              <a:t>🎯</a:t>
            </a:r>
            <a:endParaRPr lang="en-US"/>
          </a:p>
        </p:txBody>
      </p:sp>
      <p:sp>
        <p:nvSpPr>
          <p:cNvPr id="106" name="TextBox 105">
            <a:extLst>
              <a:ext uri="{FF2B5EF4-FFF2-40B4-BE49-F238E27FC236}">
                <a16:creationId xmlns:a16="http://schemas.microsoft.com/office/drawing/2014/main" id="{57632F22-1CDF-FAEA-858C-86C56290750F}"/>
              </a:ext>
            </a:extLst>
          </p:cNvPr>
          <p:cNvSpPr txBox="1"/>
          <p:nvPr/>
        </p:nvSpPr>
        <p:spPr>
          <a:xfrm>
            <a:off x="5548412" y="2418429"/>
            <a:ext cx="216513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1">
                <a:solidFill>
                  <a:schemeClr val="tx2"/>
                </a:solidFill>
                <a:ea typeface="+mn-lt"/>
                <a:cs typeface="+mn-lt"/>
              </a:rPr>
              <a:t>C </a:t>
            </a:r>
            <a:r>
              <a:rPr lang="en-US" sz="900">
                <a:solidFill>
                  <a:schemeClr val="tx2"/>
                </a:solidFill>
                <a:ea typeface="+mn-lt"/>
                <a:cs typeface="+mn-lt"/>
              </a:rPr>
              <a:t>= Chronos gene-effect score, </a:t>
            </a:r>
          </a:p>
          <a:p>
            <a:r>
              <a:rPr lang="en-US" sz="900" b="1">
                <a:solidFill>
                  <a:schemeClr val="tx2"/>
                </a:solidFill>
                <a:ea typeface="+mn-lt"/>
                <a:cs typeface="+mn-lt"/>
              </a:rPr>
              <a:t>M </a:t>
            </a:r>
            <a:r>
              <a:rPr lang="en-US" sz="900">
                <a:solidFill>
                  <a:schemeClr val="tx2"/>
                </a:solidFill>
                <a:ea typeface="+mn-lt"/>
                <a:cs typeface="+mn-lt"/>
              </a:rPr>
              <a:t>= melanoma, </a:t>
            </a:r>
            <a:r>
              <a:rPr lang="en-US" sz="900" b="1">
                <a:solidFill>
                  <a:schemeClr val="tx2"/>
                </a:solidFill>
                <a:ea typeface="+mn-lt"/>
                <a:cs typeface="+mn-lt"/>
              </a:rPr>
              <a:t>O </a:t>
            </a:r>
            <a:r>
              <a:rPr lang="en-US" sz="900">
                <a:solidFill>
                  <a:schemeClr val="tx2"/>
                </a:solidFill>
                <a:ea typeface="+mn-lt"/>
                <a:cs typeface="+mn-lt"/>
              </a:rPr>
              <a:t>= other cancers.</a:t>
            </a:r>
            <a:endParaRPr lang="en-US" sz="900">
              <a:solidFill>
                <a:schemeClr val="tx2"/>
              </a:solidFill>
            </a:endParaRPr>
          </a:p>
        </p:txBody>
      </p:sp>
      <p:sp>
        <p:nvSpPr>
          <p:cNvPr id="107" name="TextBox 106">
            <a:extLst>
              <a:ext uri="{FF2B5EF4-FFF2-40B4-BE49-F238E27FC236}">
                <a16:creationId xmlns:a16="http://schemas.microsoft.com/office/drawing/2014/main" id="{9FA4E7F2-DF98-F848-D0CC-FC45E662CBB2}"/>
              </a:ext>
            </a:extLst>
          </p:cNvPr>
          <p:cNvSpPr txBox="1"/>
          <p:nvPr/>
        </p:nvSpPr>
        <p:spPr>
          <a:xfrm>
            <a:off x="6310411" y="2943945"/>
            <a:ext cx="216513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1">
                <a:solidFill>
                  <a:schemeClr val="tx2"/>
                </a:solidFill>
                <a:ea typeface="+mn-lt"/>
                <a:cs typeface="+mn-lt"/>
              </a:rPr>
              <a:t>Dependency </a:t>
            </a:r>
            <a:endParaRPr lang="en-US" b="1">
              <a:solidFill>
                <a:schemeClr val="tx2"/>
              </a:solidFill>
              <a:ea typeface="+mn-lt"/>
              <a:cs typeface="+mn-lt"/>
            </a:endParaRPr>
          </a:p>
          <a:p>
            <a:r>
              <a:rPr lang="en-US" sz="900" b="1" err="1">
                <a:solidFill>
                  <a:schemeClr val="tx2"/>
                </a:solidFill>
                <a:ea typeface="+mn-lt"/>
                <a:cs typeface="+mn-lt"/>
              </a:rPr>
              <a:t>prevala</a:t>
            </a:r>
            <a:r>
              <a:rPr lang="en-US" sz="900" b="1" err="1">
                <a:solidFill>
                  <a:schemeClr val="tx2"/>
                </a:solidFill>
              </a:rPr>
              <a:t>nce</a:t>
            </a:r>
            <a:endParaRPr lang="en-US" b="1" err="1">
              <a:solidFill>
                <a:schemeClr val="tx2"/>
              </a:solidFill>
            </a:endParaRPr>
          </a:p>
        </p:txBody>
      </p:sp>
      <p:sp>
        <p:nvSpPr>
          <p:cNvPr id="108" name="TextBox 107">
            <a:extLst>
              <a:ext uri="{FF2B5EF4-FFF2-40B4-BE49-F238E27FC236}">
                <a16:creationId xmlns:a16="http://schemas.microsoft.com/office/drawing/2014/main" id="{A4B11FFF-916D-7F4B-A7DA-1E81C4200A27}"/>
              </a:ext>
            </a:extLst>
          </p:cNvPr>
          <p:cNvSpPr txBox="1"/>
          <p:nvPr/>
        </p:nvSpPr>
        <p:spPr>
          <a:xfrm>
            <a:off x="5459072" y="4063296"/>
            <a:ext cx="216513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1">
                <a:solidFill>
                  <a:schemeClr val="tx2"/>
                </a:solidFill>
                <a:ea typeface="+mn-lt"/>
                <a:cs typeface="+mn-lt"/>
              </a:rPr>
              <a:t>Benjamini–Hochberg FDR</a:t>
            </a:r>
            <a:r>
              <a:rPr lang="en-US" sz="900">
                <a:solidFill>
                  <a:schemeClr val="tx2"/>
                </a:solidFill>
                <a:ea typeface="+mn-lt"/>
                <a:cs typeface="+mn-lt"/>
              </a:rPr>
              <a:t>,</a:t>
            </a:r>
            <a:endParaRPr lang="en-US">
              <a:solidFill>
                <a:schemeClr val="tx2"/>
              </a:solidFill>
              <a:ea typeface="+mn-lt"/>
              <a:cs typeface="+mn-lt"/>
            </a:endParaRPr>
          </a:p>
          <a:p>
            <a:r>
              <a:rPr lang="en-US" sz="900">
                <a:solidFill>
                  <a:schemeClr val="tx2"/>
                </a:solidFill>
              </a:rPr>
              <a:t>Clip value to 1</a:t>
            </a:r>
          </a:p>
        </p:txBody>
      </p:sp>
      <p:sp>
        <p:nvSpPr>
          <p:cNvPr id="109" name="TextBox 108">
            <a:extLst>
              <a:ext uri="{FF2B5EF4-FFF2-40B4-BE49-F238E27FC236}">
                <a16:creationId xmlns:a16="http://schemas.microsoft.com/office/drawing/2014/main" id="{F3682FA5-C538-FE6D-820F-B893719FDB5F}"/>
              </a:ext>
            </a:extLst>
          </p:cNvPr>
          <p:cNvSpPr txBox="1"/>
          <p:nvPr/>
        </p:nvSpPr>
        <p:spPr>
          <a:xfrm>
            <a:off x="6630975" y="4720191"/>
            <a:ext cx="672663" cy="2308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1">
                <a:solidFill>
                  <a:schemeClr val="tx2"/>
                </a:solidFill>
                <a:ea typeface="+mn-lt"/>
                <a:cs typeface="+mn-lt"/>
              </a:rPr>
              <a:t>Hedges g</a:t>
            </a:r>
            <a:endParaRPr lang="en-US"/>
          </a:p>
        </p:txBody>
      </p:sp>
      <p:sp>
        <p:nvSpPr>
          <p:cNvPr id="110" name="Arrow: Right 109">
            <a:extLst>
              <a:ext uri="{FF2B5EF4-FFF2-40B4-BE49-F238E27FC236}">
                <a16:creationId xmlns:a16="http://schemas.microsoft.com/office/drawing/2014/main" id="{DA2A35A6-1D8C-D5C6-A096-693D67F36CB5}"/>
              </a:ext>
            </a:extLst>
          </p:cNvPr>
          <p:cNvSpPr/>
          <p:nvPr/>
        </p:nvSpPr>
        <p:spPr>
          <a:xfrm>
            <a:off x="3098800" y="1361440"/>
            <a:ext cx="294639" cy="162559"/>
          </a:xfrm>
          <a:prstGeom prst="rightArrow">
            <a:avLst/>
          </a:prstGeom>
          <a:solidFill>
            <a:schemeClr val="accent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Arrow: Right 110">
            <a:extLst>
              <a:ext uri="{FF2B5EF4-FFF2-40B4-BE49-F238E27FC236}">
                <a16:creationId xmlns:a16="http://schemas.microsoft.com/office/drawing/2014/main" id="{D37EC051-CD41-3214-1721-F16E70B199B0}"/>
              </a:ext>
            </a:extLst>
          </p:cNvPr>
          <p:cNvSpPr/>
          <p:nvPr/>
        </p:nvSpPr>
        <p:spPr>
          <a:xfrm>
            <a:off x="5947103" y="1356184"/>
            <a:ext cx="294639" cy="162559"/>
          </a:xfrm>
          <a:prstGeom prst="right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Arrow: Right 111">
            <a:extLst>
              <a:ext uri="{FF2B5EF4-FFF2-40B4-BE49-F238E27FC236}">
                <a16:creationId xmlns:a16="http://schemas.microsoft.com/office/drawing/2014/main" id="{12CE6E35-C7BC-15C0-3FC5-E420E166C4AA}"/>
              </a:ext>
            </a:extLst>
          </p:cNvPr>
          <p:cNvSpPr/>
          <p:nvPr/>
        </p:nvSpPr>
        <p:spPr>
          <a:xfrm>
            <a:off x="8800662" y="1361440"/>
            <a:ext cx="294639" cy="162559"/>
          </a:xfrm>
          <a:prstGeom prst="right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2E44F0E-6C3D-DF9D-4421-78C3DC97A2B3}"/>
              </a:ext>
            </a:extLst>
          </p:cNvPr>
          <p:cNvSpPr txBox="1"/>
          <p:nvPr/>
        </p:nvSpPr>
        <p:spPr>
          <a:xfrm>
            <a:off x="888033" y="5659547"/>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dirty="0" err="1">
                <a:ea typeface="+mn-lt"/>
                <a:cs typeface="+mn-lt"/>
              </a:rPr>
              <a:t>DepMap</a:t>
            </a:r>
            <a:r>
              <a:rPr lang="en-US" sz="900" dirty="0">
                <a:ea typeface="+mn-lt"/>
                <a:cs typeface="+mn-lt"/>
              </a:rPr>
              <a:t> Consortium (2024)</a:t>
            </a:r>
            <a:endParaRPr lang="en-US" sz="900">
              <a:ea typeface="+mn-lt"/>
              <a:cs typeface="+mn-lt"/>
            </a:endParaRPr>
          </a:p>
          <a:p>
            <a:r>
              <a:rPr lang="en-US" sz="900">
                <a:ea typeface="+mn-lt"/>
                <a:cs typeface="+mn-lt"/>
              </a:rPr>
              <a:t>Dempster et al. (2021)</a:t>
            </a:r>
          </a:p>
        </p:txBody>
      </p:sp>
    </p:spTree>
    <p:extLst>
      <p:ext uri="{BB962C8B-B14F-4D97-AF65-F5344CB8AC3E}">
        <p14:creationId xmlns:p14="http://schemas.microsoft.com/office/powerpoint/2010/main" val="29987719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7A359C6-C52A-8741-C063-813CE3671CD4}"/>
              </a:ext>
            </a:extLst>
          </p:cNvPr>
          <p:cNvSpPr>
            <a:spLocks noGrp="1"/>
          </p:cNvSpPr>
          <p:nvPr>
            <p:ph type="dt" sz="half" idx="10"/>
          </p:nvPr>
        </p:nvSpPr>
        <p:spPr/>
        <p:txBody>
          <a:bodyPr/>
          <a:lstStyle/>
          <a:p>
            <a:fld id="{79DE17D0-60CD-46C9-BD04-B48B62216DD5}" type="datetime1">
              <a:t>8/9/2026</a:t>
            </a:fld>
            <a:endParaRPr lang="en-US"/>
          </a:p>
        </p:txBody>
      </p:sp>
      <p:sp>
        <p:nvSpPr>
          <p:cNvPr id="159" name="Text 0">
            <a:extLst>
              <a:ext uri="{FF2B5EF4-FFF2-40B4-BE49-F238E27FC236}">
                <a16:creationId xmlns:a16="http://schemas.microsoft.com/office/drawing/2014/main" id="{88D597F5-775C-E0B7-564F-13D5DD4E65EC}"/>
              </a:ext>
            </a:extLst>
          </p:cNvPr>
          <p:cNvSpPr/>
          <p:nvPr/>
        </p:nvSpPr>
        <p:spPr>
          <a:xfrm>
            <a:off x="320040" y="91440"/>
            <a:ext cx="11521440" cy="5486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700" b="1">
                <a:solidFill>
                  <a:srgbClr val="1B2A4A"/>
                </a:solidFill>
                <a:latin typeface="Calibri"/>
                <a:ea typeface="Calibri"/>
                <a:cs typeface="Calibri"/>
              </a:rPr>
              <a:t>3.1b  SOX10 is the strongest melanoma-selective dependency</a:t>
            </a:r>
            <a:endParaRPr lang="en-US" sz="2700">
              <a:latin typeface="Calibri"/>
              <a:ea typeface="Calibri"/>
              <a:cs typeface="Calibri"/>
            </a:endParaRPr>
          </a:p>
        </p:txBody>
      </p:sp>
      <p:sp>
        <p:nvSpPr>
          <p:cNvPr id="160" name="Shape 1">
            <a:extLst>
              <a:ext uri="{FF2B5EF4-FFF2-40B4-BE49-F238E27FC236}">
                <a16:creationId xmlns:a16="http://schemas.microsoft.com/office/drawing/2014/main" id="{A9562DFA-DE0E-DB0F-B5E4-F21750861219}"/>
              </a:ext>
            </a:extLst>
          </p:cNvPr>
          <p:cNvSpPr/>
          <p:nvPr/>
        </p:nvSpPr>
        <p:spPr>
          <a:xfrm>
            <a:off x="320040" y="667512"/>
            <a:ext cx="1371600" cy="41148"/>
          </a:xfrm>
          <a:prstGeom prst="rect">
            <a:avLst/>
          </a:prstGeom>
          <a:solidFill>
            <a:srgbClr val="E07B39"/>
          </a:solidFill>
          <a:ln w="12700">
            <a:solidFill>
              <a:srgbClr val="E07B39"/>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1" name="Text 2">
            <a:extLst>
              <a:ext uri="{FF2B5EF4-FFF2-40B4-BE49-F238E27FC236}">
                <a16:creationId xmlns:a16="http://schemas.microsoft.com/office/drawing/2014/main" id="{7F71EA0D-2F45-58E1-CC81-ECD533D25D60}"/>
              </a:ext>
            </a:extLst>
          </p:cNvPr>
          <p:cNvSpPr/>
          <p:nvPr/>
        </p:nvSpPr>
        <p:spPr>
          <a:xfrm>
            <a:off x="320040" y="722376"/>
            <a:ext cx="11430000"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i="1">
                <a:solidFill>
                  <a:srgbClr val="8A9BB0"/>
                </a:solidFill>
                <a:latin typeface="Calibri" pitchFamily="34" charset="0"/>
                <a:ea typeface="Calibri" pitchFamily="34" charset="-122"/>
                <a:cs typeface="Calibri" pitchFamily="34" charset="-120"/>
              </a:rPr>
              <a:t>DepMap CRISPR screening identifies SOX10 as the top selective vulnerability in melanoma.</a:t>
            </a:r>
            <a:endParaRPr lang="en-US" sz="1100"/>
          </a:p>
        </p:txBody>
      </p:sp>
      <p:sp>
        <p:nvSpPr>
          <p:cNvPr id="162" name="Shape 3">
            <a:extLst>
              <a:ext uri="{FF2B5EF4-FFF2-40B4-BE49-F238E27FC236}">
                <a16:creationId xmlns:a16="http://schemas.microsoft.com/office/drawing/2014/main" id="{01AE5161-F621-603B-5CE7-2395C764D36B}"/>
              </a:ext>
            </a:extLst>
          </p:cNvPr>
          <p:cNvSpPr/>
          <p:nvPr/>
        </p:nvSpPr>
        <p:spPr>
          <a:xfrm>
            <a:off x="320040" y="1005840"/>
            <a:ext cx="2231136" cy="512064"/>
          </a:xfrm>
          <a:prstGeom prst="roundRect">
            <a:avLst>
              <a:gd name="adj" fmla="val 16071"/>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3" name="Shape 4">
            <a:extLst>
              <a:ext uri="{FF2B5EF4-FFF2-40B4-BE49-F238E27FC236}">
                <a16:creationId xmlns:a16="http://schemas.microsoft.com/office/drawing/2014/main" id="{F0961CF0-E7A8-5AEF-D004-D7FD30472CD0}"/>
              </a:ext>
            </a:extLst>
          </p:cNvPr>
          <p:cNvSpPr/>
          <p:nvPr/>
        </p:nvSpPr>
        <p:spPr>
          <a:xfrm>
            <a:off x="338328" y="1078992"/>
            <a:ext cx="365760" cy="365760"/>
          </a:xfrm>
          <a:prstGeom prst="ellipse">
            <a:avLst/>
          </a:prstGeom>
          <a:solidFill>
            <a:srgbClr val="E07B39"/>
          </a:solidFill>
          <a:ln w="12700">
            <a:solidFill>
              <a:srgbClr val="E07B39"/>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4" name="Text 5">
            <a:extLst>
              <a:ext uri="{FF2B5EF4-FFF2-40B4-BE49-F238E27FC236}">
                <a16:creationId xmlns:a16="http://schemas.microsoft.com/office/drawing/2014/main" id="{B1BF04DE-B7B0-9C12-706F-874036FE2DA7}"/>
              </a:ext>
            </a:extLst>
          </p:cNvPr>
          <p:cNvSpPr/>
          <p:nvPr/>
        </p:nvSpPr>
        <p:spPr>
          <a:xfrm>
            <a:off x="338328" y="1078992"/>
            <a:ext cx="365760"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165" name="Text 6">
            <a:extLst>
              <a:ext uri="{FF2B5EF4-FFF2-40B4-BE49-F238E27FC236}">
                <a16:creationId xmlns:a16="http://schemas.microsoft.com/office/drawing/2014/main" id="{328D0DA8-7AFB-71FF-A6BF-4719D2F2738F}"/>
              </a:ext>
            </a:extLst>
          </p:cNvPr>
          <p:cNvSpPr/>
          <p:nvPr/>
        </p:nvSpPr>
        <p:spPr>
          <a:xfrm>
            <a:off x="795528" y="1060704"/>
            <a:ext cx="1682496"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Candidate rank</a:t>
            </a:r>
            <a:endParaRPr lang="en-US" sz="800"/>
          </a:p>
        </p:txBody>
      </p:sp>
      <p:sp>
        <p:nvSpPr>
          <p:cNvPr id="166" name="Text 7">
            <a:extLst>
              <a:ext uri="{FF2B5EF4-FFF2-40B4-BE49-F238E27FC236}">
                <a16:creationId xmlns:a16="http://schemas.microsoft.com/office/drawing/2014/main" id="{2E2899DC-7993-B050-610E-AC837E50F93B}"/>
              </a:ext>
            </a:extLst>
          </p:cNvPr>
          <p:cNvSpPr/>
          <p:nvPr/>
        </p:nvSpPr>
        <p:spPr>
          <a:xfrm>
            <a:off x="795528" y="1261872"/>
            <a:ext cx="1682496" cy="20116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a:solidFill>
                  <a:srgbClr val="E07B39"/>
                </a:solidFill>
              </a:rPr>
              <a:t>#1</a:t>
            </a:r>
            <a:endParaRPr lang="en-US" sz="1300"/>
          </a:p>
        </p:txBody>
      </p:sp>
      <p:sp>
        <p:nvSpPr>
          <p:cNvPr id="167" name="Shape 8">
            <a:extLst>
              <a:ext uri="{FF2B5EF4-FFF2-40B4-BE49-F238E27FC236}">
                <a16:creationId xmlns:a16="http://schemas.microsoft.com/office/drawing/2014/main" id="{70D13B2F-8576-949E-D7A7-46EA637980D1}"/>
              </a:ext>
            </a:extLst>
          </p:cNvPr>
          <p:cNvSpPr/>
          <p:nvPr/>
        </p:nvSpPr>
        <p:spPr>
          <a:xfrm>
            <a:off x="2624328" y="1005840"/>
            <a:ext cx="2231136" cy="512064"/>
          </a:xfrm>
          <a:prstGeom prst="roundRect">
            <a:avLst>
              <a:gd name="adj" fmla="val 16071"/>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8" name="Shape 9">
            <a:extLst>
              <a:ext uri="{FF2B5EF4-FFF2-40B4-BE49-F238E27FC236}">
                <a16:creationId xmlns:a16="http://schemas.microsoft.com/office/drawing/2014/main" id="{84586AAD-DD8D-67C6-E0C4-7FD8DF9E0BB9}"/>
              </a:ext>
            </a:extLst>
          </p:cNvPr>
          <p:cNvSpPr/>
          <p:nvPr/>
        </p:nvSpPr>
        <p:spPr>
          <a:xfrm>
            <a:off x="2642616" y="1078992"/>
            <a:ext cx="365760" cy="365760"/>
          </a:xfrm>
          <a:prstGeom prst="ellipse">
            <a:avLst/>
          </a:prstGeom>
          <a:solidFill>
            <a:srgbClr val="0E6B7C"/>
          </a:solidFill>
          <a:ln w="12700">
            <a:solidFill>
              <a:srgbClr val="0E6B7C"/>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9" name="Text 10">
            <a:extLst>
              <a:ext uri="{FF2B5EF4-FFF2-40B4-BE49-F238E27FC236}">
                <a16:creationId xmlns:a16="http://schemas.microsoft.com/office/drawing/2014/main" id="{3D4FA213-80C3-AEE5-475B-C0B7E69DCD5C}"/>
              </a:ext>
            </a:extLst>
          </p:cNvPr>
          <p:cNvSpPr/>
          <p:nvPr/>
        </p:nvSpPr>
        <p:spPr>
          <a:xfrm>
            <a:off x="2642616" y="1078992"/>
            <a:ext cx="365760"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170" name="Text 11">
            <a:extLst>
              <a:ext uri="{FF2B5EF4-FFF2-40B4-BE49-F238E27FC236}">
                <a16:creationId xmlns:a16="http://schemas.microsoft.com/office/drawing/2014/main" id="{91B575F1-77AA-14A0-1E65-2CD7BD20823B}"/>
              </a:ext>
            </a:extLst>
          </p:cNvPr>
          <p:cNvSpPr/>
          <p:nvPr/>
        </p:nvSpPr>
        <p:spPr>
          <a:xfrm>
            <a:off x="3099816" y="1060704"/>
            <a:ext cx="1682496"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Mean Chronos effect in melanoma</a:t>
            </a:r>
            <a:endParaRPr lang="en-US" sz="800"/>
          </a:p>
        </p:txBody>
      </p:sp>
      <p:sp>
        <p:nvSpPr>
          <p:cNvPr id="171" name="Text 12">
            <a:extLst>
              <a:ext uri="{FF2B5EF4-FFF2-40B4-BE49-F238E27FC236}">
                <a16:creationId xmlns:a16="http://schemas.microsoft.com/office/drawing/2014/main" id="{DF5FD8D7-A39E-0070-66F7-A302AF523E2B}"/>
              </a:ext>
            </a:extLst>
          </p:cNvPr>
          <p:cNvSpPr/>
          <p:nvPr/>
        </p:nvSpPr>
        <p:spPr>
          <a:xfrm>
            <a:off x="3099816" y="1261872"/>
            <a:ext cx="1682496" cy="20116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a:solidFill>
                  <a:srgbClr val="0E6B7C"/>
                </a:solidFill>
              </a:rPr>
              <a:t>-1.369</a:t>
            </a:r>
            <a:endParaRPr lang="en-US" sz="1300"/>
          </a:p>
        </p:txBody>
      </p:sp>
      <p:sp>
        <p:nvSpPr>
          <p:cNvPr id="172" name="Shape 13">
            <a:extLst>
              <a:ext uri="{FF2B5EF4-FFF2-40B4-BE49-F238E27FC236}">
                <a16:creationId xmlns:a16="http://schemas.microsoft.com/office/drawing/2014/main" id="{0F57B2BF-10EC-EE46-7E04-6CEFCBBD0F9A}"/>
              </a:ext>
            </a:extLst>
          </p:cNvPr>
          <p:cNvSpPr/>
          <p:nvPr/>
        </p:nvSpPr>
        <p:spPr>
          <a:xfrm>
            <a:off x="4928616" y="1005840"/>
            <a:ext cx="2231136" cy="512064"/>
          </a:xfrm>
          <a:prstGeom prst="roundRect">
            <a:avLst>
              <a:gd name="adj" fmla="val 16071"/>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3" name="Shape 14">
            <a:extLst>
              <a:ext uri="{FF2B5EF4-FFF2-40B4-BE49-F238E27FC236}">
                <a16:creationId xmlns:a16="http://schemas.microsoft.com/office/drawing/2014/main" id="{02DA5FBE-46A0-6D6E-370C-FB540EA71865}"/>
              </a:ext>
            </a:extLst>
          </p:cNvPr>
          <p:cNvSpPr/>
          <p:nvPr/>
        </p:nvSpPr>
        <p:spPr>
          <a:xfrm>
            <a:off x="4946904" y="1078992"/>
            <a:ext cx="365760" cy="365760"/>
          </a:xfrm>
          <a:prstGeom prst="ellipse">
            <a:avLst/>
          </a:prstGeom>
          <a:solidFill>
            <a:srgbClr val="E07B39"/>
          </a:solidFill>
          <a:ln w="12700">
            <a:solidFill>
              <a:srgbClr val="E07B39"/>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4" name="Text 15">
            <a:extLst>
              <a:ext uri="{FF2B5EF4-FFF2-40B4-BE49-F238E27FC236}">
                <a16:creationId xmlns:a16="http://schemas.microsoft.com/office/drawing/2014/main" id="{DD63BF06-BF19-C41E-D04B-A08EDBD3A4F8}"/>
              </a:ext>
            </a:extLst>
          </p:cNvPr>
          <p:cNvSpPr/>
          <p:nvPr/>
        </p:nvSpPr>
        <p:spPr>
          <a:xfrm>
            <a:off x="4946904" y="1078992"/>
            <a:ext cx="365760"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175" name="Text 16">
            <a:extLst>
              <a:ext uri="{FF2B5EF4-FFF2-40B4-BE49-F238E27FC236}">
                <a16:creationId xmlns:a16="http://schemas.microsoft.com/office/drawing/2014/main" id="{07E7699D-7DE5-1BE6-E0FD-8BDA5ED485B0}"/>
              </a:ext>
            </a:extLst>
          </p:cNvPr>
          <p:cNvSpPr/>
          <p:nvPr/>
        </p:nvSpPr>
        <p:spPr>
          <a:xfrm>
            <a:off x="5404104" y="1060704"/>
            <a:ext cx="1682496"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Mean effect in other cancers</a:t>
            </a:r>
            <a:endParaRPr lang="en-US" sz="800"/>
          </a:p>
        </p:txBody>
      </p:sp>
      <p:sp>
        <p:nvSpPr>
          <p:cNvPr id="176" name="Text 17">
            <a:extLst>
              <a:ext uri="{FF2B5EF4-FFF2-40B4-BE49-F238E27FC236}">
                <a16:creationId xmlns:a16="http://schemas.microsoft.com/office/drawing/2014/main" id="{375896C7-3F45-37F6-4A6E-07C5B8EE9675}"/>
              </a:ext>
            </a:extLst>
          </p:cNvPr>
          <p:cNvSpPr/>
          <p:nvPr/>
        </p:nvSpPr>
        <p:spPr>
          <a:xfrm>
            <a:off x="5404104" y="1261872"/>
            <a:ext cx="1682496" cy="20116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a:solidFill>
                  <a:srgbClr val="E07B39"/>
                </a:solidFill>
              </a:rPr>
              <a:t>-0.185</a:t>
            </a:r>
            <a:endParaRPr lang="en-US" sz="1300"/>
          </a:p>
        </p:txBody>
      </p:sp>
      <p:sp>
        <p:nvSpPr>
          <p:cNvPr id="177" name="Shape 18">
            <a:extLst>
              <a:ext uri="{FF2B5EF4-FFF2-40B4-BE49-F238E27FC236}">
                <a16:creationId xmlns:a16="http://schemas.microsoft.com/office/drawing/2014/main" id="{342081D8-0E29-E9F9-367F-5EB644CE258C}"/>
              </a:ext>
            </a:extLst>
          </p:cNvPr>
          <p:cNvSpPr/>
          <p:nvPr/>
        </p:nvSpPr>
        <p:spPr>
          <a:xfrm>
            <a:off x="7232904" y="1005840"/>
            <a:ext cx="2231136" cy="512064"/>
          </a:xfrm>
          <a:prstGeom prst="roundRect">
            <a:avLst>
              <a:gd name="adj" fmla="val 16071"/>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8" name="Shape 19">
            <a:extLst>
              <a:ext uri="{FF2B5EF4-FFF2-40B4-BE49-F238E27FC236}">
                <a16:creationId xmlns:a16="http://schemas.microsoft.com/office/drawing/2014/main" id="{4A291583-7653-EAE9-83C5-9439FF5608EE}"/>
              </a:ext>
            </a:extLst>
          </p:cNvPr>
          <p:cNvSpPr/>
          <p:nvPr/>
        </p:nvSpPr>
        <p:spPr>
          <a:xfrm>
            <a:off x="7251192" y="1078992"/>
            <a:ext cx="365760" cy="365760"/>
          </a:xfrm>
          <a:prstGeom prst="ellipse">
            <a:avLst/>
          </a:prstGeom>
          <a:solidFill>
            <a:srgbClr val="2A6B3C"/>
          </a:solidFill>
          <a:ln w="12700">
            <a:solidFill>
              <a:srgbClr val="2A6B3C"/>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9" name="Text 20">
            <a:extLst>
              <a:ext uri="{FF2B5EF4-FFF2-40B4-BE49-F238E27FC236}">
                <a16:creationId xmlns:a16="http://schemas.microsoft.com/office/drawing/2014/main" id="{6BE03CC8-DA5F-C69F-136E-11665EB044F7}"/>
              </a:ext>
            </a:extLst>
          </p:cNvPr>
          <p:cNvSpPr/>
          <p:nvPr/>
        </p:nvSpPr>
        <p:spPr>
          <a:xfrm>
            <a:off x="7251192" y="1078992"/>
            <a:ext cx="365760"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t>🎯</a:t>
            </a:r>
          </a:p>
        </p:txBody>
      </p:sp>
      <p:sp>
        <p:nvSpPr>
          <p:cNvPr id="180" name="Text 21">
            <a:extLst>
              <a:ext uri="{FF2B5EF4-FFF2-40B4-BE49-F238E27FC236}">
                <a16:creationId xmlns:a16="http://schemas.microsoft.com/office/drawing/2014/main" id="{DD61F23E-A663-3317-6671-7F0B32F96B51}"/>
              </a:ext>
            </a:extLst>
          </p:cNvPr>
          <p:cNvSpPr/>
          <p:nvPr/>
        </p:nvSpPr>
        <p:spPr>
          <a:xfrm>
            <a:off x="7708392" y="1060704"/>
            <a:ext cx="1682496"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Melanoma selectivity</a:t>
            </a:r>
            <a:endParaRPr lang="en-US" sz="800"/>
          </a:p>
        </p:txBody>
      </p:sp>
      <p:sp>
        <p:nvSpPr>
          <p:cNvPr id="181" name="Text 22">
            <a:extLst>
              <a:ext uri="{FF2B5EF4-FFF2-40B4-BE49-F238E27FC236}">
                <a16:creationId xmlns:a16="http://schemas.microsoft.com/office/drawing/2014/main" id="{F5B19FC1-2BD9-F546-6122-7BC7184825E1}"/>
              </a:ext>
            </a:extLst>
          </p:cNvPr>
          <p:cNvSpPr/>
          <p:nvPr/>
        </p:nvSpPr>
        <p:spPr>
          <a:xfrm>
            <a:off x="7708392" y="1261872"/>
            <a:ext cx="1682496" cy="20116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a:solidFill>
                  <a:srgbClr val="2A6B3C"/>
                </a:solidFill>
              </a:rPr>
              <a:t>-1.185</a:t>
            </a:r>
            <a:endParaRPr lang="en-US" sz="1300"/>
          </a:p>
        </p:txBody>
      </p:sp>
      <p:sp>
        <p:nvSpPr>
          <p:cNvPr id="182" name="Shape 23">
            <a:extLst>
              <a:ext uri="{FF2B5EF4-FFF2-40B4-BE49-F238E27FC236}">
                <a16:creationId xmlns:a16="http://schemas.microsoft.com/office/drawing/2014/main" id="{2AE1AEFA-DE79-CDD1-E93F-371EEB6ECC2B}"/>
              </a:ext>
            </a:extLst>
          </p:cNvPr>
          <p:cNvSpPr/>
          <p:nvPr/>
        </p:nvSpPr>
        <p:spPr>
          <a:xfrm>
            <a:off x="9537192" y="1005840"/>
            <a:ext cx="2231136" cy="512064"/>
          </a:xfrm>
          <a:prstGeom prst="roundRect">
            <a:avLst>
              <a:gd name="adj" fmla="val 16071"/>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3" name="Shape 24">
            <a:extLst>
              <a:ext uri="{FF2B5EF4-FFF2-40B4-BE49-F238E27FC236}">
                <a16:creationId xmlns:a16="http://schemas.microsoft.com/office/drawing/2014/main" id="{752B65A2-003C-CB50-50CF-EABD4A15FEB1}"/>
              </a:ext>
            </a:extLst>
          </p:cNvPr>
          <p:cNvSpPr/>
          <p:nvPr/>
        </p:nvSpPr>
        <p:spPr>
          <a:xfrm>
            <a:off x="9555480" y="1078992"/>
            <a:ext cx="365760" cy="365760"/>
          </a:xfrm>
          <a:prstGeom prst="ellipse">
            <a:avLst/>
          </a:prstGeom>
          <a:solidFill>
            <a:srgbClr val="1B2A4A"/>
          </a:solidFill>
          <a:ln w="12700">
            <a:solidFill>
              <a:srgbClr val="1B2A4A"/>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4" name="Text 25">
            <a:extLst>
              <a:ext uri="{FF2B5EF4-FFF2-40B4-BE49-F238E27FC236}">
                <a16:creationId xmlns:a16="http://schemas.microsoft.com/office/drawing/2014/main" id="{EFBCCB2C-F6FB-66C9-D053-D05979D2E013}"/>
              </a:ext>
            </a:extLst>
          </p:cNvPr>
          <p:cNvSpPr/>
          <p:nvPr/>
        </p:nvSpPr>
        <p:spPr>
          <a:xfrm>
            <a:off x="9555480" y="1078992"/>
            <a:ext cx="365760"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185" name="Text 26">
            <a:extLst>
              <a:ext uri="{FF2B5EF4-FFF2-40B4-BE49-F238E27FC236}">
                <a16:creationId xmlns:a16="http://schemas.microsoft.com/office/drawing/2014/main" id="{D6D03512-E66B-8B0B-90BD-7906BA50F4B1}"/>
              </a:ext>
            </a:extLst>
          </p:cNvPr>
          <p:cNvSpPr/>
          <p:nvPr/>
        </p:nvSpPr>
        <p:spPr>
          <a:xfrm>
            <a:off x="10012680" y="1060704"/>
            <a:ext cx="1682496"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Melanoma models dependent</a:t>
            </a:r>
            <a:endParaRPr lang="en-US" sz="800"/>
          </a:p>
        </p:txBody>
      </p:sp>
      <p:sp>
        <p:nvSpPr>
          <p:cNvPr id="186" name="Text 27">
            <a:extLst>
              <a:ext uri="{FF2B5EF4-FFF2-40B4-BE49-F238E27FC236}">
                <a16:creationId xmlns:a16="http://schemas.microsoft.com/office/drawing/2014/main" id="{4C7425B9-89DF-97E9-D6EF-E72C9DF12EAA}"/>
              </a:ext>
            </a:extLst>
          </p:cNvPr>
          <p:cNvSpPr/>
          <p:nvPr/>
        </p:nvSpPr>
        <p:spPr>
          <a:xfrm>
            <a:off x="10012680" y="1261872"/>
            <a:ext cx="1682496" cy="20116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a:solidFill>
                  <a:srgbClr val="1B2A4A"/>
                </a:solidFill>
              </a:rPr>
              <a:t>84.0%</a:t>
            </a:r>
            <a:endParaRPr lang="en-US" sz="1300"/>
          </a:p>
        </p:txBody>
      </p:sp>
      <p:sp>
        <p:nvSpPr>
          <p:cNvPr id="187" name="Shape 28">
            <a:extLst>
              <a:ext uri="{FF2B5EF4-FFF2-40B4-BE49-F238E27FC236}">
                <a16:creationId xmlns:a16="http://schemas.microsoft.com/office/drawing/2014/main" id="{0DB07F45-D153-F419-5F5E-4475126CABCB}"/>
              </a:ext>
            </a:extLst>
          </p:cNvPr>
          <p:cNvSpPr/>
          <p:nvPr/>
        </p:nvSpPr>
        <p:spPr>
          <a:xfrm>
            <a:off x="320040" y="1581912"/>
            <a:ext cx="2231136" cy="512064"/>
          </a:xfrm>
          <a:prstGeom prst="roundRect">
            <a:avLst>
              <a:gd name="adj" fmla="val 16071"/>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8" name="Shape 29">
            <a:extLst>
              <a:ext uri="{FF2B5EF4-FFF2-40B4-BE49-F238E27FC236}">
                <a16:creationId xmlns:a16="http://schemas.microsoft.com/office/drawing/2014/main" id="{F8BAB890-8877-FB56-E7D1-23AA45C3AF82}"/>
              </a:ext>
            </a:extLst>
          </p:cNvPr>
          <p:cNvSpPr/>
          <p:nvPr/>
        </p:nvSpPr>
        <p:spPr>
          <a:xfrm>
            <a:off x="338328" y="1655064"/>
            <a:ext cx="365760" cy="365760"/>
          </a:xfrm>
          <a:prstGeom prst="ellipse">
            <a:avLst/>
          </a:prstGeom>
          <a:solidFill>
            <a:srgbClr val="E07B39"/>
          </a:solidFill>
          <a:ln w="12700">
            <a:solidFill>
              <a:srgbClr val="E07B39"/>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9" name="Text 30">
            <a:extLst>
              <a:ext uri="{FF2B5EF4-FFF2-40B4-BE49-F238E27FC236}">
                <a16:creationId xmlns:a16="http://schemas.microsoft.com/office/drawing/2014/main" id="{1549D31F-498B-2548-5CB5-C98178A3B708}"/>
              </a:ext>
            </a:extLst>
          </p:cNvPr>
          <p:cNvSpPr/>
          <p:nvPr/>
        </p:nvSpPr>
        <p:spPr>
          <a:xfrm>
            <a:off x="338328" y="1655064"/>
            <a:ext cx="365760"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190" name="Text 31">
            <a:extLst>
              <a:ext uri="{FF2B5EF4-FFF2-40B4-BE49-F238E27FC236}">
                <a16:creationId xmlns:a16="http://schemas.microsoft.com/office/drawing/2014/main" id="{7BA4EBE2-FDD7-6D12-745B-747635A50F53}"/>
              </a:ext>
            </a:extLst>
          </p:cNvPr>
          <p:cNvSpPr/>
          <p:nvPr/>
        </p:nvSpPr>
        <p:spPr>
          <a:xfrm>
            <a:off x="795528" y="1636776"/>
            <a:ext cx="1682496"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Other-cancer models dependent</a:t>
            </a:r>
            <a:endParaRPr lang="en-US" sz="800"/>
          </a:p>
        </p:txBody>
      </p:sp>
      <p:sp>
        <p:nvSpPr>
          <p:cNvPr id="191" name="Text 32">
            <a:extLst>
              <a:ext uri="{FF2B5EF4-FFF2-40B4-BE49-F238E27FC236}">
                <a16:creationId xmlns:a16="http://schemas.microsoft.com/office/drawing/2014/main" id="{EF435D64-6307-4DEB-A552-9C38FC5A6554}"/>
              </a:ext>
            </a:extLst>
          </p:cNvPr>
          <p:cNvSpPr/>
          <p:nvPr/>
        </p:nvSpPr>
        <p:spPr>
          <a:xfrm>
            <a:off x="795528" y="1837944"/>
            <a:ext cx="1682496" cy="20116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a:solidFill>
                  <a:srgbClr val="E07B39"/>
                </a:solidFill>
              </a:rPr>
              <a:t>2.8%</a:t>
            </a:r>
            <a:endParaRPr lang="en-US" sz="1300"/>
          </a:p>
        </p:txBody>
      </p:sp>
      <p:sp>
        <p:nvSpPr>
          <p:cNvPr id="192" name="Shape 33">
            <a:extLst>
              <a:ext uri="{FF2B5EF4-FFF2-40B4-BE49-F238E27FC236}">
                <a16:creationId xmlns:a16="http://schemas.microsoft.com/office/drawing/2014/main" id="{1F2F32B5-0646-EC58-826C-77F73732477D}"/>
              </a:ext>
            </a:extLst>
          </p:cNvPr>
          <p:cNvSpPr/>
          <p:nvPr/>
        </p:nvSpPr>
        <p:spPr>
          <a:xfrm>
            <a:off x="2624328" y="1581912"/>
            <a:ext cx="2231136" cy="512064"/>
          </a:xfrm>
          <a:prstGeom prst="roundRect">
            <a:avLst>
              <a:gd name="adj" fmla="val 16071"/>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3" name="Shape 34">
            <a:extLst>
              <a:ext uri="{FF2B5EF4-FFF2-40B4-BE49-F238E27FC236}">
                <a16:creationId xmlns:a16="http://schemas.microsoft.com/office/drawing/2014/main" id="{A3A4177B-9B96-9C37-8C52-7C688AFF085C}"/>
              </a:ext>
            </a:extLst>
          </p:cNvPr>
          <p:cNvSpPr/>
          <p:nvPr/>
        </p:nvSpPr>
        <p:spPr>
          <a:xfrm>
            <a:off x="2642616" y="1655064"/>
            <a:ext cx="365760" cy="365760"/>
          </a:xfrm>
          <a:prstGeom prst="ellipse">
            <a:avLst/>
          </a:prstGeom>
          <a:solidFill>
            <a:srgbClr val="2A6B3C"/>
          </a:solidFill>
          <a:ln w="12700">
            <a:solidFill>
              <a:srgbClr val="2A6B3C"/>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4" name="Text 35">
            <a:extLst>
              <a:ext uri="{FF2B5EF4-FFF2-40B4-BE49-F238E27FC236}">
                <a16:creationId xmlns:a16="http://schemas.microsoft.com/office/drawing/2014/main" id="{0D220411-8C8C-054C-C684-1FB1240A47FC}"/>
              </a:ext>
            </a:extLst>
          </p:cNvPr>
          <p:cNvSpPr/>
          <p:nvPr/>
        </p:nvSpPr>
        <p:spPr>
          <a:xfrm>
            <a:off x="2642616" y="1655064"/>
            <a:ext cx="365760"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195" name="Text 36">
            <a:extLst>
              <a:ext uri="{FF2B5EF4-FFF2-40B4-BE49-F238E27FC236}">
                <a16:creationId xmlns:a16="http://schemas.microsoft.com/office/drawing/2014/main" id="{BF4795CE-F333-54B3-F2AD-EB4F42FE05F3}"/>
              </a:ext>
            </a:extLst>
          </p:cNvPr>
          <p:cNvSpPr/>
          <p:nvPr/>
        </p:nvSpPr>
        <p:spPr>
          <a:xfrm>
            <a:off x="3099816" y="1636776"/>
            <a:ext cx="1682496"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FDR</a:t>
            </a:r>
            <a:endParaRPr lang="en-US" sz="800"/>
          </a:p>
        </p:txBody>
      </p:sp>
      <p:sp>
        <p:nvSpPr>
          <p:cNvPr id="196" name="Text 37">
            <a:extLst>
              <a:ext uri="{FF2B5EF4-FFF2-40B4-BE49-F238E27FC236}">
                <a16:creationId xmlns:a16="http://schemas.microsoft.com/office/drawing/2014/main" id="{A2AC16D2-5D55-B407-A2C0-EAC7A35C3622}"/>
              </a:ext>
            </a:extLst>
          </p:cNvPr>
          <p:cNvSpPr/>
          <p:nvPr/>
        </p:nvSpPr>
        <p:spPr>
          <a:xfrm>
            <a:off x="3099816" y="1837944"/>
            <a:ext cx="1682496" cy="20116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a:solidFill>
                  <a:srgbClr val="2A6B3C"/>
                </a:solidFill>
              </a:rPr>
              <a:t>1.16 × 10⁻²⁰</a:t>
            </a:r>
            <a:endParaRPr lang="en-US" sz="1300"/>
          </a:p>
        </p:txBody>
      </p:sp>
      <p:sp>
        <p:nvSpPr>
          <p:cNvPr id="197" name="Shape 38">
            <a:extLst>
              <a:ext uri="{FF2B5EF4-FFF2-40B4-BE49-F238E27FC236}">
                <a16:creationId xmlns:a16="http://schemas.microsoft.com/office/drawing/2014/main" id="{0A72D62F-BD1D-FFDC-DD95-3D67DF15A797}"/>
              </a:ext>
            </a:extLst>
          </p:cNvPr>
          <p:cNvSpPr/>
          <p:nvPr/>
        </p:nvSpPr>
        <p:spPr>
          <a:xfrm>
            <a:off x="4928616" y="1581912"/>
            <a:ext cx="2231136" cy="512064"/>
          </a:xfrm>
          <a:prstGeom prst="roundRect">
            <a:avLst>
              <a:gd name="adj" fmla="val 16071"/>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8" name="Shape 39">
            <a:extLst>
              <a:ext uri="{FF2B5EF4-FFF2-40B4-BE49-F238E27FC236}">
                <a16:creationId xmlns:a16="http://schemas.microsoft.com/office/drawing/2014/main" id="{E36E2894-F696-4679-3921-03669DF0CE9B}"/>
              </a:ext>
            </a:extLst>
          </p:cNvPr>
          <p:cNvSpPr/>
          <p:nvPr/>
        </p:nvSpPr>
        <p:spPr>
          <a:xfrm>
            <a:off x="4946904" y="1655064"/>
            <a:ext cx="365760" cy="365760"/>
          </a:xfrm>
          <a:prstGeom prst="ellipse">
            <a:avLst/>
          </a:prstGeom>
          <a:solidFill>
            <a:srgbClr val="1B2A4A"/>
          </a:solidFill>
          <a:ln w="12700">
            <a:solidFill>
              <a:srgbClr val="1B2A4A"/>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9" name="Text 40">
            <a:extLst>
              <a:ext uri="{FF2B5EF4-FFF2-40B4-BE49-F238E27FC236}">
                <a16:creationId xmlns:a16="http://schemas.microsoft.com/office/drawing/2014/main" id="{B0CBBF9B-D01C-91AD-28BF-E87A512C2F68}"/>
              </a:ext>
            </a:extLst>
          </p:cNvPr>
          <p:cNvSpPr/>
          <p:nvPr/>
        </p:nvSpPr>
        <p:spPr>
          <a:xfrm>
            <a:off x="4946904" y="1655064"/>
            <a:ext cx="365760"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200" name="Text 41">
            <a:extLst>
              <a:ext uri="{FF2B5EF4-FFF2-40B4-BE49-F238E27FC236}">
                <a16:creationId xmlns:a16="http://schemas.microsoft.com/office/drawing/2014/main" id="{EBF64309-BD5B-EAC2-4B7F-B04D25EF5F72}"/>
              </a:ext>
            </a:extLst>
          </p:cNvPr>
          <p:cNvSpPr/>
          <p:nvPr/>
        </p:nvSpPr>
        <p:spPr>
          <a:xfrm>
            <a:off x="5404104" y="1636776"/>
            <a:ext cx="1682496"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Hedges' g</a:t>
            </a:r>
            <a:endParaRPr lang="en-US" sz="800"/>
          </a:p>
        </p:txBody>
      </p:sp>
      <p:sp>
        <p:nvSpPr>
          <p:cNvPr id="201" name="Text 42">
            <a:extLst>
              <a:ext uri="{FF2B5EF4-FFF2-40B4-BE49-F238E27FC236}">
                <a16:creationId xmlns:a16="http://schemas.microsoft.com/office/drawing/2014/main" id="{CAB1C328-9AB7-E40D-2A27-37AD7AFC7F3F}"/>
              </a:ext>
            </a:extLst>
          </p:cNvPr>
          <p:cNvSpPr/>
          <p:nvPr/>
        </p:nvSpPr>
        <p:spPr>
          <a:xfrm>
            <a:off x="5404104" y="1837944"/>
            <a:ext cx="1682496" cy="20116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a:solidFill>
                  <a:srgbClr val="1B2A4A"/>
                </a:solidFill>
              </a:rPr>
              <a:t>-4.49</a:t>
            </a:r>
            <a:endParaRPr lang="en-US" sz="1300"/>
          </a:p>
        </p:txBody>
      </p:sp>
      <p:sp>
        <p:nvSpPr>
          <p:cNvPr id="202" name="Shape 43">
            <a:extLst>
              <a:ext uri="{FF2B5EF4-FFF2-40B4-BE49-F238E27FC236}">
                <a16:creationId xmlns:a16="http://schemas.microsoft.com/office/drawing/2014/main" id="{855DE1A3-CFD2-ADAC-A2B6-24E18A75DB1D}"/>
              </a:ext>
            </a:extLst>
          </p:cNvPr>
          <p:cNvSpPr/>
          <p:nvPr/>
        </p:nvSpPr>
        <p:spPr>
          <a:xfrm>
            <a:off x="7232904" y="1581912"/>
            <a:ext cx="2231136" cy="512064"/>
          </a:xfrm>
          <a:prstGeom prst="roundRect">
            <a:avLst>
              <a:gd name="adj" fmla="val 16071"/>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3" name="Shape 44">
            <a:extLst>
              <a:ext uri="{FF2B5EF4-FFF2-40B4-BE49-F238E27FC236}">
                <a16:creationId xmlns:a16="http://schemas.microsoft.com/office/drawing/2014/main" id="{773B6019-C9BF-4784-CC96-5D451F5DB0B1}"/>
              </a:ext>
            </a:extLst>
          </p:cNvPr>
          <p:cNvSpPr/>
          <p:nvPr/>
        </p:nvSpPr>
        <p:spPr>
          <a:xfrm>
            <a:off x="7251192" y="1655064"/>
            <a:ext cx="365760" cy="365760"/>
          </a:xfrm>
          <a:prstGeom prst="ellipse">
            <a:avLst/>
          </a:prstGeom>
          <a:solidFill>
            <a:srgbClr val="0E6B7C"/>
          </a:solidFill>
          <a:ln w="12700">
            <a:solidFill>
              <a:srgbClr val="0E6B7C"/>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4" name="Text 45">
            <a:extLst>
              <a:ext uri="{FF2B5EF4-FFF2-40B4-BE49-F238E27FC236}">
                <a16:creationId xmlns:a16="http://schemas.microsoft.com/office/drawing/2014/main" id="{A9835A06-6A44-6557-2B02-00F74758487F}"/>
              </a:ext>
            </a:extLst>
          </p:cNvPr>
          <p:cNvSpPr/>
          <p:nvPr/>
        </p:nvSpPr>
        <p:spPr>
          <a:xfrm>
            <a:off x="7251192" y="1655064"/>
            <a:ext cx="365760"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205" name="Text 46">
            <a:extLst>
              <a:ext uri="{FF2B5EF4-FFF2-40B4-BE49-F238E27FC236}">
                <a16:creationId xmlns:a16="http://schemas.microsoft.com/office/drawing/2014/main" id="{28323F61-819B-DCE3-6B95-414DA96EE998}"/>
              </a:ext>
            </a:extLst>
          </p:cNvPr>
          <p:cNvSpPr/>
          <p:nvPr/>
        </p:nvSpPr>
        <p:spPr>
          <a:xfrm>
            <a:off x="7708392" y="1636776"/>
            <a:ext cx="1682496"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Mean dependency probability</a:t>
            </a:r>
            <a:endParaRPr lang="en-US" sz="800"/>
          </a:p>
        </p:txBody>
      </p:sp>
      <p:sp>
        <p:nvSpPr>
          <p:cNvPr id="206" name="Text 47">
            <a:extLst>
              <a:ext uri="{FF2B5EF4-FFF2-40B4-BE49-F238E27FC236}">
                <a16:creationId xmlns:a16="http://schemas.microsoft.com/office/drawing/2014/main" id="{229EA9BB-E620-8DC6-AD4E-AD75735CF3D4}"/>
              </a:ext>
            </a:extLst>
          </p:cNvPr>
          <p:cNvSpPr/>
          <p:nvPr/>
        </p:nvSpPr>
        <p:spPr>
          <a:xfrm>
            <a:off x="7708392" y="1837944"/>
            <a:ext cx="1682496" cy="20116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a:solidFill>
                  <a:srgbClr val="0E6B7C"/>
                </a:solidFill>
              </a:rPr>
              <a:t>0.851</a:t>
            </a:r>
            <a:endParaRPr lang="en-US" sz="1300"/>
          </a:p>
        </p:txBody>
      </p:sp>
      <p:sp>
        <p:nvSpPr>
          <p:cNvPr id="207" name="Shape 48">
            <a:extLst>
              <a:ext uri="{FF2B5EF4-FFF2-40B4-BE49-F238E27FC236}">
                <a16:creationId xmlns:a16="http://schemas.microsoft.com/office/drawing/2014/main" id="{6E16427A-1869-FD9C-625E-FC67E796B805}"/>
              </a:ext>
            </a:extLst>
          </p:cNvPr>
          <p:cNvSpPr/>
          <p:nvPr/>
        </p:nvSpPr>
        <p:spPr>
          <a:xfrm>
            <a:off x="9537192" y="1581912"/>
            <a:ext cx="2231136" cy="512064"/>
          </a:xfrm>
          <a:prstGeom prst="roundRect">
            <a:avLst>
              <a:gd name="adj" fmla="val 16071"/>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8" name="Shape 49">
            <a:extLst>
              <a:ext uri="{FF2B5EF4-FFF2-40B4-BE49-F238E27FC236}">
                <a16:creationId xmlns:a16="http://schemas.microsoft.com/office/drawing/2014/main" id="{388D1AB2-4FE5-79FC-F07E-97F6E1F312CB}"/>
              </a:ext>
            </a:extLst>
          </p:cNvPr>
          <p:cNvSpPr/>
          <p:nvPr/>
        </p:nvSpPr>
        <p:spPr>
          <a:xfrm>
            <a:off x="9555480" y="1655064"/>
            <a:ext cx="365760" cy="365760"/>
          </a:xfrm>
          <a:prstGeom prst="ellipse">
            <a:avLst/>
          </a:prstGeom>
          <a:solidFill>
            <a:srgbClr val="2A6B3C"/>
          </a:solidFill>
          <a:ln w="12700">
            <a:solidFill>
              <a:srgbClr val="2A6B3C"/>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9" name="Text 50">
            <a:extLst>
              <a:ext uri="{FF2B5EF4-FFF2-40B4-BE49-F238E27FC236}">
                <a16:creationId xmlns:a16="http://schemas.microsoft.com/office/drawing/2014/main" id="{A92AB49A-6FF9-38F2-31FD-D9511AB2E5F0}"/>
              </a:ext>
            </a:extLst>
          </p:cNvPr>
          <p:cNvSpPr/>
          <p:nvPr/>
        </p:nvSpPr>
        <p:spPr>
          <a:xfrm>
            <a:off x="9555480" y="1655064"/>
            <a:ext cx="365760"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210" name="Text 51">
            <a:extLst>
              <a:ext uri="{FF2B5EF4-FFF2-40B4-BE49-F238E27FC236}">
                <a16:creationId xmlns:a16="http://schemas.microsoft.com/office/drawing/2014/main" id="{D916FEAC-CE47-4E29-855A-3684BBE651CA}"/>
              </a:ext>
            </a:extLst>
          </p:cNvPr>
          <p:cNvSpPr/>
          <p:nvPr/>
        </p:nvSpPr>
        <p:spPr>
          <a:xfrm>
            <a:off x="10012680" y="1636776"/>
            <a:ext cx="1682496"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Melanoma expression prevalence</a:t>
            </a:r>
            <a:endParaRPr lang="en-US" sz="800"/>
          </a:p>
        </p:txBody>
      </p:sp>
      <p:sp>
        <p:nvSpPr>
          <p:cNvPr id="211" name="Text 52">
            <a:extLst>
              <a:ext uri="{FF2B5EF4-FFF2-40B4-BE49-F238E27FC236}">
                <a16:creationId xmlns:a16="http://schemas.microsoft.com/office/drawing/2014/main" id="{2E2632E0-18A7-330D-72EC-91C88FFBD4D2}"/>
              </a:ext>
            </a:extLst>
          </p:cNvPr>
          <p:cNvSpPr/>
          <p:nvPr/>
        </p:nvSpPr>
        <p:spPr>
          <a:xfrm>
            <a:off x="10012680" y="1837944"/>
            <a:ext cx="1682496" cy="20116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a:solidFill>
                  <a:srgbClr val="2A6B3C"/>
                </a:solidFill>
              </a:rPr>
              <a:t>88.9%</a:t>
            </a:r>
            <a:endParaRPr lang="en-US" sz="1300"/>
          </a:p>
        </p:txBody>
      </p:sp>
      <p:sp>
        <p:nvSpPr>
          <p:cNvPr id="212" name="Shape 53">
            <a:extLst>
              <a:ext uri="{FF2B5EF4-FFF2-40B4-BE49-F238E27FC236}">
                <a16:creationId xmlns:a16="http://schemas.microsoft.com/office/drawing/2014/main" id="{9527EA40-851C-48AD-AC0E-C0EE77D4DF67}"/>
              </a:ext>
            </a:extLst>
          </p:cNvPr>
          <p:cNvSpPr/>
          <p:nvPr/>
        </p:nvSpPr>
        <p:spPr>
          <a:xfrm>
            <a:off x="320040" y="2167128"/>
            <a:ext cx="5074920" cy="4005072"/>
          </a:xfrm>
          <a:prstGeom prst="roundRect">
            <a:avLst>
              <a:gd name="adj" fmla="val 2055"/>
            </a:avLst>
          </a:prstGeom>
          <a:solidFill>
            <a:srgbClr val="FFFFFF"/>
          </a:solidFill>
          <a:ln w="9525">
            <a:solidFill>
              <a:srgbClr val="D4DDE8"/>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3" name="Shape 54">
            <a:extLst>
              <a:ext uri="{FF2B5EF4-FFF2-40B4-BE49-F238E27FC236}">
                <a16:creationId xmlns:a16="http://schemas.microsoft.com/office/drawing/2014/main" id="{7329434C-BF6E-87C8-DF3F-B9594B8F86EB}"/>
              </a:ext>
            </a:extLst>
          </p:cNvPr>
          <p:cNvSpPr/>
          <p:nvPr/>
        </p:nvSpPr>
        <p:spPr>
          <a:xfrm>
            <a:off x="411480" y="2258568"/>
            <a:ext cx="4892040" cy="274320"/>
          </a:xfrm>
          <a:prstGeom prst="roundRect">
            <a:avLst>
              <a:gd name="adj" fmla="val 40000"/>
            </a:avLst>
          </a:prstGeom>
          <a:solidFill>
            <a:srgbClr val="1B2A4A"/>
          </a:solidFill>
          <a:ln w="12700">
            <a:solidFill>
              <a:srgbClr val="1B2A4A"/>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4" name="Text 55">
            <a:extLst>
              <a:ext uri="{FF2B5EF4-FFF2-40B4-BE49-F238E27FC236}">
                <a16:creationId xmlns:a16="http://schemas.microsoft.com/office/drawing/2014/main" id="{7D9B7CFC-F525-88BA-631D-200A9C3DE4CC}"/>
              </a:ext>
            </a:extLst>
          </p:cNvPr>
          <p:cNvSpPr/>
          <p:nvPr/>
        </p:nvSpPr>
        <p:spPr>
          <a:xfrm>
            <a:off x="411480" y="2258568"/>
            <a:ext cx="489204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b="1">
                <a:solidFill>
                  <a:srgbClr val="FFFFFF"/>
                </a:solidFill>
              </a:rPr>
              <a:t>Top filtered melanoma-selective dependencies (common essentials excluded)</a:t>
            </a:r>
            <a:endParaRPr lang="en-US" sz="900"/>
          </a:p>
        </p:txBody>
      </p:sp>
      <p:sp>
        <p:nvSpPr>
          <p:cNvPr id="215" name="Shape 56">
            <a:extLst>
              <a:ext uri="{FF2B5EF4-FFF2-40B4-BE49-F238E27FC236}">
                <a16:creationId xmlns:a16="http://schemas.microsoft.com/office/drawing/2014/main" id="{75212130-1E65-CA85-5437-CC14C4A20168}"/>
              </a:ext>
            </a:extLst>
          </p:cNvPr>
          <p:cNvSpPr/>
          <p:nvPr/>
        </p:nvSpPr>
        <p:spPr>
          <a:xfrm>
            <a:off x="5577840" y="2167128"/>
            <a:ext cx="5074920" cy="4005072"/>
          </a:xfrm>
          <a:prstGeom prst="roundRect">
            <a:avLst>
              <a:gd name="adj" fmla="val 2055"/>
            </a:avLst>
          </a:prstGeom>
          <a:solidFill>
            <a:srgbClr val="FFFFFF"/>
          </a:solidFill>
          <a:ln w="9525">
            <a:solidFill>
              <a:srgbClr val="D4DDE8"/>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6" name="Shape 57">
            <a:extLst>
              <a:ext uri="{FF2B5EF4-FFF2-40B4-BE49-F238E27FC236}">
                <a16:creationId xmlns:a16="http://schemas.microsoft.com/office/drawing/2014/main" id="{7A7E2A94-65F2-CEC6-D382-95F10CEDEE4F}"/>
              </a:ext>
            </a:extLst>
          </p:cNvPr>
          <p:cNvSpPr/>
          <p:nvPr/>
        </p:nvSpPr>
        <p:spPr>
          <a:xfrm>
            <a:off x="5669280" y="2258568"/>
            <a:ext cx="4892040" cy="274320"/>
          </a:xfrm>
          <a:prstGeom prst="roundRect">
            <a:avLst>
              <a:gd name="adj" fmla="val 40000"/>
            </a:avLst>
          </a:prstGeom>
          <a:solidFill>
            <a:srgbClr val="1B2A4A"/>
          </a:solidFill>
          <a:ln w="12700">
            <a:solidFill>
              <a:srgbClr val="1B2A4A"/>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7" name="Text 58">
            <a:extLst>
              <a:ext uri="{FF2B5EF4-FFF2-40B4-BE49-F238E27FC236}">
                <a16:creationId xmlns:a16="http://schemas.microsoft.com/office/drawing/2014/main" id="{37A24101-915C-CC74-3A3D-954533D7041F}"/>
              </a:ext>
            </a:extLst>
          </p:cNvPr>
          <p:cNvSpPr/>
          <p:nvPr/>
        </p:nvSpPr>
        <p:spPr>
          <a:xfrm>
            <a:off x="5669280" y="2258568"/>
            <a:ext cx="489204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b="1">
                <a:solidFill>
                  <a:srgbClr val="FFFFFF"/>
                </a:solidFill>
              </a:rPr>
              <a:t>Melanoma dependency and lineage selectivity</a:t>
            </a:r>
            <a:endParaRPr lang="en-US" sz="900"/>
          </a:p>
        </p:txBody>
      </p:sp>
      <p:sp>
        <p:nvSpPr>
          <p:cNvPr id="218" name="Shape 59">
            <a:extLst>
              <a:ext uri="{FF2B5EF4-FFF2-40B4-BE49-F238E27FC236}">
                <a16:creationId xmlns:a16="http://schemas.microsoft.com/office/drawing/2014/main" id="{8B711960-FDB0-74E6-E6AB-F587A2FC2F6C}"/>
              </a:ext>
            </a:extLst>
          </p:cNvPr>
          <p:cNvSpPr/>
          <p:nvPr/>
        </p:nvSpPr>
        <p:spPr>
          <a:xfrm>
            <a:off x="10835640" y="2167128"/>
            <a:ext cx="1005840" cy="4005072"/>
          </a:xfrm>
          <a:prstGeom prst="roundRect">
            <a:avLst>
              <a:gd name="adj" fmla="val 8182"/>
            </a:avLst>
          </a:prstGeom>
          <a:solidFill>
            <a:srgbClr val="FFFFFF"/>
          </a:solidFill>
          <a:ln w="9525">
            <a:solidFill>
              <a:srgbClr val="D4DDE8"/>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9" name="Shape 60">
            <a:extLst>
              <a:ext uri="{FF2B5EF4-FFF2-40B4-BE49-F238E27FC236}">
                <a16:creationId xmlns:a16="http://schemas.microsoft.com/office/drawing/2014/main" id="{D40C28A9-9979-6E80-7B92-282D758ABA9C}"/>
              </a:ext>
            </a:extLst>
          </p:cNvPr>
          <p:cNvSpPr/>
          <p:nvPr/>
        </p:nvSpPr>
        <p:spPr>
          <a:xfrm>
            <a:off x="11173968" y="2313432"/>
            <a:ext cx="329184" cy="329184"/>
          </a:xfrm>
          <a:prstGeom prst="ellipse">
            <a:avLst/>
          </a:prstGeom>
          <a:solidFill>
            <a:srgbClr val="0E6B7C"/>
          </a:solidFill>
          <a:ln w="12700">
            <a:solidFill>
              <a:srgbClr val="0E6B7C"/>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0" name="Text 61">
            <a:extLst>
              <a:ext uri="{FF2B5EF4-FFF2-40B4-BE49-F238E27FC236}">
                <a16:creationId xmlns:a16="http://schemas.microsoft.com/office/drawing/2014/main" id="{C0BA195D-ECB2-7018-AAAE-FFD0210360D3}"/>
              </a:ext>
            </a:extLst>
          </p:cNvPr>
          <p:cNvSpPr/>
          <p:nvPr/>
        </p:nvSpPr>
        <p:spPr>
          <a:xfrm>
            <a:off x="11173968" y="2313432"/>
            <a:ext cx="329184" cy="329184"/>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221" name="Text 62">
            <a:extLst>
              <a:ext uri="{FF2B5EF4-FFF2-40B4-BE49-F238E27FC236}">
                <a16:creationId xmlns:a16="http://schemas.microsoft.com/office/drawing/2014/main" id="{17D56DD0-056F-613A-81CC-2BD10C9C0057}"/>
              </a:ext>
            </a:extLst>
          </p:cNvPr>
          <p:cNvSpPr/>
          <p:nvPr/>
        </p:nvSpPr>
        <p:spPr>
          <a:xfrm>
            <a:off x="10899648" y="2688336"/>
            <a:ext cx="877824" cy="8686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00">
                <a:solidFill>
                  <a:srgbClr val="22303F"/>
                </a:solidFill>
              </a:rPr>
              <a:t>Common essentials excluded from ranking.</a:t>
            </a:r>
            <a:endParaRPr lang="en-US" sz="800"/>
          </a:p>
        </p:txBody>
      </p:sp>
      <p:sp>
        <p:nvSpPr>
          <p:cNvPr id="222" name="Shape 63">
            <a:extLst>
              <a:ext uri="{FF2B5EF4-FFF2-40B4-BE49-F238E27FC236}">
                <a16:creationId xmlns:a16="http://schemas.microsoft.com/office/drawing/2014/main" id="{AE79D5E9-9A08-5FCE-F80B-BF684469B44C}"/>
              </a:ext>
            </a:extLst>
          </p:cNvPr>
          <p:cNvSpPr/>
          <p:nvPr/>
        </p:nvSpPr>
        <p:spPr>
          <a:xfrm>
            <a:off x="11173968" y="3538728"/>
            <a:ext cx="329184" cy="329184"/>
          </a:xfrm>
          <a:prstGeom prst="ellipse">
            <a:avLst/>
          </a:prstGeom>
          <a:solidFill>
            <a:srgbClr val="2A6B3C"/>
          </a:solidFill>
          <a:ln w="12700">
            <a:solidFill>
              <a:srgbClr val="2A6B3C"/>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3" name="Text 64">
            <a:extLst>
              <a:ext uri="{FF2B5EF4-FFF2-40B4-BE49-F238E27FC236}">
                <a16:creationId xmlns:a16="http://schemas.microsoft.com/office/drawing/2014/main" id="{EC3C354E-7925-B59F-FD04-8755C9D3E0BA}"/>
              </a:ext>
            </a:extLst>
          </p:cNvPr>
          <p:cNvSpPr/>
          <p:nvPr/>
        </p:nvSpPr>
        <p:spPr>
          <a:xfrm>
            <a:off x="11173968" y="3538728"/>
            <a:ext cx="329184" cy="329184"/>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224" name="Text 65">
            <a:extLst>
              <a:ext uri="{FF2B5EF4-FFF2-40B4-BE49-F238E27FC236}">
                <a16:creationId xmlns:a16="http://schemas.microsoft.com/office/drawing/2014/main" id="{D3C0AA5D-D9C8-29B5-6FC3-3FD07A8A22DE}"/>
              </a:ext>
            </a:extLst>
          </p:cNvPr>
          <p:cNvSpPr/>
          <p:nvPr/>
        </p:nvSpPr>
        <p:spPr>
          <a:xfrm>
            <a:off x="10899648" y="3913632"/>
            <a:ext cx="877824" cy="8686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00">
                <a:solidFill>
                  <a:srgbClr val="22303F"/>
                </a:solidFill>
              </a:rPr>
              <a:t>BRAF and MAPK1 recovered which validates approach.</a:t>
            </a:r>
            <a:endParaRPr lang="en-US" sz="800"/>
          </a:p>
        </p:txBody>
      </p:sp>
      <p:sp>
        <p:nvSpPr>
          <p:cNvPr id="225" name="Shape 66">
            <a:extLst>
              <a:ext uri="{FF2B5EF4-FFF2-40B4-BE49-F238E27FC236}">
                <a16:creationId xmlns:a16="http://schemas.microsoft.com/office/drawing/2014/main" id="{C2F04263-3BCA-79F5-835D-2CA624BC42F0}"/>
              </a:ext>
            </a:extLst>
          </p:cNvPr>
          <p:cNvSpPr/>
          <p:nvPr/>
        </p:nvSpPr>
        <p:spPr>
          <a:xfrm>
            <a:off x="11173968" y="4764024"/>
            <a:ext cx="329184" cy="329184"/>
          </a:xfrm>
          <a:prstGeom prst="ellipse">
            <a:avLst/>
          </a:prstGeom>
          <a:solidFill>
            <a:srgbClr val="E07B39"/>
          </a:solidFill>
          <a:ln w="12700">
            <a:solidFill>
              <a:srgbClr val="E07B39"/>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6" name="Text 67">
            <a:extLst>
              <a:ext uri="{FF2B5EF4-FFF2-40B4-BE49-F238E27FC236}">
                <a16:creationId xmlns:a16="http://schemas.microsoft.com/office/drawing/2014/main" id="{83FE0AD5-8FC8-9B59-9C4F-0C5E278AE4AE}"/>
              </a:ext>
            </a:extLst>
          </p:cNvPr>
          <p:cNvSpPr/>
          <p:nvPr/>
        </p:nvSpPr>
        <p:spPr>
          <a:xfrm>
            <a:off x="11173968" y="4764024"/>
            <a:ext cx="329184" cy="329184"/>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227" name="Text 68">
            <a:extLst>
              <a:ext uri="{FF2B5EF4-FFF2-40B4-BE49-F238E27FC236}">
                <a16:creationId xmlns:a16="http://schemas.microsoft.com/office/drawing/2014/main" id="{C1A003E5-F43A-D406-C0CE-22EC8C6420A0}"/>
              </a:ext>
            </a:extLst>
          </p:cNvPr>
          <p:cNvSpPr/>
          <p:nvPr/>
        </p:nvSpPr>
        <p:spPr>
          <a:xfrm>
            <a:off x="10899648" y="5138928"/>
            <a:ext cx="877824" cy="8686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00">
                <a:solidFill>
                  <a:srgbClr val="22303F"/>
                </a:solidFill>
              </a:rPr>
              <a:t>SOX10 combines strongest dependency with highest selectivity.</a:t>
            </a:r>
            <a:endParaRPr lang="en-US" sz="800"/>
          </a:p>
        </p:txBody>
      </p:sp>
      <p:sp>
        <p:nvSpPr>
          <p:cNvPr id="228" name="Shape 69">
            <a:extLst>
              <a:ext uri="{FF2B5EF4-FFF2-40B4-BE49-F238E27FC236}">
                <a16:creationId xmlns:a16="http://schemas.microsoft.com/office/drawing/2014/main" id="{F684B21F-BBB5-DAF8-A815-BF9AFCCB400A}"/>
              </a:ext>
            </a:extLst>
          </p:cNvPr>
          <p:cNvSpPr/>
          <p:nvPr/>
        </p:nvSpPr>
        <p:spPr>
          <a:xfrm>
            <a:off x="0" y="6336792"/>
            <a:ext cx="12161520" cy="521208"/>
          </a:xfrm>
          <a:prstGeom prst="rect">
            <a:avLst/>
          </a:prstGeom>
          <a:solidFill>
            <a:srgbClr val="1B2A4A"/>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9" name="Shape 70">
            <a:extLst>
              <a:ext uri="{FF2B5EF4-FFF2-40B4-BE49-F238E27FC236}">
                <a16:creationId xmlns:a16="http://schemas.microsoft.com/office/drawing/2014/main" id="{97349B7D-002C-584C-6675-6EECB76CB5F0}"/>
              </a:ext>
            </a:extLst>
          </p:cNvPr>
          <p:cNvSpPr/>
          <p:nvPr/>
        </p:nvSpPr>
        <p:spPr>
          <a:xfrm>
            <a:off x="228600" y="6441948"/>
            <a:ext cx="310896" cy="310896"/>
          </a:xfrm>
          <a:prstGeom prst="ellipse">
            <a:avLst/>
          </a:prstGeom>
          <a:solidFill>
            <a:srgbClr val="0E6B7C"/>
          </a:solidFill>
          <a:ln w="12700">
            <a:solidFill>
              <a:srgbClr val="0E6B7C"/>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30" name="Text 71">
            <a:extLst>
              <a:ext uri="{FF2B5EF4-FFF2-40B4-BE49-F238E27FC236}">
                <a16:creationId xmlns:a16="http://schemas.microsoft.com/office/drawing/2014/main" id="{1E222D14-2495-4106-96C7-AAB041EE8FAA}"/>
              </a:ext>
            </a:extLst>
          </p:cNvPr>
          <p:cNvSpPr/>
          <p:nvPr/>
        </p:nvSpPr>
        <p:spPr>
          <a:xfrm>
            <a:off x="228600" y="6441948"/>
            <a:ext cx="310896" cy="310896"/>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231" name="Text 72">
            <a:extLst>
              <a:ext uri="{FF2B5EF4-FFF2-40B4-BE49-F238E27FC236}">
                <a16:creationId xmlns:a16="http://schemas.microsoft.com/office/drawing/2014/main" id="{99CB46CB-326D-C580-EC2B-2399810C34B4}"/>
              </a:ext>
            </a:extLst>
          </p:cNvPr>
          <p:cNvSpPr/>
          <p:nvPr/>
        </p:nvSpPr>
        <p:spPr>
          <a:xfrm>
            <a:off x="658368" y="6336792"/>
            <a:ext cx="11356848" cy="5212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b="1">
                <a:solidFill>
                  <a:srgbClr val="FFFFFF"/>
                </a:solidFill>
              </a:rPr>
              <a:t>Takeaway: </a:t>
            </a:r>
            <a:r>
              <a:rPr lang="en-US" sz="1050">
                <a:solidFill>
                  <a:srgbClr val="FFFFFF"/>
                </a:solidFill>
              </a:rPr>
              <a:t>SOX10 is a robust, selective melanoma vulnerability, not a pan-cancer essential gene.</a:t>
            </a:r>
            <a:endParaRPr lang="en-US" sz="1050"/>
          </a:p>
        </p:txBody>
      </p:sp>
      <p:sp>
        <p:nvSpPr>
          <p:cNvPr id="232" name="Text 73">
            <a:extLst>
              <a:ext uri="{FF2B5EF4-FFF2-40B4-BE49-F238E27FC236}">
                <a16:creationId xmlns:a16="http://schemas.microsoft.com/office/drawing/2014/main" id="{EF573E69-6ADD-44F1-266F-F8E121AB6401}"/>
              </a:ext>
            </a:extLst>
          </p:cNvPr>
          <p:cNvSpPr/>
          <p:nvPr/>
        </p:nvSpPr>
        <p:spPr>
          <a:xfrm>
            <a:off x="658368" y="6336792"/>
            <a:ext cx="1371600" cy="5212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b="1">
                <a:solidFill>
                  <a:srgbClr val="FFFFFF"/>
                </a:solidFill>
              </a:rPr>
              <a:t>Takeaway:</a:t>
            </a:r>
            <a:endParaRPr lang="en-US" sz="1050"/>
          </a:p>
        </p:txBody>
      </p:sp>
      <p:pic>
        <p:nvPicPr>
          <p:cNvPr id="233" name="Picture 232" descr="A diagram of a cancer patient&#10;&#10;AI-generated content may be incorrect.">
            <a:extLst>
              <a:ext uri="{FF2B5EF4-FFF2-40B4-BE49-F238E27FC236}">
                <a16:creationId xmlns:a16="http://schemas.microsoft.com/office/drawing/2014/main" id="{65DBA298-7FFE-E1FF-AB27-BD0952860C1F}"/>
              </a:ext>
            </a:extLst>
          </p:cNvPr>
          <p:cNvPicPr>
            <a:picLocks noChangeAspect="1"/>
          </p:cNvPicPr>
          <p:nvPr/>
        </p:nvPicPr>
        <p:blipFill>
          <a:blip r:embed="rId3"/>
          <a:stretch>
            <a:fillRect/>
          </a:stretch>
        </p:blipFill>
        <p:spPr>
          <a:xfrm>
            <a:off x="5770634" y="2686184"/>
            <a:ext cx="4689332" cy="3634232"/>
          </a:xfrm>
          <a:prstGeom prst="rect">
            <a:avLst/>
          </a:prstGeom>
        </p:spPr>
      </p:pic>
      <p:pic>
        <p:nvPicPr>
          <p:cNvPr id="235" name="Picture 234">
            <a:extLst>
              <a:ext uri="{FF2B5EF4-FFF2-40B4-BE49-F238E27FC236}">
                <a16:creationId xmlns:a16="http://schemas.microsoft.com/office/drawing/2014/main" id="{D2236F96-F276-8157-E7FB-1530A2EADDE3}"/>
              </a:ext>
            </a:extLst>
          </p:cNvPr>
          <p:cNvPicPr>
            <a:picLocks noChangeAspect="1"/>
          </p:cNvPicPr>
          <p:nvPr/>
        </p:nvPicPr>
        <p:blipFill>
          <a:blip r:embed="rId4"/>
          <a:stretch>
            <a:fillRect/>
          </a:stretch>
        </p:blipFill>
        <p:spPr>
          <a:xfrm>
            <a:off x="758687" y="2643351"/>
            <a:ext cx="4195000" cy="3231932"/>
          </a:xfrm>
          <a:prstGeom prst="rect">
            <a:avLst/>
          </a:prstGeom>
        </p:spPr>
      </p:pic>
    </p:spTree>
    <p:extLst>
      <p:ext uri="{BB962C8B-B14F-4D97-AF65-F5344CB8AC3E}">
        <p14:creationId xmlns:p14="http://schemas.microsoft.com/office/powerpoint/2010/main" val="28675428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6F6542-6A6F-AC0D-AF69-68827AFA5B36}"/>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635B4E2A-8DB1-617D-BFE4-06B497F35A67}"/>
              </a:ext>
            </a:extLst>
          </p:cNvPr>
          <p:cNvSpPr>
            <a:spLocks noGrp="1"/>
          </p:cNvSpPr>
          <p:nvPr>
            <p:ph type="dt" sz="half" idx="10"/>
          </p:nvPr>
        </p:nvSpPr>
        <p:spPr/>
        <p:txBody>
          <a:bodyPr/>
          <a:lstStyle/>
          <a:p>
            <a:fld id="{79DE17D0-60CD-46C9-BD04-B48B62216DD5}" type="datetime1">
              <a:t>8/9/2026</a:t>
            </a:fld>
            <a:endParaRPr lang="en-US"/>
          </a:p>
        </p:txBody>
      </p:sp>
      <p:sp>
        <p:nvSpPr>
          <p:cNvPr id="2" name="Text 0">
            <a:extLst>
              <a:ext uri="{FF2B5EF4-FFF2-40B4-BE49-F238E27FC236}">
                <a16:creationId xmlns:a16="http://schemas.microsoft.com/office/drawing/2014/main" id="{106BB5D4-C72F-C987-25AF-599E6C61FDD6}"/>
              </a:ext>
            </a:extLst>
          </p:cNvPr>
          <p:cNvSpPr/>
          <p:nvPr/>
        </p:nvSpPr>
        <p:spPr>
          <a:xfrm>
            <a:off x="502920" y="320040"/>
            <a:ext cx="11247120" cy="41148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700" b="1">
                <a:latin typeface="Calibri"/>
                <a:ea typeface="Calibri"/>
                <a:cs typeface="Calibri"/>
              </a:rPr>
              <a:t>3.2a Methods for SOX10 validation and robustness checks</a:t>
            </a:r>
          </a:p>
        </p:txBody>
      </p:sp>
      <p:sp>
        <p:nvSpPr>
          <p:cNvPr id="3" name="Shape 1">
            <a:extLst>
              <a:ext uri="{FF2B5EF4-FFF2-40B4-BE49-F238E27FC236}">
                <a16:creationId xmlns:a16="http://schemas.microsoft.com/office/drawing/2014/main" id="{D5923D4F-7CD8-CC51-73AA-44E1EC15F4E5}"/>
              </a:ext>
            </a:extLst>
          </p:cNvPr>
          <p:cNvSpPr/>
          <p:nvPr/>
        </p:nvSpPr>
        <p:spPr>
          <a:xfrm>
            <a:off x="512064" y="804672"/>
            <a:ext cx="1417320" cy="54864"/>
          </a:xfrm>
          <a:prstGeom prst="rect">
            <a:avLst/>
          </a:prstGeom>
          <a:solidFill>
            <a:srgbClr val="E67833"/>
          </a:solidFill>
          <a:ln w="12700">
            <a:solidFill>
              <a:srgbClr val="E67833"/>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 name="Text 2">
            <a:extLst>
              <a:ext uri="{FF2B5EF4-FFF2-40B4-BE49-F238E27FC236}">
                <a16:creationId xmlns:a16="http://schemas.microsoft.com/office/drawing/2014/main" id="{7FFE1196-5406-6BCA-6E8E-C594E528487B}"/>
              </a:ext>
            </a:extLst>
          </p:cNvPr>
          <p:cNvSpPr/>
          <p:nvPr/>
        </p:nvSpPr>
        <p:spPr>
          <a:xfrm>
            <a:off x="502920" y="969264"/>
            <a:ext cx="11064240" cy="237744"/>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i="1">
                <a:solidFill>
                  <a:srgbClr val="7E91A8"/>
                </a:solidFill>
              </a:rPr>
              <a:t>After SOX10 ranked first, the analysis tested whether the result was stable, broad across models, and biologically interpretable.</a:t>
            </a:r>
            <a:endParaRPr lang="en-US" sz="1050"/>
          </a:p>
        </p:txBody>
      </p:sp>
      <p:sp>
        <p:nvSpPr>
          <p:cNvPr id="6" name="Shape 3">
            <a:extLst>
              <a:ext uri="{FF2B5EF4-FFF2-40B4-BE49-F238E27FC236}">
                <a16:creationId xmlns:a16="http://schemas.microsoft.com/office/drawing/2014/main" id="{665B6800-793E-D136-2240-C6F1ADE1783D}"/>
              </a:ext>
            </a:extLst>
          </p:cNvPr>
          <p:cNvSpPr/>
          <p:nvPr/>
        </p:nvSpPr>
        <p:spPr>
          <a:xfrm>
            <a:off x="502920" y="1243584"/>
            <a:ext cx="2706624" cy="384048"/>
          </a:xfrm>
          <a:prstGeom prst="roundRect">
            <a:avLst>
              <a:gd name="adj" fmla="val 19048"/>
            </a:avLst>
          </a:prstGeom>
          <a:solidFill>
            <a:srgbClr val="0E7485"/>
          </a:solidFill>
          <a:ln w="12700">
            <a:solidFill>
              <a:srgbClr val="FFFFFF"/>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 name="Text 4">
            <a:extLst>
              <a:ext uri="{FF2B5EF4-FFF2-40B4-BE49-F238E27FC236}">
                <a16:creationId xmlns:a16="http://schemas.microsoft.com/office/drawing/2014/main" id="{E0519A38-7BB4-7911-56AD-F1188E5A9E77}"/>
              </a:ext>
            </a:extLst>
          </p:cNvPr>
          <p:cNvSpPr/>
          <p:nvPr/>
        </p:nvSpPr>
        <p:spPr>
          <a:xfrm>
            <a:off x="548640" y="1362456"/>
            <a:ext cx="2615184" cy="128016"/>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a:solidFill>
                  <a:srgbClr val="FFFFFF"/>
                </a:solidFill>
              </a:rPr>
              <a:t>Primary SOX10 result</a:t>
            </a:r>
            <a:endParaRPr lang="en-US" sz="850"/>
          </a:p>
        </p:txBody>
      </p:sp>
      <p:sp>
        <p:nvSpPr>
          <p:cNvPr id="8" name="Shape 5">
            <a:extLst>
              <a:ext uri="{FF2B5EF4-FFF2-40B4-BE49-F238E27FC236}">
                <a16:creationId xmlns:a16="http://schemas.microsoft.com/office/drawing/2014/main" id="{93DC3981-E75A-882D-94F3-867927989431}"/>
              </a:ext>
            </a:extLst>
          </p:cNvPr>
          <p:cNvSpPr/>
          <p:nvPr/>
        </p:nvSpPr>
        <p:spPr>
          <a:xfrm>
            <a:off x="3319272" y="1243584"/>
            <a:ext cx="2706624" cy="384048"/>
          </a:xfrm>
          <a:prstGeom prst="roundRect">
            <a:avLst>
              <a:gd name="adj" fmla="val 19048"/>
            </a:avLst>
          </a:prstGeom>
          <a:solidFill>
            <a:srgbClr val="EAF1F7"/>
          </a:solidFill>
          <a:ln w="12700">
            <a:solidFill>
              <a:srgbClr val="D7E1EA"/>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 name="Text 6">
            <a:extLst>
              <a:ext uri="{FF2B5EF4-FFF2-40B4-BE49-F238E27FC236}">
                <a16:creationId xmlns:a16="http://schemas.microsoft.com/office/drawing/2014/main" id="{DA5EE698-8D63-2477-C9AE-9BF9F847D21C}"/>
              </a:ext>
            </a:extLst>
          </p:cNvPr>
          <p:cNvSpPr/>
          <p:nvPr/>
        </p:nvSpPr>
        <p:spPr>
          <a:xfrm>
            <a:off x="3364992" y="1362456"/>
            <a:ext cx="2615184" cy="128016"/>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a:solidFill>
                  <a:srgbClr val="17294D"/>
                </a:solidFill>
              </a:rPr>
              <a:t>Resampling stability</a:t>
            </a:r>
            <a:endParaRPr lang="en-US" sz="850"/>
          </a:p>
        </p:txBody>
      </p:sp>
      <p:sp>
        <p:nvSpPr>
          <p:cNvPr id="10" name="Shape 7">
            <a:extLst>
              <a:ext uri="{FF2B5EF4-FFF2-40B4-BE49-F238E27FC236}">
                <a16:creationId xmlns:a16="http://schemas.microsoft.com/office/drawing/2014/main" id="{25110368-9225-C6E6-147E-574C0206975D}"/>
              </a:ext>
            </a:extLst>
          </p:cNvPr>
          <p:cNvSpPr/>
          <p:nvPr/>
        </p:nvSpPr>
        <p:spPr>
          <a:xfrm>
            <a:off x="6135624" y="1243584"/>
            <a:ext cx="2706624" cy="384048"/>
          </a:xfrm>
          <a:prstGeom prst="roundRect">
            <a:avLst>
              <a:gd name="adj" fmla="val 19048"/>
            </a:avLst>
          </a:prstGeom>
          <a:solidFill>
            <a:srgbClr val="EAF1F7"/>
          </a:solidFill>
          <a:ln w="12700">
            <a:solidFill>
              <a:srgbClr val="D7E1EA"/>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 name="Text 8">
            <a:extLst>
              <a:ext uri="{FF2B5EF4-FFF2-40B4-BE49-F238E27FC236}">
                <a16:creationId xmlns:a16="http://schemas.microsoft.com/office/drawing/2014/main" id="{FA79669A-26AC-0F0D-3B47-DEB222377AFF}"/>
              </a:ext>
            </a:extLst>
          </p:cNvPr>
          <p:cNvSpPr/>
          <p:nvPr/>
        </p:nvSpPr>
        <p:spPr>
          <a:xfrm>
            <a:off x="6181344" y="1362456"/>
            <a:ext cx="2615184" cy="128016"/>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a:solidFill>
                  <a:srgbClr val="17294D"/>
                </a:solidFill>
              </a:rPr>
              <a:t>Sensitivity analyses</a:t>
            </a:r>
            <a:endParaRPr lang="en-US" sz="850"/>
          </a:p>
        </p:txBody>
      </p:sp>
      <p:sp>
        <p:nvSpPr>
          <p:cNvPr id="12" name="Shape 9">
            <a:extLst>
              <a:ext uri="{FF2B5EF4-FFF2-40B4-BE49-F238E27FC236}">
                <a16:creationId xmlns:a16="http://schemas.microsoft.com/office/drawing/2014/main" id="{CE6C4235-49CC-C5E0-B05F-298BE3C64717}"/>
              </a:ext>
            </a:extLst>
          </p:cNvPr>
          <p:cNvSpPr/>
          <p:nvPr/>
        </p:nvSpPr>
        <p:spPr>
          <a:xfrm>
            <a:off x="8951976" y="1243584"/>
            <a:ext cx="2706624" cy="384048"/>
          </a:xfrm>
          <a:prstGeom prst="roundRect">
            <a:avLst>
              <a:gd name="adj" fmla="val 19048"/>
            </a:avLst>
          </a:prstGeom>
          <a:solidFill>
            <a:srgbClr val="E67833"/>
          </a:solidFill>
          <a:ln w="12700">
            <a:solidFill>
              <a:srgbClr val="FFFFFF"/>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 name="Text 10">
            <a:extLst>
              <a:ext uri="{FF2B5EF4-FFF2-40B4-BE49-F238E27FC236}">
                <a16:creationId xmlns:a16="http://schemas.microsoft.com/office/drawing/2014/main" id="{9F2436C8-EF6C-C9F2-93A4-7834DB3BB26B}"/>
              </a:ext>
            </a:extLst>
          </p:cNvPr>
          <p:cNvSpPr/>
          <p:nvPr/>
        </p:nvSpPr>
        <p:spPr>
          <a:xfrm>
            <a:off x="8997696" y="1362456"/>
            <a:ext cx="2615184" cy="128016"/>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a:solidFill>
                  <a:srgbClr val="FFFFFF"/>
                </a:solidFill>
              </a:rPr>
              <a:t>Expression association</a:t>
            </a:r>
            <a:endParaRPr lang="en-US" sz="850"/>
          </a:p>
        </p:txBody>
      </p:sp>
      <p:sp>
        <p:nvSpPr>
          <p:cNvPr id="14" name="Shape 11">
            <a:extLst>
              <a:ext uri="{FF2B5EF4-FFF2-40B4-BE49-F238E27FC236}">
                <a16:creationId xmlns:a16="http://schemas.microsoft.com/office/drawing/2014/main" id="{24D86B56-B00D-8EC8-67AF-F18D3EBB0A05}"/>
              </a:ext>
            </a:extLst>
          </p:cNvPr>
          <p:cNvSpPr/>
          <p:nvPr/>
        </p:nvSpPr>
        <p:spPr>
          <a:xfrm>
            <a:off x="502920" y="1810512"/>
            <a:ext cx="3474720" cy="4297680"/>
          </a:xfrm>
          <a:prstGeom prst="roundRect">
            <a:avLst>
              <a:gd name="adj" fmla="val 2105"/>
            </a:avLst>
          </a:prstGeom>
          <a:solidFill>
            <a:srgbClr val="FFFFFF"/>
          </a:solidFill>
          <a:ln w="12700">
            <a:solidFill>
              <a:srgbClr val="D7E1EA"/>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 name="Shape 12">
            <a:extLst>
              <a:ext uri="{FF2B5EF4-FFF2-40B4-BE49-F238E27FC236}">
                <a16:creationId xmlns:a16="http://schemas.microsoft.com/office/drawing/2014/main" id="{CAA87E12-7BC0-ABE1-B453-C62AE61151AB}"/>
              </a:ext>
            </a:extLst>
          </p:cNvPr>
          <p:cNvSpPr/>
          <p:nvPr/>
        </p:nvSpPr>
        <p:spPr>
          <a:xfrm>
            <a:off x="576072" y="1883664"/>
            <a:ext cx="3328416" cy="329184"/>
          </a:xfrm>
          <a:prstGeom prst="roundRect">
            <a:avLst>
              <a:gd name="adj" fmla="val 22222"/>
            </a:avLst>
          </a:prstGeom>
          <a:solidFill>
            <a:srgbClr val="17294D"/>
          </a:solidFill>
          <a:ln w="12700">
            <a:solidFill>
              <a:srgbClr val="17294D"/>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 name="Text 13">
            <a:extLst>
              <a:ext uri="{FF2B5EF4-FFF2-40B4-BE49-F238E27FC236}">
                <a16:creationId xmlns:a16="http://schemas.microsoft.com/office/drawing/2014/main" id="{898AAEBC-22E1-5B9E-A614-7043EE91EAB1}"/>
              </a:ext>
            </a:extLst>
          </p:cNvPr>
          <p:cNvSpPr/>
          <p:nvPr/>
        </p:nvSpPr>
        <p:spPr>
          <a:xfrm>
            <a:off x="640080" y="1975104"/>
            <a:ext cx="3200400" cy="128016"/>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20" b="1">
                <a:solidFill>
                  <a:srgbClr val="FFFFFF"/>
                </a:solidFill>
              </a:rPr>
              <a:t>1. Primary SOX10 summary</a:t>
            </a:r>
            <a:endParaRPr lang="en-US" sz="920"/>
          </a:p>
        </p:txBody>
      </p:sp>
      <p:sp>
        <p:nvSpPr>
          <p:cNvPr id="17" name="Text 14">
            <a:extLst>
              <a:ext uri="{FF2B5EF4-FFF2-40B4-BE49-F238E27FC236}">
                <a16:creationId xmlns:a16="http://schemas.microsoft.com/office/drawing/2014/main" id="{CCAA0A5C-9BE9-E734-9152-E1A5F039D6F2}"/>
              </a:ext>
            </a:extLst>
          </p:cNvPr>
          <p:cNvSpPr/>
          <p:nvPr/>
        </p:nvSpPr>
        <p:spPr>
          <a:xfrm>
            <a:off x="713232" y="2350008"/>
            <a:ext cx="3063240" cy="1874520"/>
          </a:xfrm>
          <a:prstGeom prst="rect">
            <a:avLst/>
          </a:prstGeom>
          <a:noFill/>
          <a:ln/>
        </p:spPr>
        <p:txBody>
          <a:bodyPr wrap="square" lIns="381" tIns="381" rIns="381" bIns="381" rtlCol="0" anchor="t">
            <a:norm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50" b="1">
                <a:solidFill>
                  <a:srgbClr val="172033"/>
                </a:solidFill>
              </a:rPr>
              <a:t>• </a:t>
            </a:r>
            <a:r>
              <a:rPr lang="en-US" sz="1100">
                <a:solidFill>
                  <a:srgbClr val="172033"/>
                </a:solidFill>
              </a:rPr>
              <a:t>Mean Chronos effect: melanoma −1.369 vs other cancers −0.185.
</a:t>
            </a:r>
            <a:r>
              <a:rPr lang="en-US" sz="1100" b="1">
                <a:solidFill>
                  <a:srgbClr val="172033"/>
                </a:solidFill>
              </a:rPr>
              <a:t>• </a:t>
            </a:r>
            <a:r>
              <a:rPr lang="en-US" sz="1100">
                <a:solidFill>
                  <a:srgbClr val="172033"/>
                </a:solidFill>
              </a:rPr>
              <a:t>Selectivity: −1.185; FDR = 1.156 × 10⁻²⁰; Hedges’ g = −4.485.
</a:t>
            </a:r>
            <a:r>
              <a:rPr lang="en-US" sz="1100" b="1">
                <a:solidFill>
                  <a:srgbClr val="172033"/>
                </a:solidFill>
              </a:rPr>
              <a:t>• </a:t>
            </a:r>
            <a:r>
              <a:rPr lang="en-US" sz="1100">
                <a:solidFill>
                  <a:srgbClr val="172033"/>
                </a:solidFill>
              </a:rPr>
              <a:t>Melanoma dependent fraction: 0.840; other-cancer dependent fraction: 0.028.
</a:t>
            </a:r>
            <a:r>
              <a:rPr lang="en-US" sz="1100" b="1">
                <a:solidFill>
                  <a:srgbClr val="172033"/>
                </a:solidFill>
              </a:rPr>
              <a:t>• </a:t>
            </a:r>
            <a:r>
              <a:rPr lang="en-US" sz="1100">
                <a:solidFill>
                  <a:srgbClr val="172033"/>
                </a:solidFill>
              </a:rPr>
              <a:t>Mean dependency probability in melanoma: 0.851; expression prevalence: 0.889.</a:t>
            </a:r>
            <a:endParaRPr lang="en-US" sz="1100"/>
          </a:p>
        </p:txBody>
      </p:sp>
      <p:sp>
        <p:nvSpPr>
          <p:cNvPr id="18" name="Text 15">
            <a:extLst>
              <a:ext uri="{FF2B5EF4-FFF2-40B4-BE49-F238E27FC236}">
                <a16:creationId xmlns:a16="http://schemas.microsoft.com/office/drawing/2014/main" id="{30B8A7E7-C411-936A-BDDC-935A7A3C2566}"/>
              </a:ext>
            </a:extLst>
          </p:cNvPr>
          <p:cNvSpPr/>
          <p:nvPr/>
        </p:nvSpPr>
        <p:spPr>
          <a:xfrm>
            <a:off x="713232" y="4681728"/>
            <a:ext cx="3063240" cy="502920"/>
          </a:xfrm>
          <a:prstGeom prst="rect">
            <a:avLst/>
          </a:prstGeom>
          <a:noFill/>
          <a:ln/>
        </p:spPr>
        <p:txBody>
          <a:bodyPr wrap="square" lIns="508" tIns="508" rIns="508" bIns="508" rtlCol="0" anchor="ctr">
            <a:no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a:solidFill>
                  <a:srgbClr val="17294D"/>
                </a:solidFill>
              </a:rPr>
              <a:t>Interpretation: SOX10 was not treated as melanoma-exclusive; it was treated as a melanoma-selective dependency.</a:t>
            </a:r>
            <a:endParaRPr lang="en-US" sz="1100"/>
          </a:p>
        </p:txBody>
      </p:sp>
      <p:sp>
        <p:nvSpPr>
          <p:cNvPr id="19" name="Shape 16">
            <a:extLst>
              <a:ext uri="{FF2B5EF4-FFF2-40B4-BE49-F238E27FC236}">
                <a16:creationId xmlns:a16="http://schemas.microsoft.com/office/drawing/2014/main" id="{5698221F-B860-6F84-4ACD-C45E269B3299}"/>
              </a:ext>
            </a:extLst>
          </p:cNvPr>
          <p:cNvSpPr/>
          <p:nvPr/>
        </p:nvSpPr>
        <p:spPr>
          <a:xfrm>
            <a:off x="4206240" y="1810512"/>
            <a:ext cx="3703320" cy="4297680"/>
          </a:xfrm>
          <a:prstGeom prst="roundRect">
            <a:avLst>
              <a:gd name="adj" fmla="val 1975"/>
            </a:avLst>
          </a:prstGeom>
          <a:solidFill>
            <a:srgbClr val="FFFFFF"/>
          </a:solidFill>
          <a:ln w="12700">
            <a:solidFill>
              <a:srgbClr val="D7E1EA"/>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Shape 17">
            <a:extLst>
              <a:ext uri="{FF2B5EF4-FFF2-40B4-BE49-F238E27FC236}">
                <a16:creationId xmlns:a16="http://schemas.microsoft.com/office/drawing/2014/main" id="{0764F198-F3D1-996C-5CB7-6CB3EE6C570A}"/>
              </a:ext>
            </a:extLst>
          </p:cNvPr>
          <p:cNvSpPr/>
          <p:nvPr/>
        </p:nvSpPr>
        <p:spPr>
          <a:xfrm>
            <a:off x="4279392" y="1883664"/>
            <a:ext cx="3557016" cy="329184"/>
          </a:xfrm>
          <a:prstGeom prst="roundRect">
            <a:avLst>
              <a:gd name="adj" fmla="val 22222"/>
            </a:avLst>
          </a:prstGeom>
          <a:solidFill>
            <a:srgbClr val="17294D"/>
          </a:solidFill>
          <a:ln w="12700">
            <a:solidFill>
              <a:srgbClr val="17294D"/>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Text 18">
            <a:extLst>
              <a:ext uri="{FF2B5EF4-FFF2-40B4-BE49-F238E27FC236}">
                <a16:creationId xmlns:a16="http://schemas.microsoft.com/office/drawing/2014/main" id="{BA5EDCDB-9B81-0261-8FE6-2227C78AB4D9}"/>
              </a:ext>
            </a:extLst>
          </p:cNvPr>
          <p:cNvSpPr/>
          <p:nvPr/>
        </p:nvSpPr>
        <p:spPr>
          <a:xfrm>
            <a:off x="4343400" y="1975104"/>
            <a:ext cx="3429000" cy="128016"/>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20" b="1">
                <a:solidFill>
                  <a:srgbClr val="FFFFFF"/>
                </a:solidFill>
              </a:rPr>
              <a:t>2. Resampling and sensitivity</a:t>
            </a:r>
            <a:endParaRPr lang="en-US" sz="920"/>
          </a:p>
        </p:txBody>
      </p:sp>
      <p:sp>
        <p:nvSpPr>
          <p:cNvPr id="22" name="Shape 19">
            <a:extLst>
              <a:ext uri="{FF2B5EF4-FFF2-40B4-BE49-F238E27FC236}">
                <a16:creationId xmlns:a16="http://schemas.microsoft.com/office/drawing/2014/main" id="{7CF5EDC9-7A39-B2E7-B598-AEED20DCECA2}"/>
              </a:ext>
            </a:extLst>
          </p:cNvPr>
          <p:cNvSpPr/>
          <p:nvPr/>
        </p:nvSpPr>
        <p:spPr>
          <a:xfrm>
            <a:off x="4443984" y="2331720"/>
            <a:ext cx="3200400" cy="521208"/>
          </a:xfrm>
          <a:prstGeom prst="roundRect">
            <a:avLst>
              <a:gd name="adj" fmla="val 10526"/>
            </a:avLst>
          </a:prstGeom>
          <a:solidFill>
            <a:srgbClr val="FFFFFF"/>
          </a:solidFill>
          <a:ln w="10160">
            <a:solidFill>
              <a:srgbClr val="E2E8F0"/>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pic>
        <p:nvPicPr>
          <p:cNvPr id="23" name="Image 0">
            <a:extLst>
              <a:ext uri="{FF2B5EF4-FFF2-40B4-BE49-F238E27FC236}">
                <a16:creationId xmlns:a16="http://schemas.microsoft.com/office/drawing/2014/main" id="{7F68534F-C648-4046-229A-AF6BDBDF300B}"/>
              </a:ext>
            </a:extLst>
          </p:cNvPr>
          <p:cNvPicPr>
            <a:picLocks noChangeAspect="1"/>
          </p:cNvPicPr>
          <p:nvPr/>
        </p:nvPicPr>
        <p:blipFill>
          <a:blip r:embed="rId3"/>
          <a:stretch>
            <a:fillRect/>
          </a:stretch>
        </p:blipFill>
        <p:spPr>
          <a:xfrm>
            <a:off x="4553712" y="2475231"/>
            <a:ext cx="2980944" cy="234186"/>
          </a:xfrm>
          <a:prstGeom prst="rect">
            <a:avLst/>
          </a:prstGeom>
        </p:spPr>
      </p:pic>
      <p:sp>
        <p:nvSpPr>
          <p:cNvPr id="24" name="Text 20">
            <a:extLst>
              <a:ext uri="{FF2B5EF4-FFF2-40B4-BE49-F238E27FC236}">
                <a16:creationId xmlns:a16="http://schemas.microsoft.com/office/drawing/2014/main" id="{28270B13-7551-BD2C-1024-3CCB4B5BBA80}"/>
              </a:ext>
            </a:extLst>
          </p:cNvPr>
          <p:cNvSpPr/>
          <p:nvPr/>
        </p:nvSpPr>
        <p:spPr>
          <a:xfrm>
            <a:off x="4462272" y="2907792"/>
            <a:ext cx="3163824" cy="704088"/>
          </a:xfrm>
          <a:prstGeom prst="rect">
            <a:avLst/>
          </a:prstGeom>
          <a:noFill/>
          <a:ln/>
        </p:spPr>
        <p:txBody>
          <a:bodyPr wrap="square" lIns="508" tIns="508" rIns="508" bIns="508" rtlCol="0" anchor="ctr">
            <a:norm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a:solidFill>
                  <a:srgbClr val="172033"/>
                </a:solidFill>
              </a:rPr>
              <a:t>Bootstrap: melanoma and other-cancer values were resampled with replacement for 1,000 iterations; percentile CIs were computed for mean effect and selectivity.</a:t>
            </a:r>
            <a:endParaRPr lang="en-US" sz="1100"/>
          </a:p>
        </p:txBody>
      </p:sp>
      <p:sp>
        <p:nvSpPr>
          <p:cNvPr id="25" name="Shape 21">
            <a:extLst>
              <a:ext uri="{FF2B5EF4-FFF2-40B4-BE49-F238E27FC236}">
                <a16:creationId xmlns:a16="http://schemas.microsoft.com/office/drawing/2014/main" id="{EFEE39D1-BB18-A9CD-EDCE-3C9EAA9DEAF1}"/>
              </a:ext>
            </a:extLst>
          </p:cNvPr>
          <p:cNvSpPr/>
          <p:nvPr/>
        </p:nvSpPr>
        <p:spPr>
          <a:xfrm>
            <a:off x="4443984" y="3703320"/>
            <a:ext cx="3200400" cy="502920"/>
          </a:xfrm>
          <a:prstGeom prst="roundRect">
            <a:avLst>
              <a:gd name="adj" fmla="val 10909"/>
            </a:avLst>
          </a:prstGeom>
          <a:solidFill>
            <a:srgbClr val="FFFFFF"/>
          </a:solidFill>
          <a:ln w="10160">
            <a:solidFill>
              <a:srgbClr val="E2E8F0"/>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pic>
        <p:nvPicPr>
          <p:cNvPr id="26" name="Image 1">
            <a:extLst>
              <a:ext uri="{FF2B5EF4-FFF2-40B4-BE49-F238E27FC236}">
                <a16:creationId xmlns:a16="http://schemas.microsoft.com/office/drawing/2014/main" id="{C6C827E4-E973-4D7E-ECAA-3F9CA6EEE4B4}"/>
              </a:ext>
            </a:extLst>
          </p:cNvPr>
          <p:cNvPicPr>
            <a:picLocks noChangeAspect="1"/>
          </p:cNvPicPr>
          <p:nvPr/>
        </p:nvPicPr>
        <p:blipFill>
          <a:blip r:embed="rId4"/>
          <a:stretch>
            <a:fillRect/>
          </a:stretch>
        </p:blipFill>
        <p:spPr>
          <a:xfrm>
            <a:off x="4643807" y="3767328"/>
            <a:ext cx="2800753" cy="374904"/>
          </a:xfrm>
          <a:prstGeom prst="rect">
            <a:avLst/>
          </a:prstGeom>
        </p:spPr>
      </p:pic>
      <p:sp>
        <p:nvSpPr>
          <p:cNvPr id="27" name="Text 22">
            <a:extLst>
              <a:ext uri="{FF2B5EF4-FFF2-40B4-BE49-F238E27FC236}">
                <a16:creationId xmlns:a16="http://schemas.microsoft.com/office/drawing/2014/main" id="{9FC18D68-F1D6-2E93-92E7-E52756F9C6E9}"/>
              </a:ext>
            </a:extLst>
          </p:cNvPr>
          <p:cNvSpPr/>
          <p:nvPr/>
        </p:nvSpPr>
        <p:spPr>
          <a:xfrm>
            <a:off x="4462272" y="4279392"/>
            <a:ext cx="3163824" cy="475488"/>
          </a:xfrm>
          <a:prstGeom prst="rect">
            <a:avLst/>
          </a:prstGeom>
          <a:noFill/>
          <a:ln/>
        </p:spPr>
        <p:txBody>
          <a:bodyPr wrap="square" lIns="508" tIns="508" rIns="508" bIns="508" rtlCol="0" anchor="ctr">
            <a:no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a:solidFill>
                  <a:srgbClr val="172033"/>
                </a:solidFill>
              </a:rPr>
              <a:t>Leave-one-out: each melanoma model was omitted once to check whether SOX10 depended on any single cell line.</a:t>
            </a:r>
            <a:endParaRPr lang="en-US" sz="1100"/>
          </a:p>
        </p:txBody>
      </p:sp>
      <p:sp>
        <p:nvSpPr>
          <p:cNvPr id="28" name="Text 23">
            <a:extLst>
              <a:ext uri="{FF2B5EF4-FFF2-40B4-BE49-F238E27FC236}">
                <a16:creationId xmlns:a16="http://schemas.microsoft.com/office/drawing/2014/main" id="{05A3AB09-9679-707A-D133-7749E7E586C0}"/>
              </a:ext>
            </a:extLst>
          </p:cNvPr>
          <p:cNvSpPr/>
          <p:nvPr/>
        </p:nvSpPr>
        <p:spPr>
          <a:xfrm>
            <a:off x="4462272" y="4928616"/>
            <a:ext cx="3163824" cy="502920"/>
          </a:xfrm>
          <a:prstGeom prst="rect">
            <a:avLst/>
          </a:prstGeom>
          <a:noFill/>
          <a:ln/>
        </p:spPr>
        <p:txBody>
          <a:bodyPr wrap="square" lIns="381" tIns="381" rIns="381" bIns="381" rtlCol="0" anchor="t">
            <a:no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a:solidFill>
                  <a:srgbClr val="172033"/>
                </a:solidFill>
              </a:rPr>
              <a:t>• </a:t>
            </a:r>
            <a:r>
              <a:rPr lang="en-US" sz="1100">
                <a:solidFill>
                  <a:srgbClr val="172033"/>
                </a:solidFill>
              </a:rPr>
              <a:t>Threshold grid: dependency −0.40, −0.50, −0.60, −0.75.
</a:t>
            </a:r>
            <a:r>
              <a:rPr lang="en-US" sz="1100" b="1">
                <a:solidFill>
                  <a:srgbClr val="172033"/>
                </a:solidFill>
              </a:rPr>
              <a:t>• </a:t>
            </a:r>
            <a:r>
              <a:rPr lang="en-US" sz="1100">
                <a:solidFill>
                  <a:srgbClr val="172033"/>
                </a:solidFill>
              </a:rPr>
              <a:t>Selectivity grid: −0.10, −0.20, −0.30, −0.40.</a:t>
            </a:r>
            <a:endParaRPr lang="en-US" sz="1100"/>
          </a:p>
        </p:txBody>
      </p:sp>
      <p:sp>
        <p:nvSpPr>
          <p:cNvPr id="29" name="Shape 24">
            <a:extLst>
              <a:ext uri="{FF2B5EF4-FFF2-40B4-BE49-F238E27FC236}">
                <a16:creationId xmlns:a16="http://schemas.microsoft.com/office/drawing/2014/main" id="{F1E2CE9D-AE62-F77C-67F0-7A6EA48F878A}"/>
              </a:ext>
            </a:extLst>
          </p:cNvPr>
          <p:cNvSpPr/>
          <p:nvPr/>
        </p:nvSpPr>
        <p:spPr>
          <a:xfrm>
            <a:off x="8138160" y="1810512"/>
            <a:ext cx="3566160" cy="4297680"/>
          </a:xfrm>
          <a:prstGeom prst="roundRect">
            <a:avLst>
              <a:gd name="adj" fmla="val 2051"/>
            </a:avLst>
          </a:prstGeom>
          <a:solidFill>
            <a:srgbClr val="FFFFFF"/>
          </a:solidFill>
          <a:ln w="12700">
            <a:solidFill>
              <a:srgbClr val="D7E1EA"/>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 name="Shape 25">
            <a:extLst>
              <a:ext uri="{FF2B5EF4-FFF2-40B4-BE49-F238E27FC236}">
                <a16:creationId xmlns:a16="http://schemas.microsoft.com/office/drawing/2014/main" id="{0F2754A1-A77F-35AB-AA59-8FEFA93C9E8A}"/>
              </a:ext>
            </a:extLst>
          </p:cNvPr>
          <p:cNvSpPr/>
          <p:nvPr/>
        </p:nvSpPr>
        <p:spPr>
          <a:xfrm>
            <a:off x="8211312" y="1883664"/>
            <a:ext cx="3419856" cy="329184"/>
          </a:xfrm>
          <a:prstGeom prst="roundRect">
            <a:avLst>
              <a:gd name="adj" fmla="val 22222"/>
            </a:avLst>
          </a:prstGeom>
          <a:solidFill>
            <a:srgbClr val="17294D"/>
          </a:solidFill>
          <a:ln w="12700">
            <a:solidFill>
              <a:srgbClr val="17294D"/>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 name="Text 26">
            <a:extLst>
              <a:ext uri="{FF2B5EF4-FFF2-40B4-BE49-F238E27FC236}">
                <a16:creationId xmlns:a16="http://schemas.microsoft.com/office/drawing/2014/main" id="{7B1CEE6A-F961-04F6-E97C-6CCFE04CEED5}"/>
              </a:ext>
            </a:extLst>
          </p:cNvPr>
          <p:cNvSpPr/>
          <p:nvPr/>
        </p:nvSpPr>
        <p:spPr>
          <a:xfrm>
            <a:off x="8275320" y="1975104"/>
            <a:ext cx="3291840" cy="128016"/>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20" b="1">
                <a:solidFill>
                  <a:srgbClr val="FFFFFF"/>
                </a:solidFill>
              </a:rPr>
              <a:t>3. Expression–dependency association</a:t>
            </a:r>
            <a:endParaRPr lang="en-US" sz="920"/>
          </a:p>
        </p:txBody>
      </p:sp>
      <p:sp>
        <p:nvSpPr>
          <p:cNvPr id="32" name="Shape 27">
            <a:extLst>
              <a:ext uri="{FF2B5EF4-FFF2-40B4-BE49-F238E27FC236}">
                <a16:creationId xmlns:a16="http://schemas.microsoft.com/office/drawing/2014/main" id="{1369A9CD-C602-FE50-C11D-03B888750632}"/>
              </a:ext>
            </a:extLst>
          </p:cNvPr>
          <p:cNvSpPr/>
          <p:nvPr/>
        </p:nvSpPr>
        <p:spPr>
          <a:xfrm>
            <a:off x="8366760" y="2331720"/>
            <a:ext cx="3090672" cy="502920"/>
          </a:xfrm>
          <a:prstGeom prst="roundRect">
            <a:avLst>
              <a:gd name="adj" fmla="val 10909"/>
            </a:avLst>
          </a:prstGeom>
          <a:solidFill>
            <a:srgbClr val="FFFFFF"/>
          </a:solidFill>
          <a:ln w="10160">
            <a:solidFill>
              <a:srgbClr val="E2E8F0"/>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pic>
        <p:nvPicPr>
          <p:cNvPr id="33" name="Image 2">
            <a:extLst>
              <a:ext uri="{FF2B5EF4-FFF2-40B4-BE49-F238E27FC236}">
                <a16:creationId xmlns:a16="http://schemas.microsoft.com/office/drawing/2014/main" id="{B1DC9D93-66F1-9C6C-3EA4-60C81E1B8E3E}"/>
              </a:ext>
            </a:extLst>
          </p:cNvPr>
          <p:cNvPicPr>
            <a:picLocks noChangeAspect="1"/>
          </p:cNvPicPr>
          <p:nvPr/>
        </p:nvPicPr>
        <p:blipFill>
          <a:blip r:embed="rId5"/>
          <a:stretch>
            <a:fillRect/>
          </a:stretch>
        </p:blipFill>
        <p:spPr>
          <a:xfrm>
            <a:off x="8476488" y="2487275"/>
            <a:ext cx="2871216" cy="191810"/>
          </a:xfrm>
          <a:prstGeom prst="rect">
            <a:avLst/>
          </a:prstGeom>
        </p:spPr>
      </p:pic>
      <p:sp>
        <p:nvSpPr>
          <p:cNvPr id="34" name="Text 28">
            <a:extLst>
              <a:ext uri="{FF2B5EF4-FFF2-40B4-BE49-F238E27FC236}">
                <a16:creationId xmlns:a16="http://schemas.microsoft.com/office/drawing/2014/main" id="{092DA3CD-48F8-FC30-6368-C4D268D262CA}"/>
              </a:ext>
            </a:extLst>
          </p:cNvPr>
          <p:cNvSpPr/>
          <p:nvPr/>
        </p:nvSpPr>
        <p:spPr>
          <a:xfrm>
            <a:off x="8366760" y="2971800"/>
            <a:ext cx="3063240" cy="1627632"/>
          </a:xfrm>
          <a:prstGeom prst="rect">
            <a:avLst/>
          </a:prstGeom>
          <a:noFill/>
          <a:ln/>
        </p:spPr>
        <p:txBody>
          <a:bodyPr wrap="square" lIns="381" tIns="381" rIns="381" bIns="381" rtlCol="0" anchor="t">
            <a:no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a:solidFill>
                  <a:srgbClr val="172033"/>
                </a:solidFill>
              </a:rPr>
              <a:t>• </a:t>
            </a:r>
            <a:r>
              <a:rPr lang="en-US" sz="1100">
                <a:solidFill>
                  <a:srgbClr val="172033"/>
                </a:solidFill>
              </a:rPr>
              <a:t>Expression and Chronos scores were compared across melanoma models using Spearman correlation.
</a:t>
            </a:r>
            <a:r>
              <a:rPr lang="en-US" sz="1100" b="1">
                <a:solidFill>
                  <a:srgbClr val="172033"/>
                </a:solidFill>
              </a:rPr>
              <a:t>• </a:t>
            </a:r>
            <a:r>
              <a:rPr lang="en-US" sz="1100">
                <a:solidFill>
                  <a:srgbClr val="172033"/>
                </a:solidFill>
              </a:rPr>
              <a:t>ρ = −0.3383, p = 0.003196.
</a:t>
            </a:r>
            <a:r>
              <a:rPr lang="en-US" sz="1100" b="1">
                <a:solidFill>
                  <a:srgbClr val="172033"/>
                </a:solidFill>
              </a:rPr>
              <a:t>• </a:t>
            </a:r>
            <a:r>
              <a:rPr lang="en-US" sz="1100">
                <a:solidFill>
                  <a:srgbClr val="172033"/>
                </a:solidFill>
              </a:rPr>
              <a:t>Negative ρ means higher SOX10 expression tended to coincide with more negative Chronos scores.
</a:t>
            </a:r>
            <a:r>
              <a:rPr lang="en-US" sz="1100" b="1">
                <a:solidFill>
                  <a:srgbClr val="172033"/>
                </a:solidFill>
              </a:rPr>
              <a:t>• </a:t>
            </a:r>
            <a:r>
              <a:rPr lang="en-US" sz="1100">
                <a:solidFill>
                  <a:srgbClr val="172033"/>
                </a:solidFill>
              </a:rPr>
              <a:t>This supports expression as a candidate biomarker of a SOX10-dependent state, not a perfect predictor.</a:t>
            </a:r>
            <a:endParaRPr lang="en-US" sz="1100"/>
          </a:p>
        </p:txBody>
      </p:sp>
      <p:sp>
        <p:nvSpPr>
          <p:cNvPr id="35" name="Text 29">
            <a:extLst>
              <a:ext uri="{FF2B5EF4-FFF2-40B4-BE49-F238E27FC236}">
                <a16:creationId xmlns:a16="http://schemas.microsoft.com/office/drawing/2014/main" id="{0A89D93E-AD6D-BD3B-A9E3-2D1F3E0BD2C4}"/>
              </a:ext>
            </a:extLst>
          </p:cNvPr>
          <p:cNvSpPr/>
          <p:nvPr/>
        </p:nvSpPr>
        <p:spPr>
          <a:xfrm>
            <a:off x="8366760" y="4892040"/>
            <a:ext cx="3063240" cy="457200"/>
          </a:xfrm>
          <a:prstGeom prst="rect">
            <a:avLst/>
          </a:prstGeom>
          <a:noFill/>
          <a:ln/>
        </p:spPr>
        <p:txBody>
          <a:bodyPr wrap="square" lIns="508" tIns="508" rIns="508" bIns="508" rtlCol="0" anchor="ctr">
            <a:noAutofit/>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a:solidFill>
                  <a:srgbClr val="17294D"/>
                </a:solidFill>
              </a:rPr>
              <a:t>Validation conclusion: the signal was stable across resampling, model omission, and threshold changes.</a:t>
            </a:r>
            <a:endParaRPr lang="en-US" sz="1100"/>
          </a:p>
        </p:txBody>
      </p:sp>
      <p:sp>
        <p:nvSpPr>
          <p:cNvPr id="36" name="Text 31">
            <a:extLst>
              <a:ext uri="{FF2B5EF4-FFF2-40B4-BE49-F238E27FC236}">
                <a16:creationId xmlns:a16="http://schemas.microsoft.com/office/drawing/2014/main" id="{7EE5332B-1FEB-9830-5598-3707C19ECA0B}"/>
              </a:ext>
            </a:extLst>
          </p:cNvPr>
          <p:cNvSpPr/>
          <p:nvPr/>
        </p:nvSpPr>
        <p:spPr>
          <a:xfrm>
            <a:off x="713232" y="6556248"/>
            <a:ext cx="10881360" cy="18288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80" b="1">
                <a:solidFill>
                  <a:srgbClr val="FFFFFF"/>
                </a:solidFill>
              </a:rPr>
              <a:t>Takeaway: </a:t>
            </a:r>
            <a:r>
              <a:rPr lang="en-US" sz="1080">
                <a:solidFill>
                  <a:srgbClr val="FFFFFF"/>
                </a:solidFill>
              </a:rPr>
              <a:t>SOX10 remained robust under multiple checks, while expression–dependency heterogeneity motivated the search for tractable proxy targets.</a:t>
            </a:r>
            <a:endParaRPr lang="en-US" sz="1080"/>
          </a:p>
        </p:txBody>
      </p:sp>
      <p:sp>
        <p:nvSpPr>
          <p:cNvPr id="37" name="Shape 30">
            <a:extLst>
              <a:ext uri="{FF2B5EF4-FFF2-40B4-BE49-F238E27FC236}">
                <a16:creationId xmlns:a16="http://schemas.microsoft.com/office/drawing/2014/main" id="{E810D2C6-9A3E-1F4E-73AB-BD5610201D60}"/>
              </a:ext>
            </a:extLst>
          </p:cNvPr>
          <p:cNvSpPr/>
          <p:nvPr/>
        </p:nvSpPr>
        <p:spPr>
          <a:xfrm>
            <a:off x="0" y="6336162"/>
            <a:ext cx="12191695" cy="521838"/>
          </a:xfrm>
          <a:prstGeom prst="rect">
            <a:avLst/>
          </a:prstGeom>
          <a:solidFill>
            <a:srgbClr val="17294D"/>
          </a:solidFill>
          <a:ln w="12700">
            <a:solidFill>
              <a:srgbClr val="17294D"/>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8" name="Text 31">
            <a:extLst>
              <a:ext uri="{FF2B5EF4-FFF2-40B4-BE49-F238E27FC236}">
                <a16:creationId xmlns:a16="http://schemas.microsoft.com/office/drawing/2014/main" id="{556B9BC1-C9D5-D923-C266-8E70D871DC1B}"/>
              </a:ext>
            </a:extLst>
          </p:cNvPr>
          <p:cNvSpPr/>
          <p:nvPr/>
        </p:nvSpPr>
        <p:spPr>
          <a:xfrm>
            <a:off x="713232" y="6493186"/>
            <a:ext cx="10881360" cy="18288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80" b="1">
                <a:solidFill>
                  <a:srgbClr val="FFFFFF"/>
                </a:solidFill>
              </a:rPr>
              <a:t>Takeaway: </a:t>
            </a:r>
            <a:r>
              <a:rPr lang="en-US" sz="1080">
                <a:solidFill>
                  <a:srgbClr val="FFFFFF"/>
                </a:solidFill>
              </a:rPr>
              <a:t>SOX10 remained robust under multiple checks, while expression–dependency heterogeneity motivated the search for tractable proxy targets.</a:t>
            </a:r>
            <a:endParaRPr lang="en-US" sz="1080"/>
          </a:p>
        </p:txBody>
      </p:sp>
      <p:sp>
        <p:nvSpPr>
          <p:cNvPr id="39" name="Shape 32">
            <a:extLst>
              <a:ext uri="{FF2B5EF4-FFF2-40B4-BE49-F238E27FC236}">
                <a16:creationId xmlns:a16="http://schemas.microsoft.com/office/drawing/2014/main" id="{2B61D8C0-6828-494D-C69D-81535107737B}"/>
              </a:ext>
            </a:extLst>
          </p:cNvPr>
          <p:cNvSpPr/>
          <p:nvPr/>
        </p:nvSpPr>
        <p:spPr>
          <a:xfrm>
            <a:off x="320040" y="6419823"/>
            <a:ext cx="333703" cy="323194"/>
          </a:xfrm>
          <a:prstGeom prst="ellipse">
            <a:avLst/>
          </a:prstGeom>
          <a:solidFill>
            <a:srgbClr val="0E7485"/>
          </a:solidFill>
          <a:ln w="12700">
            <a:solidFill>
              <a:srgbClr val="0E7485"/>
            </a:solidFill>
            <a:prstDash val="solid"/>
          </a:ln>
        </p:spPr>
        <p:txBody>
          <a:bodyPr lIns="91440" tIns="45720" rIns="91440" bIns="45720" anchor="t"/>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a:t>🎯</a:t>
            </a:r>
          </a:p>
          <a:p>
            <a:endParaRPr lang="en-US"/>
          </a:p>
        </p:txBody>
      </p:sp>
      <p:sp>
        <p:nvSpPr>
          <p:cNvPr id="41" name="Arrow: Right 40">
            <a:extLst>
              <a:ext uri="{FF2B5EF4-FFF2-40B4-BE49-F238E27FC236}">
                <a16:creationId xmlns:a16="http://schemas.microsoft.com/office/drawing/2014/main" id="{16AE71F8-5F12-8FB6-3F2F-6EC0EE7EA27B}"/>
              </a:ext>
            </a:extLst>
          </p:cNvPr>
          <p:cNvSpPr/>
          <p:nvPr/>
        </p:nvSpPr>
        <p:spPr>
          <a:xfrm>
            <a:off x="3098800" y="1361440"/>
            <a:ext cx="294639" cy="162559"/>
          </a:xfrm>
          <a:prstGeom prst="rightArrow">
            <a:avLst/>
          </a:prstGeom>
          <a:solidFill>
            <a:schemeClr val="accent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Arrow: Right 42">
            <a:extLst>
              <a:ext uri="{FF2B5EF4-FFF2-40B4-BE49-F238E27FC236}">
                <a16:creationId xmlns:a16="http://schemas.microsoft.com/office/drawing/2014/main" id="{98E1927A-2C9C-7F53-472B-2D13D1AEDCCB}"/>
              </a:ext>
            </a:extLst>
          </p:cNvPr>
          <p:cNvSpPr/>
          <p:nvPr/>
        </p:nvSpPr>
        <p:spPr>
          <a:xfrm>
            <a:off x="5947103" y="1361440"/>
            <a:ext cx="294639" cy="162559"/>
          </a:xfrm>
          <a:prstGeom prst="rightArrow">
            <a:avLst/>
          </a:prstGeom>
          <a:solidFill>
            <a:schemeClr val="accent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Arrow: Right 44">
            <a:extLst>
              <a:ext uri="{FF2B5EF4-FFF2-40B4-BE49-F238E27FC236}">
                <a16:creationId xmlns:a16="http://schemas.microsoft.com/office/drawing/2014/main" id="{03B4A51D-7753-063D-01A7-B3F7B8EE4C55}"/>
              </a:ext>
            </a:extLst>
          </p:cNvPr>
          <p:cNvSpPr/>
          <p:nvPr/>
        </p:nvSpPr>
        <p:spPr>
          <a:xfrm>
            <a:off x="8700813" y="1356185"/>
            <a:ext cx="294639" cy="162559"/>
          </a:xfrm>
          <a:prstGeom prst="rightArrow">
            <a:avLst/>
          </a:prstGeom>
          <a:solidFill>
            <a:schemeClr val="accent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37780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0E39CF-8A6A-240F-F28F-B7FE597DF066}"/>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17F9997B-6E03-7E81-0D43-73AD1E616D3E}"/>
              </a:ext>
            </a:extLst>
          </p:cNvPr>
          <p:cNvSpPr>
            <a:spLocks noGrp="1"/>
          </p:cNvSpPr>
          <p:nvPr>
            <p:ph type="dt" sz="half" idx="10"/>
          </p:nvPr>
        </p:nvSpPr>
        <p:spPr/>
        <p:txBody>
          <a:bodyPr/>
          <a:lstStyle/>
          <a:p>
            <a:fld id="{79DE17D0-60CD-46C9-BD04-B48B62216DD5}" type="datetime1">
              <a:t>8/9/2026</a:t>
            </a:fld>
            <a:endParaRPr lang="en-US"/>
          </a:p>
        </p:txBody>
      </p:sp>
      <p:sp>
        <p:nvSpPr>
          <p:cNvPr id="2" name="Text 0">
            <a:extLst>
              <a:ext uri="{FF2B5EF4-FFF2-40B4-BE49-F238E27FC236}">
                <a16:creationId xmlns:a16="http://schemas.microsoft.com/office/drawing/2014/main" id="{934786A5-DD0B-B23F-533E-83603C8DB406}"/>
              </a:ext>
            </a:extLst>
          </p:cNvPr>
          <p:cNvSpPr/>
          <p:nvPr/>
        </p:nvSpPr>
        <p:spPr>
          <a:xfrm>
            <a:off x="320040" y="91440"/>
            <a:ext cx="11521440" cy="54864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700" b="1">
                <a:solidFill>
                  <a:srgbClr val="1B2A4A"/>
                </a:solidFill>
                <a:latin typeface="Calibri"/>
                <a:ea typeface="Calibri"/>
                <a:cs typeface="Calibri"/>
              </a:rPr>
              <a:t>3.2b  Validation: SOX10 dependency is broad but heterogeneous</a:t>
            </a:r>
            <a:endParaRPr lang="en-US" sz="2700">
              <a:latin typeface="Calibri"/>
              <a:ea typeface="Calibri"/>
              <a:cs typeface="Calibri"/>
            </a:endParaRPr>
          </a:p>
        </p:txBody>
      </p:sp>
      <p:sp>
        <p:nvSpPr>
          <p:cNvPr id="3" name="Shape 1">
            <a:extLst>
              <a:ext uri="{FF2B5EF4-FFF2-40B4-BE49-F238E27FC236}">
                <a16:creationId xmlns:a16="http://schemas.microsoft.com/office/drawing/2014/main" id="{413AB849-0B3A-D9C4-1084-425D7D0F55B5}"/>
              </a:ext>
            </a:extLst>
          </p:cNvPr>
          <p:cNvSpPr/>
          <p:nvPr/>
        </p:nvSpPr>
        <p:spPr>
          <a:xfrm>
            <a:off x="320040" y="667512"/>
            <a:ext cx="1371600" cy="41148"/>
          </a:xfrm>
          <a:prstGeom prst="rect">
            <a:avLst/>
          </a:prstGeom>
          <a:solidFill>
            <a:srgbClr val="E07B39"/>
          </a:solidFill>
          <a:ln w="12700">
            <a:solidFill>
              <a:srgbClr val="E07B39"/>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 name="Text 2">
            <a:extLst>
              <a:ext uri="{FF2B5EF4-FFF2-40B4-BE49-F238E27FC236}">
                <a16:creationId xmlns:a16="http://schemas.microsoft.com/office/drawing/2014/main" id="{86F7F4C7-0FAA-0CCD-515A-1B6AFCC8357F}"/>
              </a:ext>
            </a:extLst>
          </p:cNvPr>
          <p:cNvSpPr/>
          <p:nvPr/>
        </p:nvSpPr>
        <p:spPr>
          <a:xfrm>
            <a:off x="320040" y="722376"/>
            <a:ext cx="11430000" cy="237744"/>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i="1">
                <a:solidFill>
                  <a:srgbClr val="8A9BB0"/>
                </a:solidFill>
                <a:latin typeface="Calibri" pitchFamily="34" charset="0"/>
                <a:ea typeface="Calibri" pitchFamily="34" charset="-122"/>
                <a:cs typeface="Calibri" pitchFamily="34" charset="-120"/>
              </a:rPr>
              <a:t>Expression, prevalence, and robustness analyses support the SOX10 signal, while revealing residual melanoma-state heterogeneity.</a:t>
            </a:r>
            <a:endParaRPr lang="en-US" sz="1100"/>
          </a:p>
        </p:txBody>
      </p:sp>
      <p:sp>
        <p:nvSpPr>
          <p:cNvPr id="6" name="Shape 3">
            <a:extLst>
              <a:ext uri="{FF2B5EF4-FFF2-40B4-BE49-F238E27FC236}">
                <a16:creationId xmlns:a16="http://schemas.microsoft.com/office/drawing/2014/main" id="{19CC35A6-F14C-BE3E-E2FF-C442A02D966A}"/>
              </a:ext>
            </a:extLst>
          </p:cNvPr>
          <p:cNvSpPr/>
          <p:nvPr/>
        </p:nvSpPr>
        <p:spPr>
          <a:xfrm>
            <a:off x="320040" y="1005840"/>
            <a:ext cx="2231136" cy="548640"/>
          </a:xfrm>
          <a:prstGeom prst="roundRect">
            <a:avLst>
              <a:gd name="adj" fmla="val 15000"/>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 name="Shape 4">
            <a:extLst>
              <a:ext uri="{FF2B5EF4-FFF2-40B4-BE49-F238E27FC236}">
                <a16:creationId xmlns:a16="http://schemas.microsoft.com/office/drawing/2014/main" id="{FFAFEE56-7F8D-5869-1754-ED9A8C35E321}"/>
              </a:ext>
            </a:extLst>
          </p:cNvPr>
          <p:cNvSpPr/>
          <p:nvPr/>
        </p:nvSpPr>
        <p:spPr>
          <a:xfrm>
            <a:off x="338328" y="1097280"/>
            <a:ext cx="365760" cy="365760"/>
          </a:xfrm>
          <a:prstGeom prst="ellipse">
            <a:avLst/>
          </a:prstGeom>
          <a:solidFill>
            <a:srgbClr val="0E6B7C"/>
          </a:solidFill>
          <a:ln w="12700">
            <a:solidFill>
              <a:srgbClr val="0E6B7C"/>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 name="Text 5">
            <a:extLst>
              <a:ext uri="{FF2B5EF4-FFF2-40B4-BE49-F238E27FC236}">
                <a16:creationId xmlns:a16="http://schemas.microsoft.com/office/drawing/2014/main" id="{DC3FFE01-49B8-F34E-EE89-51A2A236DF67}"/>
              </a:ext>
            </a:extLst>
          </p:cNvPr>
          <p:cNvSpPr/>
          <p:nvPr/>
        </p:nvSpPr>
        <p:spPr>
          <a:xfrm>
            <a:off x="327818" y="1081515"/>
            <a:ext cx="386780" cy="423566"/>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9" name="Text 6">
            <a:extLst>
              <a:ext uri="{FF2B5EF4-FFF2-40B4-BE49-F238E27FC236}">
                <a16:creationId xmlns:a16="http://schemas.microsoft.com/office/drawing/2014/main" id="{9E8A2EC5-ACEB-63A4-42D8-3B02773316B8}"/>
              </a:ext>
            </a:extLst>
          </p:cNvPr>
          <p:cNvSpPr/>
          <p:nvPr/>
        </p:nvSpPr>
        <p:spPr>
          <a:xfrm>
            <a:off x="795528" y="1060704"/>
            <a:ext cx="1682496" cy="219456"/>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SOX10 expression vs. dependency</a:t>
            </a:r>
            <a:endParaRPr lang="en-US" sz="800"/>
          </a:p>
        </p:txBody>
      </p:sp>
      <p:sp>
        <p:nvSpPr>
          <p:cNvPr id="10" name="Text 7">
            <a:extLst>
              <a:ext uri="{FF2B5EF4-FFF2-40B4-BE49-F238E27FC236}">
                <a16:creationId xmlns:a16="http://schemas.microsoft.com/office/drawing/2014/main" id="{E8C7D4F3-0090-4C26-400F-3305DA9DB001}"/>
              </a:ext>
            </a:extLst>
          </p:cNvPr>
          <p:cNvSpPr/>
          <p:nvPr/>
        </p:nvSpPr>
        <p:spPr>
          <a:xfrm>
            <a:off x="795528" y="1261872"/>
            <a:ext cx="1682496" cy="237744"/>
          </a:xfrm>
          <a:prstGeom prst="rect">
            <a:avLst/>
          </a:prstGeom>
          <a:noFill/>
          <a:ln/>
        </p:spPr>
        <p:txBody>
          <a:bodyPr wrap="square" lIns="0" tIns="0" rIns="0" bIns="0" rtlCol="0" anchor="t"/>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a:solidFill>
                  <a:srgbClr val="0E6B7C"/>
                </a:solidFill>
              </a:rPr>
              <a:t>ρ = -0.34,  p = 0.0032</a:t>
            </a:r>
            <a:endParaRPr lang="en-US" sz="1300"/>
          </a:p>
        </p:txBody>
      </p:sp>
      <p:sp>
        <p:nvSpPr>
          <p:cNvPr id="11" name="Shape 8">
            <a:extLst>
              <a:ext uri="{FF2B5EF4-FFF2-40B4-BE49-F238E27FC236}">
                <a16:creationId xmlns:a16="http://schemas.microsoft.com/office/drawing/2014/main" id="{29384843-4DC1-689F-7DB0-5B71D947E404}"/>
              </a:ext>
            </a:extLst>
          </p:cNvPr>
          <p:cNvSpPr/>
          <p:nvPr/>
        </p:nvSpPr>
        <p:spPr>
          <a:xfrm>
            <a:off x="2624328" y="1005840"/>
            <a:ext cx="2231136" cy="548640"/>
          </a:xfrm>
          <a:prstGeom prst="roundRect">
            <a:avLst>
              <a:gd name="adj" fmla="val 15000"/>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Shape 9">
            <a:extLst>
              <a:ext uri="{FF2B5EF4-FFF2-40B4-BE49-F238E27FC236}">
                <a16:creationId xmlns:a16="http://schemas.microsoft.com/office/drawing/2014/main" id="{C3186692-CFC1-D9B1-9AE1-044984D173B1}"/>
              </a:ext>
            </a:extLst>
          </p:cNvPr>
          <p:cNvSpPr/>
          <p:nvPr/>
        </p:nvSpPr>
        <p:spPr>
          <a:xfrm>
            <a:off x="2642616" y="1097280"/>
            <a:ext cx="365760" cy="365760"/>
          </a:xfrm>
          <a:prstGeom prst="ellipse">
            <a:avLst/>
          </a:prstGeom>
          <a:solidFill>
            <a:srgbClr val="E07B39"/>
          </a:solidFill>
          <a:ln w="12700">
            <a:solidFill>
              <a:srgbClr val="E07B39"/>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 name="Text 10">
            <a:extLst>
              <a:ext uri="{FF2B5EF4-FFF2-40B4-BE49-F238E27FC236}">
                <a16:creationId xmlns:a16="http://schemas.microsoft.com/office/drawing/2014/main" id="{686D5F25-474B-1F27-7CAC-C08D403FB009}"/>
              </a:ext>
            </a:extLst>
          </p:cNvPr>
          <p:cNvSpPr/>
          <p:nvPr/>
        </p:nvSpPr>
        <p:spPr>
          <a:xfrm>
            <a:off x="2642616"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14" name="Text 11">
            <a:extLst>
              <a:ext uri="{FF2B5EF4-FFF2-40B4-BE49-F238E27FC236}">
                <a16:creationId xmlns:a16="http://schemas.microsoft.com/office/drawing/2014/main" id="{EFF75D6A-AA18-A29A-4C5E-CD97CBFD930C}"/>
              </a:ext>
            </a:extLst>
          </p:cNvPr>
          <p:cNvSpPr/>
          <p:nvPr/>
        </p:nvSpPr>
        <p:spPr>
          <a:xfrm>
            <a:off x="3099816" y="1060704"/>
            <a:ext cx="1682496" cy="219456"/>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Melanoma dependency prevalence</a:t>
            </a:r>
            <a:endParaRPr lang="en-US" sz="800"/>
          </a:p>
        </p:txBody>
      </p:sp>
      <p:sp>
        <p:nvSpPr>
          <p:cNvPr id="15" name="Text 12">
            <a:extLst>
              <a:ext uri="{FF2B5EF4-FFF2-40B4-BE49-F238E27FC236}">
                <a16:creationId xmlns:a16="http://schemas.microsoft.com/office/drawing/2014/main" id="{5D5086FF-7A6C-46FE-66CD-343BFAEC4558}"/>
              </a:ext>
            </a:extLst>
          </p:cNvPr>
          <p:cNvSpPr/>
          <p:nvPr/>
        </p:nvSpPr>
        <p:spPr>
          <a:xfrm>
            <a:off x="3099816" y="1261872"/>
            <a:ext cx="1682496" cy="237744"/>
          </a:xfrm>
          <a:prstGeom prst="rect">
            <a:avLst/>
          </a:prstGeom>
          <a:noFill/>
          <a:ln/>
        </p:spPr>
        <p:txBody>
          <a:bodyPr wrap="square" lIns="0" tIns="0" rIns="0" bIns="0" rtlCol="0" anchor="t"/>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a:solidFill>
                  <a:srgbClr val="E07B39"/>
                </a:solidFill>
              </a:rPr>
              <a:t>84%</a:t>
            </a:r>
            <a:endParaRPr lang="en-US" sz="1300"/>
          </a:p>
        </p:txBody>
      </p:sp>
      <p:sp>
        <p:nvSpPr>
          <p:cNvPr id="16" name="Shape 13">
            <a:extLst>
              <a:ext uri="{FF2B5EF4-FFF2-40B4-BE49-F238E27FC236}">
                <a16:creationId xmlns:a16="http://schemas.microsoft.com/office/drawing/2014/main" id="{89F2AE02-AE69-4253-33F8-A7C677E8D408}"/>
              </a:ext>
            </a:extLst>
          </p:cNvPr>
          <p:cNvSpPr/>
          <p:nvPr/>
        </p:nvSpPr>
        <p:spPr>
          <a:xfrm>
            <a:off x="4928616" y="1005840"/>
            <a:ext cx="2231136" cy="548640"/>
          </a:xfrm>
          <a:prstGeom prst="roundRect">
            <a:avLst>
              <a:gd name="adj" fmla="val 15000"/>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 name="Shape 14">
            <a:extLst>
              <a:ext uri="{FF2B5EF4-FFF2-40B4-BE49-F238E27FC236}">
                <a16:creationId xmlns:a16="http://schemas.microsoft.com/office/drawing/2014/main" id="{74A974E8-3B11-CB8B-AD19-DE6E5EF07C49}"/>
              </a:ext>
            </a:extLst>
          </p:cNvPr>
          <p:cNvSpPr/>
          <p:nvPr/>
        </p:nvSpPr>
        <p:spPr>
          <a:xfrm>
            <a:off x="4946904" y="1097280"/>
            <a:ext cx="365760" cy="365760"/>
          </a:xfrm>
          <a:prstGeom prst="ellipse">
            <a:avLst/>
          </a:prstGeom>
          <a:solidFill>
            <a:srgbClr val="2A6B3C"/>
          </a:solidFill>
          <a:ln w="12700">
            <a:solidFill>
              <a:srgbClr val="2A6B3C"/>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 name="Text 15">
            <a:extLst>
              <a:ext uri="{FF2B5EF4-FFF2-40B4-BE49-F238E27FC236}">
                <a16:creationId xmlns:a16="http://schemas.microsoft.com/office/drawing/2014/main" id="{16014260-70A3-412B-A403-EDF093F351AC}"/>
              </a:ext>
            </a:extLst>
          </p:cNvPr>
          <p:cNvSpPr/>
          <p:nvPr/>
        </p:nvSpPr>
        <p:spPr>
          <a:xfrm>
            <a:off x="4946904"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19" name="Text 16">
            <a:extLst>
              <a:ext uri="{FF2B5EF4-FFF2-40B4-BE49-F238E27FC236}">
                <a16:creationId xmlns:a16="http://schemas.microsoft.com/office/drawing/2014/main" id="{0F7DCCA6-129A-8BC0-5100-F911B717253F}"/>
              </a:ext>
            </a:extLst>
          </p:cNvPr>
          <p:cNvSpPr/>
          <p:nvPr/>
        </p:nvSpPr>
        <p:spPr>
          <a:xfrm>
            <a:off x="5404104" y="1060704"/>
            <a:ext cx="1682496" cy="219456"/>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Bootstrap 95% CI — mean effect</a:t>
            </a:r>
            <a:endParaRPr lang="en-US" sz="800"/>
          </a:p>
        </p:txBody>
      </p:sp>
      <p:sp>
        <p:nvSpPr>
          <p:cNvPr id="20" name="Text 17">
            <a:extLst>
              <a:ext uri="{FF2B5EF4-FFF2-40B4-BE49-F238E27FC236}">
                <a16:creationId xmlns:a16="http://schemas.microsoft.com/office/drawing/2014/main" id="{5EAF7D4C-DCC3-C502-13B7-ABEC6874D36C}"/>
              </a:ext>
            </a:extLst>
          </p:cNvPr>
          <p:cNvSpPr/>
          <p:nvPr/>
        </p:nvSpPr>
        <p:spPr>
          <a:xfrm>
            <a:off x="5404104" y="1261872"/>
            <a:ext cx="1682496" cy="237744"/>
          </a:xfrm>
          <a:prstGeom prst="rect">
            <a:avLst/>
          </a:prstGeom>
          <a:noFill/>
          <a:ln/>
        </p:spPr>
        <p:txBody>
          <a:bodyPr wrap="square" lIns="0" tIns="0" rIns="0" bIns="0" rtlCol="0" anchor="t"/>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a:solidFill>
                  <a:srgbClr val="2A6B3C"/>
                </a:solidFill>
              </a:rPr>
              <a:t>-1.525 to -1.222</a:t>
            </a:r>
            <a:endParaRPr lang="en-US" sz="1300"/>
          </a:p>
        </p:txBody>
      </p:sp>
      <p:sp>
        <p:nvSpPr>
          <p:cNvPr id="21" name="Shape 18">
            <a:extLst>
              <a:ext uri="{FF2B5EF4-FFF2-40B4-BE49-F238E27FC236}">
                <a16:creationId xmlns:a16="http://schemas.microsoft.com/office/drawing/2014/main" id="{639ED10C-5F2C-88FF-BC98-4C5BD5BACB96}"/>
              </a:ext>
            </a:extLst>
          </p:cNvPr>
          <p:cNvSpPr/>
          <p:nvPr/>
        </p:nvSpPr>
        <p:spPr>
          <a:xfrm>
            <a:off x="7232904" y="1005840"/>
            <a:ext cx="2231136" cy="548640"/>
          </a:xfrm>
          <a:prstGeom prst="roundRect">
            <a:avLst>
              <a:gd name="adj" fmla="val 15000"/>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2" name="Shape 19">
            <a:extLst>
              <a:ext uri="{FF2B5EF4-FFF2-40B4-BE49-F238E27FC236}">
                <a16:creationId xmlns:a16="http://schemas.microsoft.com/office/drawing/2014/main" id="{F863D6EB-51E1-9F59-CE79-195AB522DC0B}"/>
              </a:ext>
            </a:extLst>
          </p:cNvPr>
          <p:cNvSpPr/>
          <p:nvPr/>
        </p:nvSpPr>
        <p:spPr>
          <a:xfrm>
            <a:off x="7251192" y="1097280"/>
            <a:ext cx="365760" cy="365760"/>
          </a:xfrm>
          <a:prstGeom prst="ellipse">
            <a:avLst/>
          </a:prstGeom>
          <a:solidFill>
            <a:srgbClr val="2A6B3C"/>
          </a:solidFill>
          <a:ln w="12700">
            <a:solidFill>
              <a:srgbClr val="2A6B3C"/>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3" name="Text 20">
            <a:extLst>
              <a:ext uri="{FF2B5EF4-FFF2-40B4-BE49-F238E27FC236}">
                <a16:creationId xmlns:a16="http://schemas.microsoft.com/office/drawing/2014/main" id="{37F16815-F406-CBAB-8192-001CDC0EC8B3}"/>
              </a:ext>
            </a:extLst>
          </p:cNvPr>
          <p:cNvSpPr/>
          <p:nvPr/>
        </p:nvSpPr>
        <p:spPr>
          <a:xfrm>
            <a:off x="7251192"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24" name="Text 21">
            <a:extLst>
              <a:ext uri="{FF2B5EF4-FFF2-40B4-BE49-F238E27FC236}">
                <a16:creationId xmlns:a16="http://schemas.microsoft.com/office/drawing/2014/main" id="{23DB14E5-28A5-7D42-7CD8-991C2A78BDFE}"/>
              </a:ext>
            </a:extLst>
          </p:cNvPr>
          <p:cNvSpPr/>
          <p:nvPr/>
        </p:nvSpPr>
        <p:spPr>
          <a:xfrm>
            <a:off x="7708392" y="1060704"/>
            <a:ext cx="1682496" cy="219456"/>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Bootstrap 95% CI — selectivity</a:t>
            </a:r>
            <a:endParaRPr lang="en-US" sz="800"/>
          </a:p>
        </p:txBody>
      </p:sp>
      <p:sp>
        <p:nvSpPr>
          <p:cNvPr id="25" name="Text 22">
            <a:extLst>
              <a:ext uri="{FF2B5EF4-FFF2-40B4-BE49-F238E27FC236}">
                <a16:creationId xmlns:a16="http://schemas.microsoft.com/office/drawing/2014/main" id="{1E960F23-570B-C1C1-9A33-80B67E407EB1}"/>
              </a:ext>
            </a:extLst>
          </p:cNvPr>
          <p:cNvSpPr/>
          <p:nvPr/>
        </p:nvSpPr>
        <p:spPr>
          <a:xfrm>
            <a:off x="7708392" y="1261872"/>
            <a:ext cx="1682496" cy="237744"/>
          </a:xfrm>
          <a:prstGeom prst="rect">
            <a:avLst/>
          </a:prstGeom>
          <a:noFill/>
          <a:ln/>
        </p:spPr>
        <p:txBody>
          <a:bodyPr wrap="square" lIns="0" tIns="0" rIns="0" bIns="0" rtlCol="0" anchor="t"/>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a:solidFill>
                  <a:srgbClr val="2A6B3C"/>
                </a:solidFill>
              </a:rPr>
              <a:t>-1.339 to -1.036</a:t>
            </a:r>
            <a:endParaRPr lang="en-US" sz="1300"/>
          </a:p>
        </p:txBody>
      </p:sp>
      <p:sp>
        <p:nvSpPr>
          <p:cNvPr id="26" name="Shape 23">
            <a:extLst>
              <a:ext uri="{FF2B5EF4-FFF2-40B4-BE49-F238E27FC236}">
                <a16:creationId xmlns:a16="http://schemas.microsoft.com/office/drawing/2014/main" id="{FA3DC18C-52E0-D374-0CC6-A79E24674984}"/>
              </a:ext>
            </a:extLst>
          </p:cNvPr>
          <p:cNvSpPr/>
          <p:nvPr/>
        </p:nvSpPr>
        <p:spPr>
          <a:xfrm>
            <a:off x="9537192" y="1005840"/>
            <a:ext cx="2231136" cy="548640"/>
          </a:xfrm>
          <a:prstGeom prst="roundRect">
            <a:avLst>
              <a:gd name="adj" fmla="val 15000"/>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7" name="Shape 24">
            <a:extLst>
              <a:ext uri="{FF2B5EF4-FFF2-40B4-BE49-F238E27FC236}">
                <a16:creationId xmlns:a16="http://schemas.microsoft.com/office/drawing/2014/main" id="{174E8971-E8CC-5478-C704-45FED067992A}"/>
              </a:ext>
            </a:extLst>
          </p:cNvPr>
          <p:cNvSpPr/>
          <p:nvPr/>
        </p:nvSpPr>
        <p:spPr>
          <a:xfrm>
            <a:off x="9555480" y="1097280"/>
            <a:ext cx="365760" cy="365760"/>
          </a:xfrm>
          <a:prstGeom prst="ellipse">
            <a:avLst/>
          </a:prstGeom>
          <a:solidFill>
            <a:srgbClr val="1B2A4A"/>
          </a:solidFill>
          <a:ln w="12700">
            <a:solidFill>
              <a:srgbClr val="1B2A4A"/>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8" name="Text 25">
            <a:extLst>
              <a:ext uri="{FF2B5EF4-FFF2-40B4-BE49-F238E27FC236}">
                <a16:creationId xmlns:a16="http://schemas.microsoft.com/office/drawing/2014/main" id="{40A416A8-6C7B-8D51-9094-13918CCEAC5D}"/>
              </a:ext>
            </a:extLst>
          </p:cNvPr>
          <p:cNvSpPr/>
          <p:nvPr/>
        </p:nvSpPr>
        <p:spPr>
          <a:xfrm>
            <a:off x="9555480"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29" name="Text 26">
            <a:extLst>
              <a:ext uri="{FF2B5EF4-FFF2-40B4-BE49-F238E27FC236}">
                <a16:creationId xmlns:a16="http://schemas.microsoft.com/office/drawing/2014/main" id="{4C59508E-6DB2-659E-E9F0-17C5F73F294F}"/>
              </a:ext>
            </a:extLst>
          </p:cNvPr>
          <p:cNvSpPr/>
          <p:nvPr/>
        </p:nvSpPr>
        <p:spPr>
          <a:xfrm>
            <a:off x="10012680" y="1060704"/>
            <a:ext cx="1682496" cy="219456"/>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Leave-one-model-out selectivity</a:t>
            </a:r>
            <a:endParaRPr lang="en-US" sz="800"/>
          </a:p>
        </p:txBody>
      </p:sp>
      <p:sp>
        <p:nvSpPr>
          <p:cNvPr id="30" name="Text 27">
            <a:extLst>
              <a:ext uri="{FF2B5EF4-FFF2-40B4-BE49-F238E27FC236}">
                <a16:creationId xmlns:a16="http://schemas.microsoft.com/office/drawing/2014/main" id="{C6480343-E722-3A29-315B-6004FE118A8F}"/>
              </a:ext>
            </a:extLst>
          </p:cNvPr>
          <p:cNvSpPr/>
          <p:nvPr/>
        </p:nvSpPr>
        <p:spPr>
          <a:xfrm>
            <a:off x="10012680" y="1261872"/>
            <a:ext cx="1682496" cy="237744"/>
          </a:xfrm>
          <a:prstGeom prst="rect">
            <a:avLst/>
          </a:prstGeom>
          <a:noFill/>
          <a:ln/>
        </p:spPr>
        <p:txBody>
          <a:bodyPr wrap="square" lIns="0" tIns="0" rIns="0" bIns="0" rtlCol="0" anchor="t"/>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a:solidFill>
                  <a:srgbClr val="1B2A4A"/>
                </a:solidFill>
              </a:rPr>
              <a:t>-1.203 to -1.167</a:t>
            </a:r>
            <a:endParaRPr lang="en-US" sz="1300"/>
          </a:p>
        </p:txBody>
      </p:sp>
      <p:sp>
        <p:nvSpPr>
          <p:cNvPr id="31" name="Shape 28">
            <a:extLst>
              <a:ext uri="{FF2B5EF4-FFF2-40B4-BE49-F238E27FC236}">
                <a16:creationId xmlns:a16="http://schemas.microsoft.com/office/drawing/2014/main" id="{33EE54FF-104D-2A0B-2ADC-EF838F5F3F1E}"/>
              </a:ext>
            </a:extLst>
          </p:cNvPr>
          <p:cNvSpPr/>
          <p:nvPr/>
        </p:nvSpPr>
        <p:spPr>
          <a:xfrm>
            <a:off x="320040" y="1664208"/>
            <a:ext cx="11521440" cy="329184"/>
          </a:xfrm>
          <a:prstGeom prst="roundRect">
            <a:avLst>
              <a:gd name="adj" fmla="val 16667"/>
            </a:avLst>
          </a:prstGeom>
          <a:solidFill>
            <a:srgbClr val="FFF8EC"/>
          </a:solidFill>
          <a:ln w="19050">
            <a:solidFill>
              <a:srgbClr val="D4900A"/>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 name="Text 29">
            <a:extLst>
              <a:ext uri="{FF2B5EF4-FFF2-40B4-BE49-F238E27FC236}">
                <a16:creationId xmlns:a16="http://schemas.microsoft.com/office/drawing/2014/main" id="{DC63EB00-9E49-0255-9E15-034B58AC7E63}"/>
              </a:ext>
            </a:extLst>
          </p:cNvPr>
          <p:cNvSpPr/>
          <p:nvPr/>
        </p:nvSpPr>
        <p:spPr>
          <a:xfrm>
            <a:off x="438912" y="1664208"/>
            <a:ext cx="11338560" cy="329184"/>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b="1">
                <a:solidFill>
                  <a:srgbClr val="D4900A"/>
                </a:solidFill>
              </a:rPr>
              <a:t>⭐   SOX10 passed every tested dependency / selectivity threshold combination.</a:t>
            </a:r>
            <a:endParaRPr lang="en-US" sz="1050"/>
          </a:p>
        </p:txBody>
      </p:sp>
      <p:sp>
        <p:nvSpPr>
          <p:cNvPr id="33" name="Shape 30">
            <a:extLst>
              <a:ext uri="{FF2B5EF4-FFF2-40B4-BE49-F238E27FC236}">
                <a16:creationId xmlns:a16="http://schemas.microsoft.com/office/drawing/2014/main" id="{D2DBD7F2-381A-094E-1F72-8DB14BD0A662}"/>
              </a:ext>
            </a:extLst>
          </p:cNvPr>
          <p:cNvSpPr/>
          <p:nvPr/>
        </p:nvSpPr>
        <p:spPr>
          <a:xfrm>
            <a:off x="320040" y="2084832"/>
            <a:ext cx="3886200" cy="4087368"/>
          </a:xfrm>
          <a:prstGeom prst="roundRect">
            <a:avLst>
              <a:gd name="adj" fmla="val 2118"/>
            </a:avLst>
          </a:prstGeom>
          <a:solidFill>
            <a:srgbClr val="FFFFFF"/>
          </a:solidFill>
          <a:ln w="9525">
            <a:solidFill>
              <a:srgbClr val="D4DDE8"/>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 name="Shape 31">
            <a:extLst>
              <a:ext uri="{FF2B5EF4-FFF2-40B4-BE49-F238E27FC236}">
                <a16:creationId xmlns:a16="http://schemas.microsoft.com/office/drawing/2014/main" id="{DADDBD7F-E4F5-75A5-3497-93E076B4DBD6}"/>
              </a:ext>
            </a:extLst>
          </p:cNvPr>
          <p:cNvSpPr/>
          <p:nvPr/>
        </p:nvSpPr>
        <p:spPr>
          <a:xfrm>
            <a:off x="411480" y="2176272"/>
            <a:ext cx="3703320" cy="274320"/>
          </a:xfrm>
          <a:prstGeom prst="roundRect">
            <a:avLst>
              <a:gd name="adj" fmla="val 40000"/>
            </a:avLst>
          </a:prstGeom>
          <a:solidFill>
            <a:srgbClr val="1B2A4A"/>
          </a:solidFill>
          <a:ln w="12700">
            <a:solidFill>
              <a:srgbClr val="1B2A4A"/>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5" name="Text 32">
            <a:extLst>
              <a:ext uri="{FF2B5EF4-FFF2-40B4-BE49-F238E27FC236}">
                <a16:creationId xmlns:a16="http://schemas.microsoft.com/office/drawing/2014/main" id="{F5A89E35-A750-8C7D-D56D-71520B66AAA7}"/>
              </a:ext>
            </a:extLst>
          </p:cNvPr>
          <p:cNvSpPr/>
          <p:nvPr/>
        </p:nvSpPr>
        <p:spPr>
          <a:xfrm>
            <a:off x="411480" y="2176272"/>
            <a:ext cx="370332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b="1">
                <a:solidFill>
                  <a:srgbClr val="FFFFFF"/>
                </a:solidFill>
              </a:rPr>
              <a:t>SOX10 expression versus dependency in melanoma</a:t>
            </a:r>
            <a:endParaRPr lang="en-US" sz="900"/>
          </a:p>
        </p:txBody>
      </p:sp>
      <p:sp>
        <p:nvSpPr>
          <p:cNvPr id="36" name="Shape 33">
            <a:extLst>
              <a:ext uri="{FF2B5EF4-FFF2-40B4-BE49-F238E27FC236}">
                <a16:creationId xmlns:a16="http://schemas.microsoft.com/office/drawing/2014/main" id="{B66C5F00-1FE4-4167-32F8-6674DA44FF2B}"/>
              </a:ext>
            </a:extLst>
          </p:cNvPr>
          <p:cNvSpPr/>
          <p:nvPr/>
        </p:nvSpPr>
        <p:spPr>
          <a:xfrm>
            <a:off x="4343400" y="2084832"/>
            <a:ext cx="4297680" cy="4087368"/>
          </a:xfrm>
          <a:prstGeom prst="roundRect">
            <a:avLst>
              <a:gd name="adj" fmla="val 2013"/>
            </a:avLst>
          </a:prstGeom>
          <a:solidFill>
            <a:srgbClr val="FFFFFF"/>
          </a:solidFill>
          <a:ln w="9525">
            <a:solidFill>
              <a:srgbClr val="D4DDE8"/>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7" name="Shape 34">
            <a:extLst>
              <a:ext uri="{FF2B5EF4-FFF2-40B4-BE49-F238E27FC236}">
                <a16:creationId xmlns:a16="http://schemas.microsoft.com/office/drawing/2014/main" id="{6EE45BCD-4F93-88F0-19B8-C8352EA6018F}"/>
              </a:ext>
            </a:extLst>
          </p:cNvPr>
          <p:cNvSpPr/>
          <p:nvPr/>
        </p:nvSpPr>
        <p:spPr>
          <a:xfrm>
            <a:off x="4434840" y="2176272"/>
            <a:ext cx="4114800" cy="274320"/>
          </a:xfrm>
          <a:prstGeom prst="roundRect">
            <a:avLst>
              <a:gd name="adj" fmla="val 40000"/>
            </a:avLst>
          </a:prstGeom>
          <a:solidFill>
            <a:srgbClr val="1B2A4A"/>
          </a:solidFill>
          <a:ln w="12700">
            <a:solidFill>
              <a:srgbClr val="1B2A4A"/>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8" name="Text 35">
            <a:extLst>
              <a:ext uri="{FF2B5EF4-FFF2-40B4-BE49-F238E27FC236}">
                <a16:creationId xmlns:a16="http://schemas.microsoft.com/office/drawing/2014/main" id="{A2CCA8A8-7C9A-9489-5335-67036735C68B}"/>
              </a:ext>
            </a:extLst>
          </p:cNvPr>
          <p:cNvSpPr/>
          <p:nvPr/>
        </p:nvSpPr>
        <p:spPr>
          <a:xfrm>
            <a:off x="4434840" y="2176272"/>
            <a:ext cx="411480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b="1">
                <a:solidFill>
                  <a:srgbClr val="FFFFFF"/>
                </a:solidFill>
              </a:rPr>
              <a:t>Dependency-probability heterogeneity across melanoma models</a:t>
            </a:r>
            <a:endParaRPr lang="en-US" sz="900"/>
          </a:p>
        </p:txBody>
      </p:sp>
      <p:sp>
        <p:nvSpPr>
          <p:cNvPr id="39" name="Shape 36">
            <a:extLst>
              <a:ext uri="{FF2B5EF4-FFF2-40B4-BE49-F238E27FC236}">
                <a16:creationId xmlns:a16="http://schemas.microsoft.com/office/drawing/2014/main" id="{6E901602-322A-BC26-E619-F66F2004A0B8}"/>
              </a:ext>
            </a:extLst>
          </p:cNvPr>
          <p:cNvSpPr/>
          <p:nvPr/>
        </p:nvSpPr>
        <p:spPr>
          <a:xfrm>
            <a:off x="8778240" y="2084832"/>
            <a:ext cx="3063240" cy="4087368"/>
          </a:xfrm>
          <a:prstGeom prst="roundRect">
            <a:avLst>
              <a:gd name="adj" fmla="val 2687"/>
            </a:avLst>
          </a:prstGeom>
          <a:solidFill>
            <a:srgbClr val="FFFFFF"/>
          </a:solidFill>
          <a:ln w="9525">
            <a:solidFill>
              <a:srgbClr val="D4DDE8"/>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0" name="Shape 37">
            <a:extLst>
              <a:ext uri="{FF2B5EF4-FFF2-40B4-BE49-F238E27FC236}">
                <a16:creationId xmlns:a16="http://schemas.microsoft.com/office/drawing/2014/main" id="{23FE0AB9-72A2-2F2D-BF89-849A7FE71CC5}"/>
              </a:ext>
            </a:extLst>
          </p:cNvPr>
          <p:cNvSpPr/>
          <p:nvPr/>
        </p:nvSpPr>
        <p:spPr>
          <a:xfrm>
            <a:off x="8869680" y="2176272"/>
            <a:ext cx="2880360" cy="274320"/>
          </a:xfrm>
          <a:prstGeom prst="roundRect">
            <a:avLst>
              <a:gd name="adj" fmla="val 40000"/>
            </a:avLst>
          </a:prstGeom>
          <a:solidFill>
            <a:srgbClr val="1B2A4A"/>
          </a:solidFill>
          <a:ln w="12700">
            <a:solidFill>
              <a:srgbClr val="1B2A4A"/>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1" name="Text 38">
            <a:extLst>
              <a:ext uri="{FF2B5EF4-FFF2-40B4-BE49-F238E27FC236}">
                <a16:creationId xmlns:a16="http://schemas.microsoft.com/office/drawing/2014/main" id="{B209B3F3-3C20-FCBF-DFFC-EAD294F3EE3B}"/>
              </a:ext>
            </a:extLst>
          </p:cNvPr>
          <p:cNvSpPr/>
          <p:nvPr/>
        </p:nvSpPr>
        <p:spPr>
          <a:xfrm>
            <a:off x="8869680" y="2176272"/>
            <a:ext cx="288036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b="1">
                <a:solidFill>
                  <a:srgbClr val="FFFFFF"/>
                </a:solidFill>
              </a:rPr>
              <a:t>Candidate-count sensitivity  (* = SOX10 passes)</a:t>
            </a:r>
            <a:endParaRPr lang="en-US" sz="900"/>
          </a:p>
        </p:txBody>
      </p:sp>
      <p:sp>
        <p:nvSpPr>
          <p:cNvPr id="42" name="Shape 39">
            <a:extLst>
              <a:ext uri="{FF2B5EF4-FFF2-40B4-BE49-F238E27FC236}">
                <a16:creationId xmlns:a16="http://schemas.microsoft.com/office/drawing/2014/main" id="{0960A543-AD08-7952-FE40-748B178110F6}"/>
              </a:ext>
            </a:extLst>
          </p:cNvPr>
          <p:cNvSpPr/>
          <p:nvPr/>
        </p:nvSpPr>
        <p:spPr>
          <a:xfrm>
            <a:off x="8855490" y="4663020"/>
            <a:ext cx="2924505" cy="1409333"/>
          </a:xfrm>
          <a:prstGeom prst="roundRect">
            <a:avLst>
              <a:gd name="adj" fmla="val 4459"/>
            </a:avLst>
          </a:prstGeom>
          <a:solidFill>
            <a:srgbClr val="EEF3F8"/>
          </a:solidFill>
          <a:ln w="9525">
            <a:solidFill>
              <a:srgbClr val="D4DDE8"/>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3" name="Shape 40">
            <a:extLst>
              <a:ext uri="{FF2B5EF4-FFF2-40B4-BE49-F238E27FC236}">
                <a16:creationId xmlns:a16="http://schemas.microsoft.com/office/drawing/2014/main" id="{F24F6DFD-A683-AAFF-E501-1E0DAA02B5AE}"/>
              </a:ext>
            </a:extLst>
          </p:cNvPr>
          <p:cNvSpPr/>
          <p:nvPr/>
        </p:nvSpPr>
        <p:spPr>
          <a:xfrm>
            <a:off x="8878824" y="4745736"/>
            <a:ext cx="292608" cy="292608"/>
          </a:xfrm>
          <a:prstGeom prst="ellipse">
            <a:avLst/>
          </a:prstGeom>
          <a:solidFill>
            <a:srgbClr val="0E6B7C"/>
          </a:solidFill>
          <a:ln w="12700">
            <a:solidFill>
              <a:srgbClr val="0E6B7C"/>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4" name="Text 41">
            <a:extLst>
              <a:ext uri="{FF2B5EF4-FFF2-40B4-BE49-F238E27FC236}">
                <a16:creationId xmlns:a16="http://schemas.microsoft.com/office/drawing/2014/main" id="{60E60437-2DE9-102E-081A-26CCABC6D796}"/>
              </a:ext>
            </a:extLst>
          </p:cNvPr>
          <p:cNvSpPr/>
          <p:nvPr/>
        </p:nvSpPr>
        <p:spPr>
          <a:xfrm>
            <a:off x="8878824" y="4745736"/>
            <a:ext cx="292608" cy="292608"/>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t>🛡</a:t>
            </a:r>
          </a:p>
        </p:txBody>
      </p:sp>
      <p:sp>
        <p:nvSpPr>
          <p:cNvPr id="45" name="Text 42">
            <a:extLst>
              <a:ext uri="{FF2B5EF4-FFF2-40B4-BE49-F238E27FC236}">
                <a16:creationId xmlns:a16="http://schemas.microsoft.com/office/drawing/2014/main" id="{753424D0-6DD0-3523-2A31-922F4CBFF40E}"/>
              </a:ext>
            </a:extLst>
          </p:cNvPr>
          <p:cNvSpPr/>
          <p:nvPr/>
        </p:nvSpPr>
        <p:spPr>
          <a:xfrm>
            <a:off x="9235440" y="4818888"/>
            <a:ext cx="2468880" cy="219456"/>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900" b="1">
                <a:solidFill>
                  <a:srgbClr val="1B2A4A"/>
                </a:solidFill>
              </a:rPr>
              <a:t>Robustness checks</a:t>
            </a:r>
            <a:endParaRPr lang="en-US" sz="900"/>
          </a:p>
        </p:txBody>
      </p:sp>
      <p:sp>
        <p:nvSpPr>
          <p:cNvPr id="46" name="Text 43">
            <a:extLst>
              <a:ext uri="{FF2B5EF4-FFF2-40B4-BE49-F238E27FC236}">
                <a16:creationId xmlns:a16="http://schemas.microsoft.com/office/drawing/2014/main" id="{733016FA-99C3-2600-1E82-B050FBC05832}"/>
              </a:ext>
            </a:extLst>
          </p:cNvPr>
          <p:cNvSpPr/>
          <p:nvPr/>
        </p:nvSpPr>
        <p:spPr>
          <a:xfrm>
            <a:off x="8915400" y="5065776"/>
            <a:ext cx="2834640" cy="237744"/>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750">
                <a:solidFill>
                  <a:srgbClr val="22303F"/>
                </a:solidFill>
              </a:rPr>
              <a:t>• Bootstrap CIs remain strongly negative throughout.</a:t>
            </a:r>
            <a:endParaRPr lang="en-US" sz="750"/>
          </a:p>
        </p:txBody>
      </p:sp>
      <p:sp>
        <p:nvSpPr>
          <p:cNvPr id="47" name="Text 44">
            <a:extLst>
              <a:ext uri="{FF2B5EF4-FFF2-40B4-BE49-F238E27FC236}">
                <a16:creationId xmlns:a16="http://schemas.microsoft.com/office/drawing/2014/main" id="{EA108D15-EBE0-3B51-5DA3-0546BAA9A0D7}"/>
              </a:ext>
            </a:extLst>
          </p:cNvPr>
          <p:cNvSpPr/>
          <p:nvPr/>
        </p:nvSpPr>
        <p:spPr>
          <a:xfrm>
            <a:off x="8915400" y="5312664"/>
            <a:ext cx="2834640" cy="237744"/>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750">
                <a:solidFill>
                  <a:srgbClr val="22303F"/>
                </a:solidFill>
              </a:rPr>
              <a:t>• Leave-one-out selectivity: −1.203 to −1.167.</a:t>
            </a:r>
            <a:endParaRPr lang="en-US" sz="750"/>
          </a:p>
        </p:txBody>
      </p:sp>
      <p:sp>
        <p:nvSpPr>
          <p:cNvPr id="48" name="Text 45">
            <a:extLst>
              <a:ext uri="{FF2B5EF4-FFF2-40B4-BE49-F238E27FC236}">
                <a16:creationId xmlns:a16="http://schemas.microsoft.com/office/drawing/2014/main" id="{9CE36983-6EB2-C28E-A5BA-9A246845D760}"/>
              </a:ext>
            </a:extLst>
          </p:cNvPr>
          <p:cNvSpPr/>
          <p:nvPr/>
        </p:nvSpPr>
        <p:spPr>
          <a:xfrm>
            <a:off x="8915400" y="5559552"/>
            <a:ext cx="2834640" cy="237744"/>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750">
                <a:solidFill>
                  <a:srgbClr val="22303F"/>
                </a:solidFill>
              </a:rPr>
              <a:t>• Passes all dep./selectivity threshold combos.</a:t>
            </a:r>
            <a:endParaRPr lang="en-US" sz="750"/>
          </a:p>
        </p:txBody>
      </p:sp>
      <p:sp>
        <p:nvSpPr>
          <p:cNvPr id="49" name="Text 46">
            <a:extLst>
              <a:ext uri="{FF2B5EF4-FFF2-40B4-BE49-F238E27FC236}">
                <a16:creationId xmlns:a16="http://schemas.microsoft.com/office/drawing/2014/main" id="{9642E8B9-61BA-922F-D038-BA5480C38670}"/>
              </a:ext>
            </a:extLst>
          </p:cNvPr>
          <p:cNvSpPr/>
          <p:nvPr/>
        </p:nvSpPr>
        <p:spPr>
          <a:xfrm>
            <a:off x="8915400" y="5806440"/>
            <a:ext cx="2834640" cy="237744"/>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750">
                <a:solidFill>
                  <a:srgbClr val="22303F"/>
                </a:solidFill>
              </a:rPr>
              <a:t>• Higher SOX10 expression → stronger dependency.</a:t>
            </a:r>
            <a:endParaRPr lang="en-US" sz="750"/>
          </a:p>
        </p:txBody>
      </p:sp>
      <p:sp>
        <p:nvSpPr>
          <p:cNvPr id="50" name="Shape 47">
            <a:extLst>
              <a:ext uri="{FF2B5EF4-FFF2-40B4-BE49-F238E27FC236}">
                <a16:creationId xmlns:a16="http://schemas.microsoft.com/office/drawing/2014/main" id="{0E8F6AED-C775-EE34-2B68-6C85C9A91FC0}"/>
              </a:ext>
            </a:extLst>
          </p:cNvPr>
          <p:cNvSpPr/>
          <p:nvPr/>
        </p:nvSpPr>
        <p:spPr>
          <a:xfrm>
            <a:off x="0" y="6336792"/>
            <a:ext cx="12161520" cy="521208"/>
          </a:xfrm>
          <a:prstGeom prst="rect">
            <a:avLst/>
          </a:prstGeom>
          <a:solidFill>
            <a:srgbClr val="1B2A4A"/>
          </a:solidFill>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1" name="Shape 48">
            <a:extLst>
              <a:ext uri="{FF2B5EF4-FFF2-40B4-BE49-F238E27FC236}">
                <a16:creationId xmlns:a16="http://schemas.microsoft.com/office/drawing/2014/main" id="{B21D99FE-4857-6F57-9B57-8D22A6E031FC}"/>
              </a:ext>
            </a:extLst>
          </p:cNvPr>
          <p:cNvSpPr/>
          <p:nvPr/>
        </p:nvSpPr>
        <p:spPr>
          <a:xfrm>
            <a:off x="228600" y="6441948"/>
            <a:ext cx="310896" cy="310896"/>
          </a:xfrm>
          <a:prstGeom prst="ellipse">
            <a:avLst/>
          </a:prstGeom>
          <a:solidFill>
            <a:srgbClr val="0E6B7C"/>
          </a:solidFill>
          <a:ln w="12700">
            <a:solidFill>
              <a:srgbClr val="0E6B7C"/>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 name="Text 49">
            <a:extLst>
              <a:ext uri="{FF2B5EF4-FFF2-40B4-BE49-F238E27FC236}">
                <a16:creationId xmlns:a16="http://schemas.microsoft.com/office/drawing/2014/main" id="{6AC84ECB-4DAD-B8A3-2FD2-1257E57CDAD2}"/>
              </a:ext>
            </a:extLst>
          </p:cNvPr>
          <p:cNvSpPr/>
          <p:nvPr/>
        </p:nvSpPr>
        <p:spPr>
          <a:xfrm>
            <a:off x="228600" y="6441948"/>
            <a:ext cx="310896" cy="310896"/>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53" name="Text 50">
            <a:extLst>
              <a:ext uri="{FF2B5EF4-FFF2-40B4-BE49-F238E27FC236}">
                <a16:creationId xmlns:a16="http://schemas.microsoft.com/office/drawing/2014/main" id="{AEDB3417-66C2-2771-75B3-30DF9E6870EC}"/>
              </a:ext>
            </a:extLst>
          </p:cNvPr>
          <p:cNvSpPr/>
          <p:nvPr/>
        </p:nvSpPr>
        <p:spPr>
          <a:xfrm>
            <a:off x="658368" y="6336792"/>
            <a:ext cx="11356848" cy="521208"/>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b="1">
                <a:solidFill>
                  <a:srgbClr val="FFFFFF"/>
                </a:solidFill>
              </a:rPr>
              <a:t>Takeaway: </a:t>
            </a:r>
            <a:r>
              <a:rPr lang="en-US" sz="1050">
                <a:solidFill>
                  <a:srgbClr val="FFFFFF"/>
                </a:solidFill>
              </a:rPr>
              <a:t>SOX10 dependence is prevalent, biologically plausible, and statistically robust, but melanoma models remain heterogeneous.</a:t>
            </a:r>
            <a:endParaRPr lang="en-US" sz="1050"/>
          </a:p>
        </p:txBody>
      </p:sp>
      <p:sp>
        <p:nvSpPr>
          <p:cNvPr id="54" name="Text 51">
            <a:extLst>
              <a:ext uri="{FF2B5EF4-FFF2-40B4-BE49-F238E27FC236}">
                <a16:creationId xmlns:a16="http://schemas.microsoft.com/office/drawing/2014/main" id="{BF883919-02A5-B784-F661-E33A7363DD7F}"/>
              </a:ext>
            </a:extLst>
          </p:cNvPr>
          <p:cNvSpPr/>
          <p:nvPr/>
        </p:nvSpPr>
        <p:spPr>
          <a:xfrm>
            <a:off x="658368" y="6336792"/>
            <a:ext cx="1371600" cy="521208"/>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50" b="1">
              <a:solidFill>
                <a:srgbClr val="FFFFFF"/>
              </a:solidFill>
            </a:endParaRPr>
          </a:p>
        </p:txBody>
      </p:sp>
      <p:pic>
        <p:nvPicPr>
          <p:cNvPr id="55" name="Picture 54" descr="A chart of different colors&#10;&#10;AI-generated content may be incorrect.">
            <a:extLst>
              <a:ext uri="{FF2B5EF4-FFF2-40B4-BE49-F238E27FC236}">
                <a16:creationId xmlns:a16="http://schemas.microsoft.com/office/drawing/2014/main" id="{90FDD835-5CB4-25D1-3B3B-B9358071034D}"/>
              </a:ext>
            </a:extLst>
          </p:cNvPr>
          <p:cNvPicPr>
            <a:picLocks noChangeAspect="1"/>
          </p:cNvPicPr>
          <p:nvPr/>
        </p:nvPicPr>
        <p:blipFill>
          <a:blip r:embed="rId3"/>
          <a:stretch>
            <a:fillRect/>
          </a:stretch>
        </p:blipFill>
        <p:spPr>
          <a:xfrm>
            <a:off x="8869680" y="2553543"/>
            <a:ext cx="2880360" cy="2116674"/>
          </a:xfrm>
          <a:prstGeom prst="rect">
            <a:avLst/>
          </a:prstGeom>
        </p:spPr>
      </p:pic>
      <p:pic>
        <p:nvPicPr>
          <p:cNvPr id="56" name="Picture 55" descr="A yellow and blue striped background&#10;&#10;AI-generated content may be incorrect.">
            <a:extLst>
              <a:ext uri="{FF2B5EF4-FFF2-40B4-BE49-F238E27FC236}">
                <a16:creationId xmlns:a16="http://schemas.microsoft.com/office/drawing/2014/main" id="{A5B4D624-7ED9-4FBF-9502-083817BB5E86}"/>
              </a:ext>
            </a:extLst>
          </p:cNvPr>
          <p:cNvPicPr>
            <a:picLocks noChangeAspect="1"/>
          </p:cNvPicPr>
          <p:nvPr/>
        </p:nvPicPr>
        <p:blipFill>
          <a:blip r:embed="rId4"/>
          <a:stretch>
            <a:fillRect/>
          </a:stretch>
        </p:blipFill>
        <p:spPr>
          <a:xfrm>
            <a:off x="4576991" y="2768297"/>
            <a:ext cx="3830498" cy="2354678"/>
          </a:xfrm>
          <a:prstGeom prst="rect">
            <a:avLst/>
          </a:prstGeom>
        </p:spPr>
      </p:pic>
      <p:pic>
        <p:nvPicPr>
          <p:cNvPr id="57" name="Picture 56" descr="A graph of a number of blue dots&#10;&#10;AI-generated content may be incorrect.">
            <a:extLst>
              <a:ext uri="{FF2B5EF4-FFF2-40B4-BE49-F238E27FC236}">
                <a16:creationId xmlns:a16="http://schemas.microsoft.com/office/drawing/2014/main" id="{E46885BA-D283-3E41-AFB7-8665C32D3AAB}"/>
              </a:ext>
            </a:extLst>
          </p:cNvPr>
          <p:cNvPicPr>
            <a:picLocks noChangeAspect="1"/>
          </p:cNvPicPr>
          <p:nvPr/>
        </p:nvPicPr>
        <p:blipFill>
          <a:blip r:embed="rId5"/>
          <a:stretch>
            <a:fillRect/>
          </a:stretch>
        </p:blipFill>
        <p:spPr>
          <a:xfrm>
            <a:off x="396240" y="2632719"/>
            <a:ext cx="3686382" cy="2751806"/>
          </a:xfrm>
          <a:prstGeom prst="rect">
            <a:avLst/>
          </a:prstGeom>
        </p:spPr>
      </p:pic>
    </p:spTree>
    <p:extLst>
      <p:ext uri="{BB962C8B-B14F-4D97-AF65-F5344CB8AC3E}">
        <p14:creationId xmlns:p14="http://schemas.microsoft.com/office/powerpoint/2010/main" val="2573525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DD8028-A0F6-8941-B233-46A19834600D}"/>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011C642F-5571-AD5E-5E6F-5B27D92512C3}"/>
              </a:ext>
            </a:extLst>
          </p:cNvPr>
          <p:cNvSpPr>
            <a:spLocks noGrp="1"/>
          </p:cNvSpPr>
          <p:nvPr>
            <p:ph type="dt" sz="half" idx="10"/>
          </p:nvPr>
        </p:nvSpPr>
        <p:spPr/>
        <p:txBody>
          <a:bodyPr/>
          <a:lstStyle/>
          <a:p>
            <a:fld id="{79DE17D0-60CD-46C9-BD04-B48B62216DD5}" type="datetime1">
              <a:t>8/9/2026</a:t>
            </a:fld>
            <a:endParaRPr lang="en-US"/>
          </a:p>
        </p:txBody>
      </p:sp>
      <p:sp>
        <p:nvSpPr>
          <p:cNvPr id="78" name="Text 0">
            <a:extLst>
              <a:ext uri="{FF2B5EF4-FFF2-40B4-BE49-F238E27FC236}">
                <a16:creationId xmlns:a16="http://schemas.microsoft.com/office/drawing/2014/main" id="{4B4279DD-40F7-C3FF-E7D6-2191A94F9BEF}"/>
              </a:ext>
            </a:extLst>
          </p:cNvPr>
          <p:cNvSpPr/>
          <p:nvPr/>
        </p:nvSpPr>
        <p:spPr>
          <a:xfrm>
            <a:off x="502920" y="320040"/>
            <a:ext cx="11247120" cy="4114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700" b="1">
                <a:solidFill>
                  <a:srgbClr val="17294D"/>
                </a:solidFill>
                <a:latin typeface="Calibri"/>
                <a:ea typeface="Calibri"/>
                <a:cs typeface="Calibri"/>
              </a:rPr>
              <a:t>3.3a Methods for SOX10 co-dependency and proxy-target </a:t>
            </a:r>
            <a:r>
              <a:rPr lang="en-US" sz="2700" b="1" err="1">
                <a:solidFill>
                  <a:srgbClr val="17294D"/>
                </a:solidFill>
                <a:latin typeface="Calibri"/>
                <a:ea typeface="Calibri"/>
                <a:cs typeface="Calibri"/>
              </a:rPr>
              <a:t>prioritisation</a:t>
            </a:r>
            <a:endParaRPr lang="en-US" sz="2700" b="1">
              <a:latin typeface="Calibri"/>
              <a:ea typeface="Calibri"/>
              <a:cs typeface="Calibri"/>
            </a:endParaRPr>
          </a:p>
        </p:txBody>
      </p:sp>
      <p:sp>
        <p:nvSpPr>
          <p:cNvPr id="79" name="Shape 1">
            <a:extLst>
              <a:ext uri="{FF2B5EF4-FFF2-40B4-BE49-F238E27FC236}">
                <a16:creationId xmlns:a16="http://schemas.microsoft.com/office/drawing/2014/main" id="{A073AEE8-35BF-FA03-5AF4-2FFDB34B0FE5}"/>
              </a:ext>
            </a:extLst>
          </p:cNvPr>
          <p:cNvSpPr/>
          <p:nvPr/>
        </p:nvSpPr>
        <p:spPr>
          <a:xfrm>
            <a:off x="512064" y="804672"/>
            <a:ext cx="1417320" cy="54864"/>
          </a:xfrm>
          <a:prstGeom prst="rect">
            <a:avLst/>
          </a:prstGeom>
          <a:solidFill>
            <a:srgbClr val="E67833"/>
          </a:solidFill>
          <a:ln w="12700">
            <a:solidFill>
              <a:srgbClr val="E67833"/>
            </a:solidFill>
            <a:prstDash val="solid"/>
          </a:ln>
        </p:spPr>
        <p:txBody>
          <a:bodyPr/>
          <a:lstStyle/>
          <a:p>
            <a:endParaRPr lang="en-US"/>
          </a:p>
        </p:txBody>
      </p:sp>
      <p:sp>
        <p:nvSpPr>
          <p:cNvPr id="80" name="Text 2">
            <a:extLst>
              <a:ext uri="{FF2B5EF4-FFF2-40B4-BE49-F238E27FC236}">
                <a16:creationId xmlns:a16="http://schemas.microsoft.com/office/drawing/2014/main" id="{B941A9B9-0209-7EED-5034-8E59E0A511A8}"/>
              </a:ext>
            </a:extLst>
          </p:cNvPr>
          <p:cNvSpPr/>
          <p:nvPr/>
        </p:nvSpPr>
        <p:spPr>
          <a:xfrm>
            <a:off x="502920" y="969264"/>
            <a:ext cx="11064240"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i="1">
                <a:solidFill>
                  <a:srgbClr val="7E91A8"/>
                </a:solidFill>
              </a:rPr>
              <a:t>SOX10 is a transcription factor, so the next step searched for more tractable genes associated with the SOX10-dependent state.</a:t>
            </a:r>
            <a:endParaRPr lang="en-US" sz="1050"/>
          </a:p>
        </p:txBody>
      </p:sp>
      <p:sp>
        <p:nvSpPr>
          <p:cNvPr id="81" name="Shape 3">
            <a:extLst>
              <a:ext uri="{FF2B5EF4-FFF2-40B4-BE49-F238E27FC236}">
                <a16:creationId xmlns:a16="http://schemas.microsoft.com/office/drawing/2014/main" id="{170A6DB9-895E-BCE9-3EBC-69D976987055}"/>
              </a:ext>
            </a:extLst>
          </p:cNvPr>
          <p:cNvSpPr/>
          <p:nvPr/>
        </p:nvSpPr>
        <p:spPr>
          <a:xfrm>
            <a:off x="502920" y="1243584"/>
            <a:ext cx="2706624" cy="384048"/>
          </a:xfrm>
          <a:prstGeom prst="roundRect">
            <a:avLst>
              <a:gd name="adj" fmla="val 19048"/>
            </a:avLst>
          </a:prstGeom>
          <a:solidFill>
            <a:srgbClr val="0E7485"/>
          </a:solidFill>
          <a:ln w="12700">
            <a:solidFill>
              <a:srgbClr val="FFFFFF"/>
            </a:solidFill>
            <a:prstDash val="solid"/>
          </a:ln>
        </p:spPr>
        <p:txBody>
          <a:bodyPr/>
          <a:lstStyle/>
          <a:p>
            <a:endParaRPr lang="en-US"/>
          </a:p>
        </p:txBody>
      </p:sp>
      <p:sp>
        <p:nvSpPr>
          <p:cNvPr id="82" name="Text 4">
            <a:extLst>
              <a:ext uri="{FF2B5EF4-FFF2-40B4-BE49-F238E27FC236}">
                <a16:creationId xmlns:a16="http://schemas.microsoft.com/office/drawing/2014/main" id="{0C66C156-EC4B-D600-F394-29C4E2D3452D}"/>
              </a:ext>
            </a:extLst>
          </p:cNvPr>
          <p:cNvSpPr/>
          <p:nvPr/>
        </p:nvSpPr>
        <p:spPr>
          <a:xfrm>
            <a:off x="548640" y="1362456"/>
            <a:ext cx="2615184" cy="12801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a:solidFill>
                  <a:srgbClr val="FFFFFF"/>
                </a:solidFill>
              </a:rPr>
              <a:t>SOX10 profile</a:t>
            </a:r>
            <a:endParaRPr lang="en-US" sz="850"/>
          </a:p>
        </p:txBody>
      </p:sp>
      <p:sp>
        <p:nvSpPr>
          <p:cNvPr id="83" name="Shape 5">
            <a:extLst>
              <a:ext uri="{FF2B5EF4-FFF2-40B4-BE49-F238E27FC236}">
                <a16:creationId xmlns:a16="http://schemas.microsoft.com/office/drawing/2014/main" id="{62B1CDF8-2283-2199-8604-31489A5E49EE}"/>
              </a:ext>
            </a:extLst>
          </p:cNvPr>
          <p:cNvSpPr/>
          <p:nvPr/>
        </p:nvSpPr>
        <p:spPr>
          <a:xfrm>
            <a:off x="3319272" y="1243584"/>
            <a:ext cx="2706624" cy="384048"/>
          </a:xfrm>
          <a:prstGeom prst="roundRect">
            <a:avLst>
              <a:gd name="adj" fmla="val 19048"/>
            </a:avLst>
          </a:prstGeom>
          <a:solidFill>
            <a:srgbClr val="EAF1F7"/>
          </a:solidFill>
          <a:ln w="12700">
            <a:solidFill>
              <a:srgbClr val="D7E1EA"/>
            </a:solidFill>
            <a:prstDash val="solid"/>
          </a:ln>
        </p:spPr>
        <p:txBody>
          <a:bodyPr/>
          <a:lstStyle/>
          <a:p>
            <a:endParaRPr lang="en-US"/>
          </a:p>
        </p:txBody>
      </p:sp>
      <p:sp>
        <p:nvSpPr>
          <p:cNvPr id="84" name="Text 6">
            <a:extLst>
              <a:ext uri="{FF2B5EF4-FFF2-40B4-BE49-F238E27FC236}">
                <a16:creationId xmlns:a16="http://schemas.microsoft.com/office/drawing/2014/main" id="{6D3C50B7-838F-5F59-8C00-A1560EC5BD0E}"/>
              </a:ext>
            </a:extLst>
          </p:cNvPr>
          <p:cNvSpPr/>
          <p:nvPr/>
        </p:nvSpPr>
        <p:spPr>
          <a:xfrm>
            <a:off x="3364992" y="1362456"/>
            <a:ext cx="2615184" cy="12801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a:solidFill>
                  <a:srgbClr val="17294D"/>
                </a:solidFill>
              </a:rPr>
              <a:t>Pan-cancer co-dependency</a:t>
            </a:r>
            <a:endParaRPr lang="en-US" sz="850"/>
          </a:p>
        </p:txBody>
      </p:sp>
      <p:sp>
        <p:nvSpPr>
          <p:cNvPr id="85" name="Shape 7">
            <a:extLst>
              <a:ext uri="{FF2B5EF4-FFF2-40B4-BE49-F238E27FC236}">
                <a16:creationId xmlns:a16="http://schemas.microsoft.com/office/drawing/2014/main" id="{6617E68F-028C-7603-703E-6BBF35B5BB48}"/>
              </a:ext>
            </a:extLst>
          </p:cNvPr>
          <p:cNvSpPr/>
          <p:nvPr/>
        </p:nvSpPr>
        <p:spPr>
          <a:xfrm>
            <a:off x="6135624" y="1243584"/>
            <a:ext cx="2706624" cy="384048"/>
          </a:xfrm>
          <a:prstGeom prst="roundRect">
            <a:avLst>
              <a:gd name="adj" fmla="val 19048"/>
            </a:avLst>
          </a:prstGeom>
          <a:solidFill>
            <a:srgbClr val="EAF1F7"/>
          </a:solidFill>
          <a:ln w="12700">
            <a:solidFill>
              <a:srgbClr val="D7E1EA"/>
            </a:solidFill>
            <a:prstDash val="solid"/>
          </a:ln>
        </p:spPr>
        <p:txBody>
          <a:bodyPr/>
          <a:lstStyle/>
          <a:p>
            <a:endParaRPr lang="en-US"/>
          </a:p>
        </p:txBody>
      </p:sp>
      <p:sp>
        <p:nvSpPr>
          <p:cNvPr id="86" name="Text 8">
            <a:extLst>
              <a:ext uri="{FF2B5EF4-FFF2-40B4-BE49-F238E27FC236}">
                <a16:creationId xmlns:a16="http://schemas.microsoft.com/office/drawing/2014/main" id="{3F5D7C72-8424-8AE5-3B92-4A397AF1AEEB}"/>
              </a:ext>
            </a:extLst>
          </p:cNvPr>
          <p:cNvSpPr/>
          <p:nvPr/>
        </p:nvSpPr>
        <p:spPr>
          <a:xfrm>
            <a:off x="6181344" y="1362456"/>
            <a:ext cx="2615184" cy="12801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a:solidFill>
                  <a:srgbClr val="17294D"/>
                </a:solidFill>
              </a:rPr>
              <a:t>Melanoma filters</a:t>
            </a:r>
            <a:endParaRPr lang="en-US" sz="850"/>
          </a:p>
        </p:txBody>
      </p:sp>
      <p:sp>
        <p:nvSpPr>
          <p:cNvPr id="87" name="Shape 9">
            <a:extLst>
              <a:ext uri="{FF2B5EF4-FFF2-40B4-BE49-F238E27FC236}">
                <a16:creationId xmlns:a16="http://schemas.microsoft.com/office/drawing/2014/main" id="{E6A4D994-936E-4F7B-199D-514F27A7BBA7}"/>
              </a:ext>
            </a:extLst>
          </p:cNvPr>
          <p:cNvSpPr/>
          <p:nvPr/>
        </p:nvSpPr>
        <p:spPr>
          <a:xfrm>
            <a:off x="8951976" y="1243584"/>
            <a:ext cx="2706624" cy="384048"/>
          </a:xfrm>
          <a:prstGeom prst="roundRect">
            <a:avLst>
              <a:gd name="adj" fmla="val 19048"/>
            </a:avLst>
          </a:prstGeom>
          <a:solidFill>
            <a:srgbClr val="E67833"/>
          </a:solidFill>
          <a:ln w="12700">
            <a:solidFill>
              <a:srgbClr val="FFFFFF"/>
            </a:solidFill>
            <a:prstDash val="solid"/>
          </a:ln>
        </p:spPr>
        <p:txBody>
          <a:bodyPr/>
          <a:lstStyle/>
          <a:p>
            <a:endParaRPr lang="en-US"/>
          </a:p>
        </p:txBody>
      </p:sp>
      <p:sp>
        <p:nvSpPr>
          <p:cNvPr id="88" name="Text 10">
            <a:extLst>
              <a:ext uri="{FF2B5EF4-FFF2-40B4-BE49-F238E27FC236}">
                <a16:creationId xmlns:a16="http://schemas.microsoft.com/office/drawing/2014/main" id="{E0D785C9-0B9F-ED36-FFA8-E4597EE6A5E7}"/>
              </a:ext>
            </a:extLst>
          </p:cNvPr>
          <p:cNvSpPr/>
          <p:nvPr/>
        </p:nvSpPr>
        <p:spPr>
          <a:xfrm>
            <a:off x="8997696" y="1362456"/>
            <a:ext cx="2615184" cy="12801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a:solidFill>
                  <a:srgbClr val="FFFFFF"/>
                </a:solidFill>
              </a:rPr>
              <a:t>Druggability audit</a:t>
            </a:r>
            <a:endParaRPr lang="en-US" sz="850"/>
          </a:p>
        </p:txBody>
      </p:sp>
      <p:sp>
        <p:nvSpPr>
          <p:cNvPr id="89" name="Shape 11">
            <a:extLst>
              <a:ext uri="{FF2B5EF4-FFF2-40B4-BE49-F238E27FC236}">
                <a16:creationId xmlns:a16="http://schemas.microsoft.com/office/drawing/2014/main" id="{2654C932-395A-FCF3-25E3-85552DDA881E}"/>
              </a:ext>
            </a:extLst>
          </p:cNvPr>
          <p:cNvSpPr/>
          <p:nvPr/>
        </p:nvSpPr>
        <p:spPr>
          <a:xfrm>
            <a:off x="502920" y="1810512"/>
            <a:ext cx="3749040" cy="4297680"/>
          </a:xfrm>
          <a:prstGeom prst="roundRect">
            <a:avLst>
              <a:gd name="adj" fmla="val 1951"/>
            </a:avLst>
          </a:prstGeom>
          <a:solidFill>
            <a:srgbClr val="FFFFFF"/>
          </a:solidFill>
          <a:ln w="12700">
            <a:solidFill>
              <a:srgbClr val="D7E1EA"/>
            </a:solidFill>
            <a:prstDash val="solid"/>
          </a:ln>
        </p:spPr>
        <p:txBody>
          <a:bodyPr/>
          <a:lstStyle/>
          <a:p>
            <a:endParaRPr lang="en-US"/>
          </a:p>
        </p:txBody>
      </p:sp>
      <p:sp>
        <p:nvSpPr>
          <p:cNvPr id="90" name="Shape 12">
            <a:extLst>
              <a:ext uri="{FF2B5EF4-FFF2-40B4-BE49-F238E27FC236}">
                <a16:creationId xmlns:a16="http://schemas.microsoft.com/office/drawing/2014/main" id="{47766FC9-D54C-B1CC-C1EE-D51A12007AC9}"/>
              </a:ext>
            </a:extLst>
          </p:cNvPr>
          <p:cNvSpPr/>
          <p:nvPr/>
        </p:nvSpPr>
        <p:spPr>
          <a:xfrm>
            <a:off x="576072" y="1883664"/>
            <a:ext cx="3602736" cy="329184"/>
          </a:xfrm>
          <a:prstGeom prst="roundRect">
            <a:avLst>
              <a:gd name="adj" fmla="val 22222"/>
            </a:avLst>
          </a:prstGeom>
          <a:solidFill>
            <a:srgbClr val="17294D"/>
          </a:solidFill>
          <a:ln w="12700">
            <a:solidFill>
              <a:srgbClr val="17294D"/>
            </a:solidFill>
            <a:prstDash val="solid"/>
          </a:ln>
        </p:spPr>
        <p:txBody>
          <a:bodyPr/>
          <a:lstStyle/>
          <a:p>
            <a:endParaRPr lang="en-US"/>
          </a:p>
        </p:txBody>
      </p:sp>
      <p:sp>
        <p:nvSpPr>
          <p:cNvPr id="91" name="Text 13">
            <a:extLst>
              <a:ext uri="{FF2B5EF4-FFF2-40B4-BE49-F238E27FC236}">
                <a16:creationId xmlns:a16="http://schemas.microsoft.com/office/drawing/2014/main" id="{38B241A1-5331-4475-0970-1FBA1F1E2FDE}"/>
              </a:ext>
            </a:extLst>
          </p:cNvPr>
          <p:cNvSpPr/>
          <p:nvPr/>
        </p:nvSpPr>
        <p:spPr>
          <a:xfrm>
            <a:off x="640080" y="1975104"/>
            <a:ext cx="3474720" cy="12801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20" b="1">
                <a:solidFill>
                  <a:srgbClr val="FFFFFF"/>
                </a:solidFill>
              </a:rPr>
              <a:t>1. Co-dependency calculation</a:t>
            </a:r>
            <a:endParaRPr lang="en-US" sz="920"/>
          </a:p>
        </p:txBody>
      </p:sp>
      <p:sp>
        <p:nvSpPr>
          <p:cNvPr id="92" name="Shape 14">
            <a:extLst>
              <a:ext uri="{FF2B5EF4-FFF2-40B4-BE49-F238E27FC236}">
                <a16:creationId xmlns:a16="http://schemas.microsoft.com/office/drawing/2014/main" id="{E7233DE5-DA89-9425-0B2E-D5DC57A85DDB}"/>
              </a:ext>
            </a:extLst>
          </p:cNvPr>
          <p:cNvSpPr/>
          <p:nvPr/>
        </p:nvSpPr>
        <p:spPr>
          <a:xfrm>
            <a:off x="749808" y="2350008"/>
            <a:ext cx="3246120" cy="502920"/>
          </a:xfrm>
          <a:prstGeom prst="roundRect">
            <a:avLst>
              <a:gd name="adj" fmla="val 10909"/>
            </a:avLst>
          </a:prstGeom>
          <a:solidFill>
            <a:srgbClr val="FFFFFF"/>
          </a:solidFill>
          <a:ln w="10160">
            <a:solidFill>
              <a:srgbClr val="E2E8F0"/>
            </a:solidFill>
            <a:prstDash val="solid"/>
          </a:ln>
        </p:spPr>
        <p:txBody>
          <a:bodyPr/>
          <a:lstStyle/>
          <a:p>
            <a:endParaRPr lang="en-US"/>
          </a:p>
        </p:txBody>
      </p:sp>
      <p:sp>
        <p:nvSpPr>
          <p:cNvPr id="94" name="Shape 15">
            <a:extLst>
              <a:ext uri="{FF2B5EF4-FFF2-40B4-BE49-F238E27FC236}">
                <a16:creationId xmlns:a16="http://schemas.microsoft.com/office/drawing/2014/main" id="{C8334B9A-970B-0906-DEE4-DF98E5D45C60}"/>
              </a:ext>
            </a:extLst>
          </p:cNvPr>
          <p:cNvSpPr/>
          <p:nvPr/>
        </p:nvSpPr>
        <p:spPr>
          <a:xfrm>
            <a:off x="749808" y="2907792"/>
            <a:ext cx="3246120" cy="502920"/>
          </a:xfrm>
          <a:prstGeom prst="roundRect">
            <a:avLst>
              <a:gd name="adj" fmla="val 10909"/>
            </a:avLst>
          </a:prstGeom>
          <a:solidFill>
            <a:srgbClr val="FFFFFF"/>
          </a:solidFill>
          <a:ln w="10160">
            <a:solidFill>
              <a:srgbClr val="E2E8F0"/>
            </a:solidFill>
            <a:prstDash val="solid"/>
          </a:ln>
        </p:spPr>
        <p:txBody>
          <a:bodyPr/>
          <a:lstStyle/>
          <a:p>
            <a:endParaRPr lang="en-US"/>
          </a:p>
        </p:txBody>
      </p:sp>
      <p:pic>
        <p:nvPicPr>
          <p:cNvPr id="95" name="Image 1">
            <a:extLst>
              <a:ext uri="{FF2B5EF4-FFF2-40B4-BE49-F238E27FC236}">
                <a16:creationId xmlns:a16="http://schemas.microsoft.com/office/drawing/2014/main" id="{682734F5-8DE4-5DE5-7829-AC4D94CB7667}"/>
              </a:ext>
            </a:extLst>
          </p:cNvPr>
          <p:cNvPicPr>
            <a:picLocks noChangeAspect="1"/>
          </p:cNvPicPr>
          <p:nvPr/>
        </p:nvPicPr>
        <p:blipFill>
          <a:blip r:embed="rId3"/>
          <a:stretch>
            <a:fillRect/>
          </a:stretch>
        </p:blipFill>
        <p:spPr>
          <a:xfrm>
            <a:off x="861758" y="2971800"/>
            <a:ext cx="2128841" cy="374904"/>
          </a:xfrm>
          <a:prstGeom prst="rect">
            <a:avLst/>
          </a:prstGeom>
        </p:spPr>
      </p:pic>
      <p:sp>
        <p:nvSpPr>
          <p:cNvPr id="96" name="Text 16">
            <a:extLst>
              <a:ext uri="{FF2B5EF4-FFF2-40B4-BE49-F238E27FC236}">
                <a16:creationId xmlns:a16="http://schemas.microsoft.com/office/drawing/2014/main" id="{B98CC669-535F-0BF0-84A7-B566DA72EEA8}"/>
              </a:ext>
            </a:extLst>
          </p:cNvPr>
          <p:cNvSpPr/>
          <p:nvPr/>
        </p:nvSpPr>
        <p:spPr>
          <a:xfrm>
            <a:off x="749808" y="3611880"/>
            <a:ext cx="3246120" cy="1325880"/>
          </a:xfrm>
          <a:prstGeom prst="rect">
            <a:avLst/>
          </a:prstGeom>
          <a:noFill/>
          <a:ln/>
        </p:spPr>
        <p:txBody>
          <a:bodyPr wrap="square" lIns="381" tIns="381" rIns="381" bIns="381" rtlCol="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a:solidFill>
                  <a:srgbClr val="172033"/>
                </a:solidFill>
              </a:rPr>
              <a:t>• </a:t>
            </a:r>
            <a:r>
              <a:rPr lang="en-US" sz="1100">
                <a:solidFill>
                  <a:srgbClr val="172033"/>
                </a:solidFill>
              </a:rPr>
              <a:t>For every gene h, the Chronos dependency profile was correlated with the SOX10 profile across approximately 1,150 cancer models.
</a:t>
            </a:r>
            <a:r>
              <a:rPr lang="en-US" sz="1100" b="1">
                <a:solidFill>
                  <a:srgbClr val="172033"/>
                </a:solidFill>
              </a:rPr>
              <a:t>• </a:t>
            </a:r>
            <a:r>
              <a:rPr lang="en-US" sz="1100">
                <a:solidFill>
                  <a:srgbClr val="172033"/>
                </a:solidFill>
              </a:rPr>
              <a:t>Positive r means models dependent on SOX10 also tend to be dependent on gene h.
</a:t>
            </a:r>
            <a:r>
              <a:rPr lang="en-US" sz="1100" b="1">
                <a:solidFill>
                  <a:srgbClr val="172033"/>
                </a:solidFill>
              </a:rPr>
              <a:t>• </a:t>
            </a:r>
            <a:r>
              <a:rPr lang="en-US" sz="1100">
                <a:solidFill>
                  <a:srgbClr val="172033"/>
                </a:solidFill>
              </a:rPr>
              <a:t>Correlation p-values were FDR-corrected across genes.
</a:t>
            </a:r>
            <a:r>
              <a:rPr lang="en-US" sz="1100" b="1">
                <a:solidFill>
                  <a:srgbClr val="172033"/>
                </a:solidFill>
              </a:rPr>
              <a:t>• </a:t>
            </a:r>
            <a:r>
              <a:rPr lang="en-US" sz="1100">
                <a:solidFill>
                  <a:srgbClr val="172033"/>
                </a:solidFill>
              </a:rPr>
              <a:t>Melanoma-specific Pearson and Spearman correlations were added for candidate ranking.</a:t>
            </a:r>
            <a:endParaRPr lang="en-US" sz="1100"/>
          </a:p>
        </p:txBody>
      </p:sp>
      <p:sp>
        <p:nvSpPr>
          <p:cNvPr id="97" name="Shape 17">
            <a:extLst>
              <a:ext uri="{FF2B5EF4-FFF2-40B4-BE49-F238E27FC236}">
                <a16:creationId xmlns:a16="http://schemas.microsoft.com/office/drawing/2014/main" id="{D1DC2366-AABC-BE71-CF56-C79647EC51C1}"/>
              </a:ext>
            </a:extLst>
          </p:cNvPr>
          <p:cNvSpPr/>
          <p:nvPr/>
        </p:nvSpPr>
        <p:spPr>
          <a:xfrm>
            <a:off x="4480560" y="1810512"/>
            <a:ext cx="3611880" cy="4297680"/>
          </a:xfrm>
          <a:prstGeom prst="roundRect">
            <a:avLst>
              <a:gd name="adj" fmla="val 2025"/>
            </a:avLst>
          </a:prstGeom>
          <a:solidFill>
            <a:srgbClr val="FFFFFF"/>
          </a:solidFill>
          <a:ln w="12700">
            <a:solidFill>
              <a:srgbClr val="D7E1EA"/>
            </a:solidFill>
            <a:prstDash val="solid"/>
          </a:ln>
        </p:spPr>
        <p:txBody>
          <a:bodyPr/>
          <a:lstStyle/>
          <a:p>
            <a:endParaRPr lang="en-US"/>
          </a:p>
        </p:txBody>
      </p:sp>
      <p:sp>
        <p:nvSpPr>
          <p:cNvPr id="98" name="Shape 18">
            <a:extLst>
              <a:ext uri="{FF2B5EF4-FFF2-40B4-BE49-F238E27FC236}">
                <a16:creationId xmlns:a16="http://schemas.microsoft.com/office/drawing/2014/main" id="{5172FE60-40AF-3567-5071-9147E9B95358}"/>
              </a:ext>
            </a:extLst>
          </p:cNvPr>
          <p:cNvSpPr/>
          <p:nvPr/>
        </p:nvSpPr>
        <p:spPr>
          <a:xfrm>
            <a:off x="4553712" y="1883664"/>
            <a:ext cx="3465576" cy="329184"/>
          </a:xfrm>
          <a:prstGeom prst="roundRect">
            <a:avLst>
              <a:gd name="adj" fmla="val 22222"/>
            </a:avLst>
          </a:prstGeom>
          <a:solidFill>
            <a:srgbClr val="17294D"/>
          </a:solidFill>
          <a:ln w="12700">
            <a:solidFill>
              <a:srgbClr val="17294D"/>
            </a:solidFill>
            <a:prstDash val="solid"/>
          </a:ln>
        </p:spPr>
        <p:txBody>
          <a:bodyPr/>
          <a:lstStyle/>
          <a:p>
            <a:endParaRPr lang="en-US"/>
          </a:p>
        </p:txBody>
      </p:sp>
      <p:sp>
        <p:nvSpPr>
          <p:cNvPr id="99" name="Text 19">
            <a:extLst>
              <a:ext uri="{FF2B5EF4-FFF2-40B4-BE49-F238E27FC236}">
                <a16:creationId xmlns:a16="http://schemas.microsoft.com/office/drawing/2014/main" id="{F8C4DC57-81E1-570E-8283-6D1D63E0DA62}"/>
              </a:ext>
            </a:extLst>
          </p:cNvPr>
          <p:cNvSpPr/>
          <p:nvPr/>
        </p:nvSpPr>
        <p:spPr>
          <a:xfrm>
            <a:off x="4617720" y="1975104"/>
            <a:ext cx="3337560" cy="12801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20" b="1">
                <a:solidFill>
                  <a:srgbClr val="FFFFFF"/>
                </a:solidFill>
              </a:rPr>
              <a:t>2. Proxy filters</a:t>
            </a:r>
            <a:endParaRPr lang="en-US" sz="920"/>
          </a:p>
        </p:txBody>
      </p:sp>
      <p:sp>
        <p:nvSpPr>
          <p:cNvPr id="100" name="Text 20">
            <a:extLst>
              <a:ext uri="{FF2B5EF4-FFF2-40B4-BE49-F238E27FC236}">
                <a16:creationId xmlns:a16="http://schemas.microsoft.com/office/drawing/2014/main" id="{30B9E7E1-7110-A8BA-0B95-99ED10C69273}"/>
              </a:ext>
            </a:extLst>
          </p:cNvPr>
          <p:cNvSpPr/>
          <p:nvPr/>
        </p:nvSpPr>
        <p:spPr>
          <a:xfrm>
            <a:off x="4736592" y="2340864"/>
            <a:ext cx="3127248" cy="1874520"/>
          </a:xfrm>
          <a:prstGeom prst="rect">
            <a:avLst/>
          </a:prstGeom>
          <a:noFill/>
          <a:ln/>
        </p:spPr>
        <p:txBody>
          <a:bodyPr wrap="square" lIns="381" tIns="381" rIns="381" bIns="381"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a:solidFill>
                  <a:srgbClr val="172033"/>
                </a:solidFill>
              </a:rPr>
              <a:t>• </a:t>
            </a:r>
            <a:r>
              <a:rPr lang="en-US" sz="1100">
                <a:solidFill>
                  <a:srgbClr val="172033"/>
                </a:solidFill>
              </a:rPr>
              <a:t>Pan-cancer co-dependency: r ≥ 0.20, FDR ≤ 0.05, paired models ≥ 100.
</a:t>
            </a:r>
            <a:r>
              <a:rPr lang="en-US" sz="1100" b="1">
                <a:solidFill>
                  <a:srgbClr val="172033"/>
                </a:solidFill>
              </a:rPr>
              <a:t>• </a:t>
            </a:r>
            <a:r>
              <a:rPr lang="en-US" sz="1100">
                <a:solidFill>
                  <a:srgbClr val="172033"/>
                </a:solidFill>
              </a:rPr>
              <a:t>Melanoma dependency: mean melanoma effect ≤ −0.30.
</a:t>
            </a:r>
            <a:r>
              <a:rPr lang="en-US" sz="1100" b="1">
                <a:solidFill>
                  <a:srgbClr val="172033"/>
                </a:solidFill>
              </a:rPr>
              <a:t>• </a:t>
            </a:r>
            <a:r>
              <a:rPr lang="en-US" sz="1100">
                <a:solidFill>
                  <a:srgbClr val="172033"/>
                </a:solidFill>
              </a:rPr>
              <a:t>Melanoma selectivity: selectivity ≤ −0.10.
</a:t>
            </a:r>
            <a:r>
              <a:rPr lang="en-US" sz="1100" b="1">
                <a:solidFill>
                  <a:srgbClr val="172033"/>
                </a:solidFill>
              </a:rPr>
              <a:t>• </a:t>
            </a:r>
            <a:r>
              <a:rPr lang="en-US" sz="1100">
                <a:solidFill>
                  <a:srgbClr val="172033"/>
                </a:solidFill>
              </a:rPr>
              <a:t>Melanoma expression: mean expression ≥ 1.0 and expression prevalence ≥ 0.50.
</a:t>
            </a:r>
            <a:r>
              <a:rPr lang="en-US" sz="1100" b="1">
                <a:solidFill>
                  <a:srgbClr val="172033"/>
                </a:solidFill>
              </a:rPr>
              <a:t>• </a:t>
            </a:r>
            <a:r>
              <a:rPr lang="en-US" sz="1100">
                <a:solidFill>
                  <a:srgbClr val="172033"/>
                </a:solidFill>
              </a:rPr>
              <a:t>Common-essential genes removed.</a:t>
            </a:r>
            <a:endParaRPr lang="en-US" sz="1100"/>
          </a:p>
        </p:txBody>
      </p:sp>
      <p:sp>
        <p:nvSpPr>
          <p:cNvPr id="101" name="Text 21">
            <a:extLst>
              <a:ext uri="{FF2B5EF4-FFF2-40B4-BE49-F238E27FC236}">
                <a16:creationId xmlns:a16="http://schemas.microsoft.com/office/drawing/2014/main" id="{304D336F-AF3D-BA8C-EA61-3DB0E89904E1}"/>
              </a:ext>
            </a:extLst>
          </p:cNvPr>
          <p:cNvSpPr/>
          <p:nvPr/>
        </p:nvSpPr>
        <p:spPr>
          <a:xfrm>
            <a:off x="4736592" y="4663440"/>
            <a:ext cx="3127248" cy="429768"/>
          </a:xfrm>
          <a:prstGeom prst="rect">
            <a:avLst/>
          </a:prstGeom>
          <a:noFill/>
          <a:ln/>
        </p:spPr>
        <p:txBody>
          <a:bodyPr wrap="square" lIns="508" tIns="508" rIns="508" bIns="508"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a:solidFill>
                  <a:srgbClr val="17294D"/>
                </a:solidFill>
              </a:rPr>
              <a:t>Output: 18 computational proxy candidates retained for biological and pharmacological review.</a:t>
            </a:r>
            <a:endParaRPr lang="en-US" sz="1100"/>
          </a:p>
        </p:txBody>
      </p:sp>
      <p:sp>
        <p:nvSpPr>
          <p:cNvPr id="102" name="Shape 22">
            <a:extLst>
              <a:ext uri="{FF2B5EF4-FFF2-40B4-BE49-F238E27FC236}">
                <a16:creationId xmlns:a16="http://schemas.microsoft.com/office/drawing/2014/main" id="{C1BE5C0B-84F8-E2A2-1896-7739E99B6C35}"/>
              </a:ext>
            </a:extLst>
          </p:cNvPr>
          <p:cNvSpPr/>
          <p:nvPr/>
        </p:nvSpPr>
        <p:spPr>
          <a:xfrm>
            <a:off x="8321040" y="1810512"/>
            <a:ext cx="3383280" cy="4297680"/>
          </a:xfrm>
          <a:prstGeom prst="roundRect">
            <a:avLst>
              <a:gd name="adj" fmla="val 2162"/>
            </a:avLst>
          </a:prstGeom>
          <a:solidFill>
            <a:srgbClr val="FFFFFF"/>
          </a:solidFill>
          <a:ln w="12700">
            <a:solidFill>
              <a:srgbClr val="D7E1EA"/>
            </a:solidFill>
            <a:prstDash val="solid"/>
          </a:ln>
        </p:spPr>
        <p:txBody>
          <a:bodyPr/>
          <a:lstStyle/>
          <a:p>
            <a:endParaRPr lang="en-US"/>
          </a:p>
        </p:txBody>
      </p:sp>
      <p:sp>
        <p:nvSpPr>
          <p:cNvPr id="103" name="Shape 23">
            <a:extLst>
              <a:ext uri="{FF2B5EF4-FFF2-40B4-BE49-F238E27FC236}">
                <a16:creationId xmlns:a16="http://schemas.microsoft.com/office/drawing/2014/main" id="{EC5E01E7-B17C-CC03-951D-EC96F727C369}"/>
              </a:ext>
            </a:extLst>
          </p:cNvPr>
          <p:cNvSpPr/>
          <p:nvPr/>
        </p:nvSpPr>
        <p:spPr>
          <a:xfrm>
            <a:off x="8394192" y="1883664"/>
            <a:ext cx="3236976" cy="329184"/>
          </a:xfrm>
          <a:prstGeom prst="roundRect">
            <a:avLst>
              <a:gd name="adj" fmla="val 22222"/>
            </a:avLst>
          </a:prstGeom>
          <a:solidFill>
            <a:srgbClr val="17294D"/>
          </a:solidFill>
          <a:ln w="12700">
            <a:solidFill>
              <a:srgbClr val="17294D"/>
            </a:solidFill>
            <a:prstDash val="solid"/>
          </a:ln>
        </p:spPr>
        <p:txBody>
          <a:bodyPr/>
          <a:lstStyle/>
          <a:p>
            <a:endParaRPr lang="en-US"/>
          </a:p>
        </p:txBody>
      </p:sp>
      <p:sp>
        <p:nvSpPr>
          <p:cNvPr id="104" name="Text 24">
            <a:extLst>
              <a:ext uri="{FF2B5EF4-FFF2-40B4-BE49-F238E27FC236}">
                <a16:creationId xmlns:a16="http://schemas.microsoft.com/office/drawing/2014/main" id="{EEF2BBF3-3111-88D5-B8D5-F3481B780B32}"/>
              </a:ext>
            </a:extLst>
          </p:cNvPr>
          <p:cNvSpPr/>
          <p:nvPr/>
        </p:nvSpPr>
        <p:spPr>
          <a:xfrm>
            <a:off x="8458200" y="1975104"/>
            <a:ext cx="3108960" cy="12801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20" b="1">
                <a:solidFill>
                  <a:srgbClr val="FFFFFF"/>
                </a:solidFill>
              </a:rPr>
              <a:t>3. Ranking and manual audit</a:t>
            </a:r>
            <a:endParaRPr lang="en-US" sz="920"/>
          </a:p>
        </p:txBody>
      </p:sp>
      <p:sp>
        <p:nvSpPr>
          <p:cNvPr id="105" name="Shape 25">
            <a:extLst>
              <a:ext uri="{FF2B5EF4-FFF2-40B4-BE49-F238E27FC236}">
                <a16:creationId xmlns:a16="http://schemas.microsoft.com/office/drawing/2014/main" id="{1154ACBE-DE4E-3884-7059-046608A0C494}"/>
              </a:ext>
            </a:extLst>
          </p:cNvPr>
          <p:cNvSpPr/>
          <p:nvPr/>
        </p:nvSpPr>
        <p:spPr>
          <a:xfrm>
            <a:off x="8565405" y="2315218"/>
            <a:ext cx="2971800" cy="1154667"/>
          </a:xfrm>
          <a:prstGeom prst="roundRect">
            <a:avLst>
              <a:gd name="adj" fmla="val 7692"/>
            </a:avLst>
          </a:prstGeom>
          <a:solidFill>
            <a:srgbClr val="FFFFFF"/>
          </a:solidFill>
          <a:ln w="10160">
            <a:solidFill>
              <a:srgbClr val="E2E8F0"/>
            </a:solidFill>
            <a:prstDash val="solid"/>
          </a:ln>
        </p:spPr>
        <p:txBody>
          <a:bodyPr/>
          <a:lstStyle/>
          <a:p>
            <a:endParaRPr lang="en-US"/>
          </a:p>
        </p:txBody>
      </p:sp>
      <p:sp>
        <p:nvSpPr>
          <p:cNvPr id="106" name="Text 26">
            <a:extLst>
              <a:ext uri="{FF2B5EF4-FFF2-40B4-BE49-F238E27FC236}">
                <a16:creationId xmlns:a16="http://schemas.microsoft.com/office/drawing/2014/main" id="{2A536083-246F-0E93-2E2B-CD6CCD47F5B4}"/>
              </a:ext>
            </a:extLst>
          </p:cNvPr>
          <p:cNvSpPr/>
          <p:nvPr/>
        </p:nvSpPr>
        <p:spPr>
          <a:xfrm>
            <a:off x="8702566" y="2311856"/>
            <a:ext cx="2697480" cy="1152459"/>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i="1" err="1">
                <a:solidFill>
                  <a:srgbClr val="172033"/>
                </a:solidFill>
              </a:rPr>
              <a:t>S_proxy</a:t>
            </a:r>
            <a:r>
              <a:rPr lang="en-US" sz="1400" b="1" i="1">
                <a:solidFill>
                  <a:srgbClr val="172033"/>
                </a:solidFill>
              </a:rPr>
              <a:t> = 0.35R_coDep + 0.15R_melSpearman</a:t>
            </a:r>
            <a:endParaRPr lang="en-US" sz="1400" b="1"/>
          </a:p>
          <a:p>
            <a:pPr marL="0" indent="0" algn="ctr">
              <a:buNone/>
            </a:pPr>
            <a:r>
              <a:rPr lang="en-US" sz="1400" b="1" i="1">
                <a:solidFill>
                  <a:srgbClr val="172033"/>
                </a:solidFill>
              </a:rPr>
              <a:t>    + 0.20R_effect + 0.20R_selectivity + 0.10R_prevalence</a:t>
            </a:r>
            <a:endParaRPr lang="en-US" sz="1400" b="1"/>
          </a:p>
        </p:txBody>
      </p:sp>
      <p:sp>
        <p:nvSpPr>
          <p:cNvPr id="107" name="Text 27">
            <a:extLst>
              <a:ext uri="{FF2B5EF4-FFF2-40B4-BE49-F238E27FC236}">
                <a16:creationId xmlns:a16="http://schemas.microsoft.com/office/drawing/2014/main" id="{DBC5C695-CF8F-5303-5AF6-59F99F872EF0}"/>
              </a:ext>
            </a:extLst>
          </p:cNvPr>
          <p:cNvSpPr/>
          <p:nvPr/>
        </p:nvSpPr>
        <p:spPr>
          <a:xfrm>
            <a:off x="8575916" y="3610934"/>
            <a:ext cx="2971800" cy="1664208"/>
          </a:xfrm>
          <a:prstGeom prst="rect">
            <a:avLst/>
          </a:prstGeom>
          <a:noFill/>
          <a:ln/>
        </p:spPr>
        <p:txBody>
          <a:bodyPr wrap="square" lIns="381" tIns="381" rIns="381" bIns="381" rtlCol="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a:solidFill>
                  <a:srgbClr val="172033"/>
                </a:solidFill>
              </a:rPr>
              <a:t>• </a:t>
            </a:r>
            <a:r>
              <a:rPr lang="en-US" sz="1100">
                <a:solidFill>
                  <a:srgbClr val="172033"/>
                </a:solidFill>
              </a:rPr>
              <a:t>Lower proxy score indicates stronger combined computational evidence.
</a:t>
            </a:r>
            <a:r>
              <a:rPr lang="en-US" sz="1100" b="1">
                <a:solidFill>
                  <a:srgbClr val="172033"/>
                </a:solidFill>
              </a:rPr>
              <a:t>• </a:t>
            </a:r>
            <a:r>
              <a:rPr lang="en-US" sz="1100">
                <a:solidFill>
                  <a:srgbClr val="172033"/>
                </a:solidFill>
              </a:rPr>
              <a:t>BRAF and MAPK1 recovery was treated as a positive-control sanity check, not proof of novelty.
</a:t>
            </a:r>
            <a:r>
              <a:rPr lang="en-US" sz="1100" b="1">
                <a:solidFill>
                  <a:srgbClr val="172033"/>
                </a:solidFill>
              </a:rPr>
              <a:t>• </a:t>
            </a:r>
            <a:r>
              <a:rPr lang="en-US" sz="1100">
                <a:solidFill>
                  <a:srgbClr val="172033"/>
                </a:solidFill>
              </a:rPr>
              <a:t>The 18 genes were reviewed for target class, compound availability, development stage, directionality, prior melanoma evidence, novelty, and safety concerns.
</a:t>
            </a:r>
            <a:r>
              <a:rPr lang="en-US" sz="1100" b="1">
                <a:solidFill>
                  <a:srgbClr val="172033"/>
                </a:solidFill>
              </a:rPr>
              <a:t>• </a:t>
            </a:r>
            <a:r>
              <a:rPr lang="en-US" sz="1100">
                <a:solidFill>
                  <a:srgbClr val="172033"/>
                </a:solidFill>
              </a:rPr>
              <a:t>Final tractable hypotheses: AMD1, PGM3, LCMT1.</a:t>
            </a:r>
            <a:endParaRPr lang="en-US" sz="1100"/>
          </a:p>
        </p:txBody>
      </p:sp>
      <p:sp>
        <p:nvSpPr>
          <p:cNvPr id="108" name="Text 28">
            <a:extLst>
              <a:ext uri="{FF2B5EF4-FFF2-40B4-BE49-F238E27FC236}">
                <a16:creationId xmlns:a16="http://schemas.microsoft.com/office/drawing/2014/main" id="{C3D743B6-C96C-6CD6-42E6-FD542669C436}"/>
              </a:ext>
            </a:extLst>
          </p:cNvPr>
          <p:cNvSpPr/>
          <p:nvPr/>
        </p:nvSpPr>
        <p:spPr>
          <a:xfrm>
            <a:off x="8575916" y="5386553"/>
            <a:ext cx="2992820" cy="590155"/>
          </a:xfrm>
          <a:prstGeom prst="rect">
            <a:avLst/>
          </a:prstGeom>
          <a:noFill/>
          <a:ln/>
        </p:spPr>
        <p:txBody>
          <a:bodyPr wrap="square" lIns="508" tIns="508" rIns="508" bIns="508"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a:solidFill>
                  <a:srgbClr val="17294D"/>
                </a:solidFill>
              </a:rPr>
              <a:t>Limitation: co-dependency suggests shared vulnerability/state; it does not prove direct regulation or </a:t>
            </a:r>
            <a:r>
              <a:rPr lang="en-US" sz="1100" err="1">
                <a:solidFill>
                  <a:srgbClr val="17294D"/>
                </a:solidFill>
              </a:rPr>
              <a:t>druggability</a:t>
            </a:r>
            <a:r>
              <a:rPr lang="en-US" sz="1100">
                <a:solidFill>
                  <a:srgbClr val="17294D"/>
                </a:solidFill>
              </a:rPr>
              <a:t>.</a:t>
            </a:r>
            <a:endParaRPr lang="en-US" sz="1100"/>
          </a:p>
        </p:txBody>
      </p:sp>
      <p:sp>
        <p:nvSpPr>
          <p:cNvPr id="109" name="Shape 29">
            <a:extLst>
              <a:ext uri="{FF2B5EF4-FFF2-40B4-BE49-F238E27FC236}">
                <a16:creationId xmlns:a16="http://schemas.microsoft.com/office/drawing/2014/main" id="{6C72E6E3-EB0A-DE8F-08E2-50FEB7A18B42}"/>
              </a:ext>
            </a:extLst>
          </p:cNvPr>
          <p:cNvSpPr/>
          <p:nvPr/>
        </p:nvSpPr>
        <p:spPr>
          <a:xfrm>
            <a:off x="0" y="6446520"/>
            <a:ext cx="12191695" cy="411480"/>
          </a:xfrm>
          <a:prstGeom prst="rect">
            <a:avLst/>
          </a:prstGeom>
          <a:solidFill>
            <a:srgbClr val="17294D"/>
          </a:solidFill>
          <a:ln w="12700">
            <a:solidFill>
              <a:srgbClr val="17294D"/>
            </a:solidFill>
            <a:prstDash val="solid"/>
          </a:ln>
        </p:spPr>
        <p:txBody>
          <a:bodyPr/>
          <a:lstStyle/>
          <a:p>
            <a:endParaRPr lang="en-US"/>
          </a:p>
        </p:txBody>
      </p:sp>
      <p:sp>
        <p:nvSpPr>
          <p:cNvPr id="110" name="Text 30">
            <a:extLst>
              <a:ext uri="{FF2B5EF4-FFF2-40B4-BE49-F238E27FC236}">
                <a16:creationId xmlns:a16="http://schemas.microsoft.com/office/drawing/2014/main" id="{A20CBE31-C46B-C78E-CC35-1BAD83CDE4B1}"/>
              </a:ext>
            </a:extLst>
          </p:cNvPr>
          <p:cNvSpPr/>
          <p:nvPr/>
        </p:nvSpPr>
        <p:spPr>
          <a:xfrm>
            <a:off x="713232" y="6556248"/>
            <a:ext cx="10881360" cy="182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80" b="1">
                <a:solidFill>
                  <a:srgbClr val="FFFFFF"/>
                </a:solidFill>
              </a:rPr>
              <a:t>Takeaway: </a:t>
            </a:r>
            <a:r>
              <a:rPr lang="en-US" sz="1080">
                <a:solidFill>
                  <a:srgbClr val="FFFFFF"/>
                </a:solidFill>
              </a:rPr>
              <a:t>The proxy workflow moved from a strong but difficult-to-drug SOX10 dependency to tractable hypotheses associated with that dependency state.</a:t>
            </a:r>
            <a:endParaRPr lang="en-US" sz="1080"/>
          </a:p>
        </p:txBody>
      </p:sp>
      <p:sp>
        <p:nvSpPr>
          <p:cNvPr id="111" name="Shape 31">
            <a:extLst>
              <a:ext uri="{FF2B5EF4-FFF2-40B4-BE49-F238E27FC236}">
                <a16:creationId xmlns:a16="http://schemas.microsoft.com/office/drawing/2014/main" id="{6E46897F-9F41-D359-816F-4F8C3F257E06}"/>
              </a:ext>
            </a:extLst>
          </p:cNvPr>
          <p:cNvSpPr/>
          <p:nvPr/>
        </p:nvSpPr>
        <p:spPr>
          <a:xfrm>
            <a:off x="320040" y="6519672"/>
            <a:ext cx="228600" cy="228600"/>
          </a:xfrm>
          <a:prstGeom prst="ellipse">
            <a:avLst/>
          </a:prstGeom>
          <a:solidFill>
            <a:srgbClr val="0E7485"/>
          </a:solidFill>
          <a:ln w="12700">
            <a:solidFill>
              <a:srgbClr val="0E7485"/>
            </a:solidFill>
            <a:prstDash val="solid"/>
          </a:ln>
        </p:spPr>
        <p:txBody>
          <a:bodyPr/>
          <a:lstStyle/>
          <a:p>
            <a:endParaRPr lang="en-US"/>
          </a:p>
        </p:txBody>
      </p:sp>
      <p:grpSp>
        <p:nvGrpSpPr>
          <p:cNvPr id="4" name="Group 3">
            <a:extLst>
              <a:ext uri="{FF2B5EF4-FFF2-40B4-BE49-F238E27FC236}">
                <a16:creationId xmlns:a16="http://schemas.microsoft.com/office/drawing/2014/main" id="{9A29EAEE-9E73-5401-7A68-A2664E0BF495}"/>
              </a:ext>
            </a:extLst>
          </p:cNvPr>
          <p:cNvGrpSpPr/>
          <p:nvPr/>
        </p:nvGrpSpPr>
        <p:grpSpPr>
          <a:xfrm>
            <a:off x="859536" y="2384862"/>
            <a:ext cx="2703474" cy="412967"/>
            <a:chOff x="859536" y="2384862"/>
            <a:chExt cx="2703474" cy="412967"/>
          </a:xfrm>
        </p:grpSpPr>
        <p:pic>
          <p:nvPicPr>
            <p:cNvPr id="93" name="Image 0">
              <a:extLst>
                <a:ext uri="{FF2B5EF4-FFF2-40B4-BE49-F238E27FC236}">
                  <a16:creationId xmlns:a16="http://schemas.microsoft.com/office/drawing/2014/main" id="{4805F592-B33B-DC7A-3D34-C65042737BBB}"/>
                </a:ext>
              </a:extLst>
            </p:cNvPr>
            <p:cNvPicPr>
              <a:picLocks noChangeAspect="1"/>
            </p:cNvPicPr>
            <p:nvPr/>
          </p:nvPicPr>
          <p:blipFill>
            <a:blip r:embed="rId4"/>
            <a:srcRect r="30382" b="-5248"/>
            <a:stretch>
              <a:fillRect/>
            </a:stretch>
          </p:blipFill>
          <p:spPr>
            <a:xfrm>
              <a:off x="859536" y="2442671"/>
              <a:ext cx="2107107" cy="334260"/>
            </a:xfrm>
            <a:prstGeom prst="rect">
              <a:avLst/>
            </a:prstGeom>
          </p:spPr>
        </p:pic>
        <p:pic>
          <p:nvPicPr>
            <p:cNvPr id="2" name="Image 0" descr="A black background with white text&#10;&#10;AI-generated content may be incorrect.">
              <a:extLst>
                <a:ext uri="{FF2B5EF4-FFF2-40B4-BE49-F238E27FC236}">
                  <a16:creationId xmlns:a16="http://schemas.microsoft.com/office/drawing/2014/main" id="{477BA90B-0358-3BBA-7561-E36842A66825}"/>
                </a:ext>
              </a:extLst>
            </p:cNvPr>
            <p:cNvPicPr>
              <a:picLocks noChangeAspect="1"/>
            </p:cNvPicPr>
            <p:nvPr/>
          </p:nvPicPr>
          <p:blipFill>
            <a:blip r:embed="rId4"/>
            <a:srcRect l="76814" r="10847" b="-11829"/>
            <a:stretch>
              <a:fillRect/>
            </a:stretch>
          </p:blipFill>
          <p:spPr>
            <a:xfrm>
              <a:off x="2858849" y="2442670"/>
              <a:ext cx="373464" cy="355159"/>
            </a:xfrm>
            <a:prstGeom prst="rect">
              <a:avLst/>
            </a:prstGeom>
          </p:spPr>
        </p:pic>
        <p:pic>
          <p:nvPicPr>
            <p:cNvPr id="3" name="Image 0" descr="A black background with white text&#10;&#10;AI-generated content may be incorrect.">
              <a:extLst>
                <a:ext uri="{FF2B5EF4-FFF2-40B4-BE49-F238E27FC236}">
                  <a16:creationId xmlns:a16="http://schemas.microsoft.com/office/drawing/2014/main" id="{740F2869-0688-1C9D-D093-277B6F603DD0}"/>
                </a:ext>
              </a:extLst>
            </p:cNvPr>
            <p:cNvPicPr>
              <a:picLocks noChangeAspect="1"/>
            </p:cNvPicPr>
            <p:nvPr/>
          </p:nvPicPr>
          <p:blipFill>
            <a:blip r:embed="rId4"/>
            <a:srcRect l="94618" t="-18033" r="-6944" b="8197"/>
            <a:stretch>
              <a:fillRect/>
            </a:stretch>
          </p:blipFill>
          <p:spPr>
            <a:xfrm>
              <a:off x="3189924" y="2384862"/>
              <a:ext cx="373086" cy="348829"/>
            </a:xfrm>
            <a:prstGeom prst="rect">
              <a:avLst/>
            </a:prstGeom>
          </p:spPr>
        </p:pic>
      </p:grpSp>
      <p:sp>
        <p:nvSpPr>
          <p:cNvPr id="6" name="TextBox 5">
            <a:extLst>
              <a:ext uri="{FF2B5EF4-FFF2-40B4-BE49-F238E27FC236}">
                <a16:creationId xmlns:a16="http://schemas.microsoft.com/office/drawing/2014/main" id="{78A2690B-963F-0458-EF14-932911564138}"/>
              </a:ext>
            </a:extLst>
          </p:cNvPr>
          <p:cNvSpPr txBox="1"/>
          <p:nvPr/>
        </p:nvSpPr>
        <p:spPr>
          <a:xfrm>
            <a:off x="3054902" y="2907835"/>
            <a:ext cx="1014249"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ea typeface="+mn-lt"/>
                <a:cs typeface="+mn-lt"/>
              </a:rPr>
              <a:t>correlation significance equation</a:t>
            </a:r>
            <a:endParaRPr lang="en-US" sz="1000"/>
          </a:p>
        </p:txBody>
      </p:sp>
      <p:sp>
        <p:nvSpPr>
          <p:cNvPr id="8" name="Arrow: Right 7">
            <a:extLst>
              <a:ext uri="{FF2B5EF4-FFF2-40B4-BE49-F238E27FC236}">
                <a16:creationId xmlns:a16="http://schemas.microsoft.com/office/drawing/2014/main" id="{C3A9AF85-D0CD-AA80-2739-FE724895738A}"/>
              </a:ext>
            </a:extLst>
          </p:cNvPr>
          <p:cNvSpPr/>
          <p:nvPr/>
        </p:nvSpPr>
        <p:spPr>
          <a:xfrm>
            <a:off x="3098800" y="1361440"/>
            <a:ext cx="294639" cy="162559"/>
          </a:xfrm>
          <a:prstGeom prst="rightArrow">
            <a:avLst/>
          </a:prstGeom>
          <a:solidFill>
            <a:schemeClr val="accent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1E453A0B-3DDF-CC06-58BD-2A675FD637A1}"/>
              </a:ext>
            </a:extLst>
          </p:cNvPr>
          <p:cNvSpPr/>
          <p:nvPr/>
        </p:nvSpPr>
        <p:spPr>
          <a:xfrm>
            <a:off x="5947103" y="1361440"/>
            <a:ext cx="294639" cy="162559"/>
          </a:xfrm>
          <a:prstGeom prst="rightArrow">
            <a:avLst/>
          </a:prstGeom>
          <a:solidFill>
            <a:schemeClr val="accent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A59F4F3B-48DC-8B3C-9FD1-8492218F0CB5}"/>
              </a:ext>
            </a:extLst>
          </p:cNvPr>
          <p:cNvSpPr/>
          <p:nvPr/>
        </p:nvSpPr>
        <p:spPr>
          <a:xfrm>
            <a:off x="8800662" y="1361440"/>
            <a:ext cx="294639" cy="162559"/>
          </a:xfrm>
          <a:prstGeom prst="rightArrow">
            <a:avLst/>
          </a:prstGeom>
          <a:solidFill>
            <a:schemeClr val="accent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403010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4612457-2880-BEC3-3F83-9A914956E759}"/>
              </a:ext>
            </a:extLst>
          </p:cNvPr>
          <p:cNvSpPr>
            <a:spLocks noGrp="1"/>
          </p:cNvSpPr>
          <p:nvPr>
            <p:ph type="ftr" sz="quarter" idx="11"/>
          </p:nvPr>
        </p:nvSpPr>
        <p:spPr/>
        <p:txBody>
          <a:bodyPr/>
          <a:lstStyle/>
          <a:p>
            <a:r>
              <a:rPr lang="en-US"/>
              <a:t>
</a:t>
            </a:r>
          </a:p>
        </p:txBody>
      </p:sp>
      <p:sp>
        <p:nvSpPr>
          <p:cNvPr id="3" name="Date Placeholder 2">
            <a:extLst>
              <a:ext uri="{FF2B5EF4-FFF2-40B4-BE49-F238E27FC236}">
                <a16:creationId xmlns:a16="http://schemas.microsoft.com/office/drawing/2014/main" id="{8F525F8B-EF08-E49B-DC1D-B6C1042BA1E9}"/>
              </a:ext>
            </a:extLst>
          </p:cNvPr>
          <p:cNvSpPr>
            <a:spLocks noGrp="1"/>
          </p:cNvSpPr>
          <p:nvPr>
            <p:ph type="dt" sz="half" idx="10"/>
          </p:nvPr>
        </p:nvSpPr>
        <p:spPr/>
        <p:txBody>
          <a:bodyPr/>
          <a:lstStyle/>
          <a:p>
            <a:fld id="{8D0AFB9A-218D-47B3-804F-AED8F3B5451D}" type="datetime1">
              <a:t>8/9/2026</a:t>
            </a:fld>
            <a:endParaRPr lang="en-US"/>
          </a:p>
        </p:txBody>
      </p:sp>
      <p:sp>
        <p:nvSpPr>
          <p:cNvPr id="4" name="Slide Number Placeholder 3">
            <a:extLst>
              <a:ext uri="{FF2B5EF4-FFF2-40B4-BE49-F238E27FC236}">
                <a16:creationId xmlns:a16="http://schemas.microsoft.com/office/drawing/2014/main" id="{1F0F0932-A2DD-1489-D796-6FEA2DC695C4}"/>
              </a:ext>
            </a:extLst>
          </p:cNvPr>
          <p:cNvSpPr>
            <a:spLocks noGrp="1"/>
          </p:cNvSpPr>
          <p:nvPr>
            <p:ph type="sldNum" sz="quarter" idx="12"/>
          </p:nvPr>
        </p:nvSpPr>
        <p:spPr/>
        <p:txBody>
          <a:bodyPr/>
          <a:lstStyle/>
          <a:p>
            <a:fld id="{753D0FD4-819D-4187-8797-C35567B41C78}" type="slidenum">
              <a:rPr lang="en-US" dirty="0"/>
              <a:t>32</a:t>
            </a:fld>
            <a:endParaRPr lang="en-US"/>
          </a:p>
        </p:txBody>
      </p:sp>
      <p:sp>
        <p:nvSpPr>
          <p:cNvPr id="5" name="Text 0">
            <a:extLst>
              <a:ext uri="{FF2B5EF4-FFF2-40B4-BE49-F238E27FC236}">
                <a16:creationId xmlns:a16="http://schemas.microsoft.com/office/drawing/2014/main" id="{C3F03E86-9B2B-82F8-6EAA-92CAA2BBC933}"/>
              </a:ext>
            </a:extLst>
          </p:cNvPr>
          <p:cNvSpPr/>
          <p:nvPr/>
        </p:nvSpPr>
        <p:spPr>
          <a:xfrm>
            <a:off x="320040" y="91440"/>
            <a:ext cx="11521440" cy="5486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700" b="1">
                <a:solidFill>
                  <a:srgbClr val="1B2A4A"/>
                </a:solidFill>
                <a:latin typeface="Calibri"/>
                <a:ea typeface="Calibri"/>
                <a:cs typeface="Calibri"/>
              </a:rPr>
              <a:t>3.3b  From SOX10 dependency to tractable proxy targets</a:t>
            </a:r>
            <a:endParaRPr lang="en-US" sz="2700">
              <a:latin typeface="Calibri"/>
              <a:ea typeface="Calibri"/>
              <a:cs typeface="Calibri"/>
            </a:endParaRPr>
          </a:p>
        </p:txBody>
      </p:sp>
      <p:sp>
        <p:nvSpPr>
          <p:cNvPr id="6" name="Shape 1">
            <a:extLst>
              <a:ext uri="{FF2B5EF4-FFF2-40B4-BE49-F238E27FC236}">
                <a16:creationId xmlns:a16="http://schemas.microsoft.com/office/drawing/2014/main" id="{ACA04742-3B34-FEEA-FA62-133EF11A9BD5}"/>
              </a:ext>
            </a:extLst>
          </p:cNvPr>
          <p:cNvSpPr/>
          <p:nvPr/>
        </p:nvSpPr>
        <p:spPr>
          <a:xfrm>
            <a:off x="320040" y="667512"/>
            <a:ext cx="1371600" cy="41148"/>
          </a:xfrm>
          <a:prstGeom prst="rect">
            <a:avLst/>
          </a:prstGeom>
          <a:solidFill>
            <a:srgbClr val="E07B39"/>
          </a:solidFill>
          <a:ln w="12700">
            <a:solidFill>
              <a:srgbClr val="E07B39"/>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 name="Text 2">
            <a:extLst>
              <a:ext uri="{FF2B5EF4-FFF2-40B4-BE49-F238E27FC236}">
                <a16:creationId xmlns:a16="http://schemas.microsoft.com/office/drawing/2014/main" id="{649D18A7-1BE5-20D3-5671-89BB854B2ACB}"/>
              </a:ext>
            </a:extLst>
          </p:cNvPr>
          <p:cNvSpPr/>
          <p:nvPr/>
        </p:nvSpPr>
        <p:spPr>
          <a:xfrm>
            <a:off x="320040" y="722376"/>
            <a:ext cx="11430000"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i="1">
                <a:solidFill>
                  <a:srgbClr val="8A9BB0"/>
                </a:solidFill>
                <a:latin typeface="Calibri" pitchFamily="34" charset="0"/>
                <a:ea typeface="Calibri" pitchFamily="34" charset="-122"/>
                <a:cs typeface="Calibri" pitchFamily="34" charset="-120"/>
              </a:rPr>
              <a:t>Co-dependency analysis and translational filtering nominate druggable entry points into the SOX10-dependent melanoma state.</a:t>
            </a:r>
            <a:endParaRPr lang="en-US" sz="1100"/>
          </a:p>
        </p:txBody>
      </p:sp>
      <p:sp>
        <p:nvSpPr>
          <p:cNvPr id="8" name="Shape 3">
            <a:extLst>
              <a:ext uri="{FF2B5EF4-FFF2-40B4-BE49-F238E27FC236}">
                <a16:creationId xmlns:a16="http://schemas.microsoft.com/office/drawing/2014/main" id="{50DB816E-B668-2D01-AB95-492DBFF1E02E}"/>
              </a:ext>
            </a:extLst>
          </p:cNvPr>
          <p:cNvSpPr/>
          <p:nvPr/>
        </p:nvSpPr>
        <p:spPr>
          <a:xfrm>
            <a:off x="320040" y="1005840"/>
            <a:ext cx="1874520" cy="594360"/>
          </a:xfrm>
          <a:prstGeom prst="roundRect">
            <a:avLst>
              <a:gd name="adj" fmla="val 13846"/>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 name="Shape 4">
            <a:extLst>
              <a:ext uri="{FF2B5EF4-FFF2-40B4-BE49-F238E27FC236}">
                <a16:creationId xmlns:a16="http://schemas.microsoft.com/office/drawing/2014/main" id="{3DFB2CED-7173-388E-A9F3-5C83B83C722F}"/>
              </a:ext>
            </a:extLst>
          </p:cNvPr>
          <p:cNvSpPr/>
          <p:nvPr/>
        </p:nvSpPr>
        <p:spPr>
          <a:xfrm>
            <a:off x="338328" y="1120140"/>
            <a:ext cx="365760" cy="365760"/>
          </a:xfrm>
          <a:prstGeom prst="ellipse">
            <a:avLst/>
          </a:prstGeom>
          <a:solidFill>
            <a:srgbClr val="1B2A4A"/>
          </a:solidFill>
          <a:ln w="12700">
            <a:solidFill>
              <a:srgbClr val="1B2A4A"/>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 name="Text 5">
            <a:extLst>
              <a:ext uri="{FF2B5EF4-FFF2-40B4-BE49-F238E27FC236}">
                <a16:creationId xmlns:a16="http://schemas.microsoft.com/office/drawing/2014/main" id="{F3E394EA-769F-15BC-03A1-BD77AC8306F3}"/>
              </a:ext>
            </a:extLst>
          </p:cNvPr>
          <p:cNvSpPr/>
          <p:nvPr/>
        </p:nvSpPr>
        <p:spPr>
          <a:xfrm>
            <a:off x="338328" y="1120140"/>
            <a:ext cx="365760"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11" name="Text 6">
            <a:extLst>
              <a:ext uri="{FF2B5EF4-FFF2-40B4-BE49-F238E27FC236}">
                <a16:creationId xmlns:a16="http://schemas.microsoft.com/office/drawing/2014/main" id="{69ED01C0-3673-4648-F5B4-DA5B1748C0FE}"/>
              </a:ext>
            </a:extLst>
          </p:cNvPr>
          <p:cNvSpPr/>
          <p:nvPr/>
        </p:nvSpPr>
        <p:spPr>
          <a:xfrm>
            <a:off x="795528" y="1060704"/>
            <a:ext cx="1325880"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Proxy candidates retained after filtering</a:t>
            </a:r>
            <a:endParaRPr lang="en-US" sz="800"/>
          </a:p>
        </p:txBody>
      </p:sp>
      <p:sp>
        <p:nvSpPr>
          <p:cNvPr id="12" name="Text 7">
            <a:extLst>
              <a:ext uri="{FF2B5EF4-FFF2-40B4-BE49-F238E27FC236}">
                <a16:creationId xmlns:a16="http://schemas.microsoft.com/office/drawing/2014/main" id="{8AC87A30-445B-9D41-ACB1-B9A6630CFFCB}"/>
              </a:ext>
            </a:extLst>
          </p:cNvPr>
          <p:cNvSpPr/>
          <p:nvPr/>
        </p:nvSpPr>
        <p:spPr>
          <a:xfrm>
            <a:off x="795528" y="1261872"/>
            <a:ext cx="1325880" cy="28346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a:solidFill>
                  <a:srgbClr val="1B2A4A"/>
                </a:solidFill>
              </a:rPr>
              <a:t>18</a:t>
            </a:r>
            <a:endParaRPr lang="en-US" sz="1300"/>
          </a:p>
        </p:txBody>
      </p:sp>
      <p:sp>
        <p:nvSpPr>
          <p:cNvPr id="13" name="Shape 8">
            <a:extLst>
              <a:ext uri="{FF2B5EF4-FFF2-40B4-BE49-F238E27FC236}">
                <a16:creationId xmlns:a16="http://schemas.microsoft.com/office/drawing/2014/main" id="{99663C64-2C10-E743-E186-6A9F8F73BDE9}"/>
              </a:ext>
            </a:extLst>
          </p:cNvPr>
          <p:cNvSpPr/>
          <p:nvPr/>
        </p:nvSpPr>
        <p:spPr>
          <a:xfrm>
            <a:off x="2267712" y="1005840"/>
            <a:ext cx="1874520" cy="594360"/>
          </a:xfrm>
          <a:prstGeom prst="roundRect">
            <a:avLst>
              <a:gd name="adj" fmla="val 13846"/>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 name="Shape 9">
            <a:extLst>
              <a:ext uri="{FF2B5EF4-FFF2-40B4-BE49-F238E27FC236}">
                <a16:creationId xmlns:a16="http://schemas.microsoft.com/office/drawing/2014/main" id="{D02497D1-BE2F-BDD1-FF1E-1AE502162F9C}"/>
              </a:ext>
            </a:extLst>
          </p:cNvPr>
          <p:cNvSpPr/>
          <p:nvPr/>
        </p:nvSpPr>
        <p:spPr>
          <a:xfrm>
            <a:off x="2286000" y="1120140"/>
            <a:ext cx="365760" cy="365760"/>
          </a:xfrm>
          <a:prstGeom prst="ellipse">
            <a:avLst/>
          </a:prstGeom>
          <a:solidFill>
            <a:srgbClr val="2A6B3C"/>
          </a:solidFill>
          <a:ln w="12700">
            <a:solidFill>
              <a:srgbClr val="2A6B3C"/>
            </a:solidFill>
            <a:prstDash val="solid"/>
          </a:ln>
        </p:spPr>
        <p:txBody>
          <a:bodyPr lIns="91440" tIns="45720" rIns="91440" bIns="4572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000"/>
          </a:p>
        </p:txBody>
      </p:sp>
      <p:sp>
        <p:nvSpPr>
          <p:cNvPr id="15" name="Text 10">
            <a:extLst>
              <a:ext uri="{FF2B5EF4-FFF2-40B4-BE49-F238E27FC236}">
                <a16:creationId xmlns:a16="http://schemas.microsoft.com/office/drawing/2014/main" id="{B58FA815-907B-F8E8-E66E-D0F6FBEA6B8D}"/>
              </a:ext>
            </a:extLst>
          </p:cNvPr>
          <p:cNvSpPr/>
          <p:nvPr/>
        </p:nvSpPr>
        <p:spPr>
          <a:xfrm>
            <a:off x="2286000" y="1120140"/>
            <a:ext cx="365760"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16" name="Text 11">
            <a:extLst>
              <a:ext uri="{FF2B5EF4-FFF2-40B4-BE49-F238E27FC236}">
                <a16:creationId xmlns:a16="http://schemas.microsoft.com/office/drawing/2014/main" id="{28092CA9-9A24-8ED5-FD01-4701E6E54981}"/>
              </a:ext>
            </a:extLst>
          </p:cNvPr>
          <p:cNvSpPr/>
          <p:nvPr/>
        </p:nvSpPr>
        <p:spPr>
          <a:xfrm>
            <a:off x="2743200" y="1060704"/>
            <a:ext cx="1325880"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Known biology recovered</a:t>
            </a:r>
            <a:endParaRPr lang="en-US" sz="800"/>
          </a:p>
        </p:txBody>
      </p:sp>
      <p:sp>
        <p:nvSpPr>
          <p:cNvPr id="17" name="Text 12">
            <a:extLst>
              <a:ext uri="{FF2B5EF4-FFF2-40B4-BE49-F238E27FC236}">
                <a16:creationId xmlns:a16="http://schemas.microsoft.com/office/drawing/2014/main" id="{7063B1E8-C987-A3EA-A3C2-547F56D6C688}"/>
              </a:ext>
            </a:extLst>
          </p:cNvPr>
          <p:cNvSpPr/>
          <p:nvPr/>
        </p:nvSpPr>
        <p:spPr>
          <a:xfrm>
            <a:off x="2743200" y="1261872"/>
            <a:ext cx="1325880" cy="28346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a:solidFill>
                  <a:srgbClr val="2A6B3C"/>
                </a:solidFill>
              </a:rPr>
              <a:t>BRAF, MAPK1, CCND1</a:t>
            </a:r>
            <a:endParaRPr lang="en-US" sz="1100"/>
          </a:p>
        </p:txBody>
      </p:sp>
      <p:sp>
        <p:nvSpPr>
          <p:cNvPr id="18" name="Shape 13">
            <a:extLst>
              <a:ext uri="{FF2B5EF4-FFF2-40B4-BE49-F238E27FC236}">
                <a16:creationId xmlns:a16="http://schemas.microsoft.com/office/drawing/2014/main" id="{0F1476DC-5BF6-F45D-38C9-66392C5EF5D5}"/>
              </a:ext>
            </a:extLst>
          </p:cNvPr>
          <p:cNvSpPr/>
          <p:nvPr/>
        </p:nvSpPr>
        <p:spPr>
          <a:xfrm>
            <a:off x="4215384" y="1005840"/>
            <a:ext cx="1874520" cy="594360"/>
          </a:xfrm>
          <a:prstGeom prst="roundRect">
            <a:avLst>
              <a:gd name="adj" fmla="val 13846"/>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Shape 14">
            <a:extLst>
              <a:ext uri="{FF2B5EF4-FFF2-40B4-BE49-F238E27FC236}">
                <a16:creationId xmlns:a16="http://schemas.microsoft.com/office/drawing/2014/main" id="{1AC3C5E1-ED45-FEF5-4054-CF8A24A0D794}"/>
              </a:ext>
            </a:extLst>
          </p:cNvPr>
          <p:cNvSpPr/>
          <p:nvPr/>
        </p:nvSpPr>
        <p:spPr>
          <a:xfrm>
            <a:off x="4233672" y="1120140"/>
            <a:ext cx="365760" cy="365760"/>
          </a:xfrm>
          <a:prstGeom prst="ellipse">
            <a:avLst/>
          </a:prstGeom>
          <a:solidFill>
            <a:srgbClr val="E07B39"/>
          </a:solidFill>
          <a:ln w="12700">
            <a:solidFill>
              <a:srgbClr val="E07B39"/>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Text 15">
            <a:extLst>
              <a:ext uri="{FF2B5EF4-FFF2-40B4-BE49-F238E27FC236}">
                <a16:creationId xmlns:a16="http://schemas.microsoft.com/office/drawing/2014/main" id="{67B14B42-0D97-F681-688A-3B20569549B8}"/>
              </a:ext>
            </a:extLst>
          </p:cNvPr>
          <p:cNvSpPr/>
          <p:nvPr/>
        </p:nvSpPr>
        <p:spPr>
          <a:xfrm>
            <a:off x="4233672" y="1120140"/>
            <a:ext cx="365760"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21" name="Text 16">
            <a:extLst>
              <a:ext uri="{FF2B5EF4-FFF2-40B4-BE49-F238E27FC236}">
                <a16:creationId xmlns:a16="http://schemas.microsoft.com/office/drawing/2014/main" id="{BFB6F762-C458-2315-94E6-ECC9918B1168}"/>
              </a:ext>
            </a:extLst>
          </p:cNvPr>
          <p:cNvSpPr/>
          <p:nvPr/>
        </p:nvSpPr>
        <p:spPr>
          <a:xfrm>
            <a:off x="4690872" y="1060704"/>
            <a:ext cx="1325880"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Prioritised tractable proxies</a:t>
            </a:r>
            <a:endParaRPr lang="en-US" sz="800"/>
          </a:p>
        </p:txBody>
      </p:sp>
      <p:sp>
        <p:nvSpPr>
          <p:cNvPr id="22" name="Text 17">
            <a:extLst>
              <a:ext uri="{FF2B5EF4-FFF2-40B4-BE49-F238E27FC236}">
                <a16:creationId xmlns:a16="http://schemas.microsoft.com/office/drawing/2014/main" id="{BF2A3CB8-86DF-1D2B-1846-88B1073DF724}"/>
              </a:ext>
            </a:extLst>
          </p:cNvPr>
          <p:cNvSpPr/>
          <p:nvPr/>
        </p:nvSpPr>
        <p:spPr>
          <a:xfrm>
            <a:off x="4690872" y="1261872"/>
            <a:ext cx="1325880" cy="28346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a:solidFill>
                  <a:srgbClr val="E07B39"/>
                </a:solidFill>
              </a:rPr>
              <a:t>AMD1, PGM3, LCMT1</a:t>
            </a:r>
            <a:endParaRPr lang="en-US" sz="1000"/>
          </a:p>
        </p:txBody>
      </p:sp>
      <p:sp>
        <p:nvSpPr>
          <p:cNvPr id="23" name="Shape 18">
            <a:extLst>
              <a:ext uri="{FF2B5EF4-FFF2-40B4-BE49-F238E27FC236}">
                <a16:creationId xmlns:a16="http://schemas.microsoft.com/office/drawing/2014/main" id="{055EAEA9-7973-C3B4-36F8-E696B345D8D4}"/>
              </a:ext>
            </a:extLst>
          </p:cNvPr>
          <p:cNvSpPr/>
          <p:nvPr/>
        </p:nvSpPr>
        <p:spPr>
          <a:xfrm>
            <a:off x="6163056" y="1005840"/>
            <a:ext cx="1874520" cy="594360"/>
          </a:xfrm>
          <a:prstGeom prst="roundRect">
            <a:avLst>
              <a:gd name="adj" fmla="val 13846"/>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4" name="Shape 19">
            <a:extLst>
              <a:ext uri="{FF2B5EF4-FFF2-40B4-BE49-F238E27FC236}">
                <a16:creationId xmlns:a16="http://schemas.microsoft.com/office/drawing/2014/main" id="{7EAC403E-1060-4570-98C6-1D1D0610118D}"/>
              </a:ext>
            </a:extLst>
          </p:cNvPr>
          <p:cNvSpPr/>
          <p:nvPr/>
        </p:nvSpPr>
        <p:spPr>
          <a:xfrm>
            <a:off x="6181344" y="1120140"/>
            <a:ext cx="365760" cy="365760"/>
          </a:xfrm>
          <a:prstGeom prst="ellipse">
            <a:avLst/>
          </a:prstGeom>
          <a:solidFill>
            <a:srgbClr val="1B2A4A"/>
          </a:solidFill>
          <a:ln w="12700">
            <a:solidFill>
              <a:srgbClr val="1B2A4A"/>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5" name="Text 20">
            <a:extLst>
              <a:ext uri="{FF2B5EF4-FFF2-40B4-BE49-F238E27FC236}">
                <a16:creationId xmlns:a16="http://schemas.microsoft.com/office/drawing/2014/main" id="{6AA84198-3A50-5470-C54B-D6CA98370A2D}"/>
              </a:ext>
            </a:extLst>
          </p:cNvPr>
          <p:cNvSpPr/>
          <p:nvPr/>
        </p:nvSpPr>
        <p:spPr>
          <a:xfrm>
            <a:off x="6181344" y="1120140"/>
            <a:ext cx="365760"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26" name="Text 21">
            <a:extLst>
              <a:ext uri="{FF2B5EF4-FFF2-40B4-BE49-F238E27FC236}">
                <a16:creationId xmlns:a16="http://schemas.microsoft.com/office/drawing/2014/main" id="{58A8D1E8-EFD7-E1A3-E50D-22E37BCB7434}"/>
              </a:ext>
            </a:extLst>
          </p:cNvPr>
          <p:cNvSpPr/>
          <p:nvPr/>
        </p:nvSpPr>
        <p:spPr>
          <a:xfrm>
            <a:off x="6638544" y="1060704"/>
            <a:ext cx="1325880"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Screening platform models</a:t>
            </a:r>
            <a:endParaRPr lang="en-US" sz="800"/>
          </a:p>
        </p:txBody>
      </p:sp>
      <p:sp>
        <p:nvSpPr>
          <p:cNvPr id="27" name="Text 22">
            <a:extLst>
              <a:ext uri="{FF2B5EF4-FFF2-40B4-BE49-F238E27FC236}">
                <a16:creationId xmlns:a16="http://schemas.microsoft.com/office/drawing/2014/main" id="{3A43A012-8B16-80C1-508F-EC2DA7ABA00B}"/>
              </a:ext>
            </a:extLst>
          </p:cNvPr>
          <p:cNvSpPr/>
          <p:nvPr/>
        </p:nvSpPr>
        <p:spPr>
          <a:xfrm>
            <a:off x="6622779" y="1272382"/>
            <a:ext cx="1220356" cy="26107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b="1">
                <a:solidFill>
                  <a:srgbClr val="1B2A4A"/>
                </a:solidFill>
              </a:rPr>
              <a:t>84.0% melanoma models</a:t>
            </a:r>
            <a:endParaRPr lang="en-US" sz="1100"/>
          </a:p>
        </p:txBody>
      </p:sp>
      <p:sp>
        <p:nvSpPr>
          <p:cNvPr id="28" name="Shape 23">
            <a:extLst>
              <a:ext uri="{FF2B5EF4-FFF2-40B4-BE49-F238E27FC236}">
                <a16:creationId xmlns:a16="http://schemas.microsoft.com/office/drawing/2014/main" id="{9D3B1181-26E6-4629-C7D1-1581ADEE16D7}"/>
              </a:ext>
            </a:extLst>
          </p:cNvPr>
          <p:cNvSpPr/>
          <p:nvPr/>
        </p:nvSpPr>
        <p:spPr>
          <a:xfrm>
            <a:off x="8110728" y="1005840"/>
            <a:ext cx="1874520" cy="594360"/>
          </a:xfrm>
          <a:prstGeom prst="roundRect">
            <a:avLst>
              <a:gd name="adj" fmla="val 13846"/>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 name="Shape 24">
            <a:extLst>
              <a:ext uri="{FF2B5EF4-FFF2-40B4-BE49-F238E27FC236}">
                <a16:creationId xmlns:a16="http://schemas.microsoft.com/office/drawing/2014/main" id="{E43A2605-B449-8487-7E3D-8493A2D20FE2}"/>
              </a:ext>
            </a:extLst>
          </p:cNvPr>
          <p:cNvSpPr/>
          <p:nvPr/>
        </p:nvSpPr>
        <p:spPr>
          <a:xfrm>
            <a:off x="8129016" y="1120140"/>
            <a:ext cx="365760" cy="365760"/>
          </a:xfrm>
          <a:prstGeom prst="ellipse">
            <a:avLst/>
          </a:prstGeom>
          <a:solidFill>
            <a:srgbClr val="0E6B7C"/>
          </a:solidFill>
          <a:ln w="12700">
            <a:solidFill>
              <a:srgbClr val="0E6B7C"/>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 name="Text 25">
            <a:extLst>
              <a:ext uri="{FF2B5EF4-FFF2-40B4-BE49-F238E27FC236}">
                <a16:creationId xmlns:a16="http://schemas.microsoft.com/office/drawing/2014/main" id="{D9AE0BF0-C268-9B01-5CB5-6E602A35B40B}"/>
              </a:ext>
            </a:extLst>
          </p:cNvPr>
          <p:cNvSpPr/>
          <p:nvPr/>
        </p:nvSpPr>
        <p:spPr>
          <a:xfrm>
            <a:off x="8129016" y="1120140"/>
            <a:ext cx="365760"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31" name="Text 26">
            <a:extLst>
              <a:ext uri="{FF2B5EF4-FFF2-40B4-BE49-F238E27FC236}">
                <a16:creationId xmlns:a16="http://schemas.microsoft.com/office/drawing/2014/main" id="{272A4DFE-D966-B38B-A0E5-07B7A9BD9EDA}"/>
              </a:ext>
            </a:extLst>
          </p:cNvPr>
          <p:cNvSpPr/>
          <p:nvPr/>
        </p:nvSpPr>
        <p:spPr>
          <a:xfrm>
            <a:off x="8586216" y="1060704"/>
            <a:ext cx="1325880"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Melanoma expression prevalence (median)</a:t>
            </a:r>
            <a:endParaRPr lang="en-US" sz="800"/>
          </a:p>
        </p:txBody>
      </p:sp>
      <p:sp>
        <p:nvSpPr>
          <p:cNvPr id="32" name="Text 27">
            <a:extLst>
              <a:ext uri="{FF2B5EF4-FFF2-40B4-BE49-F238E27FC236}">
                <a16:creationId xmlns:a16="http://schemas.microsoft.com/office/drawing/2014/main" id="{3DAB8514-C990-BC37-7BE9-ED0C732C8F41}"/>
              </a:ext>
            </a:extLst>
          </p:cNvPr>
          <p:cNvSpPr/>
          <p:nvPr/>
        </p:nvSpPr>
        <p:spPr>
          <a:xfrm>
            <a:off x="8586216" y="1261872"/>
            <a:ext cx="1325880" cy="28346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a:solidFill>
                  <a:srgbClr val="0E6B7C"/>
                </a:solidFill>
              </a:rPr>
              <a:t>88.9%</a:t>
            </a:r>
            <a:endParaRPr lang="en-US" sz="1100"/>
          </a:p>
        </p:txBody>
      </p:sp>
      <p:sp>
        <p:nvSpPr>
          <p:cNvPr id="33" name="Shape 28">
            <a:extLst>
              <a:ext uri="{FF2B5EF4-FFF2-40B4-BE49-F238E27FC236}">
                <a16:creationId xmlns:a16="http://schemas.microsoft.com/office/drawing/2014/main" id="{FD30E79B-38CA-CD73-F03E-EDF67BD0B025}"/>
              </a:ext>
            </a:extLst>
          </p:cNvPr>
          <p:cNvSpPr/>
          <p:nvPr/>
        </p:nvSpPr>
        <p:spPr>
          <a:xfrm>
            <a:off x="10058400" y="1005840"/>
            <a:ext cx="1874520" cy="594360"/>
          </a:xfrm>
          <a:prstGeom prst="roundRect">
            <a:avLst>
              <a:gd name="adj" fmla="val 13846"/>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 name="Shape 29">
            <a:extLst>
              <a:ext uri="{FF2B5EF4-FFF2-40B4-BE49-F238E27FC236}">
                <a16:creationId xmlns:a16="http://schemas.microsoft.com/office/drawing/2014/main" id="{E70E85FE-F962-9A9E-145C-39DAAA782AD6}"/>
              </a:ext>
            </a:extLst>
          </p:cNvPr>
          <p:cNvSpPr/>
          <p:nvPr/>
        </p:nvSpPr>
        <p:spPr>
          <a:xfrm>
            <a:off x="10076688" y="1120140"/>
            <a:ext cx="365760" cy="365760"/>
          </a:xfrm>
          <a:prstGeom prst="ellipse">
            <a:avLst/>
          </a:prstGeom>
          <a:solidFill>
            <a:srgbClr val="E07B39"/>
          </a:solidFill>
          <a:ln w="12700">
            <a:solidFill>
              <a:srgbClr val="E07B39"/>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5" name="Text 30">
            <a:extLst>
              <a:ext uri="{FF2B5EF4-FFF2-40B4-BE49-F238E27FC236}">
                <a16:creationId xmlns:a16="http://schemas.microsoft.com/office/drawing/2014/main" id="{7A671C00-B328-CB18-A3CE-61C96ABAADB5}"/>
              </a:ext>
            </a:extLst>
          </p:cNvPr>
          <p:cNvSpPr/>
          <p:nvPr/>
        </p:nvSpPr>
        <p:spPr>
          <a:xfrm>
            <a:off x="10076688" y="1120140"/>
            <a:ext cx="365760"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36" name="Text 31">
            <a:extLst>
              <a:ext uri="{FF2B5EF4-FFF2-40B4-BE49-F238E27FC236}">
                <a16:creationId xmlns:a16="http://schemas.microsoft.com/office/drawing/2014/main" id="{BF32D922-EC11-1A41-EDEA-06C427494945}"/>
              </a:ext>
            </a:extLst>
          </p:cNvPr>
          <p:cNvSpPr/>
          <p:nvPr/>
        </p:nvSpPr>
        <p:spPr>
          <a:xfrm>
            <a:off x="10533888" y="1060704"/>
            <a:ext cx="1325880"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Selection approach</a:t>
            </a:r>
            <a:endParaRPr lang="en-US" sz="800"/>
          </a:p>
        </p:txBody>
      </p:sp>
      <p:sp>
        <p:nvSpPr>
          <p:cNvPr id="37" name="Text 32">
            <a:extLst>
              <a:ext uri="{FF2B5EF4-FFF2-40B4-BE49-F238E27FC236}">
                <a16:creationId xmlns:a16="http://schemas.microsoft.com/office/drawing/2014/main" id="{ECBD7C61-825C-10E3-FA2A-056EB1896D1F}"/>
              </a:ext>
            </a:extLst>
          </p:cNvPr>
          <p:cNvSpPr/>
          <p:nvPr/>
        </p:nvSpPr>
        <p:spPr>
          <a:xfrm>
            <a:off x="10533888" y="1261872"/>
            <a:ext cx="1307592" cy="28346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a:solidFill>
                  <a:srgbClr val="E07B39"/>
                </a:solidFill>
              </a:rPr>
              <a:t>Co-dependency + translational filtering</a:t>
            </a:r>
            <a:endParaRPr lang="en-US" sz="1000"/>
          </a:p>
        </p:txBody>
      </p:sp>
      <p:sp>
        <p:nvSpPr>
          <p:cNvPr id="38" name="Shape 33">
            <a:extLst>
              <a:ext uri="{FF2B5EF4-FFF2-40B4-BE49-F238E27FC236}">
                <a16:creationId xmlns:a16="http://schemas.microsoft.com/office/drawing/2014/main" id="{4A5F8DBF-7E62-462A-7851-C9629CC696F8}"/>
              </a:ext>
            </a:extLst>
          </p:cNvPr>
          <p:cNvSpPr/>
          <p:nvPr/>
        </p:nvSpPr>
        <p:spPr>
          <a:xfrm>
            <a:off x="320040" y="1719072"/>
            <a:ext cx="3931920" cy="3227832"/>
          </a:xfrm>
          <a:prstGeom prst="roundRect">
            <a:avLst>
              <a:gd name="adj" fmla="val 3516"/>
            </a:avLst>
          </a:prstGeom>
          <a:solidFill>
            <a:srgbClr val="FFFFFF"/>
          </a:solidFill>
          <a:ln w="9525">
            <a:solidFill>
              <a:srgbClr val="D4DDE8"/>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9" name="Shape 34">
            <a:extLst>
              <a:ext uri="{FF2B5EF4-FFF2-40B4-BE49-F238E27FC236}">
                <a16:creationId xmlns:a16="http://schemas.microsoft.com/office/drawing/2014/main" id="{15F18AED-3174-1071-0D66-2A91751ED2C7}"/>
              </a:ext>
            </a:extLst>
          </p:cNvPr>
          <p:cNvSpPr/>
          <p:nvPr/>
        </p:nvSpPr>
        <p:spPr>
          <a:xfrm>
            <a:off x="411480" y="1810512"/>
            <a:ext cx="3749040" cy="274320"/>
          </a:xfrm>
          <a:prstGeom prst="roundRect">
            <a:avLst>
              <a:gd name="adj" fmla="val 40000"/>
            </a:avLst>
          </a:prstGeom>
          <a:solidFill>
            <a:srgbClr val="1B2A4A"/>
          </a:solidFill>
          <a:ln w="12700">
            <a:solidFill>
              <a:srgbClr val="1B2A4A"/>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0" name="Text 35">
            <a:extLst>
              <a:ext uri="{FF2B5EF4-FFF2-40B4-BE49-F238E27FC236}">
                <a16:creationId xmlns:a16="http://schemas.microsoft.com/office/drawing/2014/main" id="{AA7971F4-91DF-CE13-8634-E16EA7E02F24}"/>
              </a:ext>
            </a:extLst>
          </p:cNvPr>
          <p:cNvSpPr/>
          <p:nvPr/>
        </p:nvSpPr>
        <p:spPr>
          <a:xfrm>
            <a:off x="411480" y="1810512"/>
            <a:ext cx="374904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b="1">
                <a:solidFill>
                  <a:srgbClr val="FFFFFF"/>
                </a:solidFill>
              </a:rPr>
              <a:t>SOX10 co-dependency vs melanoma selectivity</a:t>
            </a:r>
            <a:endParaRPr lang="en-US" sz="900"/>
          </a:p>
        </p:txBody>
      </p:sp>
      <p:sp>
        <p:nvSpPr>
          <p:cNvPr id="41" name="Shape 36">
            <a:extLst>
              <a:ext uri="{FF2B5EF4-FFF2-40B4-BE49-F238E27FC236}">
                <a16:creationId xmlns:a16="http://schemas.microsoft.com/office/drawing/2014/main" id="{9AB8F9DA-610F-C090-0DF8-25E83B7D86D6}"/>
              </a:ext>
            </a:extLst>
          </p:cNvPr>
          <p:cNvSpPr/>
          <p:nvPr/>
        </p:nvSpPr>
        <p:spPr>
          <a:xfrm>
            <a:off x="4434840" y="1719072"/>
            <a:ext cx="4343400" cy="4343400"/>
          </a:xfrm>
          <a:prstGeom prst="roundRect">
            <a:avLst>
              <a:gd name="adj" fmla="val 1895"/>
            </a:avLst>
          </a:prstGeom>
          <a:solidFill>
            <a:srgbClr val="FFFFFF"/>
          </a:solidFill>
          <a:ln w="9525">
            <a:solidFill>
              <a:srgbClr val="D4DDE8"/>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2" name="Shape 37">
            <a:extLst>
              <a:ext uri="{FF2B5EF4-FFF2-40B4-BE49-F238E27FC236}">
                <a16:creationId xmlns:a16="http://schemas.microsoft.com/office/drawing/2014/main" id="{AB84DDDE-5DD4-C602-B782-8B51F5BA6EE0}"/>
              </a:ext>
            </a:extLst>
          </p:cNvPr>
          <p:cNvSpPr/>
          <p:nvPr/>
        </p:nvSpPr>
        <p:spPr>
          <a:xfrm>
            <a:off x="4526280" y="1810512"/>
            <a:ext cx="4160520" cy="274320"/>
          </a:xfrm>
          <a:prstGeom prst="roundRect">
            <a:avLst>
              <a:gd name="adj" fmla="val 40000"/>
            </a:avLst>
          </a:prstGeom>
          <a:solidFill>
            <a:srgbClr val="1B2A4A"/>
          </a:solidFill>
          <a:ln w="12700">
            <a:solidFill>
              <a:srgbClr val="1B2A4A"/>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3" name="Text 38">
            <a:extLst>
              <a:ext uri="{FF2B5EF4-FFF2-40B4-BE49-F238E27FC236}">
                <a16:creationId xmlns:a16="http://schemas.microsoft.com/office/drawing/2014/main" id="{1CB269CD-AC20-BD42-3CDF-C3E2E2E14E5A}"/>
              </a:ext>
            </a:extLst>
          </p:cNvPr>
          <p:cNvSpPr/>
          <p:nvPr/>
        </p:nvSpPr>
        <p:spPr>
          <a:xfrm>
            <a:off x="4526280" y="1810512"/>
            <a:ext cx="416052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b="1">
                <a:solidFill>
                  <a:srgbClr val="FFFFFF"/>
                </a:solidFill>
              </a:rPr>
              <a:t>Annotated prioritisation of 18 proxy candidates</a:t>
            </a:r>
            <a:endParaRPr lang="en-US" sz="900"/>
          </a:p>
        </p:txBody>
      </p:sp>
      <p:sp>
        <p:nvSpPr>
          <p:cNvPr id="44" name="Shape 39">
            <a:extLst>
              <a:ext uri="{FF2B5EF4-FFF2-40B4-BE49-F238E27FC236}">
                <a16:creationId xmlns:a16="http://schemas.microsoft.com/office/drawing/2014/main" id="{C8670EA7-8CA1-2772-215A-6B9F935C47ED}"/>
              </a:ext>
            </a:extLst>
          </p:cNvPr>
          <p:cNvSpPr/>
          <p:nvPr/>
        </p:nvSpPr>
        <p:spPr>
          <a:xfrm>
            <a:off x="8961120" y="1719072"/>
            <a:ext cx="2880360" cy="4343400"/>
          </a:xfrm>
          <a:prstGeom prst="roundRect">
            <a:avLst>
              <a:gd name="adj" fmla="val 2857"/>
            </a:avLst>
          </a:prstGeom>
          <a:solidFill>
            <a:srgbClr val="FFFFFF"/>
          </a:solidFill>
          <a:ln w="9525">
            <a:solidFill>
              <a:srgbClr val="D4DDE8"/>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5" name="Shape 40">
            <a:extLst>
              <a:ext uri="{FF2B5EF4-FFF2-40B4-BE49-F238E27FC236}">
                <a16:creationId xmlns:a16="http://schemas.microsoft.com/office/drawing/2014/main" id="{A15B049B-645A-3444-1E44-5244B3F96F77}"/>
              </a:ext>
            </a:extLst>
          </p:cNvPr>
          <p:cNvSpPr/>
          <p:nvPr/>
        </p:nvSpPr>
        <p:spPr>
          <a:xfrm>
            <a:off x="9052560" y="1810512"/>
            <a:ext cx="2697480" cy="274320"/>
          </a:xfrm>
          <a:prstGeom prst="roundRect">
            <a:avLst>
              <a:gd name="adj" fmla="val 40000"/>
            </a:avLst>
          </a:prstGeom>
          <a:solidFill>
            <a:srgbClr val="1B2A4A"/>
          </a:solidFill>
          <a:ln w="12700">
            <a:solidFill>
              <a:srgbClr val="1B2A4A"/>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6" name="Text 41">
            <a:extLst>
              <a:ext uri="{FF2B5EF4-FFF2-40B4-BE49-F238E27FC236}">
                <a16:creationId xmlns:a16="http://schemas.microsoft.com/office/drawing/2014/main" id="{56B7F465-9DA0-D48F-EBDE-4B98BACD558D}"/>
              </a:ext>
            </a:extLst>
          </p:cNvPr>
          <p:cNvSpPr/>
          <p:nvPr/>
        </p:nvSpPr>
        <p:spPr>
          <a:xfrm>
            <a:off x="9052560" y="1810512"/>
            <a:ext cx="269748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b="1">
                <a:solidFill>
                  <a:srgbClr val="FFFFFF"/>
                </a:solidFill>
              </a:rPr>
              <a:t>Focused shortlist and rationale</a:t>
            </a:r>
            <a:endParaRPr lang="en-US" sz="900"/>
          </a:p>
        </p:txBody>
      </p:sp>
      <p:sp>
        <p:nvSpPr>
          <p:cNvPr id="47" name="Shape 42">
            <a:extLst>
              <a:ext uri="{FF2B5EF4-FFF2-40B4-BE49-F238E27FC236}">
                <a16:creationId xmlns:a16="http://schemas.microsoft.com/office/drawing/2014/main" id="{90460C4B-8E83-F245-E6A9-5899EE7D8F02}"/>
              </a:ext>
            </a:extLst>
          </p:cNvPr>
          <p:cNvSpPr/>
          <p:nvPr/>
        </p:nvSpPr>
        <p:spPr>
          <a:xfrm>
            <a:off x="9052560" y="2157984"/>
            <a:ext cx="658368" cy="237744"/>
          </a:xfrm>
          <a:prstGeom prst="roundRect">
            <a:avLst>
              <a:gd name="adj" fmla="val 19231"/>
            </a:avLst>
          </a:prstGeom>
          <a:solidFill>
            <a:srgbClr val="2A6B3C"/>
          </a:solidFill>
          <a:ln w="12700">
            <a:solidFill>
              <a:srgbClr val="2A6B3C"/>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8" name="Text 43">
            <a:extLst>
              <a:ext uri="{FF2B5EF4-FFF2-40B4-BE49-F238E27FC236}">
                <a16:creationId xmlns:a16="http://schemas.microsoft.com/office/drawing/2014/main" id="{A48CBD51-86F5-357A-47E5-C592756B4598}"/>
              </a:ext>
            </a:extLst>
          </p:cNvPr>
          <p:cNvSpPr/>
          <p:nvPr/>
        </p:nvSpPr>
        <p:spPr>
          <a:xfrm>
            <a:off x="9052560" y="2157984"/>
            <a:ext cx="658368"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a:solidFill>
                  <a:srgbClr val="FFFFFF"/>
                </a:solidFill>
              </a:rPr>
              <a:t>AMD1</a:t>
            </a:r>
            <a:endParaRPr lang="en-US" sz="850"/>
          </a:p>
        </p:txBody>
      </p:sp>
      <p:sp>
        <p:nvSpPr>
          <p:cNvPr id="49" name="Text 44">
            <a:extLst>
              <a:ext uri="{FF2B5EF4-FFF2-40B4-BE49-F238E27FC236}">
                <a16:creationId xmlns:a16="http://schemas.microsoft.com/office/drawing/2014/main" id="{282BF874-3B4B-C2A3-45A9-3E42E47021EF}"/>
              </a:ext>
            </a:extLst>
          </p:cNvPr>
          <p:cNvSpPr/>
          <p:nvPr/>
        </p:nvSpPr>
        <p:spPr>
          <a:xfrm>
            <a:off x="9765792" y="2167128"/>
            <a:ext cx="1984248"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b="1">
                <a:solidFill>
                  <a:srgbClr val="1B2A4A"/>
                </a:solidFill>
              </a:rPr>
              <a:t>Best translational candidate</a:t>
            </a:r>
            <a:endParaRPr lang="en-US" sz="800"/>
          </a:p>
        </p:txBody>
      </p:sp>
      <p:sp>
        <p:nvSpPr>
          <p:cNvPr id="50" name="Text 45">
            <a:extLst>
              <a:ext uri="{FF2B5EF4-FFF2-40B4-BE49-F238E27FC236}">
                <a16:creationId xmlns:a16="http://schemas.microsoft.com/office/drawing/2014/main" id="{71716AED-3CB8-A386-4F40-B90B1A98F9D2}"/>
              </a:ext>
            </a:extLst>
          </p:cNvPr>
          <p:cNvSpPr/>
          <p:nvPr/>
        </p:nvSpPr>
        <p:spPr>
          <a:xfrm>
            <a:off x="9079992" y="2488745"/>
            <a:ext cx="2651760" cy="24257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750">
                <a:solidFill>
                  <a:srgbClr val="22303F"/>
                </a:solidFill>
              </a:rPr>
              <a:t>• Metabolic enzyme</a:t>
            </a:r>
            <a:endParaRPr lang="en-US" sz="750"/>
          </a:p>
        </p:txBody>
      </p:sp>
      <p:sp>
        <p:nvSpPr>
          <p:cNvPr id="51" name="Text 46">
            <a:extLst>
              <a:ext uri="{FF2B5EF4-FFF2-40B4-BE49-F238E27FC236}">
                <a16:creationId xmlns:a16="http://schemas.microsoft.com/office/drawing/2014/main" id="{04D95614-E872-C440-9EF1-5DD1DC5A49E3}"/>
              </a:ext>
            </a:extLst>
          </p:cNvPr>
          <p:cNvSpPr/>
          <p:nvPr/>
        </p:nvSpPr>
        <p:spPr>
          <a:xfrm>
            <a:off x="9074737" y="2729958"/>
            <a:ext cx="2651760" cy="169007"/>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750">
                <a:solidFill>
                  <a:srgbClr val="22303F"/>
                </a:solidFill>
              </a:rPr>
              <a:t>• A direct inhibitor exists</a:t>
            </a:r>
            <a:endParaRPr lang="en-US" sz="750"/>
          </a:p>
        </p:txBody>
      </p:sp>
      <p:sp>
        <p:nvSpPr>
          <p:cNvPr id="52" name="Text 47">
            <a:extLst>
              <a:ext uri="{FF2B5EF4-FFF2-40B4-BE49-F238E27FC236}">
                <a16:creationId xmlns:a16="http://schemas.microsoft.com/office/drawing/2014/main" id="{3007A59D-04F9-F59F-5675-7B1D7E69CF08}"/>
              </a:ext>
            </a:extLst>
          </p:cNvPr>
          <p:cNvSpPr/>
          <p:nvPr/>
        </p:nvSpPr>
        <p:spPr>
          <a:xfrm>
            <a:off x="9079992" y="2892342"/>
            <a:ext cx="2651760" cy="221559"/>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750">
                <a:solidFill>
                  <a:srgbClr val="22303F"/>
                </a:solidFill>
              </a:rPr>
              <a:t>• Melanoma application remains to be tested.</a:t>
            </a:r>
            <a:endParaRPr lang="en-US" sz="750"/>
          </a:p>
        </p:txBody>
      </p:sp>
      <p:sp>
        <p:nvSpPr>
          <p:cNvPr id="53" name="Shape 48">
            <a:extLst>
              <a:ext uri="{FF2B5EF4-FFF2-40B4-BE49-F238E27FC236}">
                <a16:creationId xmlns:a16="http://schemas.microsoft.com/office/drawing/2014/main" id="{DBEEFEF2-A61D-7E78-FA46-A2F4C7C7A759}"/>
              </a:ext>
            </a:extLst>
          </p:cNvPr>
          <p:cNvSpPr/>
          <p:nvPr/>
        </p:nvSpPr>
        <p:spPr>
          <a:xfrm>
            <a:off x="9047305" y="3232562"/>
            <a:ext cx="658368" cy="237744"/>
          </a:xfrm>
          <a:prstGeom prst="roundRect">
            <a:avLst>
              <a:gd name="adj" fmla="val 19231"/>
            </a:avLst>
          </a:prstGeom>
          <a:solidFill>
            <a:srgbClr val="0E6B7C"/>
          </a:solidFill>
          <a:ln w="12700">
            <a:solidFill>
              <a:srgbClr val="0E6B7C"/>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4" name="Text 49">
            <a:extLst>
              <a:ext uri="{FF2B5EF4-FFF2-40B4-BE49-F238E27FC236}">
                <a16:creationId xmlns:a16="http://schemas.microsoft.com/office/drawing/2014/main" id="{00A76F4F-C1F5-E0B9-11E4-AC6C8430824C}"/>
              </a:ext>
            </a:extLst>
          </p:cNvPr>
          <p:cNvSpPr/>
          <p:nvPr/>
        </p:nvSpPr>
        <p:spPr>
          <a:xfrm>
            <a:off x="9052560" y="3222052"/>
            <a:ext cx="658368"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a:solidFill>
                  <a:srgbClr val="FFFFFF"/>
                </a:solidFill>
              </a:rPr>
              <a:t>PGM3</a:t>
            </a:r>
            <a:endParaRPr lang="en-US" sz="850"/>
          </a:p>
        </p:txBody>
      </p:sp>
      <p:sp>
        <p:nvSpPr>
          <p:cNvPr id="55" name="Text 50">
            <a:extLst>
              <a:ext uri="{FF2B5EF4-FFF2-40B4-BE49-F238E27FC236}">
                <a16:creationId xmlns:a16="http://schemas.microsoft.com/office/drawing/2014/main" id="{5C0A0FB7-424C-C256-7980-33317490583D}"/>
              </a:ext>
            </a:extLst>
          </p:cNvPr>
          <p:cNvSpPr/>
          <p:nvPr/>
        </p:nvSpPr>
        <p:spPr>
          <a:xfrm>
            <a:off x="9765792" y="3231196"/>
            <a:ext cx="1984248"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b="1">
                <a:solidFill>
                  <a:srgbClr val="1B2A4A"/>
                </a:solidFill>
              </a:rPr>
              <a:t>Best novel preclinical candidate</a:t>
            </a:r>
            <a:endParaRPr lang="en-US" sz="800"/>
          </a:p>
        </p:txBody>
      </p:sp>
      <p:sp>
        <p:nvSpPr>
          <p:cNvPr id="56" name="Text 51">
            <a:extLst>
              <a:ext uri="{FF2B5EF4-FFF2-40B4-BE49-F238E27FC236}">
                <a16:creationId xmlns:a16="http://schemas.microsoft.com/office/drawing/2014/main" id="{4815A78A-9403-BC43-B084-CF06E88CD2DB}"/>
              </a:ext>
            </a:extLst>
          </p:cNvPr>
          <p:cNvSpPr/>
          <p:nvPr/>
        </p:nvSpPr>
        <p:spPr>
          <a:xfrm>
            <a:off x="9064226" y="3558068"/>
            <a:ext cx="2651760" cy="1584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750">
                <a:solidFill>
                  <a:srgbClr val="22303F"/>
                </a:solidFill>
              </a:rPr>
              <a:t>• Metabolic enzyme</a:t>
            </a:r>
            <a:endParaRPr lang="en-US" sz="750"/>
          </a:p>
        </p:txBody>
      </p:sp>
      <p:sp>
        <p:nvSpPr>
          <p:cNvPr id="57" name="Text 52">
            <a:extLst>
              <a:ext uri="{FF2B5EF4-FFF2-40B4-BE49-F238E27FC236}">
                <a16:creationId xmlns:a16="http://schemas.microsoft.com/office/drawing/2014/main" id="{8A29FB72-D116-2479-4D31-83D0FAA56128}"/>
              </a:ext>
            </a:extLst>
          </p:cNvPr>
          <p:cNvSpPr/>
          <p:nvPr/>
        </p:nvSpPr>
        <p:spPr>
          <a:xfrm>
            <a:off x="9079992" y="3736218"/>
            <a:ext cx="2651760" cy="158497"/>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750">
                <a:solidFill>
                  <a:srgbClr val="22303F"/>
                </a:solidFill>
              </a:rPr>
              <a:t>• Preclinical inhibition evidence in other cancers</a:t>
            </a:r>
            <a:endParaRPr lang="en-US" sz="750"/>
          </a:p>
        </p:txBody>
      </p:sp>
      <p:sp>
        <p:nvSpPr>
          <p:cNvPr id="58" name="Shape 53">
            <a:extLst>
              <a:ext uri="{FF2B5EF4-FFF2-40B4-BE49-F238E27FC236}">
                <a16:creationId xmlns:a16="http://schemas.microsoft.com/office/drawing/2014/main" id="{F428638F-1431-1784-33A8-E5FA034712BE}"/>
              </a:ext>
            </a:extLst>
          </p:cNvPr>
          <p:cNvSpPr/>
          <p:nvPr/>
        </p:nvSpPr>
        <p:spPr>
          <a:xfrm>
            <a:off x="9063070" y="4033870"/>
            <a:ext cx="658368" cy="237744"/>
          </a:xfrm>
          <a:prstGeom prst="roundRect">
            <a:avLst>
              <a:gd name="adj" fmla="val 19231"/>
            </a:avLst>
          </a:prstGeom>
          <a:solidFill>
            <a:srgbClr val="E07B39"/>
          </a:solidFill>
          <a:ln w="12700">
            <a:solidFill>
              <a:srgbClr val="E07B39"/>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9" name="Text 54">
            <a:extLst>
              <a:ext uri="{FF2B5EF4-FFF2-40B4-BE49-F238E27FC236}">
                <a16:creationId xmlns:a16="http://schemas.microsoft.com/office/drawing/2014/main" id="{891B408D-3E98-35B9-D35B-8EEBFC7D0DC6}"/>
              </a:ext>
            </a:extLst>
          </p:cNvPr>
          <p:cNvSpPr/>
          <p:nvPr/>
        </p:nvSpPr>
        <p:spPr>
          <a:xfrm>
            <a:off x="9063070" y="4018105"/>
            <a:ext cx="658368"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a:solidFill>
                  <a:srgbClr val="FFFFFF"/>
                </a:solidFill>
              </a:rPr>
              <a:t>LCMT1</a:t>
            </a:r>
            <a:endParaRPr lang="en-US" sz="850"/>
          </a:p>
        </p:txBody>
      </p:sp>
      <p:sp>
        <p:nvSpPr>
          <p:cNvPr id="60" name="Text 55">
            <a:extLst>
              <a:ext uri="{FF2B5EF4-FFF2-40B4-BE49-F238E27FC236}">
                <a16:creationId xmlns:a16="http://schemas.microsoft.com/office/drawing/2014/main" id="{B5F956B7-516B-4DDE-18A4-F0979EDA5FE6}"/>
              </a:ext>
            </a:extLst>
          </p:cNvPr>
          <p:cNvSpPr/>
          <p:nvPr/>
        </p:nvSpPr>
        <p:spPr>
          <a:xfrm>
            <a:off x="9776302" y="4027249"/>
            <a:ext cx="1984248"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b="1">
                <a:solidFill>
                  <a:srgbClr val="1B2A4A"/>
                </a:solidFill>
              </a:rPr>
              <a:t>Early tractable backup</a:t>
            </a:r>
            <a:endParaRPr lang="en-US" sz="800"/>
          </a:p>
        </p:txBody>
      </p:sp>
      <p:sp>
        <p:nvSpPr>
          <p:cNvPr id="61" name="Text 56">
            <a:extLst>
              <a:ext uri="{FF2B5EF4-FFF2-40B4-BE49-F238E27FC236}">
                <a16:creationId xmlns:a16="http://schemas.microsoft.com/office/drawing/2014/main" id="{54DB6643-2E81-7D7D-FEDF-436CCF775A31}"/>
              </a:ext>
            </a:extLst>
          </p:cNvPr>
          <p:cNvSpPr/>
          <p:nvPr/>
        </p:nvSpPr>
        <p:spPr>
          <a:xfrm>
            <a:off x="9064226" y="4270038"/>
            <a:ext cx="2651760" cy="3108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750">
                <a:solidFill>
                  <a:srgbClr val="22303F"/>
                </a:solidFill>
              </a:rPr>
              <a:t>• Enzymatic PP2A regulator</a:t>
            </a:r>
            <a:endParaRPr lang="en-US" sz="750"/>
          </a:p>
        </p:txBody>
      </p:sp>
      <p:sp>
        <p:nvSpPr>
          <p:cNvPr id="62" name="Text 57">
            <a:extLst>
              <a:ext uri="{FF2B5EF4-FFF2-40B4-BE49-F238E27FC236}">
                <a16:creationId xmlns:a16="http://schemas.microsoft.com/office/drawing/2014/main" id="{BC2B508C-D883-A2BA-AB8F-BF213F47BA14}"/>
              </a:ext>
            </a:extLst>
          </p:cNvPr>
          <p:cNvSpPr/>
          <p:nvPr/>
        </p:nvSpPr>
        <p:spPr>
          <a:xfrm>
            <a:off x="9053716" y="4516506"/>
            <a:ext cx="2657015" cy="205793"/>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750">
                <a:solidFill>
                  <a:srgbClr val="22303F"/>
                </a:solidFill>
              </a:rPr>
              <a:t>• Melanoma-relevant pharmacology</a:t>
            </a:r>
            <a:endParaRPr lang="en-US" sz="750"/>
          </a:p>
        </p:txBody>
      </p:sp>
      <p:sp>
        <p:nvSpPr>
          <p:cNvPr id="63" name="Text 58">
            <a:extLst>
              <a:ext uri="{FF2B5EF4-FFF2-40B4-BE49-F238E27FC236}">
                <a16:creationId xmlns:a16="http://schemas.microsoft.com/office/drawing/2014/main" id="{CB73540D-BC52-F5F4-7C18-D3FAA023EF7E}"/>
              </a:ext>
            </a:extLst>
          </p:cNvPr>
          <p:cNvSpPr/>
          <p:nvPr/>
        </p:nvSpPr>
        <p:spPr>
          <a:xfrm>
            <a:off x="9058971" y="4631594"/>
            <a:ext cx="2651760" cy="31089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750">
                <a:solidFill>
                  <a:srgbClr val="22303F"/>
                </a:solidFill>
              </a:rPr>
              <a:t>• Therapeutic-window concerns require follow-up</a:t>
            </a:r>
            <a:endParaRPr lang="en-US" sz="750"/>
          </a:p>
        </p:txBody>
      </p:sp>
      <p:sp>
        <p:nvSpPr>
          <p:cNvPr id="64" name="Shape 59">
            <a:extLst>
              <a:ext uri="{FF2B5EF4-FFF2-40B4-BE49-F238E27FC236}">
                <a16:creationId xmlns:a16="http://schemas.microsoft.com/office/drawing/2014/main" id="{6EE676C5-5701-D025-2A2E-78149DAB6EC2}"/>
              </a:ext>
            </a:extLst>
          </p:cNvPr>
          <p:cNvSpPr/>
          <p:nvPr/>
        </p:nvSpPr>
        <p:spPr>
          <a:xfrm>
            <a:off x="9002652" y="4945117"/>
            <a:ext cx="2755256" cy="499337"/>
          </a:xfrm>
          <a:prstGeom prst="roundRect">
            <a:avLst>
              <a:gd name="adj" fmla="val 10769"/>
            </a:avLst>
          </a:prstGeom>
          <a:solidFill>
            <a:srgbClr val="FFF8EC"/>
          </a:solidFill>
          <a:ln w="12700">
            <a:solidFill>
              <a:srgbClr val="E07B39"/>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5" name="Shape 60">
            <a:extLst>
              <a:ext uri="{FF2B5EF4-FFF2-40B4-BE49-F238E27FC236}">
                <a16:creationId xmlns:a16="http://schemas.microsoft.com/office/drawing/2014/main" id="{BB12F702-F174-F2B1-4E09-C7B94C971282}"/>
              </a:ext>
            </a:extLst>
          </p:cNvPr>
          <p:cNvSpPr/>
          <p:nvPr/>
        </p:nvSpPr>
        <p:spPr>
          <a:xfrm>
            <a:off x="9039737" y="5063253"/>
            <a:ext cx="213781" cy="219037"/>
          </a:xfrm>
          <a:prstGeom prst="ellipse">
            <a:avLst/>
          </a:prstGeom>
          <a:solidFill>
            <a:srgbClr val="E07B39"/>
          </a:solidFill>
          <a:ln w="12700">
            <a:solidFill>
              <a:srgbClr val="E07B39"/>
            </a:solidFill>
            <a:prstDash val="solid"/>
          </a:ln>
        </p:spPr>
        <p:txBody>
          <a:bodyPr lIns="91440" tIns="45720" rIns="91440" bIns="4572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6" name="Text 61">
            <a:extLst>
              <a:ext uri="{FF2B5EF4-FFF2-40B4-BE49-F238E27FC236}">
                <a16:creationId xmlns:a16="http://schemas.microsoft.com/office/drawing/2014/main" id="{EA1DB9BA-ADEF-0B1A-4EDB-C17FBB81F306}"/>
              </a:ext>
            </a:extLst>
          </p:cNvPr>
          <p:cNvSpPr/>
          <p:nvPr/>
        </p:nvSpPr>
        <p:spPr>
          <a:xfrm>
            <a:off x="8997696" y="5504688"/>
            <a:ext cx="292608" cy="292608"/>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400">
                <a:solidFill>
                  <a:srgbClr val="000000"/>
                </a:solidFill>
              </a:rPr>
              <a:t>⚖</a:t>
            </a:r>
            <a:endParaRPr lang="en-US" sz="1000"/>
          </a:p>
        </p:txBody>
      </p:sp>
      <p:sp>
        <p:nvSpPr>
          <p:cNvPr id="67" name="Text 62">
            <a:extLst>
              <a:ext uri="{FF2B5EF4-FFF2-40B4-BE49-F238E27FC236}">
                <a16:creationId xmlns:a16="http://schemas.microsoft.com/office/drawing/2014/main" id="{77F85E39-9BE6-EC85-AC8D-72217B00B763}"/>
              </a:ext>
            </a:extLst>
          </p:cNvPr>
          <p:cNvSpPr/>
          <p:nvPr/>
        </p:nvSpPr>
        <p:spPr>
          <a:xfrm>
            <a:off x="9342435" y="4947640"/>
            <a:ext cx="2377440"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50" b="1">
                <a:solidFill>
                  <a:srgbClr val="E07B39"/>
                </a:solidFill>
              </a:rPr>
              <a:t>What this analysis supports:</a:t>
            </a:r>
            <a:endParaRPr lang="en-US" sz="850"/>
          </a:p>
        </p:txBody>
      </p:sp>
      <p:sp>
        <p:nvSpPr>
          <p:cNvPr id="68" name="Text 63">
            <a:extLst>
              <a:ext uri="{FF2B5EF4-FFF2-40B4-BE49-F238E27FC236}">
                <a16:creationId xmlns:a16="http://schemas.microsoft.com/office/drawing/2014/main" id="{544607C5-BD86-FC81-2536-61D54A2FEC75}"/>
              </a:ext>
            </a:extLst>
          </p:cNvPr>
          <p:cNvSpPr/>
          <p:nvPr/>
        </p:nvSpPr>
        <p:spPr>
          <a:xfrm>
            <a:off x="9352946" y="5113178"/>
            <a:ext cx="237744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750">
                <a:solidFill>
                  <a:srgbClr val="22303F"/>
                </a:solidFill>
              </a:rPr>
              <a:t>Candidate tractable proxies associated with the SOX10-dependent state.</a:t>
            </a:r>
            <a:endParaRPr lang="en-US" sz="750"/>
          </a:p>
        </p:txBody>
      </p:sp>
      <p:sp>
        <p:nvSpPr>
          <p:cNvPr id="69" name="Shape 64">
            <a:extLst>
              <a:ext uri="{FF2B5EF4-FFF2-40B4-BE49-F238E27FC236}">
                <a16:creationId xmlns:a16="http://schemas.microsoft.com/office/drawing/2014/main" id="{79116FB7-E422-8F37-8A38-501BA8584293}"/>
              </a:ext>
            </a:extLst>
          </p:cNvPr>
          <p:cNvSpPr/>
          <p:nvPr/>
        </p:nvSpPr>
        <p:spPr>
          <a:xfrm>
            <a:off x="8990846" y="5522712"/>
            <a:ext cx="2743883" cy="514386"/>
          </a:xfrm>
          <a:prstGeom prst="roundRect">
            <a:avLst>
              <a:gd name="adj" fmla="val 30000"/>
            </a:avLst>
          </a:prstGeom>
          <a:solidFill>
            <a:srgbClr val="EEF3F8"/>
          </a:solidFill>
          <a:ln w="9525">
            <a:solidFill>
              <a:srgbClr val="D4DDE8"/>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0" name="Shape 65">
            <a:extLst>
              <a:ext uri="{FF2B5EF4-FFF2-40B4-BE49-F238E27FC236}">
                <a16:creationId xmlns:a16="http://schemas.microsoft.com/office/drawing/2014/main" id="{FB3DD880-0803-E293-D26F-F2BDEE5C2C2E}"/>
              </a:ext>
            </a:extLst>
          </p:cNvPr>
          <p:cNvSpPr/>
          <p:nvPr/>
        </p:nvSpPr>
        <p:spPr>
          <a:xfrm>
            <a:off x="9036795" y="5672012"/>
            <a:ext cx="224921" cy="224922"/>
          </a:xfrm>
          <a:prstGeom prst="ellipse">
            <a:avLst/>
          </a:prstGeom>
          <a:solidFill>
            <a:srgbClr val="1B2A4A"/>
          </a:solidFill>
          <a:ln w="12700">
            <a:solidFill>
              <a:srgbClr val="1B2A4A"/>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1" name="Text 66">
            <a:extLst>
              <a:ext uri="{FF2B5EF4-FFF2-40B4-BE49-F238E27FC236}">
                <a16:creationId xmlns:a16="http://schemas.microsoft.com/office/drawing/2014/main" id="{E331DA17-F15F-17D8-986B-B016EFFD4AEF}"/>
              </a:ext>
            </a:extLst>
          </p:cNvPr>
          <p:cNvSpPr/>
          <p:nvPr/>
        </p:nvSpPr>
        <p:spPr>
          <a:xfrm>
            <a:off x="8984243" y="5650993"/>
            <a:ext cx="309004" cy="22492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solidFill>
                <a:srgbClr val="000000"/>
              </a:solidFill>
            </a:endParaRPr>
          </a:p>
        </p:txBody>
      </p:sp>
      <p:sp>
        <p:nvSpPr>
          <p:cNvPr id="72" name="Text 67">
            <a:extLst>
              <a:ext uri="{FF2B5EF4-FFF2-40B4-BE49-F238E27FC236}">
                <a16:creationId xmlns:a16="http://schemas.microsoft.com/office/drawing/2014/main" id="{5D977231-B9B3-E0A4-C26F-D25FB6C9AEA3}"/>
              </a:ext>
            </a:extLst>
          </p:cNvPr>
          <p:cNvSpPr/>
          <p:nvPr/>
        </p:nvSpPr>
        <p:spPr>
          <a:xfrm>
            <a:off x="9288938" y="5650992"/>
            <a:ext cx="2468880" cy="31951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50" b="1">
                <a:solidFill>
                  <a:schemeClr val="accent6">
                    <a:lumMod val="76000"/>
                  </a:schemeClr>
                </a:solidFill>
              </a:rPr>
              <a:t>What it does not yet prove: </a:t>
            </a:r>
          </a:p>
          <a:p>
            <a:pPr marL="0" indent="0">
              <a:buNone/>
            </a:pPr>
            <a:r>
              <a:rPr lang="en-US" sz="750"/>
              <a:t>Direct regulation of SOX10, selective </a:t>
            </a:r>
            <a:r>
              <a:rPr lang="en-US" sz="750" err="1"/>
              <a:t>tumour</a:t>
            </a:r>
            <a:r>
              <a:rPr lang="en-US" sz="750"/>
              <a:t> killing, or clinical superiority.</a:t>
            </a:r>
          </a:p>
        </p:txBody>
      </p:sp>
      <p:sp>
        <p:nvSpPr>
          <p:cNvPr id="73" name="Shape 68">
            <a:extLst>
              <a:ext uri="{FF2B5EF4-FFF2-40B4-BE49-F238E27FC236}">
                <a16:creationId xmlns:a16="http://schemas.microsoft.com/office/drawing/2014/main" id="{D6EE80F7-F668-D3C2-575E-48EE8A8BE0F2}"/>
              </a:ext>
            </a:extLst>
          </p:cNvPr>
          <p:cNvSpPr/>
          <p:nvPr/>
        </p:nvSpPr>
        <p:spPr>
          <a:xfrm>
            <a:off x="320040" y="4887468"/>
            <a:ext cx="3931920" cy="1005840"/>
          </a:xfrm>
          <a:prstGeom prst="roundRect">
            <a:avLst>
              <a:gd name="adj" fmla="val 8182"/>
            </a:avLst>
          </a:prstGeom>
          <a:solidFill>
            <a:srgbClr val="FFFFFF"/>
          </a:solidFill>
          <a:ln w="9525">
            <a:solidFill>
              <a:srgbClr val="D4DDE8"/>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4" name="Text 69">
            <a:extLst>
              <a:ext uri="{FF2B5EF4-FFF2-40B4-BE49-F238E27FC236}">
                <a16:creationId xmlns:a16="http://schemas.microsoft.com/office/drawing/2014/main" id="{A390FB81-3800-DA0B-C89D-9F36477F93E7}"/>
              </a:ext>
            </a:extLst>
          </p:cNvPr>
          <p:cNvSpPr/>
          <p:nvPr/>
        </p:nvSpPr>
        <p:spPr>
          <a:xfrm>
            <a:off x="438912" y="4978908"/>
            <a:ext cx="3694176" cy="9144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900">
                <a:solidFill>
                  <a:srgbClr val="22303F"/>
                </a:solidFill>
              </a:rPr>
              <a:t>Lower proxy-priority score = stronger combined computational evidence.</a:t>
            </a:r>
            <a:endParaRPr lang="en-US" sz="900"/>
          </a:p>
          <a:p>
            <a:pPr marL="0" indent="0">
              <a:buNone/>
            </a:pPr>
            <a:r>
              <a:rPr lang="en-US" sz="900">
                <a:solidFill>
                  <a:srgbClr val="22303F"/>
                </a:solidFill>
              </a:rPr>
              <a:t>BRAF &amp; MAPK1 serve as positive controls.</a:t>
            </a:r>
            <a:endParaRPr lang="en-US" sz="900"/>
          </a:p>
        </p:txBody>
      </p:sp>
      <p:sp>
        <p:nvSpPr>
          <p:cNvPr id="75" name="Shape 70">
            <a:extLst>
              <a:ext uri="{FF2B5EF4-FFF2-40B4-BE49-F238E27FC236}">
                <a16:creationId xmlns:a16="http://schemas.microsoft.com/office/drawing/2014/main" id="{36A7F36E-BC98-1033-5F91-4EB7AB0506CC}"/>
              </a:ext>
            </a:extLst>
          </p:cNvPr>
          <p:cNvSpPr/>
          <p:nvPr/>
        </p:nvSpPr>
        <p:spPr>
          <a:xfrm>
            <a:off x="0" y="6336792"/>
            <a:ext cx="12161520" cy="521208"/>
          </a:xfrm>
          <a:prstGeom prst="rect">
            <a:avLst/>
          </a:prstGeom>
          <a:solidFill>
            <a:srgbClr val="1B2A4A"/>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6" name="Shape 71">
            <a:extLst>
              <a:ext uri="{FF2B5EF4-FFF2-40B4-BE49-F238E27FC236}">
                <a16:creationId xmlns:a16="http://schemas.microsoft.com/office/drawing/2014/main" id="{0E098542-272E-4F03-33AD-1EE7A34FE182}"/>
              </a:ext>
            </a:extLst>
          </p:cNvPr>
          <p:cNvSpPr/>
          <p:nvPr/>
        </p:nvSpPr>
        <p:spPr>
          <a:xfrm>
            <a:off x="228600" y="6441948"/>
            <a:ext cx="310896" cy="310896"/>
          </a:xfrm>
          <a:prstGeom prst="ellipse">
            <a:avLst/>
          </a:prstGeom>
          <a:solidFill>
            <a:srgbClr val="0E6B7C"/>
          </a:solidFill>
          <a:ln w="12700">
            <a:solidFill>
              <a:srgbClr val="0E6B7C"/>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7" name="Text 72">
            <a:extLst>
              <a:ext uri="{FF2B5EF4-FFF2-40B4-BE49-F238E27FC236}">
                <a16:creationId xmlns:a16="http://schemas.microsoft.com/office/drawing/2014/main" id="{F569C395-B7EA-9355-661F-0BF5E8AB2184}"/>
              </a:ext>
            </a:extLst>
          </p:cNvPr>
          <p:cNvSpPr/>
          <p:nvPr/>
        </p:nvSpPr>
        <p:spPr>
          <a:xfrm>
            <a:off x="228600" y="6441948"/>
            <a:ext cx="310896" cy="310896"/>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78" name="Text 73">
            <a:extLst>
              <a:ext uri="{FF2B5EF4-FFF2-40B4-BE49-F238E27FC236}">
                <a16:creationId xmlns:a16="http://schemas.microsoft.com/office/drawing/2014/main" id="{E20BA304-4B31-8067-D004-03CEBEC4F99E}"/>
              </a:ext>
            </a:extLst>
          </p:cNvPr>
          <p:cNvSpPr/>
          <p:nvPr/>
        </p:nvSpPr>
        <p:spPr>
          <a:xfrm>
            <a:off x="658368" y="6336792"/>
            <a:ext cx="11356848" cy="5212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b="1">
                <a:solidFill>
                  <a:srgbClr val="FFFFFF"/>
                </a:solidFill>
              </a:rPr>
              <a:t>Takeaway:  </a:t>
            </a:r>
            <a:r>
              <a:rPr lang="en-US" sz="1050">
                <a:solidFill>
                  <a:srgbClr val="FFFFFF"/>
                </a:solidFill>
              </a:rPr>
              <a:t>SOX10 may be difficult to drug directly, but AMD1, PGM3, and LCMT1 provide tractable entry points into the SOX10-dependent melanoma state.</a:t>
            </a:r>
            <a:endParaRPr lang="en-US" sz="1050"/>
          </a:p>
        </p:txBody>
      </p:sp>
      <p:sp>
        <p:nvSpPr>
          <p:cNvPr id="79" name="Text 74">
            <a:extLst>
              <a:ext uri="{FF2B5EF4-FFF2-40B4-BE49-F238E27FC236}">
                <a16:creationId xmlns:a16="http://schemas.microsoft.com/office/drawing/2014/main" id="{EE1AD424-8716-F08E-50A1-02BD73C3792F}"/>
              </a:ext>
            </a:extLst>
          </p:cNvPr>
          <p:cNvSpPr/>
          <p:nvPr/>
        </p:nvSpPr>
        <p:spPr>
          <a:xfrm>
            <a:off x="658368" y="6336792"/>
            <a:ext cx="1371600" cy="5212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50" b="1">
              <a:solidFill>
                <a:srgbClr val="FFFFFF"/>
              </a:solidFill>
            </a:endParaRPr>
          </a:p>
        </p:txBody>
      </p:sp>
      <p:pic>
        <p:nvPicPr>
          <p:cNvPr id="80" name="Picture 79" descr="A graph of a blue and orange dot&#10;&#10;AI-generated content may be incorrect.">
            <a:extLst>
              <a:ext uri="{FF2B5EF4-FFF2-40B4-BE49-F238E27FC236}">
                <a16:creationId xmlns:a16="http://schemas.microsoft.com/office/drawing/2014/main" id="{3A707D26-FC2C-B151-A549-94B508675061}"/>
              </a:ext>
            </a:extLst>
          </p:cNvPr>
          <p:cNvPicPr>
            <a:picLocks noChangeAspect="1"/>
          </p:cNvPicPr>
          <p:nvPr/>
        </p:nvPicPr>
        <p:blipFill>
          <a:blip r:embed="rId3"/>
          <a:stretch>
            <a:fillRect/>
          </a:stretch>
        </p:blipFill>
        <p:spPr>
          <a:xfrm>
            <a:off x="692344" y="2185425"/>
            <a:ext cx="3318376" cy="2571741"/>
          </a:xfrm>
          <a:prstGeom prst="rect">
            <a:avLst/>
          </a:prstGeom>
        </p:spPr>
      </p:pic>
      <p:pic>
        <p:nvPicPr>
          <p:cNvPr id="81" name="Picture 80" descr="A graph of a person's health&#10;&#10;AI-generated content may be incorrect.">
            <a:extLst>
              <a:ext uri="{FF2B5EF4-FFF2-40B4-BE49-F238E27FC236}">
                <a16:creationId xmlns:a16="http://schemas.microsoft.com/office/drawing/2014/main" id="{8D6C6095-4432-03FD-6E55-9686631BC532}"/>
              </a:ext>
            </a:extLst>
          </p:cNvPr>
          <p:cNvPicPr>
            <a:picLocks noChangeAspect="1"/>
          </p:cNvPicPr>
          <p:nvPr/>
        </p:nvPicPr>
        <p:blipFill>
          <a:blip r:embed="rId4"/>
          <a:stretch>
            <a:fillRect/>
          </a:stretch>
        </p:blipFill>
        <p:spPr>
          <a:xfrm>
            <a:off x="4482084" y="2221514"/>
            <a:ext cx="4221317" cy="3520918"/>
          </a:xfrm>
          <a:prstGeom prst="rect">
            <a:avLst/>
          </a:prstGeom>
        </p:spPr>
      </p:pic>
      <p:pic>
        <p:nvPicPr>
          <p:cNvPr id="82" name="Graphic 81">
            <a:extLst>
              <a:ext uri="{FF2B5EF4-FFF2-40B4-BE49-F238E27FC236}">
                <a16:creationId xmlns:a16="http://schemas.microsoft.com/office/drawing/2014/main" id="{9932472D-2E71-9872-9AAA-5EA5DB518A8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85205" y="5646793"/>
            <a:ext cx="322918" cy="285618"/>
          </a:xfrm>
          <a:prstGeom prst="rect">
            <a:avLst/>
          </a:prstGeom>
        </p:spPr>
      </p:pic>
      <p:pic>
        <p:nvPicPr>
          <p:cNvPr id="83" name="Graphic 82">
            <a:extLst>
              <a:ext uri="{FF2B5EF4-FFF2-40B4-BE49-F238E27FC236}">
                <a16:creationId xmlns:a16="http://schemas.microsoft.com/office/drawing/2014/main" id="{7EF18A6D-23F3-B063-C49F-D54BA57C955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17180" y="5055311"/>
            <a:ext cx="274958" cy="227001"/>
          </a:xfrm>
          <a:prstGeom prst="rect">
            <a:avLst/>
          </a:prstGeom>
        </p:spPr>
      </p:pic>
    </p:spTree>
    <p:extLst>
      <p:ext uri="{BB962C8B-B14F-4D97-AF65-F5344CB8AC3E}">
        <p14:creationId xmlns:p14="http://schemas.microsoft.com/office/powerpoint/2010/main" val="22396238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AB3306-8303-9320-550A-F8273DDB062F}"/>
            </a:ext>
          </a:extLst>
        </p:cNvPr>
        <p:cNvGrpSpPr/>
        <p:nvPr/>
      </p:nvGrpSpPr>
      <p:grpSpPr>
        <a:xfrm>
          <a:off x="0" y="0"/>
          <a:ext cx="0" cy="0"/>
          <a:chOff x="0" y="0"/>
          <a:chExt cx="0" cy="0"/>
        </a:xfrm>
      </p:grpSpPr>
      <p:sp>
        <p:nvSpPr>
          <p:cNvPr id="5" name="Date Placeholder 4">
            <a:extLst>
              <a:ext uri="{FF2B5EF4-FFF2-40B4-BE49-F238E27FC236}">
                <a16:creationId xmlns:a16="http://schemas.microsoft.com/office/drawing/2014/main" id="{57BDBE0B-C30B-C2B6-DE0F-C2C9C4637E10}"/>
              </a:ext>
            </a:extLst>
          </p:cNvPr>
          <p:cNvSpPr>
            <a:spLocks noGrp="1"/>
          </p:cNvSpPr>
          <p:nvPr>
            <p:ph type="dt" sz="half" idx="10"/>
          </p:nvPr>
        </p:nvSpPr>
        <p:spPr/>
        <p:txBody>
          <a:bodyPr/>
          <a:lstStyle/>
          <a:p>
            <a:fld id="{79DE17D0-60CD-46C9-BD04-B48B62216DD5}" type="datetime1">
              <a:t>8/9/2026</a:t>
            </a:fld>
            <a:endParaRPr lang="en-US"/>
          </a:p>
        </p:txBody>
      </p:sp>
      <p:sp>
        <p:nvSpPr>
          <p:cNvPr id="25" name="Text 0">
            <a:extLst>
              <a:ext uri="{FF2B5EF4-FFF2-40B4-BE49-F238E27FC236}">
                <a16:creationId xmlns:a16="http://schemas.microsoft.com/office/drawing/2014/main" id="{9068E78D-7A78-E4E2-DAB2-AD97AB24221F}"/>
              </a:ext>
            </a:extLst>
          </p:cNvPr>
          <p:cNvSpPr/>
          <p:nvPr/>
        </p:nvSpPr>
        <p:spPr>
          <a:xfrm>
            <a:off x="502920" y="320040"/>
            <a:ext cx="11247120" cy="4114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700" b="1">
                <a:solidFill>
                  <a:srgbClr val="17294D"/>
                </a:solidFill>
                <a:latin typeface="Calibri"/>
                <a:ea typeface="Calibri"/>
                <a:cs typeface="Calibri"/>
              </a:rPr>
              <a:t>3.4a Methods for SOX10 knockdown signature and LINCS mimic search</a:t>
            </a:r>
            <a:endParaRPr lang="en-US" sz="2700" b="1">
              <a:latin typeface="Calibri"/>
              <a:ea typeface="Calibri"/>
              <a:cs typeface="Calibri"/>
            </a:endParaRPr>
          </a:p>
        </p:txBody>
      </p:sp>
      <p:sp>
        <p:nvSpPr>
          <p:cNvPr id="26" name="Shape 1">
            <a:extLst>
              <a:ext uri="{FF2B5EF4-FFF2-40B4-BE49-F238E27FC236}">
                <a16:creationId xmlns:a16="http://schemas.microsoft.com/office/drawing/2014/main" id="{B631A895-83AE-F272-4906-5137240C8D6E}"/>
              </a:ext>
            </a:extLst>
          </p:cNvPr>
          <p:cNvSpPr/>
          <p:nvPr/>
        </p:nvSpPr>
        <p:spPr>
          <a:xfrm>
            <a:off x="512064" y="804672"/>
            <a:ext cx="1417320" cy="54864"/>
          </a:xfrm>
          <a:prstGeom prst="rect">
            <a:avLst/>
          </a:prstGeom>
          <a:solidFill>
            <a:srgbClr val="E67833"/>
          </a:solidFill>
          <a:ln w="12700">
            <a:solidFill>
              <a:srgbClr val="E67833"/>
            </a:solidFill>
            <a:prstDash val="solid"/>
          </a:ln>
        </p:spPr>
        <p:txBody>
          <a:bodyPr/>
          <a:lstStyle/>
          <a:p>
            <a:endParaRPr lang="en-US"/>
          </a:p>
        </p:txBody>
      </p:sp>
      <p:sp>
        <p:nvSpPr>
          <p:cNvPr id="27" name="Text 2">
            <a:extLst>
              <a:ext uri="{FF2B5EF4-FFF2-40B4-BE49-F238E27FC236}">
                <a16:creationId xmlns:a16="http://schemas.microsoft.com/office/drawing/2014/main" id="{125837C5-3407-8465-511C-5474A8AD457D}"/>
              </a:ext>
            </a:extLst>
          </p:cNvPr>
          <p:cNvSpPr/>
          <p:nvPr/>
        </p:nvSpPr>
        <p:spPr>
          <a:xfrm>
            <a:off x="502920" y="969264"/>
            <a:ext cx="11064240"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i="1" dirty="0">
                <a:solidFill>
                  <a:srgbClr val="7E91A8"/>
                </a:solidFill>
              </a:rPr>
              <a:t>An independent perturbation dataset was used to ask which compounds produce expression changes similar to SOX10 suppression.</a:t>
            </a:r>
            <a:endParaRPr lang="en-US" sz="1050" dirty="0"/>
          </a:p>
        </p:txBody>
      </p:sp>
      <p:sp>
        <p:nvSpPr>
          <p:cNvPr id="28" name="Shape 3">
            <a:extLst>
              <a:ext uri="{FF2B5EF4-FFF2-40B4-BE49-F238E27FC236}">
                <a16:creationId xmlns:a16="http://schemas.microsoft.com/office/drawing/2014/main" id="{28960FDB-2BA7-DFEB-45F6-4402A701D642}"/>
              </a:ext>
            </a:extLst>
          </p:cNvPr>
          <p:cNvSpPr/>
          <p:nvPr/>
        </p:nvSpPr>
        <p:spPr>
          <a:xfrm>
            <a:off x="502920" y="1243584"/>
            <a:ext cx="2706624" cy="384048"/>
          </a:xfrm>
          <a:prstGeom prst="roundRect">
            <a:avLst>
              <a:gd name="adj" fmla="val 19048"/>
            </a:avLst>
          </a:prstGeom>
          <a:solidFill>
            <a:srgbClr val="0E7485"/>
          </a:solidFill>
          <a:ln w="12700">
            <a:solidFill>
              <a:srgbClr val="FFFFFF"/>
            </a:solidFill>
            <a:prstDash val="solid"/>
          </a:ln>
        </p:spPr>
        <p:txBody>
          <a:bodyPr/>
          <a:lstStyle/>
          <a:p>
            <a:endParaRPr lang="en-US"/>
          </a:p>
        </p:txBody>
      </p:sp>
      <p:sp>
        <p:nvSpPr>
          <p:cNvPr id="29" name="Text 4">
            <a:extLst>
              <a:ext uri="{FF2B5EF4-FFF2-40B4-BE49-F238E27FC236}">
                <a16:creationId xmlns:a16="http://schemas.microsoft.com/office/drawing/2014/main" id="{4456577E-0FC6-9B28-5EAC-87076CB7599B}"/>
              </a:ext>
            </a:extLst>
          </p:cNvPr>
          <p:cNvSpPr/>
          <p:nvPr/>
        </p:nvSpPr>
        <p:spPr>
          <a:xfrm>
            <a:off x="548640" y="1362456"/>
            <a:ext cx="2615184" cy="12801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a:solidFill>
                  <a:srgbClr val="FFFFFF"/>
                </a:solidFill>
              </a:rPr>
              <a:t>siSOX10 RNA-seq</a:t>
            </a:r>
            <a:endParaRPr lang="en-US" sz="850"/>
          </a:p>
        </p:txBody>
      </p:sp>
      <p:sp>
        <p:nvSpPr>
          <p:cNvPr id="30" name="Shape 5">
            <a:extLst>
              <a:ext uri="{FF2B5EF4-FFF2-40B4-BE49-F238E27FC236}">
                <a16:creationId xmlns:a16="http://schemas.microsoft.com/office/drawing/2014/main" id="{FA9E638E-0D70-DE16-7B49-605A54513A16}"/>
              </a:ext>
            </a:extLst>
          </p:cNvPr>
          <p:cNvSpPr/>
          <p:nvPr/>
        </p:nvSpPr>
        <p:spPr>
          <a:xfrm>
            <a:off x="3319272" y="1243584"/>
            <a:ext cx="2706624" cy="384048"/>
          </a:xfrm>
          <a:prstGeom prst="roundRect">
            <a:avLst>
              <a:gd name="adj" fmla="val 19048"/>
            </a:avLst>
          </a:prstGeom>
          <a:solidFill>
            <a:srgbClr val="EAF1F7"/>
          </a:solidFill>
          <a:ln w="12700">
            <a:solidFill>
              <a:srgbClr val="D7E1EA"/>
            </a:solidFill>
            <a:prstDash val="solid"/>
          </a:ln>
        </p:spPr>
        <p:txBody>
          <a:bodyPr/>
          <a:lstStyle/>
          <a:p>
            <a:endParaRPr lang="en-US"/>
          </a:p>
        </p:txBody>
      </p:sp>
      <p:sp>
        <p:nvSpPr>
          <p:cNvPr id="31" name="Text 6">
            <a:extLst>
              <a:ext uri="{FF2B5EF4-FFF2-40B4-BE49-F238E27FC236}">
                <a16:creationId xmlns:a16="http://schemas.microsoft.com/office/drawing/2014/main" id="{7DB4D4CC-23E3-A1C5-F867-6310092DC823}"/>
              </a:ext>
            </a:extLst>
          </p:cNvPr>
          <p:cNvSpPr/>
          <p:nvPr/>
        </p:nvSpPr>
        <p:spPr>
          <a:xfrm>
            <a:off x="3364992" y="1362456"/>
            <a:ext cx="2615184" cy="12801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a:solidFill>
                  <a:srgbClr val="17294D"/>
                </a:solidFill>
              </a:rPr>
              <a:t>Differential expression</a:t>
            </a:r>
            <a:endParaRPr lang="en-US" sz="850"/>
          </a:p>
        </p:txBody>
      </p:sp>
      <p:sp>
        <p:nvSpPr>
          <p:cNvPr id="32" name="Shape 7">
            <a:extLst>
              <a:ext uri="{FF2B5EF4-FFF2-40B4-BE49-F238E27FC236}">
                <a16:creationId xmlns:a16="http://schemas.microsoft.com/office/drawing/2014/main" id="{25BB3768-4BBF-C2FF-382A-522814682BE1}"/>
              </a:ext>
            </a:extLst>
          </p:cNvPr>
          <p:cNvSpPr/>
          <p:nvPr/>
        </p:nvSpPr>
        <p:spPr>
          <a:xfrm>
            <a:off x="6135624" y="1243584"/>
            <a:ext cx="2706624" cy="384048"/>
          </a:xfrm>
          <a:prstGeom prst="roundRect">
            <a:avLst>
              <a:gd name="adj" fmla="val 19048"/>
            </a:avLst>
          </a:prstGeom>
          <a:solidFill>
            <a:srgbClr val="EAF1F7"/>
          </a:solidFill>
          <a:ln w="12700">
            <a:solidFill>
              <a:srgbClr val="D7E1EA"/>
            </a:solidFill>
            <a:prstDash val="solid"/>
          </a:ln>
        </p:spPr>
        <p:txBody>
          <a:bodyPr/>
          <a:lstStyle/>
          <a:p>
            <a:endParaRPr lang="en-US"/>
          </a:p>
        </p:txBody>
      </p:sp>
      <p:sp>
        <p:nvSpPr>
          <p:cNvPr id="33" name="Text 8">
            <a:extLst>
              <a:ext uri="{FF2B5EF4-FFF2-40B4-BE49-F238E27FC236}">
                <a16:creationId xmlns:a16="http://schemas.microsoft.com/office/drawing/2014/main" id="{C0313622-5D81-ECE0-82DE-83891A3ED4E8}"/>
              </a:ext>
            </a:extLst>
          </p:cNvPr>
          <p:cNvSpPr/>
          <p:nvPr/>
        </p:nvSpPr>
        <p:spPr>
          <a:xfrm>
            <a:off x="6181344" y="1362456"/>
            <a:ext cx="2615184" cy="12801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a:solidFill>
                  <a:srgbClr val="17294D"/>
                </a:solidFill>
              </a:rPr>
              <a:t>Up/down signature</a:t>
            </a:r>
            <a:endParaRPr lang="en-US" sz="850"/>
          </a:p>
        </p:txBody>
      </p:sp>
      <p:sp>
        <p:nvSpPr>
          <p:cNvPr id="34" name="Shape 9">
            <a:extLst>
              <a:ext uri="{FF2B5EF4-FFF2-40B4-BE49-F238E27FC236}">
                <a16:creationId xmlns:a16="http://schemas.microsoft.com/office/drawing/2014/main" id="{5D7D7C82-82C7-3F43-3A88-BA121532AC6B}"/>
              </a:ext>
            </a:extLst>
          </p:cNvPr>
          <p:cNvSpPr/>
          <p:nvPr/>
        </p:nvSpPr>
        <p:spPr>
          <a:xfrm>
            <a:off x="8951976" y="1243584"/>
            <a:ext cx="2706624" cy="384048"/>
          </a:xfrm>
          <a:prstGeom prst="roundRect">
            <a:avLst>
              <a:gd name="adj" fmla="val 19048"/>
            </a:avLst>
          </a:prstGeom>
          <a:solidFill>
            <a:srgbClr val="E67833"/>
          </a:solidFill>
          <a:ln w="12700">
            <a:solidFill>
              <a:srgbClr val="FFFFFF"/>
            </a:solidFill>
            <a:prstDash val="solid"/>
          </a:ln>
        </p:spPr>
        <p:txBody>
          <a:bodyPr/>
          <a:lstStyle/>
          <a:p>
            <a:endParaRPr lang="en-US"/>
          </a:p>
        </p:txBody>
      </p:sp>
      <p:sp>
        <p:nvSpPr>
          <p:cNvPr id="35" name="Text 10">
            <a:extLst>
              <a:ext uri="{FF2B5EF4-FFF2-40B4-BE49-F238E27FC236}">
                <a16:creationId xmlns:a16="http://schemas.microsoft.com/office/drawing/2014/main" id="{5D2554E7-BA21-03E6-4C33-25718427CAC5}"/>
              </a:ext>
            </a:extLst>
          </p:cNvPr>
          <p:cNvSpPr/>
          <p:nvPr/>
        </p:nvSpPr>
        <p:spPr>
          <a:xfrm>
            <a:off x="8997696" y="1362456"/>
            <a:ext cx="2615184" cy="12801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50" b="1">
                <a:solidFill>
                  <a:srgbClr val="FFFFFF"/>
                </a:solidFill>
              </a:rPr>
              <a:t>LINCS mimic query</a:t>
            </a:r>
            <a:endParaRPr lang="en-US" sz="850"/>
          </a:p>
        </p:txBody>
      </p:sp>
      <p:sp>
        <p:nvSpPr>
          <p:cNvPr id="36" name="Shape 11">
            <a:extLst>
              <a:ext uri="{FF2B5EF4-FFF2-40B4-BE49-F238E27FC236}">
                <a16:creationId xmlns:a16="http://schemas.microsoft.com/office/drawing/2014/main" id="{00909381-BE54-01AC-A02F-AC2494DB0CEB}"/>
              </a:ext>
            </a:extLst>
          </p:cNvPr>
          <p:cNvSpPr/>
          <p:nvPr/>
        </p:nvSpPr>
        <p:spPr>
          <a:xfrm>
            <a:off x="502920" y="1810512"/>
            <a:ext cx="3657600" cy="4297680"/>
          </a:xfrm>
          <a:prstGeom prst="roundRect">
            <a:avLst>
              <a:gd name="adj" fmla="val 2000"/>
            </a:avLst>
          </a:prstGeom>
          <a:solidFill>
            <a:srgbClr val="FFFFFF"/>
          </a:solidFill>
          <a:ln w="12700">
            <a:solidFill>
              <a:srgbClr val="D7E1EA"/>
            </a:solidFill>
            <a:prstDash val="solid"/>
          </a:ln>
        </p:spPr>
        <p:txBody>
          <a:bodyPr/>
          <a:lstStyle/>
          <a:p>
            <a:endParaRPr lang="en-US"/>
          </a:p>
        </p:txBody>
      </p:sp>
      <p:sp>
        <p:nvSpPr>
          <p:cNvPr id="37" name="Shape 12">
            <a:extLst>
              <a:ext uri="{FF2B5EF4-FFF2-40B4-BE49-F238E27FC236}">
                <a16:creationId xmlns:a16="http://schemas.microsoft.com/office/drawing/2014/main" id="{10A05599-2AC1-FEE8-E6B4-CB32FCD990CF}"/>
              </a:ext>
            </a:extLst>
          </p:cNvPr>
          <p:cNvSpPr/>
          <p:nvPr/>
        </p:nvSpPr>
        <p:spPr>
          <a:xfrm>
            <a:off x="576072" y="1883664"/>
            <a:ext cx="3511296" cy="329184"/>
          </a:xfrm>
          <a:prstGeom prst="roundRect">
            <a:avLst>
              <a:gd name="adj" fmla="val 22222"/>
            </a:avLst>
          </a:prstGeom>
          <a:solidFill>
            <a:srgbClr val="17294D"/>
          </a:solidFill>
          <a:ln w="12700">
            <a:solidFill>
              <a:srgbClr val="17294D"/>
            </a:solidFill>
            <a:prstDash val="solid"/>
          </a:ln>
        </p:spPr>
        <p:txBody>
          <a:bodyPr/>
          <a:lstStyle/>
          <a:p>
            <a:endParaRPr lang="en-US"/>
          </a:p>
        </p:txBody>
      </p:sp>
      <p:sp>
        <p:nvSpPr>
          <p:cNvPr id="38" name="Text 13">
            <a:extLst>
              <a:ext uri="{FF2B5EF4-FFF2-40B4-BE49-F238E27FC236}">
                <a16:creationId xmlns:a16="http://schemas.microsoft.com/office/drawing/2014/main" id="{A85F2A79-0425-57AD-0D7A-03E4992D142A}"/>
              </a:ext>
            </a:extLst>
          </p:cNvPr>
          <p:cNvSpPr/>
          <p:nvPr/>
        </p:nvSpPr>
        <p:spPr>
          <a:xfrm>
            <a:off x="640080" y="1975104"/>
            <a:ext cx="3383280" cy="12801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20" b="1">
                <a:solidFill>
                  <a:srgbClr val="FFFFFF"/>
                </a:solidFill>
              </a:rPr>
              <a:t>1. Independent perturbation data</a:t>
            </a:r>
            <a:endParaRPr lang="en-US" sz="920"/>
          </a:p>
        </p:txBody>
      </p:sp>
      <p:sp>
        <p:nvSpPr>
          <p:cNvPr id="39" name="Text 14">
            <a:extLst>
              <a:ext uri="{FF2B5EF4-FFF2-40B4-BE49-F238E27FC236}">
                <a16:creationId xmlns:a16="http://schemas.microsoft.com/office/drawing/2014/main" id="{581320FC-086D-C956-C7FC-9AC907FAF922}"/>
              </a:ext>
            </a:extLst>
          </p:cNvPr>
          <p:cNvSpPr/>
          <p:nvPr/>
        </p:nvSpPr>
        <p:spPr>
          <a:xfrm>
            <a:off x="749808" y="2331720"/>
            <a:ext cx="3182112" cy="1920240"/>
          </a:xfrm>
          <a:prstGeom prst="rect">
            <a:avLst/>
          </a:prstGeom>
          <a:noFill/>
          <a:ln/>
        </p:spPr>
        <p:txBody>
          <a:bodyPr wrap="square" lIns="381" tIns="381" rIns="381" bIns="381"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a:solidFill>
                  <a:srgbClr val="172033"/>
                </a:solidFill>
              </a:rPr>
              <a:t>• </a:t>
            </a:r>
            <a:r>
              <a:rPr lang="en-US" sz="1100">
                <a:solidFill>
                  <a:srgbClr val="172033"/>
                </a:solidFill>
              </a:rPr>
              <a:t>Dataset: GSE256466 raw RNA-seq counts from seven melanoma cell lines treated with siSOX10 or </a:t>
            </a:r>
            <a:r>
              <a:rPr lang="en-US" sz="1100" err="1">
                <a:solidFill>
                  <a:srgbClr val="172033"/>
                </a:solidFill>
              </a:rPr>
              <a:t>siControl</a:t>
            </a:r>
            <a:r>
              <a:rPr lang="en-US" sz="1100">
                <a:solidFill>
                  <a:srgbClr val="172033"/>
                </a:solidFill>
              </a:rPr>
              <a:t>.
</a:t>
            </a:r>
            <a:r>
              <a:rPr lang="en-US" sz="1100" b="1">
                <a:solidFill>
                  <a:srgbClr val="172033"/>
                </a:solidFill>
              </a:rPr>
              <a:t>• </a:t>
            </a:r>
            <a:r>
              <a:rPr lang="en-US" sz="1100">
                <a:solidFill>
                  <a:srgbClr val="172033"/>
                </a:solidFill>
              </a:rPr>
              <a:t>Sample names were parsed into </a:t>
            </a:r>
            <a:r>
              <a:rPr lang="en-US" sz="1100" err="1">
                <a:solidFill>
                  <a:srgbClr val="172033"/>
                </a:solidFill>
              </a:rPr>
              <a:t>cell_line</a:t>
            </a:r>
            <a:r>
              <a:rPr lang="en-US" sz="1100">
                <a:solidFill>
                  <a:srgbClr val="172033"/>
                </a:solidFill>
              </a:rPr>
              <a:t> and treatment.
</a:t>
            </a:r>
            <a:r>
              <a:rPr lang="en-US" sz="1100" b="1">
                <a:solidFill>
                  <a:srgbClr val="172033"/>
                </a:solidFill>
              </a:rPr>
              <a:t>• </a:t>
            </a:r>
            <a:r>
              <a:rPr lang="en-US" sz="1100">
                <a:solidFill>
                  <a:srgbClr val="172033"/>
                </a:solidFill>
              </a:rPr>
              <a:t>Low-count genes were removed: retain genes with count ≥ 10 in at least 2 samples.
</a:t>
            </a:r>
            <a:r>
              <a:rPr lang="en-US" sz="1100" b="1">
                <a:solidFill>
                  <a:srgbClr val="172033"/>
                </a:solidFill>
              </a:rPr>
              <a:t>• </a:t>
            </a:r>
            <a:r>
              <a:rPr lang="en-US" sz="1100">
                <a:solidFill>
                  <a:srgbClr val="172033"/>
                </a:solidFill>
              </a:rPr>
              <a:t>Quality check: SOX10 and MITF decreased strongly after SOX10 knockdown.</a:t>
            </a:r>
            <a:endParaRPr lang="en-US" sz="1100"/>
          </a:p>
        </p:txBody>
      </p:sp>
      <p:sp>
        <p:nvSpPr>
          <p:cNvPr id="40" name="Text 15">
            <a:extLst>
              <a:ext uri="{FF2B5EF4-FFF2-40B4-BE49-F238E27FC236}">
                <a16:creationId xmlns:a16="http://schemas.microsoft.com/office/drawing/2014/main" id="{1DA4F351-843F-DAFA-1D80-D8ED1F53B792}"/>
              </a:ext>
            </a:extLst>
          </p:cNvPr>
          <p:cNvSpPr/>
          <p:nvPr/>
        </p:nvSpPr>
        <p:spPr>
          <a:xfrm>
            <a:off x="749808" y="4681728"/>
            <a:ext cx="3182112" cy="502920"/>
          </a:xfrm>
          <a:prstGeom prst="rect">
            <a:avLst/>
          </a:prstGeom>
          <a:noFill/>
          <a:ln/>
        </p:spPr>
        <p:txBody>
          <a:bodyPr wrap="square" lIns="508" tIns="508" rIns="508" bIns="508"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a:solidFill>
                  <a:srgbClr val="17294D"/>
                </a:solidFill>
              </a:rPr>
              <a:t>This step is independent of </a:t>
            </a:r>
            <a:r>
              <a:rPr lang="en-US" sz="1100" err="1">
                <a:solidFill>
                  <a:srgbClr val="17294D"/>
                </a:solidFill>
              </a:rPr>
              <a:t>DepMap</a:t>
            </a:r>
            <a:r>
              <a:rPr lang="en-US" sz="1100">
                <a:solidFill>
                  <a:srgbClr val="17294D"/>
                </a:solidFill>
              </a:rPr>
              <a:t> and was used only to define a perturbation signature for compound matching.</a:t>
            </a:r>
            <a:endParaRPr lang="en-US" sz="1100"/>
          </a:p>
        </p:txBody>
      </p:sp>
      <p:sp>
        <p:nvSpPr>
          <p:cNvPr id="41" name="Shape 16">
            <a:extLst>
              <a:ext uri="{FF2B5EF4-FFF2-40B4-BE49-F238E27FC236}">
                <a16:creationId xmlns:a16="http://schemas.microsoft.com/office/drawing/2014/main" id="{3C9444C1-F1E1-EBE3-FC15-4B99BA8685C4}"/>
              </a:ext>
            </a:extLst>
          </p:cNvPr>
          <p:cNvSpPr/>
          <p:nvPr/>
        </p:nvSpPr>
        <p:spPr>
          <a:xfrm>
            <a:off x="4434840" y="1810512"/>
            <a:ext cx="3840480" cy="4297680"/>
          </a:xfrm>
          <a:prstGeom prst="roundRect">
            <a:avLst>
              <a:gd name="adj" fmla="val 1905"/>
            </a:avLst>
          </a:prstGeom>
          <a:solidFill>
            <a:srgbClr val="FFFFFF"/>
          </a:solidFill>
          <a:ln w="12700">
            <a:solidFill>
              <a:srgbClr val="D7E1EA"/>
            </a:solidFill>
            <a:prstDash val="solid"/>
          </a:ln>
        </p:spPr>
        <p:txBody>
          <a:bodyPr/>
          <a:lstStyle/>
          <a:p>
            <a:endParaRPr lang="en-US"/>
          </a:p>
        </p:txBody>
      </p:sp>
      <p:sp>
        <p:nvSpPr>
          <p:cNvPr id="42" name="Shape 17">
            <a:extLst>
              <a:ext uri="{FF2B5EF4-FFF2-40B4-BE49-F238E27FC236}">
                <a16:creationId xmlns:a16="http://schemas.microsoft.com/office/drawing/2014/main" id="{9C2D480B-4D19-2F1A-56A7-8940757E795F}"/>
              </a:ext>
            </a:extLst>
          </p:cNvPr>
          <p:cNvSpPr/>
          <p:nvPr/>
        </p:nvSpPr>
        <p:spPr>
          <a:xfrm>
            <a:off x="4507992" y="1883664"/>
            <a:ext cx="3694176" cy="329184"/>
          </a:xfrm>
          <a:prstGeom prst="roundRect">
            <a:avLst>
              <a:gd name="adj" fmla="val 22222"/>
            </a:avLst>
          </a:prstGeom>
          <a:solidFill>
            <a:srgbClr val="17294D"/>
          </a:solidFill>
          <a:ln w="12700">
            <a:solidFill>
              <a:srgbClr val="17294D"/>
            </a:solidFill>
            <a:prstDash val="solid"/>
          </a:ln>
        </p:spPr>
        <p:txBody>
          <a:bodyPr/>
          <a:lstStyle/>
          <a:p>
            <a:endParaRPr lang="en-US"/>
          </a:p>
        </p:txBody>
      </p:sp>
      <p:sp>
        <p:nvSpPr>
          <p:cNvPr id="43" name="Text 18">
            <a:extLst>
              <a:ext uri="{FF2B5EF4-FFF2-40B4-BE49-F238E27FC236}">
                <a16:creationId xmlns:a16="http://schemas.microsoft.com/office/drawing/2014/main" id="{56DDF6BA-7C3B-4162-0AEF-5F3D0707A6A0}"/>
              </a:ext>
            </a:extLst>
          </p:cNvPr>
          <p:cNvSpPr/>
          <p:nvPr/>
        </p:nvSpPr>
        <p:spPr>
          <a:xfrm>
            <a:off x="4572000" y="1975104"/>
            <a:ext cx="3566160" cy="12801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b="1">
                <a:solidFill>
                  <a:srgbClr val="FFFFFF"/>
                </a:solidFill>
              </a:rPr>
              <a:t>2. Differential-expression output</a:t>
            </a:r>
            <a:endParaRPr lang="en-US" sz="920"/>
          </a:p>
        </p:txBody>
      </p:sp>
      <p:sp>
        <p:nvSpPr>
          <p:cNvPr id="44" name="Shape 19">
            <a:extLst>
              <a:ext uri="{FF2B5EF4-FFF2-40B4-BE49-F238E27FC236}">
                <a16:creationId xmlns:a16="http://schemas.microsoft.com/office/drawing/2014/main" id="{BF472962-9C6A-A7DF-FB87-0C1DC39F8611}"/>
              </a:ext>
            </a:extLst>
          </p:cNvPr>
          <p:cNvSpPr/>
          <p:nvPr/>
        </p:nvSpPr>
        <p:spPr>
          <a:xfrm>
            <a:off x="4663440" y="2350008"/>
            <a:ext cx="3383280" cy="530352"/>
          </a:xfrm>
          <a:prstGeom prst="roundRect">
            <a:avLst>
              <a:gd name="adj" fmla="val 10345"/>
            </a:avLst>
          </a:prstGeom>
          <a:solidFill>
            <a:srgbClr val="FFFFFF"/>
          </a:solidFill>
          <a:ln w="10160">
            <a:solidFill>
              <a:srgbClr val="E2E8F0"/>
            </a:solidFill>
            <a:prstDash val="solid"/>
          </a:ln>
        </p:spPr>
        <p:txBody>
          <a:bodyPr/>
          <a:lstStyle/>
          <a:p>
            <a:endParaRPr lang="en-US"/>
          </a:p>
        </p:txBody>
      </p:sp>
      <p:sp>
        <p:nvSpPr>
          <p:cNvPr id="46" name="Shape 20">
            <a:extLst>
              <a:ext uri="{FF2B5EF4-FFF2-40B4-BE49-F238E27FC236}">
                <a16:creationId xmlns:a16="http://schemas.microsoft.com/office/drawing/2014/main" id="{4BCBBD3B-835E-22F8-0B33-2FC93AE89A05}"/>
              </a:ext>
            </a:extLst>
          </p:cNvPr>
          <p:cNvSpPr/>
          <p:nvPr/>
        </p:nvSpPr>
        <p:spPr>
          <a:xfrm>
            <a:off x="4663440" y="2971800"/>
            <a:ext cx="3383280" cy="502920"/>
          </a:xfrm>
          <a:prstGeom prst="roundRect">
            <a:avLst>
              <a:gd name="adj" fmla="val 10909"/>
            </a:avLst>
          </a:prstGeom>
          <a:solidFill>
            <a:srgbClr val="FFFFFF"/>
          </a:solidFill>
          <a:ln w="10160">
            <a:solidFill>
              <a:srgbClr val="E2E8F0"/>
            </a:solidFill>
            <a:prstDash val="solid"/>
          </a:ln>
        </p:spPr>
        <p:txBody>
          <a:bodyPr/>
          <a:lstStyle/>
          <a:p>
            <a:endParaRPr lang="en-US"/>
          </a:p>
        </p:txBody>
      </p:sp>
      <p:sp>
        <p:nvSpPr>
          <p:cNvPr id="48" name="Text 21">
            <a:extLst>
              <a:ext uri="{FF2B5EF4-FFF2-40B4-BE49-F238E27FC236}">
                <a16:creationId xmlns:a16="http://schemas.microsoft.com/office/drawing/2014/main" id="{36030FBA-CCEC-71B9-3C6F-3FEA0FFB4167}"/>
              </a:ext>
            </a:extLst>
          </p:cNvPr>
          <p:cNvSpPr/>
          <p:nvPr/>
        </p:nvSpPr>
        <p:spPr>
          <a:xfrm>
            <a:off x="4681728" y="3611880"/>
            <a:ext cx="3337560" cy="640080"/>
          </a:xfrm>
          <a:prstGeom prst="rect">
            <a:avLst/>
          </a:prstGeom>
          <a:noFill/>
          <a:ln/>
        </p:spPr>
        <p:txBody>
          <a:bodyPr wrap="square" lIns="508" tIns="508" rIns="508" bIns="508"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a:solidFill>
                  <a:srgbClr val="172033"/>
                </a:solidFill>
              </a:rPr>
              <a:t>The model accounts for baseline differences between melanoma cell lines and estimates the common treatment effect of SOX10 knockdown.</a:t>
            </a:r>
            <a:endParaRPr lang="en-US" sz="1100"/>
          </a:p>
        </p:txBody>
      </p:sp>
      <p:sp>
        <p:nvSpPr>
          <p:cNvPr id="49" name="Shape 22">
            <a:extLst>
              <a:ext uri="{FF2B5EF4-FFF2-40B4-BE49-F238E27FC236}">
                <a16:creationId xmlns:a16="http://schemas.microsoft.com/office/drawing/2014/main" id="{3695AB57-B15B-9A2B-AFE1-67EA8FA244AE}"/>
              </a:ext>
            </a:extLst>
          </p:cNvPr>
          <p:cNvSpPr/>
          <p:nvPr/>
        </p:nvSpPr>
        <p:spPr>
          <a:xfrm>
            <a:off x="4663440" y="4434840"/>
            <a:ext cx="3383280" cy="502920"/>
          </a:xfrm>
          <a:prstGeom prst="roundRect">
            <a:avLst>
              <a:gd name="adj" fmla="val 10909"/>
            </a:avLst>
          </a:prstGeom>
          <a:solidFill>
            <a:srgbClr val="FFFFFF"/>
          </a:solidFill>
          <a:ln w="10160">
            <a:solidFill>
              <a:srgbClr val="E2E8F0"/>
            </a:solidFill>
            <a:prstDash val="solid"/>
          </a:ln>
        </p:spPr>
        <p:txBody>
          <a:bodyPr/>
          <a:lstStyle/>
          <a:p>
            <a:endParaRPr lang="en-US"/>
          </a:p>
        </p:txBody>
      </p:sp>
      <p:pic>
        <p:nvPicPr>
          <p:cNvPr id="50" name="Image 2">
            <a:extLst>
              <a:ext uri="{FF2B5EF4-FFF2-40B4-BE49-F238E27FC236}">
                <a16:creationId xmlns:a16="http://schemas.microsoft.com/office/drawing/2014/main" id="{B8AC3C38-DD5E-3C03-D596-34B11197E08E}"/>
              </a:ext>
            </a:extLst>
          </p:cNvPr>
          <p:cNvPicPr>
            <a:picLocks noChangeAspect="1"/>
          </p:cNvPicPr>
          <p:nvPr/>
        </p:nvPicPr>
        <p:blipFill>
          <a:blip r:embed="rId3"/>
          <a:stretch>
            <a:fillRect/>
          </a:stretch>
        </p:blipFill>
        <p:spPr>
          <a:xfrm>
            <a:off x="4773168" y="4619058"/>
            <a:ext cx="3163824" cy="134483"/>
          </a:xfrm>
          <a:prstGeom prst="rect">
            <a:avLst/>
          </a:prstGeom>
        </p:spPr>
      </p:pic>
      <p:sp>
        <p:nvSpPr>
          <p:cNvPr id="51" name="Text 23">
            <a:extLst>
              <a:ext uri="{FF2B5EF4-FFF2-40B4-BE49-F238E27FC236}">
                <a16:creationId xmlns:a16="http://schemas.microsoft.com/office/drawing/2014/main" id="{B1EB3172-0AD8-10C3-BD66-7A3F46ECE8BC}"/>
              </a:ext>
            </a:extLst>
          </p:cNvPr>
          <p:cNvSpPr/>
          <p:nvPr/>
        </p:nvSpPr>
        <p:spPr>
          <a:xfrm>
            <a:off x="4681728" y="5084064"/>
            <a:ext cx="3337560" cy="393192"/>
          </a:xfrm>
          <a:prstGeom prst="rect">
            <a:avLst/>
          </a:prstGeom>
          <a:noFill/>
          <a:ln/>
        </p:spPr>
        <p:txBody>
          <a:bodyPr wrap="square" lIns="508" tIns="508" rIns="508" bIns="508"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a:solidFill>
                  <a:srgbClr val="17294D"/>
                </a:solidFill>
              </a:rPr>
              <a:t>The 150 strongest significant genes in each direction were exported as the two-sided LINCS input signature.</a:t>
            </a:r>
            <a:endParaRPr lang="en-US" sz="1100"/>
          </a:p>
        </p:txBody>
      </p:sp>
      <p:sp>
        <p:nvSpPr>
          <p:cNvPr id="52" name="Shape 24">
            <a:extLst>
              <a:ext uri="{FF2B5EF4-FFF2-40B4-BE49-F238E27FC236}">
                <a16:creationId xmlns:a16="http://schemas.microsoft.com/office/drawing/2014/main" id="{1EAC0A86-662F-649B-5C6D-500C82D6A8A9}"/>
              </a:ext>
            </a:extLst>
          </p:cNvPr>
          <p:cNvSpPr/>
          <p:nvPr/>
        </p:nvSpPr>
        <p:spPr>
          <a:xfrm>
            <a:off x="8549640" y="1810512"/>
            <a:ext cx="3154680" cy="4297680"/>
          </a:xfrm>
          <a:prstGeom prst="roundRect">
            <a:avLst>
              <a:gd name="adj" fmla="val 2319"/>
            </a:avLst>
          </a:prstGeom>
          <a:solidFill>
            <a:srgbClr val="FFFFFF"/>
          </a:solidFill>
          <a:ln w="12700">
            <a:solidFill>
              <a:srgbClr val="D7E1EA"/>
            </a:solidFill>
            <a:prstDash val="solid"/>
          </a:ln>
        </p:spPr>
        <p:txBody>
          <a:bodyPr/>
          <a:lstStyle/>
          <a:p>
            <a:endParaRPr lang="en-US"/>
          </a:p>
        </p:txBody>
      </p:sp>
      <p:sp>
        <p:nvSpPr>
          <p:cNvPr id="53" name="Shape 25">
            <a:extLst>
              <a:ext uri="{FF2B5EF4-FFF2-40B4-BE49-F238E27FC236}">
                <a16:creationId xmlns:a16="http://schemas.microsoft.com/office/drawing/2014/main" id="{18C72E6E-AE59-43B0-06B5-36CEA7620D9A}"/>
              </a:ext>
            </a:extLst>
          </p:cNvPr>
          <p:cNvSpPr/>
          <p:nvPr/>
        </p:nvSpPr>
        <p:spPr>
          <a:xfrm>
            <a:off x="8622792" y="1883664"/>
            <a:ext cx="3008376" cy="329184"/>
          </a:xfrm>
          <a:prstGeom prst="roundRect">
            <a:avLst>
              <a:gd name="adj" fmla="val 22222"/>
            </a:avLst>
          </a:prstGeom>
          <a:solidFill>
            <a:srgbClr val="17294D"/>
          </a:solidFill>
          <a:ln w="12700">
            <a:solidFill>
              <a:srgbClr val="17294D"/>
            </a:solidFill>
            <a:prstDash val="solid"/>
          </a:ln>
        </p:spPr>
        <p:txBody>
          <a:bodyPr/>
          <a:lstStyle/>
          <a:p>
            <a:endParaRPr lang="en-US"/>
          </a:p>
        </p:txBody>
      </p:sp>
      <p:sp>
        <p:nvSpPr>
          <p:cNvPr id="54" name="Text 26">
            <a:extLst>
              <a:ext uri="{FF2B5EF4-FFF2-40B4-BE49-F238E27FC236}">
                <a16:creationId xmlns:a16="http://schemas.microsoft.com/office/drawing/2014/main" id="{60C3360F-4F6F-75CA-0A53-E8671E6F43D7}"/>
              </a:ext>
            </a:extLst>
          </p:cNvPr>
          <p:cNvSpPr/>
          <p:nvPr/>
        </p:nvSpPr>
        <p:spPr>
          <a:xfrm>
            <a:off x="8686800" y="1975104"/>
            <a:ext cx="2880360" cy="12801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20" b="1">
                <a:solidFill>
                  <a:srgbClr val="FFFFFF"/>
                </a:solidFill>
              </a:rPr>
              <a:t>3. LINCS mimic interpretation</a:t>
            </a:r>
            <a:endParaRPr lang="en-US" sz="920"/>
          </a:p>
        </p:txBody>
      </p:sp>
      <p:sp>
        <p:nvSpPr>
          <p:cNvPr id="55" name="Text 27">
            <a:extLst>
              <a:ext uri="{FF2B5EF4-FFF2-40B4-BE49-F238E27FC236}">
                <a16:creationId xmlns:a16="http://schemas.microsoft.com/office/drawing/2014/main" id="{8FDC2C56-DA63-89E2-2932-99589A06DF12}"/>
              </a:ext>
            </a:extLst>
          </p:cNvPr>
          <p:cNvSpPr/>
          <p:nvPr/>
        </p:nvSpPr>
        <p:spPr>
          <a:xfrm>
            <a:off x="8788750" y="2335609"/>
            <a:ext cx="2686970" cy="2289678"/>
          </a:xfrm>
          <a:prstGeom prst="rect">
            <a:avLst/>
          </a:prstGeom>
          <a:noFill/>
          <a:ln/>
        </p:spPr>
        <p:txBody>
          <a:bodyPr wrap="square" lIns="381" tIns="381" rIns="381" bIns="381" rtlCol="0" anchor="t">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solidFill>
                  <a:srgbClr val="1D2B3E"/>
                </a:solidFill>
                <a:latin typeface="Trade Gothic Next Light"/>
              </a:rPr>
              <a:t>• Mimic mode asks which compound signatures resemble SOX10 knockdown.</a:t>
            </a:r>
          </a:p>
          <a:p>
            <a:r>
              <a:rPr lang="en-US" sz="1000">
                <a:solidFill>
                  <a:srgbClr val="1D2B3E"/>
                </a:solidFill>
                <a:latin typeface="Trade Gothic Next Light"/>
              </a:rPr>
              <a:t>• Up-after-knockdown genes are matched to compound-up genes; down-after-knockdown genes are matched to compound-down genes.</a:t>
            </a:r>
          </a:p>
          <a:p>
            <a:endParaRPr lang="en-US" sz="1000">
              <a:solidFill>
                <a:srgbClr val="172033"/>
              </a:solidFill>
              <a:latin typeface="Trade Gothic Next Light"/>
            </a:endParaRPr>
          </a:p>
          <a:p>
            <a:r>
              <a:rPr lang="en-US" sz="1000">
                <a:solidFill>
                  <a:srgbClr val="1D2B3E"/>
                </a:solidFill>
                <a:latin typeface="Trade Gothic Next Light"/>
              </a:rPr>
              <a:t>• The output is a ranked list of compound signatures by compound, cell line, dose and time.</a:t>
            </a:r>
            <a:endParaRPr lang="en-US" sz="1000">
              <a:solidFill>
                <a:srgbClr val="172033"/>
              </a:solidFill>
              <a:latin typeface="Trade Gothic Next Light"/>
            </a:endParaRPr>
          </a:p>
          <a:p>
            <a:endParaRPr lang="en-US" sz="1000">
              <a:solidFill>
                <a:srgbClr val="172033"/>
              </a:solidFill>
              <a:latin typeface="Trade Gothic Next Light"/>
            </a:endParaRPr>
          </a:p>
          <a:p>
            <a:r>
              <a:rPr lang="en-US" sz="1000">
                <a:solidFill>
                  <a:srgbClr val="1D2B3E"/>
                </a:solidFill>
                <a:latin typeface="Trade Gothic Next Light"/>
              </a:rPr>
              <a:t>• The result is not a direct SOX10-inhibition assay or a melanoma-killing assay.</a:t>
            </a:r>
          </a:p>
        </p:txBody>
      </p:sp>
      <p:sp>
        <p:nvSpPr>
          <p:cNvPr id="56" name="Text 28">
            <a:extLst>
              <a:ext uri="{FF2B5EF4-FFF2-40B4-BE49-F238E27FC236}">
                <a16:creationId xmlns:a16="http://schemas.microsoft.com/office/drawing/2014/main" id="{C8EB6997-26F5-2F6F-D340-7D942BD593B8}"/>
              </a:ext>
            </a:extLst>
          </p:cNvPr>
          <p:cNvSpPr/>
          <p:nvPr/>
        </p:nvSpPr>
        <p:spPr>
          <a:xfrm>
            <a:off x="8778240" y="4773168"/>
            <a:ext cx="2697480" cy="475488"/>
          </a:xfrm>
          <a:prstGeom prst="rect">
            <a:avLst/>
          </a:prstGeom>
          <a:noFill/>
          <a:ln/>
        </p:spPr>
        <p:txBody>
          <a:bodyPr wrap="square" lIns="508" tIns="508" rIns="508" bIns="508"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a:solidFill>
                  <a:srgbClr val="17294D"/>
                </a:solidFill>
              </a:rPr>
              <a:t>Main use: exploratory drug-repurposing layer to motivate follow-up experiments.</a:t>
            </a:r>
            <a:endParaRPr lang="en-US" sz="1100"/>
          </a:p>
        </p:txBody>
      </p:sp>
      <p:sp>
        <p:nvSpPr>
          <p:cNvPr id="57" name="Shape 29">
            <a:extLst>
              <a:ext uri="{FF2B5EF4-FFF2-40B4-BE49-F238E27FC236}">
                <a16:creationId xmlns:a16="http://schemas.microsoft.com/office/drawing/2014/main" id="{E79A869E-34F4-071F-B494-401BB0A2FC6F}"/>
              </a:ext>
            </a:extLst>
          </p:cNvPr>
          <p:cNvSpPr/>
          <p:nvPr/>
        </p:nvSpPr>
        <p:spPr>
          <a:xfrm>
            <a:off x="0" y="6446520"/>
            <a:ext cx="12191695" cy="411480"/>
          </a:xfrm>
          <a:prstGeom prst="rect">
            <a:avLst/>
          </a:prstGeom>
          <a:solidFill>
            <a:srgbClr val="17294D"/>
          </a:solidFill>
          <a:ln w="12700">
            <a:solidFill>
              <a:srgbClr val="17294D"/>
            </a:solidFill>
            <a:prstDash val="solid"/>
          </a:ln>
        </p:spPr>
        <p:txBody>
          <a:bodyPr/>
          <a:lstStyle/>
          <a:p>
            <a:endParaRPr lang="en-US"/>
          </a:p>
        </p:txBody>
      </p:sp>
      <p:sp>
        <p:nvSpPr>
          <p:cNvPr id="58" name="Text 30">
            <a:extLst>
              <a:ext uri="{FF2B5EF4-FFF2-40B4-BE49-F238E27FC236}">
                <a16:creationId xmlns:a16="http://schemas.microsoft.com/office/drawing/2014/main" id="{F21BBB9B-88D4-D0F2-47AA-EBAD2A0B2CBA}"/>
              </a:ext>
            </a:extLst>
          </p:cNvPr>
          <p:cNvSpPr/>
          <p:nvPr/>
        </p:nvSpPr>
        <p:spPr>
          <a:xfrm>
            <a:off x="713232" y="6556248"/>
            <a:ext cx="10881360" cy="182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80" b="1" dirty="0">
                <a:solidFill>
                  <a:srgbClr val="FFFFFF"/>
                </a:solidFill>
              </a:rPr>
              <a:t>Takeaway: </a:t>
            </a:r>
            <a:r>
              <a:rPr lang="en-US" sz="1080" dirty="0">
                <a:solidFill>
                  <a:srgbClr val="FFFFFF"/>
                </a:solidFill>
              </a:rPr>
              <a:t>LINCS complements the </a:t>
            </a:r>
            <a:r>
              <a:rPr lang="en-US" sz="1080" dirty="0" err="1">
                <a:solidFill>
                  <a:srgbClr val="FFFFFF"/>
                </a:solidFill>
              </a:rPr>
              <a:t>DepMap</a:t>
            </a:r>
            <a:r>
              <a:rPr lang="en-US" sz="1080" dirty="0">
                <a:solidFill>
                  <a:srgbClr val="FFFFFF"/>
                </a:solidFill>
              </a:rPr>
              <a:t> target analysis by suggesting compound hypotheses, but it does not validate direct SOX10 targeting or melanoma-selective efficacy.</a:t>
            </a:r>
            <a:endParaRPr lang="en-US" sz="1080" dirty="0"/>
          </a:p>
        </p:txBody>
      </p:sp>
      <p:sp>
        <p:nvSpPr>
          <p:cNvPr id="59" name="Shape 31">
            <a:extLst>
              <a:ext uri="{FF2B5EF4-FFF2-40B4-BE49-F238E27FC236}">
                <a16:creationId xmlns:a16="http://schemas.microsoft.com/office/drawing/2014/main" id="{44868766-9538-E983-8ED9-F65B6ED0D86E}"/>
              </a:ext>
            </a:extLst>
          </p:cNvPr>
          <p:cNvSpPr/>
          <p:nvPr/>
        </p:nvSpPr>
        <p:spPr>
          <a:xfrm>
            <a:off x="320040" y="6519672"/>
            <a:ext cx="228600" cy="228600"/>
          </a:xfrm>
          <a:prstGeom prst="ellipse">
            <a:avLst/>
          </a:prstGeom>
          <a:solidFill>
            <a:srgbClr val="0E7485"/>
          </a:solidFill>
          <a:ln w="12700">
            <a:solidFill>
              <a:srgbClr val="0E7485"/>
            </a:solidFill>
            <a:prstDash val="solid"/>
          </a:ln>
        </p:spPr>
        <p:txBody>
          <a:bodyPr/>
          <a:lstStyle/>
          <a:p>
            <a:endParaRPr lang="en-US"/>
          </a:p>
        </p:txBody>
      </p:sp>
      <p:sp>
        <p:nvSpPr>
          <p:cNvPr id="61" name="Arrow: Right 60">
            <a:extLst>
              <a:ext uri="{FF2B5EF4-FFF2-40B4-BE49-F238E27FC236}">
                <a16:creationId xmlns:a16="http://schemas.microsoft.com/office/drawing/2014/main" id="{E5EC6DE5-F31D-DACE-BF7D-1259CCBEF629}"/>
              </a:ext>
            </a:extLst>
          </p:cNvPr>
          <p:cNvSpPr/>
          <p:nvPr/>
        </p:nvSpPr>
        <p:spPr>
          <a:xfrm>
            <a:off x="3098800" y="1361440"/>
            <a:ext cx="294639" cy="162559"/>
          </a:xfrm>
          <a:prstGeom prst="rightArrow">
            <a:avLst/>
          </a:prstGeom>
          <a:solidFill>
            <a:schemeClr val="accent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Arrow: Right 62">
            <a:extLst>
              <a:ext uri="{FF2B5EF4-FFF2-40B4-BE49-F238E27FC236}">
                <a16:creationId xmlns:a16="http://schemas.microsoft.com/office/drawing/2014/main" id="{B009B4DB-845A-CFF5-17E1-FE82C4215806}"/>
              </a:ext>
            </a:extLst>
          </p:cNvPr>
          <p:cNvSpPr/>
          <p:nvPr/>
        </p:nvSpPr>
        <p:spPr>
          <a:xfrm>
            <a:off x="5947103" y="1361440"/>
            <a:ext cx="294639" cy="162559"/>
          </a:xfrm>
          <a:prstGeom prst="rightArrow">
            <a:avLst/>
          </a:prstGeom>
          <a:solidFill>
            <a:schemeClr val="accent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Arrow: Right 64">
            <a:extLst>
              <a:ext uri="{FF2B5EF4-FFF2-40B4-BE49-F238E27FC236}">
                <a16:creationId xmlns:a16="http://schemas.microsoft.com/office/drawing/2014/main" id="{EFB1F729-2223-0733-F478-EB7D4C654AE5}"/>
              </a:ext>
            </a:extLst>
          </p:cNvPr>
          <p:cNvSpPr/>
          <p:nvPr/>
        </p:nvSpPr>
        <p:spPr>
          <a:xfrm>
            <a:off x="8795407" y="1361440"/>
            <a:ext cx="294639" cy="162559"/>
          </a:xfrm>
          <a:prstGeom prst="rightArrow">
            <a:avLst/>
          </a:prstGeom>
          <a:solidFill>
            <a:schemeClr val="accent1"/>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 24">
            <a:extLst>
              <a:ext uri="{FF2B5EF4-FFF2-40B4-BE49-F238E27FC236}">
                <a16:creationId xmlns:a16="http://schemas.microsoft.com/office/drawing/2014/main" id="{E3E4F6D2-AD74-1FFF-45EA-705A31E3AB3D}"/>
              </a:ext>
            </a:extLst>
          </p:cNvPr>
          <p:cNvSpPr/>
          <p:nvPr/>
        </p:nvSpPr>
        <p:spPr>
          <a:xfrm>
            <a:off x="4912010" y="2452484"/>
            <a:ext cx="2880360" cy="329184"/>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50">
                <a:solidFill>
                  <a:srgbClr val="1D2B3E"/>
                </a:solidFill>
                <a:latin typeface="Cambria Math" pitchFamily="34" charset="0"/>
                <a:ea typeface="Cambria Math" pitchFamily="34" charset="-122"/>
                <a:cs typeface="Cambria Math" pitchFamily="34" charset="-120"/>
              </a:rPr>
              <a:t>design = ~ cell_line + treatment</a:t>
            </a:r>
            <a:endParaRPr lang="en-US" sz="1450"/>
          </a:p>
        </p:txBody>
      </p:sp>
      <p:sp>
        <p:nvSpPr>
          <p:cNvPr id="67" name="Text 26">
            <a:extLst>
              <a:ext uri="{FF2B5EF4-FFF2-40B4-BE49-F238E27FC236}">
                <a16:creationId xmlns:a16="http://schemas.microsoft.com/office/drawing/2014/main" id="{A376DAB2-F281-5C9A-4786-7C3F667940E8}"/>
              </a:ext>
            </a:extLst>
          </p:cNvPr>
          <p:cNvSpPr/>
          <p:nvPr/>
        </p:nvSpPr>
        <p:spPr>
          <a:xfrm>
            <a:off x="4775375" y="3100342"/>
            <a:ext cx="2880360" cy="329184"/>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50">
                <a:solidFill>
                  <a:srgbClr val="1D2B3E"/>
                </a:solidFill>
                <a:latin typeface="Cambria Math" pitchFamily="34" charset="0"/>
                <a:ea typeface="Cambria Math" pitchFamily="34" charset="-122"/>
                <a:cs typeface="Cambria Math" pitchFamily="34" charset="-120"/>
              </a:rPr>
              <a:t>contrast: siSOX10 vs siControl</a:t>
            </a:r>
            <a:endParaRPr lang="en-US" sz="1450"/>
          </a:p>
        </p:txBody>
      </p:sp>
      <p:sp>
        <p:nvSpPr>
          <p:cNvPr id="2" name="Text 15">
            <a:extLst>
              <a:ext uri="{FF2B5EF4-FFF2-40B4-BE49-F238E27FC236}">
                <a16:creationId xmlns:a16="http://schemas.microsoft.com/office/drawing/2014/main" id="{9E7BF5CE-5B8B-6E47-CF30-748F8541EA33}"/>
              </a:ext>
            </a:extLst>
          </p:cNvPr>
          <p:cNvSpPr/>
          <p:nvPr/>
        </p:nvSpPr>
        <p:spPr>
          <a:xfrm>
            <a:off x="749807" y="5601383"/>
            <a:ext cx="3182112" cy="502920"/>
          </a:xfrm>
          <a:prstGeom prst="rect">
            <a:avLst/>
          </a:prstGeom>
          <a:noFill/>
          <a:ln/>
        </p:spPr>
        <p:txBody>
          <a:bodyPr wrap="square" lIns="508" tIns="508" rIns="508" bIns="508"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a:ea typeface="+mn-lt"/>
                <a:cs typeface="+mn-lt"/>
              </a:rPr>
              <a:t>Takahashi et al., 2024</a:t>
            </a:r>
            <a:endParaRPr lang="en-US" sz="900" dirty="0"/>
          </a:p>
          <a:p>
            <a:pPr marL="0" indent="0">
              <a:buNone/>
            </a:pPr>
            <a:endParaRPr lang="en-US" sz="900" dirty="0"/>
          </a:p>
        </p:txBody>
      </p:sp>
    </p:spTree>
    <p:extLst>
      <p:ext uri="{BB962C8B-B14F-4D97-AF65-F5344CB8AC3E}">
        <p14:creationId xmlns:p14="http://schemas.microsoft.com/office/powerpoint/2010/main" val="16723377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093CCF-86A0-1759-D919-77A4F7F1354E}"/>
            </a:ext>
          </a:extLst>
        </p:cNvPr>
        <p:cNvGrpSpPr/>
        <p:nvPr/>
      </p:nvGrpSpPr>
      <p:grpSpPr>
        <a:xfrm>
          <a:off x="0" y="0"/>
          <a:ext cx="0" cy="0"/>
          <a:chOff x="0" y="0"/>
          <a:chExt cx="0" cy="0"/>
        </a:xfrm>
      </p:grpSpPr>
      <p:sp>
        <p:nvSpPr>
          <p:cNvPr id="3" name="Date Placeholder 2">
            <a:extLst>
              <a:ext uri="{FF2B5EF4-FFF2-40B4-BE49-F238E27FC236}">
                <a16:creationId xmlns:a16="http://schemas.microsoft.com/office/drawing/2014/main" id="{A84719B9-B6AE-7946-D599-E9FB3953B3F0}"/>
              </a:ext>
            </a:extLst>
          </p:cNvPr>
          <p:cNvSpPr>
            <a:spLocks noGrp="1"/>
          </p:cNvSpPr>
          <p:nvPr>
            <p:ph type="dt" sz="half" idx="10"/>
          </p:nvPr>
        </p:nvSpPr>
        <p:spPr/>
        <p:txBody>
          <a:bodyPr/>
          <a:lstStyle/>
          <a:p>
            <a:fld id="{8D0AFB9A-218D-47B3-804F-AED8F3B5451D}" type="datetime1">
              <a:rPr lang="en-US"/>
              <a:t>8/9/2026</a:t>
            </a:fld>
            <a:endParaRPr lang="en-US"/>
          </a:p>
        </p:txBody>
      </p:sp>
      <p:sp>
        <p:nvSpPr>
          <p:cNvPr id="2" name="Shape 33">
            <a:extLst>
              <a:ext uri="{FF2B5EF4-FFF2-40B4-BE49-F238E27FC236}">
                <a16:creationId xmlns:a16="http://schemas.microsoft.com/office/drawing/2014/main" id="{7DB66C29-2EFC-13F0-B54E-F2B382CF4246}"/>
              </a:ext>
            </a:extLst>
          </p:cNvPr>
          <p:cNvSpPr/>
          <p:nvPr/>
        </p:nvSpPr>
        <p:spPr>
          <a:xfrm>
            <a:off x="3758184" y="1717755"/>
            <a:ext cx="4821938" cy="3357165"/>
          </a:xfrm>
          <a:prstGeom prst="roundRect">
            <a:avLst>
              <a:gd name="adj" fmla="val 2500"/>
            </a:avLst>
          </a:prstGeom>
          <a:solidFill>
            <a:srgbClr val="FFFFFF"/>
          </a:solidFill>
          <a:ln w="9525">
            <a:solidFill>
              <a:srgbClr val="D4DDE8"/>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 name="Text 0">
            <a:extLst>
              <a:ext uri="{FF2B5EF4-FFF2-40B4-BE49-F238E27FC236}">
                <a16:creationId xmlns:a16="http://schemas.microsoft.com/office/drawing/2014/main" id="{B185D4F9-E659-A6F0-0254-793545E2EAA8}"/>
              </a:ext>
            </a:extLst>
          </p:cNvPr>
          <p:cNvSpPr/>
          <p:nvPr/>
        </p:nvSpPr>
        <p:spPr>
          <a:xfrm>
            <a:off x="320040" y="91440"/>
            <a:ext cx="11521440" cy="5486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700" b="1">
                <a:solidFill>
                  <a:srgbClr val="1B2A4A"/>
                </a:solidFill>
                <a:latin typeface="Calibri"/>
                <a:ea typeface="Calibri"/>
                <a:cs typeface="Calibri"/>
              </a:rPr>
              <a:t>3.4b  LINCS mimic search: exploratory compound hypotheses</a:t>
            </a:r>
            <a:endParaRPr lang="en-US" sz="2700">
              <a:latin typeface="Calibri"/>
              <a:ea typeface="Calibri"/>
              <a:cs typeface="Calibri"/>
            </a:endParaRPr>
          </a:p>
        </p:txBody>
      </p:sp>
      <p:sp>
        <p:nvSpPr>
          <p:cNvPr id="5" name="Shape 1">
            <a:extLst>
              <a:ext uri="{FF2B5EF4-FFF2-40B4-BE49-F238E27FC236}">
                <a16:creationId xmlns:a16="http://schemas.microsoft.com/office/drawing/2014/main" id="{BDAE4775-555A-8676-E68C-3D639C126D4E}"/>
              </a:ext>
            </a:extLst>
          </p:cNvPr>
          <p:cNvSpPr/>
          <p:nvPr/>
        </p:nvSpPr>
        <p:spPr>
          <a:xfrm>
            <a:off x="320040" y="667512"/>
            <a:ext cx="1371600" cy="41148"/>
          </a:xfrm>
          <a:prstGeom prst="rect">
            <a:avLst/>
          </a:prstGeom>
          <a:solidFill>
            <a:srgbClr val="E07B39"/>
          </a:solidFill>
          <a:ln w="12700">
            <a:solidFill>
              <a:srgbClr val="E07B39"/>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 name="Text 2">
            <a:extLst>
              <a:ext uri="{FF2B5EF4-FFF2-40B4-BE49-F238E27FC236}">
                <a16:creationId xmlns:a16="http://schemas.microsoft.com/office/drawing/2014/main" id="{5C8C28FF-628F-545D-AA15-97795427A038}"/>
              </a:ext>
            </a:extLst>
          </p:cNvPr>
          <p:cNvSpPr/>
          <p:nvPr/>
        </p:nvSpPr>
        <p:spPr>
          <a:xfrm>
            <a:off x="320040" y="722376"/>
            <a:ext cx="11430000" cy="237744"/>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i="1">
                <a:solidFill>
                  <a:srgbClr val="8A9BB0"/>
                </a:solidFill>
                <a:latin typeface="Calibri" pitchFamily="34" charset="0"/>
                <a:ea typeface="Calibri" pitchFamily="34" charset="-122"/>
                <a:cs typeface="Calibri" pitchFamily="34" charset="-120"/>
              </a:rPr>
              <a:t>Independent SOX10-knockdown RNA-seq was used to ask which compounds mimic the SOX10-suppressed melanoma state.</a:t>
            </a:r>
            <a:endParaRPr lang="en-US" sz="1100"/>
          </a:p>
        </p:txBody>
      </p:sp>
      <p:sp>
        <p:nvSpPr>
          <p:cNvPr id="7" name="Shape 3">
            <a:extLst>
              <a:ext uri="{FF2B5EF4-FFF2-40B4-BE49-F238E27FC236}">
                <a16:creationId xmlns:a16="http://schemas.microsoft.com/office/drawing/2014/main" id="{840C5EB0-C349-644D-2042-FBB5AB633979}"/>
              </a:ext>
            </a:extLst>
          </p:cNvPr>
          <p:cNvSpPr/>
          <p:nvPr/>
        </p:nvSpPr>
        <p:spPr>
          <a:xfrm>
            <a:off x="320040" y="1005840"/>
            <a:ext cx="1874520" cy="594360"/>
          </a:xfrm>
          <a:prstGeom prst="roundRect">
            <a:avLst>
              <a:gd name="adj" fmla="val 13846"/>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 name="Shape 4">
            <a:extLst>
              <a:ext uri="{FF2B5EF4-FFF2-40B4-BE49-F238E27FC236}">
                <a16:creationId xmlns:a16="http://schemas.microsoft.com/office/drawing/2014/main" id="{8AB6EACF-BEF4-E1C1-E9C3-4FF8D2E20D54}"/>
              </a:ext>
            </a:extLst>
          </p:cNvPr>
          <p:cNvSpPr/>
          <p:nvPr/>
        </p:nvSpPr>
        <p:spPr>
          <a:xfrm>
            <a:off x="363941" y="1120140"/>
            <a:ext cx="340147" cy="333744"/>
          </a:xfrm>
          <a:prstGeom prst="ellipse">
            <a:avLst/>
          </a:prstGeom>
          <a:solidFill>
            <a:srgbClr val="1B2A4A"/>
          </a:solidFill>
          <a:ln w="12700">
            <a:solidFill>
              <a:srgbClr val="1B2A4A"/>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 name="Text 5">
            <a:extLst>
              <a:ext uri="{FF2B5EF4-FFF2-40B4-BE49-F238E27FC236}">
                <a16:creationId xmlns:a16="http://schemas.microsoft.com/office/drawing/2014/main" id="{57F1ABD8-4E76-4852-969C-E28F189F0EC9}"/>
              </a:ext>
            </a:extLst>
          </p:cNvPr>
          <p:cNvSpPr/>
          <p:nvPr/>
        </p:nvSpPr>
        <p:spPr>
          <a:xfrm>
            <a:off x="338328" y="1120140"/>
            <a:ext cx="365760"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chemeClr val="bg1"/>
                </a:solidFill>
              </a:rPr>
              <a:t>⇅</a:t>
            </a:r>
            <a:endParaRPr lang="en-US" sz="1000">
              <a:solidFill>
                <a:schemeClr val="bg1"/>
              </a:solidFill>
              <a:ea typeface="Calibri"/>
              <a:cs typeface="Calibri"/>
            </a:endParaRPr>
          </a:p>
        </p:txBody>
      </p:sp>
      <p:sp>
        <p:nvSpPr>
          <p:cNvPr id="10" name="Text 6">
            <a:extLst>
              <a:ext uri="{FF2B5EF4-FFF2-40B4-BE49-F238E27FC236}">
                <a16:creationId xmlns:a16="http://schemas.microsoft.com/office/drawing/2014/main" id="{BBD751BB-A9C9-2859-035F-A32CA4A8732F}"/>
              </a:ext>
            </a:extLst>
          </p:cNvPr>
          <p:cNvSpPr/>
          <p:nvPr/>
        </p:nvSpPr>
        <p:spPr>
          <a:xfrm>
            <a:off x="795528" y="1060704"/>
            <a:ext cx="1325880"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Signature input (150↑ / 150↓)</a:t>
            </a:r>
            <a:endParaRPr lang="en-US" sz="800"/>
          </a:p>
        </p:txBody>
      </p:sp>
      <p:sp>
        <p:nvSpPr>
          <p:cNvPr id="11" name="Text 7">
            <a:extLst>
              <a:ext uri="{FF2B5EF4-FFF2-40B4-BE49-F238E27FC236}">
                <a16:creationId xmlns:a16="http://schemas.microsoft.com/office/drawing/2014/main" id="{30F22E66-CE4E-499E-BE4B-B2640ED37B70}"/>
              </a:ext>
            </a:extLst>
          </p:cNvPr>
          <p:cNvSpPr/>
          <p:nvPr/>
        </p:nvSpPr>
        <p:spPr>
          <a:xfrm>
            <a:off x="795528" y="1261872"/>
            <a:ext cx="1325880" cy="28346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a:solidFill>
                  <a:srgbClr val="1B2A4A"/>
                </a:solidFill>
              </a:rPr>
              <a:t>DE genes</a:t>
            </a:r>
            <a:endParaRPr lang="en-US" sz="1200"/>
          </a:p>
        </p:txBody>
      </p:sp>
      <p:sp>
        <p:nvSpPr>
          <p:cNvPr id="12" name="Shape 8">
            <a:extLst>
              <a:ext uri="{FF2B5EF4-FFF2-40B4-BE49-F238E27FC236}">
                <a16:creationId xmlns:a16="http://schemas.microsoft.com/office/drawing/2014/main" id="{CDF18C6A-F13E-F667-253D-36F5641BE3AF}"/>
              </a:ext>
            </a:extLst>
          </p:cNvPr>
          <p:cNvSpPr/>
          <p:nvPr/>
        </p:nvSpPr>
        <p:spPr>
          <a:xfrm>
            <a:off x="2267712" y="1005840"/>
            <a:ext cx="1874520" cy="594360"/>
          </a:xfrm>
          <a:prstGeom prst="roundRect">
            <a:avLst>
              <a:gd name="adj" fmla="val 13846"/>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 name="Shape 9">
            <a:extLst>
              <a:ext uri="{FF2B5EF4-FFF2-40B4-BE49-F238E27FC236}">
                <a16:creationId xmlns:a16="http://schemas.microsoft.com/office/drawing/2014/main" id="{5A55D439-73C9-3B0B-E71D-D143DD31A9CD}"/>
              </a:ext>
            </a:extLst>
          </p:cNvPr>
          <p:cNvSpPr/>
          <p:nvPr/>
        </p:nvSpPr>
        <p:spPr>
          <a:xfrm>
            <a:off x="2286000" y="1120140"/>
            <a:ext cx="365760" cy="340147"/>
          </a:xfrm>
          <a:prstGeom prst="ellipse">
            <a:avLst/>
          </a:prstGeom>
          <a:solidFill>
            <a:srgbClr val="2A6B3C"/>
          </a:solidFill>
          <a:ln w="12700">
            <a:solidFill>
              <a:srgbClr val="2A6B3C"/>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 name="Text 10">
            <a:extLst>
              <a:ext uri="{FF2B5EF4-FFF2-40B4-BE49-F238E27FC236}">
                <a16:creationId xmlns:a16="http://schemas.microsoft.com/office/drawing/2014/main" id="{FC500D2E-955E-80D7-A16C-D9D359173FA9}"/>
              </a:ext>
            </a:extLst>
          </p:cNvPr>
          <p:cNvSpPr/>
          <p:nvPr/>
        </p:nvSpPr>
        <p:spPr>
          <a:xfrm>
            <a:off x="2286000" y="1120140"/>
            <a:ext cx="365760"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ea typeface="Calibri"/>
              <a:cs typeface="Calibri"/>
            </a:endParaRPr>
          </a:p>
        </p:txBody>
      </p:sp>
      <p:sp>
        <p:nvSpPr>
          <p:cNvPr id="15" name="Text 11">
            <a:extLst>
              <a:ext uri="{FF2B5EF4-FFF2-40B4-BE49-F238E27FC236}">
                <a16:creationId xmlns:a16="http://schemas.microsoft.com/office/drawing/2014/main" id="{5F8D9E13-2C18-1BF3-C92C-D16E08D8E7B3}"/>
              </a:ext>
            </a:extLst>
          </p:cNvPr>
          <p:cNvSpPr/>
          <p:nvPr/>
        </p:nvSpPr>
        <p:spPr>
          <a:xfrm>
            <a:off x="2743200" y="1060704"/>
            <a:ext cx="1325880"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KD QC: SOX10 / MITF fold-change</a:t>
            </a:r>
            <a:endParaRPr lang="en-US" sz="800"/>
          </a:p>
        </p:txBody>
      </p:sp>
      <p:sp>
        <p:nvSpPr>
          <p:cNvPr id="16" name="Text 12">
            <a:extLst>
              <a:ext uri="{FF2B5EF4-FFF2-40B4-BE49-F238E27FC236}">
                <a16:creationId xmlns:a16="http://schemas.microsoft.com/office/drawing/2014/main" id="{6FA5C003-EEC8-AD43-C14D-DF42D06370A9}"/>
              </a:ext>
            </a:extLst>
          </p:cNvPr>
          <p:cNvSpPr/>
          <p:nvPr/>
        </p:nvSpPr>
        <p:spPr>
          <a:xfrm>
            <a:off x="2743200" y="1261872"/>
            <a:ext cx="1325880" cy="28346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a:solidFill>
                  <a:srgbClr val="2A6B3C"/>
                </a:solidFill>
              </a:rPr>
              <a:t>SOX10 -2.30</a:t>
            </a:r>
            <a:endParaRPr lang="en-US" sz="1000">
              <a:solidFill>
                <a:srgbClr val="000000"/>
              </a:solidFill>
            </a:endParaRPr>
          </a:p>
          <a:p>
            <a:pPr marL="0" indent="0">
              <a:buNone/>
            </a:pPr>
            <a:r>
              <a:rPr lang="en-US" sz="1000" b="1">
                <a:solidFill>
                  <a:srgbClr val="2A6B3C"/>
                </a:solidFill>
              </a:rPr>
              <a:t>MITF -2.91</a:t>
            </a:r>
            <a:endParaRPr lang="en-US" sz="1000"/>
          </a:p>
        </p:txBody>
      </p:sp>
      <p:sp>
        <p:nvSpPr>
          <p:cNvPr id="17" name="Shape 13">
            <a:extLst>
              <a:ext uri="{FF2B5EF4-FFF2-40B4-BE49-F238E27FC236}">
                <a16:creationId xmlns:a16="http://schemas.microsoft.com/office/drawing/2014/main" id="{934676D2-E722-3CF5-83D3-24D6C1D46222}"/>
              </a:ext>
            </a:extLst>
          </p:cNvPr>
          <p:cNvSpPr/>
          <p:nvPr/>
        </p:nvSpPr>
        <p:spPr>
          <a:xfrm>
            <a:off x="4215384" y="1005840"/>
            <a:ext cx="1874520" cy="594360"/>
          </a:xfrm>
          <a:prstGeom prst="roundRect">
            <a:avLst>
              <a:gd name="adj" fmla="val 13846"/>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8" name="Shape 14">
            <a:extLst>
              <a:ext uri="{FF2B5EF4-FFF2-40B4-BE49-F238E27FC236}">
                <a16:creationId xmlns:a16="http://schemas.microsoft.com/office/drawing/2014/main" id="{85C78B92-CCF4-C0CF-93D6-BBE151E82316}"/>
              </a:ext>
            </a:extLst>
          </p:cNvPr>
          <p:cNvSpPr/>
          <p:nvPr/>
        </p:nvSpPr>
        <p:spPr>
          <a:xfrm>
            <a:off x="4259285" y="1120140"/>
            <a:ext cx="346550" cy="333744"/>
          </a:xfrm>
          <a:prstGeom prst="ellipse">
            <a:avLst/>
          </a:prstGeom>
          <a:solidFill>
            <a:srgbClr val="0E6B7C"/>
          </a:solidFill>
          <a:ln w="12700">
            <a:solidFill>
              <a:srgbClr val="0E6B7C"/>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Text 15">
            <a:extLst>
              <a:ext uri="{FF2B5EF4-FFF2-40B4-BE49-F238E27FC236}">
                <a16:creationId xmlns:a16="http://schemas.microsoft.com/office/drawing/2014/main" id="{C4F6FD4E-1337-6D51-6AD1-CE7FFC7A736F}"/>
              </a:ext>
            </a:extLst>
          </p:cNvPr>
          <p:cNvSpPr/>
          <p:nvPr/>
        </p:nvSpPr>
        <p:spPr>
          <a:xfrm flipH="1">
            <a:off x="4407331" y="1107333"/>
            <a:ext cx="56862"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ea typeface="Calibri"/>
              <a:cs typeface="Calibri"/>
            </a:endParaRPr>
          </a:p>
        </p:txBody>
      </p:sp>
      <p:sp>
        <p:nvSpPr>
          <p:cNvPr id="20" name="Text 16">
            <a:extLst>
              <a:ext uri="{FF2B5EF4-FFF2-40B4-BE49-F238E27FC236}">
                <a16:creationId xmlns:a16="http://schemas.microsoft.com/office/drawing/2014/main" id="{C387C55C-F8F6-42E4-C9FF-49B17AA14189}"/>
              </a:ext>
            </a:extLst>
          </p:cNvPr>
          <p:cNvSpPr/>
          <p:nvPr/>
        </p:nvSpPr>
        <p:spPr>
          <a:xfrm>
            <a:off x="4690872" y="1060704"/>
            <a:ext cx="1325880"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Signatures returned</a:t>
            </a:r>
            <a:endParaRPr lang="en-US" sz="800"/>
          </a:p>
        </p:txBody>
      </p:sp>
      <p:sp>
        <p:nvSpPr>
          <p:cNvPr id="21" name="Text 17">
            <a:extLst>
              <a:ext uri="{FF2B5EF4-FFF2-40B4-BE49-F238E27FC236}">
                <a16:creationId xmlns:a16="http://schemas.microsoft.com/office/drawing/2014/main" id="{B1AC9D93-E27D-6BAD-D4CD-00D96209F1EE}"/>
              </a:ext>
            </a:extLst>
          </p:cNvPr>
          <p:cNvSpPr/>
          <p:nvPr/>
        </p:nvSpPr>
        <p:spPr>
          <a:xfrm>
            <a:off x="4690872" y="1261872"/>
            <a:ext cx="1325880" cy="28346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a:solidFill>
                  <a:srgbClr val="0E6B7C"/>
                </a:solidFill>
              </a:rPr>
              <a:t>50</a:t>
            </a:r>
            <a:endParaRPr lang="en-US" sz="1300"/>
          </a:p>
        </p:txBody>
      </p:sp>
      <p:sp>
        <p:nvSpPr>
          <p:cNvPr id="22" name="Shape 18">
            <a:extLst>
              <a:ext uri="{FF2B5EF4-FFF2-40B4-BE49-F238E27FC236}">
                <a16:creationId xmlns:a16="http://schemas.microsoft.com/office/drawing/2014/main" id="{A6D2CF84-3AE9-B7D6-77EA-24BDA963692E}"/>
              </a:ext>
            </a:extLst>
          </p:cNvPr>
          <p:cNvSpPr/>
          <p:nvPr/>
        </p:nvSpPr>
        <p:spPr>
          <a:xfrm>
            <a:off x="6163056" y="1005840"/>
            <a:ext cx="1874520" cy="594360"/>
          </a:xfrm>
          <a:prstGeom prst="roundRect">
            <a:avLst>
              <a:gd name="adj" fmla="val 13846"/>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3" name="Shape 19">
            <a:extLst>
              <a:ext uri="{FF2B5EF4-FFF2-40B4-BE49-F238E27FC236}">
                <a16:creationId xmlns:a16="http://schemas.microsoft.com/office/drawing/2014/main" id="{30D8E73C-F84E-D93C-1D06-F60AC64CADA8}"/>
              </a:ext>
            </a:extLst>
          </p:cNvPr>
          <p:cNvSpPr/>
          <p:nvPr/>
        </p:nvSpPr>
        <p:spPr>
          <a:xfrm>
            <a:off x="6194151" y="1113737"/>
            <a:ext cx="352952" cy="346550"/>
          </a:xfrm>
          <a:prstGeom prst="ellipse">
            <a:avLst/>
          </a:prstGeom>
          <a:solidFill>
            <a:srgbClr val="6B3FA0"/>
          </a:solidFill>
          <a:ln w="12700">
            <a:solidFill>
              <a:srgbClr val="6B3FA0"/>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4" name="Text 20">
            <a:extLst>
              <a:ext uri="{FF2B5EF4-FFF2-40B4-BE49-F238E27FC236}">
                <a16:creationId xmlns:a16="http://schemas.microsoft.com/office/drawing/2014/main" id="{DFF1F493-2218-C182-7F36-EAFEB88BCE80}"/>
              </a:ext>
            </a:extLst>
          </p:cNvPr>
          <p:cNvSpPr/>
          <p:nvPr/>
        </p:nvSpPr>
        <p:spPr>
          <a:xfrm>
            <a:off x="6181344" y="1120140"/>
            <a:ext cx="365760"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chemeClr val="bg1"/>
                </a:solidFill>
              </a:rPr>
              <a:t>⚗</a:t>
            </a:r>
            <a:endParaRPr lang="en-US" sz="1000">
              <a:solidFill>
                <a:schemeClr val="bg1"/>
              </a:solidFill>
              <a:ea typeface="Calibri"/>
              <a:cs typeface="Calibri"/>
            </a:endParaRPr>
          </a:p>
        </p:txBody>
      </p:sp>
      <p:sp>
        <p:nvSpPr>
          <p:cNvPr id="25" name="Text 21">
            <a:extLst>
              <a:ext uri="{FF2B5EF4-FFF2-40B4-BE49-F238E27FC236}">
                <a16:creationId xmlns:a16="http://schemas.microsoft.com/office/drawing/2014/main" id="{EB2946A1-C8AA-07A1-71E7-D7F1061579C4}"/>
              </a:ext>
            </a:extLst>
          </p:cNvPr>
          <p:cNvSpPr/>
          <p:nvPr/>
        </p:nvSpPr>
        <p:spPr>
          <a:xfrm>
            <a:off x="6638544" y="1060704"/>
            <a:ext cx="1325880"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Unique compounds identified</a:t>
            </a:r>
            <a:endParaRPr lang="en-US" sz="800"/>
          </a:p>
        </p:txBody>
      </p:sp>
      <p:sp>
        <p:nvSpPr>
          <p:cNvPr id="26" name="Text 22">
            <a:extLst>
              <a:ext uri="{FF2B5EF4-FFF2-40B4-BE49-F238E27FC236}">
                <a16:creationId xmlns:a16="http://schemas.microsoft.com/office/drawing/2014/main" id="{E7DEC5E4-21AA-C203-2CF9-917010E19F75}"/>
              </a:ext>
            </a:extLst>
          </p:cNvPr>
          <p:cNvSpPr/>
          <p:nvPr/>
        </p:nvSpPr>
        <p:spPr>
          <a:xfrm>
            <a:off x="6638544" y="1261872"/>
            <a:ext cx="1325880" cy="28346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a:solidFill>
                  <a:srgbClr val="6B3FA0"/>
                </a:solidFill>
              </a:rPr>
              <a:t>34</a:t>
            </a:r>
            <a:endParaRPr lang="en-US" sz="1300"/>
          </a:p>
        </p:txBody>
      </p:sp>
      <p:sp>
        <p:nvSpPr>
          <p:cNvPr id="27" name="Shape 23">
            <a:extLst>
              <a:ext uri="{FF2B5EF4-FFF2-40B4-BE49-F238E27FC236}">
                <a16:creationId xmlns:a16="http://schemas.microsoft.com/office/drawing/2014/main" id="{327AB899-7AC3-71FF-51B0-072946A8C3D0}"/>
              </a:ext>
            </a:extLst>
          </p:cNvPr>
          <p:cNvSpPr/>
          <p:nvPr/>
        </p:nvSpPr>
        <p:spPr>
          <a:xfrm>
            <a:off x="8110728" y="1005840"/>
            <a:ext cx="1874520" cy="594360"/>
          </a:xfrm>
          <a:prstGeom prst="roundRect">
            <a:avLst>
              <a:gd name="adj" fmla="val 13846"/>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8" name="Shape 24">
            <a:extLst>
              <a:ext uri="{FF2B5EF4-FFF2-40B4-BE49-F238E27FC236}">
                <a16:creationId xmlns:a16="http://schemas.microsoft.com/office/drawing/2014/main" id="{D97875FF-E091-54B3-F381-D561D9A01734}"/>
              </a:ext>
            </a:extLst>
          </p:cNvPr>
          <p:cNvSpPr/>
          <p:nvPr/>
        </p:nvSpPr>
        <p:spPr>
          <a:xfrm>
            <a:off x="8161033" y="1158560"/>
            <a:ext cx="308130" cy="308130"/>
          </a:xfrm>
          <a:prstGeom prst="ellipse">
            <a:avLst/>
          </a:prstGeom>
          <a:solidFill>
            <a:srgbClr val="E07B39"/>
          </a:solidFill>
          <a:ln w="12700">
            <a:solidFill>
              <a:srgbClr val="E07B39"/>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 name="Text 25">
            <a:extLst>
              <a:ext uri="{FF2B5EF4-FFF2-40B4-BE49-F238E27FC236}">
                <a16:creationId xmlns:a16="http://schemas.microsoft.com/office/drawing/2014/main" id="{613C497E-4C2A-9EEC-4254-7783000863BD}"/>
              </a:ext>
            </a:extLst>
          </p:cNvPr>
          <p:cNvSpPr/>
          <p:nvPr/>
        </p:nvSpPr>
        <p:spPr>
          <a:xfrm>
            <a:off x="8129016" y="1120140"/>
            <a:ext cx="365760"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ea typeface="Calibri"/>
              <a:cs typeface="Calibri"/>
            </a:endParaRPr>
          </a:p>
        </p:txBody>
      </p:sp>
      <p:sp>
        <p:nvSpPr>
          <p:cNvPr id="30" name="Text 26">
            <a:extLst>
              <a:ext uri="{FF2B5EF4-FFF2-40B4-BE49-F238E27FC236}">
                <a16:creationId xmlns:a16="http://schemas.microsoft.com/office/drawing/2014/main" id="{059B6203-D927-A6D2-BA37-70B71B2E7F54}"/>
              </a:ext>
            </a:extLst>
          </p:cNvPr>
          <p:cNvSpPr/>
          <p:nvPr/>
        </p:nvSpPr>
        <p:spPr>
          <a:xfrm>
            <a:off x="8586216" y="1060704"/>
            <a:ext cx="1325880"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Melanoma-line signatures</a:t>
            </a:r>
            <a:endParaRPr lang="en-US" sz="800"/>
          </a:p>
        </p:txBody>
      </p:sp>
      <p:sp>
        <p:nvSpPr>
          <p:cNvPr id="31" name="Text 27">
            <a:extLst>
              <a:ext uri="{FF2B5EF4-FFF2-40B4-BE49-F238E27FC236}">
                <a16:creationId xmlns:a16="http://schemas.microsoft.com/office/drawing/2014/main" id="{D4AB2F97-396D-BEDF-6823-F8278255B352}"/>
              </a:ext>
            </a:extLst>
          </p:cNvPr>
          <p:cNvSpPr/>
          <p:nvPr/>
        </p:nvSpPr>
        <p:spPr>
          <a:xfrm>
            <a:off x="8586216" y="1261872"/>
            <a:ext cx="1325880" cy="28346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a:solidFill>
                  <a:srgbClr val="E07B39"/>
                </a:solidFill>
              </a:rPr>
              <a:t>21 / 50</a:t>
            </a:r>
            <a:endParaRPr lang="en-US" sz="1300"/>
          </a:p>
        </p:txBody>
      </p:sp>
      <p:sp>
        <p:nvSpPr>
          <p:cNvPr id="32" name="Shape 28">
            <a:extLst>
              <a:ext uri="{FF2B5EF4-FFF2-40B4-BE49-F238E27FC236}">
                <a16:creationId xmlns:a16="http://schemas.microsoft.com/office/drawing/2014/main" id="{FF880F5F-9494-3C56-103E-EADE1F4EDA2A}"/>
              </a:ext>
            </a:extLst>
          </p:cNvPr>
          <p:cNvSpPr/>
          <p:nvPr/>
        </p:nvSpPr>
        <p:spPr>
          <a:xfrm>
            <a:off x="10066175" y="974738"/>
            <a:ext cx="1781215" cy="594360"/>
          </a:xfrm>
          <a:prstGeom prst="roundRect">
            <a:avLst>
              <a:gd name="adj" fmla="val 13846"/>
            </a:avLst>
          </a:prstGeom>
          <a:solidFill>
            <a:srgbClr val="FFFFFF"/>
          </a:solidFill>
          <a:ln w="9525">
            <a:solidFill>
              <a:srgbClr val="D4DDE8"/>
            </a:solidFill>
            <a:prstDash val="solid"/>
          </a:ln>
          <a:effectLst>
            <a:outerShdw blurRad="38100" dist="12700" dir="5400000" algn="bl" rotWithShape="0">
              <a:srgbClr val="C4CDD8">
                <a:alpha val="30000"/>
              </a:srgbClr>
            </a:outerShdw>
          </a:effectLst>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 name="Shape 29">
            <a:extLst>
              <a:ext uri="{FF2B5EF4-FFF2-40B4-BE49-F238E27FC236}">
                <a16:creationId xmlns:a16="http://schemas.microsoft.com/office/drawing/2014/main" id="{21391296-EE3B-3DEF-D636-37AC853D9392}"/>
              </a:ext>
            </a:extLst>
          </p:cNvPr>
          <p:cNvSpPr/>
          <p:nvPr/>
        </p:nvSpPr>
        <p:spPr>
          <a:xfrm>
            <a:off x="10115108" y="1139350"/>
            <a:ext cx="301727" cy="276114"/>
          </a:xfrm>
          <a:prstGeom prst="ellipse">
            <a:avLst/>
          </a:prstGeom>
          <a:solidFill>
            <a:srgbClr val="D4900A"/>
          </a:solidFill>
          <a:ln w="12700">
            <a:solidFill>
              <a:srgbClr val="D4900A"/>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 name="Text 30">
            <a:extLst>
              <a:ext uri="{FF2B5EF4-FFF2-40B4-BE49-F238E27FC236}">
                <a16:creationId xmlns:a16="http://schemas.microsoft.com/office/drawing/2014/main" id="{2E56A68E-7310-C529-9EA2-0E08D590ACB6}"/>
              </a:ext>
            </a:extLst>
          </p:cNvPr>
          <p:cNvSpPr/>
          <p:nvPr/>
        </p:nvSpPr>
        <p:spPr>
          <a:xfrm>
            <a:off x="10095898" y="1126543"/>
            <a:ext cx="352953" cy="365760"/>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ea typeface="Calibri"/>
              <a:cs typeface="Calibri"/>
            </a:endParaRPr>
          </a:p>
        </p:txBody>
      </p:sp>
      <p:sp>
        <p:nvSpPr>
          <p:cNvPr id="35" name="Text 31">
            <a:extLst>
              <a:ext uri="{FF2B5EF4-FFF2-40B4-BE49-F238E27FC236}">
                <a16:creationId xmlns:a16="http://schemas.microsoft.com/office/drawing/2014/main" id="{77B186BC-2D84-86C0-0D0A-1048366135F3}"/>
              </a:ext>
            </a:extLst>
          </p:cNvPr>
          <p:cNvSpPr/>
          <p:nvPr/>
        </p:nvSpPr>
        <p:spPr>
          <a:xfrm>
            <a:off x="10469854" y="1060704"/>
            <a:ext cx="1325880" cy="219456"/>
          </a:xfrm>
          <a:prstGeom prst="rect">
            <a:avLst/>
          </a:prstGeom>
          <a:noFill/>
          <a:ln/>
        </p:spPr>
        <p:txBody>
          <a:bodyPr wrap="square" lIns="0" tIns="0" rIns="0" bIns="0" rtlCol="0" anchor="b"/>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8A9BB0"/>
                </a:solidFill>
              </a:rPr>
              <a:t>Interpretation strength</a:t>
            </a:r>
            <a:endParaRPr lang="en-US" sz="800"/>
          </a:p>
        </p:txBody>
      </p:sp>
      <p:sp>
        <p:nvSpPr>
          <p:cNvPr id="36" name="Text 32">
            <a:extLst>
              <a:ext uri="{FF2B5EF4-FFF2-40B4-BE49-F238E27FC236}">
                <a16:creationId xmlns:a16="http://schemas.microsoft.com/office/drawing/2014/main" id="{3C613CCA-EB60-CD20-0E64-9DBF84B1F816}"/>
              </a:ext>
            </a:extLst>
          </p:cNvPr>
          <p:cNvSpPr/>
          <p:nvPr/>
        </p:nvSpPr>
        <p:spPr>
          <a:xfrm>
            <a:off x="10469854" y="1261872"/>
            <a:ext cx="1325880" cy="28346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b="1">
                <a:solidFill>
                  <a:srgbClr val="D4900A"/>
                </a:solidFill>
              </a:rPr>
              <a:t>Hypothesis-generating</a:t>
            </a:r>
            <a:endParaRPr lang="en-US" sz="1000"/>
          </a:p>
        </p:txBody>
      </p:sp>
      <p:sp>
        <p:nvSpPr>
          <p:cNvPr id="37" name="Shape 33">
            <a:extLst>
              <a:ext uri="{FF2B5EF4-FFF2-40B4-BE49-F238E27FC236}">
                <a16:creationId xmlns:a16="http://schemas.microsoft.com/office/drawing/2014/main" id="{F1A2E463-A0D1-7B09-5F38-98E15D235287}"/>
              </a:ext>
            </a:extLst>
          </p:cNvPr>
          <p:cNvSpPr/>
          <p:nvPr/>
        </p:nvSpPr>
        <p:spPr>
          <a:xfrm>
            <a:off x="320040" y="1719072"/>
            <a:ext cx="3291840" cy="3355848"/>
          </a:xfrm>
          <a:prstGeom prst="roundRect">
            <a:avLst>
              <a:gd name="adj" fmla="val 2500"/>
            </a:avLst>
          </a:prstGeom>
          <a:solidFill>
            <a:srgbClr val="FFFFFF"/>
          </a:solidFill>
          <a:ln w="9525">
            <a:solidFill>
              <a:srgbClr val="D4DDE8"/>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8" name="Shape 34">
            <a:extLst>
              <a:ext uri="{FF2B5EF4-FFF2-40B4-BE49-F238E27FC236}">
                <a16:creationId xmlns:a16="http://schemas.microsoft.com/office/drawing/2014/main" id="{47E35795-F02D-A6F0-DBB7-51B984ADFCBE}"/>
              </a:ext>
            </a:extLst>
          </p:cNvPr>
          <p:cNvSpPr/>
          <p:nvPr/>
        </p:nvSpPr>
        <p:spPr>
          <a:xfrm>
            <a:off x="411480" y="1810512"/>
            <a:ext cx="3108960" cy="274320"/>
          </a:xfrm>
          <a:prstGeom prst="roundRect">
            <a:avLst>
              <a:gd name="adj" fmla="val 40000"/>
            </a:avLst>
          </a:prstGeom>
          <a:solidFill>
            <a:srgbClr val="1B2A4A"/>
          </a:solidFill>
          <a:ln w="12700">
            <a:solidFill>
              <a:srgbClr val="1B2A4A"/>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9" name="Text 35">
            <a:extLst>
              <a:ext uri="{FF2B5EF4-FFF2-40B4-BE49-F238E27FC236}">
                <a16:creationId xmlns:a16="http://schemas.microsoft.com/office/drawing/2014/main" id="{5A44C622-E945-F734-4B76-2E6011BBA531}"/>
              </a:ext>
            </a:extLst>
          </p:cNvPr>
          <p:cNvSpPr/>
          <p:nvPr/>
        </p:nvSpPr>
        <p:spPr>
          <a:xfrm>
            <a:off x="411480" y="1810512"/>
            <a:ext cx="310896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b="1">
                <a:solidFill>
                  <a:srgbClr val="FFFFFF"/>
                </a:solidFill>
              </a:rPr>
              <a:t>What LINCS was asked</a:t>
            </a:r>
            <a:endParaRPr lang="en-US" sz="900"/>
          </a:p>
        </p:txBody>
      </p:sp>
      <p:sp>
        <p:nvSpPr>
          <p:cNvPr id="40" name="Shape 37">
            <a:extLst>
              <a:ext uri="{FF2B5EF4-FFF2-40B4-BE49-F238E27FC236}">
                <a16:creationId xmlns:a16="http://schemas.microsoft.com/office/drawing/2014/main" id="{57B226A2-EE17-A646-69FC-6B448860CCC3}"/>
              </a:ext>
            </a:extLst>
          </p:cNvPr>
          <p:cNvSpPr/>
          <p:nvPr/>
        </p:nvSpPr>
        <p:spPr>
          <a:xfrm>
            <a:off x="3840480" y="1810512"/>
            <a:ext cx="4572000" cy="274320"/>
          </a:xfrm>
          <a:prstGeom prst="roundRect">
            <a:avLst>
              <a:gd name="adj" fmla="val 40000"/>
            </a:avLst>
          </a:prstGeom>
          <a:solidFill>
            <a:srgbClr val="1B2A4A"/>
          </a:solidFill>
          <a:ln w="12700">
            <a:solidFill>
              <a:srgbClr val="1B2A4A"/>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1" name="Text 38">
            <a:extLst>
              <a:ext uri="{FF2B5EF4-FFF2-40B4-BE49-F238E27FC236}">
                <a16:creationId xmlns:a16="http://schemas.microsoft.com/office/drawing/2014/main" id="{87FC239E-85E6-1103-DAA8-87E8F63FF460}"/>
              </a:ext>
            </a:extLst>
          </p:cNvPr>
          <p:cNvSpPr/>
          <p:nvPr/>
        </p:nvSpPr>
        <p:spPr>
          <a:xfrm>
            <a:off x="3840480" y="1810512"/>
            <a:ext cx="457200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b="1">
                <a:solidFill>
                  <a:srgbClr val="FFFFFF"/>
                </a:solidFill>
              </a:rPr>
              <a:t>Top melanoma-line mimic matches (A375)</a:t>
            </a:r>
            <a:endParaRPr lang="en-US" sz="900"/>
          </a:p>
        </p:txBody>
      </p:sp>
      <p:sp>
        <p:nvSpPr>
          <p:cNvPr id="42" name="Text 40">
            <a:extLst>
              <a:ext uri="{FF2B5EF4-FFF2-40B4-BE49-F238E27FC236}">
                <a16:creationId xmlns:a16="http://schemas.microsoft.com/office/drawing/2014/main" id="{BEDC88A1-BB9F-4E42-50F6-E3A6A95841F5}"/>
              </a:ext>
            </a:extLst>
          </p:cNvPr>
          <p:cNvSpPr/>
          <p:nvPr/>
        </p:nvSpPr>
        <p:spPr>
          <a:xfrm>
            <a:off x="3963924" y="2128972"/>
            <a:ext cx="850392" cy="292608"/>
          </a:xfrm>
          <a:prstGeom prst="rect">
            <a:avLst/>
          </a:prstGeom>
          <a:noFill/>
          <a:ln/>
        </p:spPr>
        <p:txBody>
          <a:bodyPr wrap="square" lIns="0" tIns="5080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850"/>
          </a:p>
        </p:txBody>
      </p:sp>
      <p:sp>
        <p:nvSpPr>
          <p:cNvPr id="43" name="Text 42">
            <a:extLst>
              <a:ext uri="{FF2B5EF4-FFF2-40B4-BE49-F238E27FC236}">
                <a16:creationId xmlns:a16="http://schemas.microsoft.com/office/drawing/2014/main" id="{AD738C94-DCC4-8623-7CB2-5C1F4ED6FD89}"/>
              </a:ext>
            </a:extLst>
          </p:cNvPr>
          <p:cNvSpPr/>
          <p:nvPr/>
        </p:nvSpPr>
        <p:spPr>
          <a:xfrm>
            <a:off x="7845552" y="2130552"/>
            <a:ext cx="576072" cy="292608"/>
          </a:xfrm>
          <a:prstGeom prst="rect">
            <a:avLst/>
          </a:prstGeom>
          <a:noFill/>
          <a:ln/>
        </p:spPr>
        <p:txBody>
          <a:bodyPr wrap="square" lIns="0" tIns="5080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50" b="1">
                <a:solidFill>
                  <a:srgbClr val="FFFFFF"/>
                </a:solidFill>
              </a:rPr>
              <a:t>Score</a:t>
            </a:r>
            <a:endParaRPr lang="en-US" sz="850"/>
          </a:p>
        </p:txBody>
      </p:sp>
      <p:sp>
        <p:nvSpPr>
          <p:cNvPr id="44" name="Shape 72">
            <a:extLst>
              <a:ext uri="{FF2B5EF4-FFF2-40B4-BE49-F238E27FC236}">
                <a16:creationId xmlns:a16="http://schemas.microsoft.com/office/drawing/2014/main" id="{670B7117-F377-C7B0-DD92-7280740E9473}"/>
              </a:ext>
            </a:extLst>
          </p:cNvPr>
          <p:cNvSpPr/>
          <p:nvPr/>
        </p:nvSpPr>
        <p:spPr>
          <a:xfrm>
            <a:off x="8686800" y="1705396"/>
            <a:ext cx="3154680" cy="4343400"/>
          </a:xfrm>
          <a:prstGeom prst="roundRect">
            <a:avLst>
              <a:gd name="adj" fmla="val 2609"/>
            </a:avLst>
          </a:prstGeom>
          <a:solidFill>
            <a:srgbClr val="FFFFFF"/>
          </a:solidFill>
          <a:ln w="9525">
            <a:solidFill>
              <a:srgbClr val="D4DDE8"/>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5" name="Shape 73">
            <a:extLst>
              <a:ext uri="{FF2B5EF4-FFF2-40B4-BE49-F238E27FC236}">
                <a16:creationId xmlns:a16="http://schemas.microsoft.com/office/drawing/2014/main" id="{BBCDB235-EE77-C84C-4B0A-9BBA7C5F2D6C}"/>
              </a:ext>
            </a:extLst>
          </p:cNvPr>
          <p:cNvSpPr/>
          <p:nvPr/>
        </p:nvSpPr>
        <p:spPr>
          <a:xfrm>
            <a:off x="8778240" y="1810512"/>
            <a:ext cx="2971800" cy="274320"/>
          </a:xfrm>
          <a:prstGeom prst="roundRect">
            <a:avLst>
              <a:gd name="adj" fmla="val 40000"/>
            </a:avLst>
          </a:prstGeom>
          <a:solidFill>
            <a:srgbClr val="1B2A4A"/>
          </a:solidFill>
          <a:ln w="12700">
            <a:solidFill>
              <a:srgbClr val="1B2A4A"/>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6" name="Text 74">
            <a:extLst>
              <a:ext uri="{FF2B5EF4-FFF2-40B4-BE49-F238E27FC236}">
                <a16:creationId xmlns:a16="http://schemas.microsoft.com/office/drawing/2014/main" id="{0AA5D05F-2F8B-9080-2AE3-305276682347}"/>
              </a:ext>
            </a:extLst>
          </p:cNvPr>
          <p:cNvSpPr/>
          <p:nvPr/>
        </p:nvSpPr>
        <p:spPr>
          <a:xfrm>
            <a:off x="8778240" y="1810512"/>
            <a:ext cx="297180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00" b="1">
                <a:solidFill>
                  <a:srgbClr val="FFFFFF"/>
                </a:solidFill>
              </a:rPr>
              <a:t>Exploratory Analysis</a:t>
            </a:r>
            <a:endParaRPr lang="en-US" sz="900"/>
          </a:p>
        </p:txBody>
      </p:sp>
      <p:sp>
        <p:nvSpPr>
          <p:cNvPr id="47" name="Shape 75">
            <a:extLst>
              <a:ext uri="{FF2B5EF4-FFF2-40B4-BE49-F238E27FC236}">
                <a16:creationId xmlns:a16="http://schemas.microsoft.com/office/drawing/2014/main" id="{654E18EE-F194-05CE-4259-AE935978274A}"/>
              </a:ext>
            </a:extLst>
          </p:cNvPr>
          <p:cNvSpPr/>
          <p:nvPr/>
        </p:nvSpPr>
        <p:spPr>
          <a:xfrm>
            <a:off x="411480" y="4343400"/>
            <a:ext cx="2971800" cy="274320"/>
          </a:xfrm>
          <a:prstGeom prst="roundRect">
            <a:avLst>
              <a:gd name="adj" fmla="val 16667"/>
            </a:avLst>
          </a:prstGeom>
          <a:solidFill>
            <a:srgbClr val="EEF3F8"/>
          </a:solidFill>
          <a:ln w="9525">
            <a:solidFill>
              <a:srgbClr val="D4DDE8"/>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8" name="Text 76">
            <a:extLst>
              <a:ext uri="{FF2B5EF4-FFF2-40B4-BE49-F238E27FC236}">
                <a16:creationId xmlns:a16="http://schemas.microsoft.com/office/drawing/2014/main" id="{D4337211-F29B-6197-2161-7376D0147718}"/>
              </a:ext>
            </a:extLst>
          </p:cNvPr>
          <p:cNvSpPr/>
          <p:nvPr/>
        </p:nvSpPr>
        <p:spPr>
          <a:xfrm>
            <a:off x="466121" y="4343400"/>
            <a:ext cx="2880360" cy="2743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50" b="1">
                <a:solidFill>
                  <a:srgbClr val="0E6B7C"/>
                </a:solidFill>
              </a:rPr>
              <a:t>Mimic mode, still not direct SOX10 inhibition</a:t>
            </a:r>
            <a:endParaRPr lang="en-US" sz="850"/>
          </a:p>
        </p:txBody>
      </p:sp>
      <p:sp>
        <p:nvSpPr>
          <p:cNvPr id="49" name="Shape 77">
            <a:extLst>
              <a:ext uri="{FF2B5EF4-FFF2-40B4-BE49-F238E27FC236}">
                <a16:creationId xmlns:a16="http://schemas.microsoft.com/office/drawing/2014/main" id="{F550407D-37CB-9965-9360-42DAD4218C48}"/>
              </a:ext>
            </a:extLst>
          </p:cNvPr>
          <p:cNvSpPr/>
          <p:nvPr/>
        </p:nvSpPr>
        <p:spPr>
          <a:xfrm>
            <a:off x="8817864" y="2276816"/>
            <a:ext cx="256032" cy="256032"/>
          </a:xfrm>
          <a:prstGeom prst="ellipse">
            <a:avLst/>
          </a:prstGeom>
          <a:solidFill>
            <a:srgbClr val="2A6B3C"/>
          </a:solidFill>
          <a:ln w="12700">
            <a:solidFill>
              <a:srgbClr val="2A6B3C"/>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0" name="Text 78">
            <a:extLst>
              <a:ext uri="{FF2B5EF4-FFF2-40B4-BE49-F238E27FC236}">
                <a16:creationId xmlns:a16="http://schemas.microsoft.com/office/drawing/2014/main" id="{2A63020A-6BE5-E7D0-44E9-813F77B87C3E}"/>
              </a:ext>
            </a:extLst>
          </p:cNvPr>
          <p:cNvSpPr/>
          <p:nvPr/>
        </p:nvSpPr>
        <p:spPr>
          <a:xfrm>
            <a:off x="8817864" y="2276816"/>
            <a:ext cx="256032" cy="256032"/>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00">
                <a:solidFill>
                  <a:srgbClr val="000000"/>
                </a:solidFill>
              </a:rPr>
              <a:t>✅</a:t>
            </a:r>
            <a:endParaRPr lang="en-US" sz="700"/>
          </a:p>
        </p:txBody>
      </p:sp>
      <p:sp>
        <p:nvSpPr>
          <p:cNvPr id="51" name="Text 79">
            <a:extLst>
              <a:ext uri="{FF2B5EF4-FFF2-40B4-BE49-F238E27FC236}">
                <a16:creationId xmlns:a16="http://schemas.microsoft.com/office/drawing/2014/main" id="{8644E274-7D16-CCD6-86F4-4C4F8F96CC19}"/>
              </a:ext>
            </a:extLst>
          </p:cNvPr>
          <p:cNvSpPr/>
          <p:nvPr/>
        </p:nvSpPr>
        <p:spPr>
          <a:xfrm>
            <a:off x="9128760" y="2212808"/>
            <a:ext cx="2651760" cy="40233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50">
                <a:solidFill>
                  <a:srgbClr val="22303F"/>
                </a:solidFill>
              </a:rPr>
              <a:t>Seven melanoma cell-line knockdown experiments</a:t>
            </a:r>
            <a:endParaRPr lang="en-US" sz="850"/>
          </a:p>
        </p:txBody>
      </p:sp>
      <p:sp>
        <p:nvSpPr>
          <p:cNvPr id="52" name="Shape 80">
            <a:extLst>
              <a:ext uri="{FF2B5EF4-FFF2-40B4-BE49-F238E27FC236}">
                <a16:creationId xmlns:a16="http://schemas.microsoft.com/office/drawing/2014/main" id="{5420FD90-B2F4-811D-69FE-0D3FEAFCBECE}"/>
              </a:ext>
            </a:extLst>
          </p:cNvPr>
          <p:cNvSpPr/>
          <p:nvPr/>
        </p:nvSpPr>
        <p:spPr>
          <a:xfrm>
            <a:off x="8817864" y="2752304"/>
            <a:ext cx="256032" cy="256032"/>
          </a:xfrm>
          <a:prstGeom prst="ellipse">
            <a:avLst/>
          </a:prstGeom>
          <a:solidFill>
            <a:srgbClr val="2A6B3C"/>
          </a:solidFill>
          <a:ln w="12700">
            <a:solidFill>
              <a:srgbClr val="2A6B3C"/>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3" name="Text 81">
            <a:extLst>
              <a:ext uri="{FF2B5EF4-FFF2-40B4-BE49-F238E27FC236}">
                <a16:creationId xmlns:a16="http://schemas.microsoft.com/office/drawing/2014/main" id="{ACBBA3BE-5992-724F-845F-E5F7F24A5378}"/>
              </a:ext>
            </a:extLst>
          </p:cNvPr>
          <p:cNvSpPr/>
          <p:nvPr/>
        </p:nvSpPr>
        <p:spPr>
          <a:xfrm>
            <a:off x="8817864" y="2752304"/>
            <a:ext cx="256032" cy="256032"/>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00">
                <a:solidFill>
                  <a:srgbClr val="000000"/>
                </a:solidFill>
              </a:rPr>
              <a:t>✅</a:t>
            </a:r>
            <a:endParaRPr lang="en-US" sz="700"/>
          </a:p>
        </p:txBody>
      </p:sp>
      <p:sp>
        <p:nvSpPr>
          <p:cNvPr id="54" name="Text 82">
            <a:extLst>
              <a:ext uri="{FF2B5EF4-FFF2-40B4-BE49-F238E27FC236}">
                <a16:creationId xmlns:a16="http://schemas.microsoft.com/office/drawing/2014/main" id="{9B6426E9-DC06-B862-BEA5-DA7F1D349FF7}"/>
              </a:ext>
            </a:extLst>
          </p:cNvPr>
          <p:cNvSpPr/>
          <p:nvPr/>
        </p:nvSpPr>
        <p:spPr>
          <a:xfrm>
            <a:off x="9128760" y="2697440"/>
            <a:ext cx="2651760" cy="40233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50">
                <a:solidFill>
                  <a:srgbClr val="22303F"/>
                </a:solidFill>
              </a:rPr>
              <a:t>DE model controlled for cell-line baseline</a:t>
            </a:r>
            <a:endParaRPr lang="en-US" sz="850"/>
          </a:p>
        </p:txBody>
      </p:sp>
      <p:sp>
        <p:nvSpPr>
          <p:cNvPr id="55" name="Shape 83">
            <a:extLst>
              <a:ext uri="{FF2B5EF4-FFF2-40B4-BE49-F238E27FC236}">
                <a16:creationId xmlns:a16="http://schemas.microsoft.com/office/drawing/2014/main" id="{60A46034-28E6-A396-FF2D-80A48529A48A}"/>
              </a:ext>
            </a:extLst>
          </p:cNvPr>
          <p:cNvSpPr/>
          <p:nvPr/>
        </p:nvSpPr>
        <p:spPr>
          <a:xfrm>
            <a:off x="8817864" y="3227792"/>
            <a:ext cx="256032" cy="256032"/>
          </a:xfrm>
          <a:prstGeom prst="ellipse">
            <a:avLst/>
          </a:prstGeom>
          <a:solidFill>
            <a:srgbClr val="2A6B3C"/>
          </a:solidFill>
          <a:ln w="12700">
            <a:solidFill>
              <a:srgbClr val="2A6B3C"/>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 name="Text 84">
            <a:extLst>
              <a:ext uri="{FF2B5EF4-FFF2-40B4-BE49-F238E27FC236}">
                <a16:creationId xmlns:a16="http://schemas.microsoft.com/office/drawing/2014/main" id="{4FACB07A-898E-4049-D13B-39AF8F7FB404}"/>
              </a:ext>
            </a:extLst>
          </p:cNvPr>
          <p:cNvSpPr/>
          <p:nvPr/>
        </p:nvSpPr>
        <p:spPr>
          <a:xfrm>
            <a:off x="8817864" y="3227792"/>
            <a:ext cx="256032" cy="256032"/>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00">
                <a:solidFill>
                  <a:srgbClr val="000000"/>
                </a:solidFill>
              </a:rPr>
              <a:t>✅</a:t>
            </a:r>
            <a:endParaRPr lang="en-US" sz="700"/>
          </a:p>
        </p:txBody>
      </p:sp>
      <p:sp>
        <p:nvSpPr>
          <p:cNvPr id="57" name="Text 85">
            <a:extLst>
              <a:ext uri="{FF2B5EF4-FFF2-40B4-BE49-F238E27FC236}">
                <a16:creationId xmlns:a16="http://schemas.microsoft.com/office/drawing/2014/main" id="{B3E28C7C-E92B-DFE1-2067-C5B08B8392AC}"/>
              </a:ext>
            </a:extLst>
          </p:cNvPr>
          <p:cNvSpPr/>
          <p:nvPr/>
        </p:nvSpPr>
        <p:spPr>
          <a:xfrm>
            <a:off x="9128760" y="3173653"/>
            <a:ext cx="2651760" cy="40233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50">
                <a:solidFill>
                  <a:srgbClr val="22303F"/>
                </a:solidFill>
              </a:rPr>
              <a:t>Strong QC: SOX10 and MITF both decrease</a:t>
            </a:r>
            <a:endParaRPr lang="en-US" sz="850"/>
          </a:p>
        </p:txBody>
      </p:sp>
      <p:sp>
        <p:nvSpPr>
          <p:cNvPr id="58" name="Shape 86">
            <a:extLst>
              <a:ext uri="{FF2B5EF4-FFF2-40B4-BE49-F238E27FC236}">
                <a16:creationId xmlns:a16="http://schemas.microsoft.com/office/drawing/2014/main" id="{FB27E3D2-C886-D9B5-D5D8-2320B5996ABB}"/>
              </a:ext>
            </a:extLst>
          </p:cNvPr>
          <p:cNvSpPr/>
          <p:nvPr/>
        </p:nvSpPr>
        <p:spPr>
          <a:xfrm>
            <a:off x="8817864" y="3703280"/>
            <a:ext cx="256032" cy="256032"/>
          </a:xfrm>
          <a:prstGeom prst="ellipse">
            <a:avLst/>
          </a:prstGeom>
          <a:solidFill>
            <a:srgbClr val="2A6B3C"/>
          </a:solidFill>
          <a:ln w="12700">
            <a:solidFill>
              <a:srgbClr val="2A6B3C"/>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9" name="Text 87">
            <a:extLst>
              <a:ext uri="{FF2B5EF4-FFF2-40B4-BE49-F238E27FC236}">
                <a16:creationId xmlns:a16="http://schemas.microsoft.com/office/drawing/2014/main" id="{9E4434C9-28A6-CE07-AD6E-72187F924187}"/>
              </a:ext>
            </a:extLst>
          </p:cNvPr>
          <p:cNvSpPr/>
          <p:nvPr/>
        </p:nvSpPr>
        <p:spPr>
          <a:xfrm>
            <a:off x="8817864" y="3703280"/>
            <a:ext cx="256032" cy="256032"/>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00">
                <a:solidFill>
                  <a:srgbClr val="000000"/>
                </a:solidFill>
              </a:rPr>
              <a:t>✅</a:t>
            </a:r>
            <a:endParaRPr lang="en-US" sz="700"/>
          </a:p>
        </p:txBody>
      </p:sp>
      <p:sp>
        <p:nvSpPr>
          <p:cNvPr id="60" name="Text 88">
            <a:extLst>
              <a:ext uri="{FF2B5EF4-FFF2-40B4-BE49-F238E27FC236}">
                <a16:creationId xmlns:a16="http://schemas.microsoft.com/office/drawing/2014/main" id="{FBBEE450-F6F4-4B1B-9EFB-228386CA9423}"/>
              </a:ext>
            </a:extLst>
          </p:cNvPr>
          <p:cNvSpPr/>
          <p:nvPr/>
        </p:nvSpPr>
        <p:spPr>
          <a:xfrm>
            <a:off x="9128760" y="3614684"/>
            <a:ext cx="2651760" cy="40233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50">
                <a:solidFill>
                  <a:srgbClr val="22303F"/>
                </a:solidFill>
              </a:rPr>
              <a:t>Useful as an exploratory compound-matching layer</a:t>
            </a:r>
            <a:endParaRPr lang="en-US" sz="850"/>
          </a:p>
        </p:txBody>
      </p:sp>
      <p:sp>
        <p:nvSpPr>
          <p:cNvPr id="61" name="Shape 89">
            <a:extLst>
              <a:ext uri="{FF2B5EF4-FFF2-40B4-BE49-F238E27FC236}">
                <a16:creationId xmlns:a16="http://schemas.microsoft.com/office/drawing/2014/main" id="{3570A72D-7E7F-91C1-B0CC-611DD0ECAFF3}"/>
              </a:ext>
            </a:extLst>
          </p:cNvPr>
          <p:cNvSpPr/>
          <p:nvPr/>
        </p:nvSpPr>
        <p:spPr>
          <a:xfrm>
            <a:off x="8817864" y="4178768"/>
            <a:ext cx="256032" cy="256032"/>
          </a:xfrm>
          <a:prstGeom prst="ellipse">
            <a:avLst/>
          </a:prstGeom>
          <a:solidFill>
            <a:srgbClr val="D4900A"/>
          </a:solidFill>
          <a:ln w="12700">
            <a:solidFill>
              <a:srgbClr val="D4900A"/>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2" name="Text 90">
            <a:extLst>
              <a:ext uri="{FF2B5EF4-FFF2-40B4-BE49-F238E27FC236}">
                <a16:creationId xmlns:a16="http://schemas.microsoft.com/office/drawing/2014/main" id="{1FECC16D-804F-57D8-BBF4-802517E3E322}"/>
              </a:ext>
            </a:extLst>
          </p:cNvPr>
          <p:cNvSpPr/>
          <p:nvPr/>
        </p:nvSpPr>
        <p:spPr>
          <a:xfrm>
            <a:off x="8817864" y="4178768"/>
            <a:ext cx="256032" cy="256032"/>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00">
                <a:solidFill>
                  <a:srgbClr val="000000"/>
                </a:solidFill>
              </a:rPr>
              <a:t>⚠</a:t>
            </a:r>
            <a:endParaRPr lang="en-US" sz="700"/>
          </a:p>
        </p:txBody>
      </p:sp>
      <p:sp>
        <p:nvSpPr>
          <p:cNvPr id="63" name="Text 91">
            <a:extLst>
              <a:ext uri="{FF2B5EF4-FFF2-40B4-BE49-F238E27FC236}">
                <a16:creationId xmlns:a16="http://schemas.microsoft.com/office/drawing/2014/main" id="{7F8EF900-601E-866E-8C0E-9BC17259FE79}"/>
              </a:ext>
            </a:extLst>
          </p:cNvPr>
          <p:cNvSpPr/>
          <p:nvPr/>
        </p:nvSpPr>
        <p:spPr>
          <a:xfrm>
            <a:off x="9128760" y="4137174"/>
            <a:ext cx="2651760" cy="40233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50">
                <a:solidFill>
                  <a:srgbClr val="22303F"/>
                </a:solidFill>
              </a:rPr>
              <a:t>Scores are modest and condition-specific</a:t>
            </a:r>
            <a:endParaRPr lang="en-US" sz="850"/>
          </a:p>
        </p:txBody>
      </p:sp>
      <p:sp>
        <p:nvSpPr>
          <p:cNvPr id="64" name="Shape 92">
            <a:extLst>
              <a:ext uri="{FF2B5EF4-FFF2-40B4-BE49-F238E27FC236}">
                <a16:creationId xmlns:a16="http://schemas.microsoft.com/office/drawing/2014/main" id="{CC3E2E1D-CDA5-3BD9-3A2C-1489D54D35F2}"/>
              </a:ext>
            </a:extLst>
          </p:cNvPr>
          <p:cNvSpPr/>
          <p:nvPr/>
        </p:nvSpPr>
        <p:spPr>
          <a:xfrm>
            <a:off x="8817864" y="4654256"/>
            <a:ext cx="256032" cy="256032"/>
          </a:xfrm>
          <a:prstGeom prst="ellipse">
            <a:avLst/>
          </a:prstGeom>
          <a:solidFill>
            <a:srgbClr val="D4900A"/>
          </a:solidFill>
          <a:ln w="12700">
            <a:solidFill>
              <a:srgbClr val="D4900A"/>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5" name="Text 93">
            <a:extLst>
              <a:ext uri="{FF2B5EF4-FFF2-40B4-BE49-F238E27FC236}">
                <a16:creationId xmlns:a16="http://schemas.microsoft.com/office/drawing/2014/main" id="{12F4F678-E738-000B-2D61-977C9CF11800}"/>
              </a:ext>
            </a:extLst>
          </p:cNvPr>
          <p:cNvSpPr/>
          <p:nvPr/>
        </p:nvSpPr>
        <p:spPr>
          <a:xfrm>
            <a:off x="8817864" y="4654256"/>
            <a:ext cx="256032" cy="256032"/>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00">
                <a:solidFill>
                  <a:srgbClr val="000000"/>
                </a:solidFill>
              </a:rPr>
              <a:t>⚠</a:t>
            </a:r>
            <a:endParaRPr lang="en-US" sz="700"/>
          </a:p>
        </p:txBody>
      </p:sp>
      <p:sp>
        <p:nvSpPr>
          <p:cNvPr id="66" name="Text 94">
            <a:extLst>
              <a:ext uri="{FF2B5EF4-FFF2-40B4-BE49-F238E27FC236}">
                <a16:creationId xmlns:a16="http://schemas.microsoft.com/office/drawing/2014/main" id="{E9E88E13-2EBE-2A37-4A48-6580C3BCDB17}"/>
              </a:ext>
            </a:extLst>
          </p:cNvPr>
          <p:cNvSpPr/>
          <p:nvPr/>
        </p:nvSpPr>
        <p:spPr>
          <a:xfrm>
            <a:off x="9128760" y="4603964"/>
            <a:ext cx="2651760" cy="40233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50">
                <a:solidFill>
                  <a:srgbClr val="22303F"/>
                </a:solidFill>
              </a:rPr>
              <a:t>Not proof of SOX10 inhibition or killing</a:t>
            </a:r>
            <a:endParaRPr lang="en-US" sz="850"/>
          </a:p>
        </p:txBody>
      </p:sp>
      <p:sp>
        <p:nvSpPr>
          <p:cNvPr id="67" name="Shape 95">
            <a:extLst>
              <a:ext uri="{FF2B5EF4-FFF2-40B4-BE49-F238E27FC236}">
                <a16:creationId xmlns:a16="http://schemas.microsoft.com/office/drawing/2014/main" id="{A66F0C4D-5DBF-3F90-1712-5468633E4907}"/>
              </a:ext>
            </a:extLst>
          </p:cNvPr>
          <p:cNvSpPr/>
          <p:nvPr/>
        </p:nvSpPr>
        <p:spPr>
          <a:xfrm>
            <a:off x="8817864" y="5129744"/>
            <a:ext cx="256032" cy="256032"/>
          </a:xfrm>
          <a:prstGeom prst="ellipse">
            <a:avLst/>
          </a:prstGeom>
          <a:solidFill>
            <a:srgbClr val="E07B39"/>
          </a:solidFill>
          <a:ln w="12700">
            <a:solidFill>
              <a:srgbClr val="E07B39"/>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8" name="Text 96">
            <a:extLst>
              <a:ext uri="{FF2B5EF4-FFF2-40B4-BE49-F238E27FC236}">
                <a16:creationId xmlns:a16="http://schemas.microsoft.com/office/drawing/2014/main" id="{B3570130-B1B5-C236-01F1-81F508663A1C}"/>
              </a:ext>
            </a:extLst>
          </p:cNvPr>
          <p:cNvSpPr/>
          <p:nvPr/>
        </p:nvSpPr>
        <p:spPr>
          <a:xfrm>
            <a:off x="8817864" y="5129744"/>
            <a:ext cx="256032" cy="256032"/>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00">
                <a:solidFill>
                  <a:srgbClr val="000000"/>
                </a:solidFill>
              </a:rPr>
              <a:t>💡</a:t>
            </a:r>
            <a:endParaRPr lang="en-US" sz="700"/>
          </a:p>
        </p:txBody>
      </p:sp>
      <p:sp>
        <p:nvSpPr>
          <p:cNvPr id="69" name="Text 97">
            <a:extLst>
              <a:ext uri="{FF2B5EF4-FFF2-40B4-BE49-F238E27FC236}">
                <a16:creationId xmlns:a16="http://schemas.microsoft.com/office/drawing/2014/main" id="{DFF87109-14E3-40B5-6A05-DC7697510B60}"/>
              </a:ext>
            </a:extLst>
          </p:cNvPr>
          <p:cNvSpPr/>
          <p:nvPr/>
        </p:nvSpPr>
        <p:spPr>
          <a:xfrm>
            <a:off x="9128760" y="5054529"/>
            <a:ext cx="2651760" cy="402336"/>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50">
                <a:solidFill>
                  <a:srgbClr val="22303F"/>
                </a:solidFill>
              </a:rPr>
              <a:t>Best to motivate PRISM/GDSC or wet-lab follow-up</a:t>
            </a:r>
            <a:endParaRPr lang="en-US" sz="850"/>
          </a:p>
        </p:txBody>
      </p:sp>
      <p:sp>
        <p:nvSpPr>
          <p:cNvPr id="70" name="Shape 98">
            <a:extLst>
              <a:ext uri="{FF2B5EF4-FFF2-40B4-BE49-F238E27FC236}">
                <a16:creationId xmlns:a16="http://schemas.microsoft.com/office/drawing/2014/main" id="{33C3E690-36E4-A298-7A8A-DB71B9DBEEBA}"/>
              </a:ext>
            </a:extLst>
          </p:cNvPr>
          <p:cNvSpPr/>
          <p:nvPr/>
        </p:nvSpPr>
        <p:spPr>
          <a:xfrm>
            <a:off x="8799576" y="5577800"/>
            <a:ext cx="2971800" cy="320040"/>
          </a:xfrm>
          <a:prstGeom prst="roundRect">
            <a:avLst>
              <a:gd name="adj" fmla="val 14286"/>
            </a:avLst>
          </a:prstGeom>
          <a:solidFill>
            <a:srgbClr val="FFF8EC"/>
          </a:solidFill>
          <a:ln w="12700">
            <a:solidFill>
              <a:srgbClr val="D4900A"/>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1" name="Shape 99">
            <a:extLst>
              <a:ext uri="{FF2B5EF4-FFF2-40B4-BE49-F238E27FC236}">
                <a16:creationId xmlns:a16="http://schemas.microsoft.com/office/drawing/2014/main" id="{82CB951B-2202-CDE9-23BF-7B81DD54DBB9}"/>
              </a:ext>
            </a:extLst>
          </p:cNvPr>
          <p:cNvSpPr/>
          <p:nvPr/>
        </p:nvSpPr>
        <p:spPr>
          <a:xfrm>
            <a:off x="8836152" y="5618948"/>
            <a:ext cx="237744" cy="237744"/>
          </a:xfrm>
          <a:prstGeom prst="ellipse">
            <a:avLst/>
          </a:prstGeom>
          <a:solidFill>
            <a:srgbClr val="D4900A"/>
          </a:solidFill>
          <a:ln w="12700">
            <a:solidFill>
              <a:srgbClr val="D4900A"/>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2" name="Text 100">
            <a:extLst>
              <a:ext uri="{FF2B5EF4-FFF2-40B4-BE49-F238E27FC236}">
                <a16:creationId xmlns:a16="http://schemas.microsoft.com/office/drawing/2014/main" id="{A135C5BC-99CD-1F92-9745-E993BED2EFF4}"/>
              </a:ext>
            </a:extLst>
          </p:cNvPr>
          <p:cNvSpPr/>
          <p:nvPr/>
        </p:nvSpPr>
        <p:spPr>
          <a:xfrm>
            <a:off x="8836152" y="5618948"/>
            <a:ext cx="237744" cy="237744"/>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00">
                <a:solidFill>
                  <a:srgbClr val="000000"/>
                </a:solidFill>
              </a:rPr>
              <a:t>💡</a:t>
            </a:r>
            <a:endParaRPr lang="en-US" sz="700"/>
          </a:p>
        </p:txBody>
      </p:sp>
      <p:sp>
        <p:nvSpPr>
          <p:cNvPr id="73" name="Text 101">
            <a:extLst>
              <a:ext uri="{FF2B5EF4-FFF2-40B4-BE49-F238E27FC236}">
                <a16:creationId xmlns:a16="http://schemas.microsoft.com/office/drawing/2014/main" id="{0BE423BB-980A-677D-274F-8DAF4F5C8DEC}"/>
              </a:ext>
            </a:extLst>
          </p:cNvPr>
          <p:cNvSpPr/>
          <p:nvPr/>
        </p:nvSpPr>
        <p:spPr>
          <a:xfrm>
            <a:off x="9128760" y="5577800"/>
            <a:ext cx="256032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50" b="1">
                <a:solidFill>
                  <a:srgbClr val="D4900A"/>
                </a:solidFill>
              </a:rPr>
              <a:t>Hypothesis-generating drug-repurposing evidence</a:t>
            </a:r>
            <a:endParaRPr lang="en-US" sz="850"/>
          </a:p>
        </p:txBody>
      </p:sp>
      <p:sp>
        <p:nvSpPr>
          <p:cNvPr id="74" name="Shape 102">
            <a:extLst>
              <a:ext uri="{FF2B5EF4-FFF2-40B4-BE49-F238E27FC236}">
                <a16:creationId xmlns:a16="http://schemas.microsoft.com/office/drawing/2014/main" id="{D900A76F-C473-E130-4C25-1BD68A96923A}"/>
              </a:ext>
            </a:extLst>
          </p:cNvPr>
          <p:cNvSpPr/>
          <p:nvPr/>
        </p:nvSpPr>
        <p:spPr>
          <a:xfrm>
            <a:off x="0" y="6336792"/>
            <a:ext cx="12192000" cy="521208"/>
          </a:xfrm>
          <a:prstGeom prst="rect">
            <a:avLst/>
          </a:prstGeom>
          <a:solidFill>
            <a:srgbClr val="1B2A4A"/>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5" name="Shape 103">
            <a:extLst>
              <a:ext uri="{FF2B5EF4-FFF2-40B4-BE49-F238E27FC236}">
                <a16:creationId xmlns:a16="http://schemas.microsoft.com/office/drawing/2014/main" id="{84C0BB7A-C7CA-0FB3-0A12-DA5EE5283D1E}"/>
              </a:ext>
            </a:extLst>
          </p:cNvPr>
          <p:cNvSpPr/>
          <p:nvPr/>
        </p:nvSpPr>
        <p:spPr>
          <a:xfrm>
            <a:off x="228600" y="6441948"/>
            <a:ext cx="310896" cy="310896"/>
          </a:xfrm>
          <a:prstGeom prst="ellipse">
            <a:avLst/>
          </a:prstGeom>
          <a:solidFill>
            <a:srgbClr val="0E6B7C"/>
          </a:solidFill>
          <a:ln w="12700">
            <a:solidFill>
              <a:srgbClr val="0E6B7C"/>
            </a:solidFill>
            <a:prstDash val="solid"/>
          </a:ln>
        </p:spPr>
        <p:txBody>
          <a:bodyPr lIns="91440" tIns="45720" rIns="91440" bIns="4572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000"/>
          </a:p>
        </p:txBody>
      </p:sp>
      <p:sp>
        <p:nvSpPr>
          <p:cNvPr id="76" name="Text 104">
            <a:extLst>
              <a:ext uri="{FF2B5EF4-FFF2-40B4-BE49-F238E27FC236}">
                <a16:creationId xmlns:a16="http://schemas.microsoft.com/office/drawing/2014/main" id="{686D80BA-C0DF-6B4A-69E5-9074219434CC}"/>
              </a:ext>
            </a:extLst>
          </p:cNvPr>
          <p:cNvSpPr/>
          <p:nvPr/>
        </p:nvSpPr>
        <p:spPr>
          <a:xfrm>
            <a:off x="228600" y="6441948"/>
            <a:ext cx="310896" cy="310896"/>
          </a:xfrm>
          <a:prstGeom prst="rect">
            <a:avLst/>
          </a:prstGeom>
          <a:noFill/>
          <a:ln/>
        </p:spPr>
        <p:txBody>
          <a:bodyPr wrap="square" lIns="91440" tIns="45720" rIns="91440" bIns="4572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a:solidFill>
                  <a:srgbClr val="000000"/>
                </a:solidFill>
              </a:rPr>
              <a:t>🎯</a:t>
            </a:r>
            <a:endParaRPr lang="en-US" sz="1000"/>
          </a:p>
        </p:txBody>
      </p:sp>
      <p:sp>
        <p:nvSpPr>
          <p:cNvPr id="77" name="Text 105">
            <a:extLst>
              <a:ext uri="{FF2B5EF4-FFF2-40B4-BE49-F238E27FC236}">
                <a16:creationId xmlns:a16="http://schemas.microsoft.com/office/drawing/2014/main" id="{4431C98E-126A-8558-60FA-A561992728AC}"/>
              </a:ext>
            </a:extLst>
          </p:cNvPr>
          <p:cNvSpPr/>
          <p:nvPr/>
        </p:nvSpPr>
        <p:spPr>
          <a:xfrm>
            <a:off x="658368" y="6336792"/>
            <a:ext cx="11356848" cy="5212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50">
                <a:solidFill>
                  <a:srgbClr val="FFFFFF"/>
                </a:solidFill>
              </a:rPr>
              <a:t>Takeaway:  LINCS adds an exploratory compound layer : A375/SKMEL28 signatures mimic SOX10 knockdown, but the core claim remains the </a:t>
            </a:r>
            <a:r>
              <a:rPr lang="en-US" sz="1050" err="1">
                <a:solidFill>
                  <a:srgbClr val="FFFFFF"/>
                </a:solidFill>
              </a:rPr>
              <a:t>DepMap</a:t>
            </a:r>
            <a:r>
              <a:rPr lang="en-US" sz="1050">
                <a:solidFill>
                  <a:srgbClr val="FFFFFF"/>
                </a:solidFill>
              </a:rPr>
              <a:t> SOX10/proxy-target analysis.</a:t>
            </a:r>
            <a:endParaRPr lang="en-US" sz="1050"/>
          </a:p>
        </p:txBody>
      </p:sp>
      <p:sp>
        <p:nvSpPr>
          <p:cNvPr id="78" name="Text 106">
            <a:extLst>
              <a:ext uri="{FF2B5EF4-FFF2-40B4-BE49-F238E27FC236}">
                <a16:creationId xmlns:a16="http://schemas.microsoft.com/office/drawing/2014/main" id="{23EE9120-3BAC-268D-4228-CAD3E8BFFF68}"/>
              </a:ext>
            </a:extLst>
          </p:cNvPr>
          <p:cNvSpPr/>
          <p:nvPr/>
        </p:nvSpPr>
        <p:spPr>
          <a:xfrm>
            <a:off x="658368" y="6336792"/>
            <a:ext cx="1371600" cy="5212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a:solidFill>
                  <a:srgbClr val="FFFFFF"/>
                </a:solidFill>
              </a:rPr>
              <a:t>Takeaway</a:t>
            </a:r>
            <a:r>
              <a:rPr lang="en-US" sz="1050" b="1">
                <a:solidFill>
                  <a:srgbClr val="FFFFFF"/>
                </a:solidFill>
              </a:rPr>
              <a:t>:</a:t>
            </a:r>
            <a:endParaRPr lang="en-US" sz="1050"/>
          </a:p>
        </p:txBody>
      </p:sp>
      <p:sp>
        <p:nvSpPr>
          <p:cNvPr id="79" name="Text 44">
            <a:extLst>
              <a:ext uri="{FF2B5EF4-FFF2-40B4-BE49-F238E27FC236}">
                <a16:creationId xmlns:a16="http://schemas.microsoft.com/office/drawing/2014/main" id="{871ABAE0-B95C-01ED-D77D-63636C030A9D}"/>
              </a:ext>
            </a:extLst>
          </p:cNvPr>
          <p:cNvSpPr/>
          <p:nvPr/>
        </p:nvSpPr>
        <p:spPr>
          <a:xfrm>
            <a:off x="3905731" y="2221669"/>
            <a:ext cx="512303" cy="229245"/>
          </a:xfrm>
          <a:prstGeom prst="rect">
            <a:avLst/>
          </a:prstGeom>
          <a:solidFill>
            <a:srgbClr val="15264B"/>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20" b="1">
                <a:solidFill>
                  <a:srgbClr val="FFFFFF"/>
                </a:solidFill>
              </a:rPr>
              <a:t>Rank</a:t>
            </a:r>
            <a:endParaRPr lang="en-US" sz="820"/>
          </a:p>
        </p:txBody>
      </p:sp>
      <p:sp>
        <p:nvSpPr>
          <p:cNvPr id="80" name="Text 45">
            <a:extLst>
              <a:ext uri="{FF2B5EF4-FFF2-40B4-BE49-F238E27FC236}">
                <a16:creationId xmlns:a16="http://schemas.microsoft.com/office/drawing/2014/main" id="{093BFA45-8498-A5D9-0CEB-22890BC2E7BE}"/>
              </a:ext>
            </a:extLst>
          </p:cNvPr>
          <p:cNvSpPr/>
          <p:nvPr/>
        </p:nvSpPr>
        <p:spPr>
          <a:xfrm>
            <a:off x="4407524" y="2221669"/>
            <a:ext cx="3398066" cy="228923"/>
          </a:xfrm>
          <a:prstGeom prst="rect">
            <a:avLst/>
          </a:prstGeom>
          <a:solidFill>
            <a:srgbClr val="15264B"/>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20" b="1">
                <a:solidFill>
                  <a:srgbClr val="FFFFFF"/>
                </a:solidFill>
              </a:rPr>
              <a:t>Compound / perturbation</a:t>
            </a:r>
            <a:endParaRPr lang="en-US" sz="820"/>
          </a:p>
        </p:txBody>
      </p:sp>
      <p:sp>
        <p:nvSpPr>
          <p:cNvPr id="81" name="Text 46">
            <a:extLst>
              <a:ext uri="{FF2B5EF4-FFF2-40B4-BE49-F238E27FC236}">
                <a16:creationId xmlns:a16="http://schemas.microsoft.com/office/drawing/2014/main" id="{37773766-1295-9A18-EF48-EF430CB5B216}"/>
              </a:ext>
            </a:extLst>
          </p:cNvPr>
          <p:cNvSpPr/>
          <p:nvPr/>
        </p:nvSpPr>
        <p:spPr>
          <a:xfrm>
            <a:off x="6502627" y="2221669"/>
            <a:ext cx="512303" cy="229245"/>
          </a:xfrm>
          <a:prstGeom prst="rect">
            <a:avLst/>
          </a:prstGeom>
          <a:solidFill>
            <a:srgbClr val="15264B"/>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20" b="1">
                <a:solidFill>
                  <a:srgbClr val="FFFFFF"/>
                </a:solidFill>
              </a:rPr>
              <a:t>Cell</a:t>
            </a:r>
            <a:endParaRPr lang="en-US" sz="820"/>
          </a:p>
        </p:txBody>
      </p:sp>
      <p:sp>
        <p:nvSpPr>
          <p:cNvPr id="82" name="Text 47">
            <a:extLst>
              <a:ext uri="{FF2B5EF4-FFF2-40B4-BE49-F238E27FC236}">
                <a16:creationId xmlns:a16="http://schemas.microsoft.com/office/drawing/2014/main" id="{CC6C64EC-D830-6C37-3093-6C98D0D657CE}"/>
              </a:ext>
            </a:extLst>
          </p:cNvPr>
          <p:cNvSpPr/>
          <p:nvPr/>
        </p:nvSpPr>
        <p:spPr>
          <a:xfrm>
            <a:off x="7799832" y="2221364"/>
            <a:ext cx="500918" cy="229245"/>
          </a:xfrm>
          <a:prstGeom prst="rect">
            <a:avLst/>
          </a:prstGeom>
          <a:solidFill>
            <a:srgbClr val="15264B"/>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820" b="1">
                <a:solidFill>
                  <a:srgbClr val="FFFFFF"/>
                </a:solidFill>
              </a:rPr>
              <a:t>Score</a:t>
            </a:r>
            <a:endParaRPr lang="en-US" sz="820"/>
          </a:p>
        </p:txBody>
      </p:sp>
      <p:sp>
        <p:nvSpPr>
          <p:cNvPr id="83" name="Text 48">
            <a:extLst>
              <a:ext uri="{FF2B5EF4-FFF2-40B4-BE49-F238E27FC236}">
                <a16:creationId xmlns:a16="http://schemas.microsoft.com/office/drawing/2014/main" id="{C19B2D15-C174-88DB-A5F3-07342774B18F}"/>
              </a:ext>
            </a:extLst>
          </p:cNvPr>
          <p:cNvSpPr/>
          <p:nvPr/>
        </p:nvSpPr>
        <p:spPr>
          <a:xfrm>
            <a:off x="3905731" y="2496191"/>
            <a:ext cx="512303" cy="238797"/>
          </a:xfrm>
          <a:prstGeom prst="rect">
            <a:avLst/>
          </a:prstGeom>
          <a:solidFill>
            <a:srgbClr val="F7FAFD"/>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90">
                <a:solidFill>
                  <a:srgbClr val="213047"/>
                </a:solidFill>
              </a:rPr>
              <a:t>6</a:t>
            </a:r>
            <a:endParaRPr lang="en-US" sz="790"/>
          </a:p>
        </p:txBody>
      </p:sp>
      <p:sp>
        <p:nvSpPr>
          <p:cNvPr id="84" name="Text 49">
            <a:extLst>
              <a:ext uri="{FF2B5EF4-FFF2-40B4-BE49-F238E27FC236}">
                <a16:creationId xmlns:a16="http://schemas.microsoft.com/office/drawing/2014/main" id="{FAF21B0C-A587-2A00-CDC3-D530EFA5B840}"/>
              </a:ext>
            </a:extLst>
          </p:cNvPr>
          <p:cNvSpPr/>
          <p:nvPr/>
        </p:nvSpPr>
        <p:spPr>
          <a:xfrm>
            <a:off x="4391708" y="2496191"/>
            <a:ext cx="3453844" cy="238797"/>
          </a:xfrm>
          <a:prstGeom prst="rect">
            <a:avLst/>
          </a:prstGeom>
          <a:solidFill>
            <a:srgbClr val="F7FAFD"/>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790">
                <a:solidFill>
                  <a:srgbClr val="213047"/>
                </a:solidFill>
              </a:rPr>
              <a:t>16-hydroxytriptolide</a:t>
            </a:r>
            <a:endParaRPr lang="en-US" sz="790"/>
          </a:p>
        </p:txBody>
      </p:sp>
      <p:sp>
        <p:nvSpPr>
          <p:cNvPr id="85" name="Text 50">
            <a:extLst>
              <a:ext uri="{FF2B5EF4-FFF2-40B4-BE49-F238E27FC236}">
                <a16:creationId xmlns:a16="http://schemas.microsoft.com/office/drawing/2014/main" id="{1670532E-396E-35E3-1AB5-14DA4C502E31}"/>
              </a:ext>
            </a:extLst>
          </p:cNvPr>
          <p:cNvSpPr/>
          <p:nvPr/>
        </p:nvSpPr>
        <p:spPr>
          <a:xfrm>
            <a:off x="6502627" y="2496191"/>
            <a:ext cx="512303" cy="238797"/>
          </a:xfrm>
          <a:prstGeom prst="rect">
            <a:avLst/>
          </a:prstGeom>
          <a:solidFill>
            <a:srgbClr val="F7FAFD"/>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90" b="1">
                <a:solidFill>
                  <a:srgbClr val="247845"/>
                </a:solidFill>
              </a:rPr>
              <a:t>A375</a:t>
            </a:r>
            <a:endParaRPr lang="en-US" sz="790"/>
          </a:p>
        </p:txBody>
      </p:sp>
      <p:sp>
        <p:nvSpPr>
          <p:cNvPr id="86" name="Text 51">
            <a:extLst>
              <a:ext uri="{FF2B5EF4-FFF2-40B4-BE49-F238E27FC236}">
                <a16:creationId xmlns:a16="http://schemas.microsoft.com/office/drawing/2014/main" id="{D66799AE-6745-61A3-AEE4-3040673A05B6}"/>
              </a:ext>
            </a:extLst>
          </p:cNvPr>
          <p:cNvSpPr/>
          <p:nvPr/>
        </p:nvSpPr>
        <p:spPr>
          <a:xfrm>
            <a:off x="7799832" y="2495886"/>
            <a:ext cx="500918" cy="238797"/>
          </a:xfrm>
          <a:prstGeom prst="rect">
            <a:avLst/>
          </a:prstGeom>
          <a:solidFill>
            <a:srgbClr val="F7FAFD"/>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90">
                <a:solidFill>
                  <a:srgbClr val="213047"/>
                </a:solidFill>
              </a:rPr>
              <a:t>0.070</a:t>
            </a:r>
            <a:endParaRPr lang="en-US" sz="790"/>
          </a:p>
        </p:txBody>
      </p:sp>
      <p:sp>
        <p:nvSpPr>
          <p:cNvPr id="87" name="Text 52">
            <a:extLst>
              <a:ext uri="{FF2B5EF4-FFF2-40B4-BE49-F238E27FC236}">
                <a16:creationId xmlns:a16="http://schemas.microsoft.com/office/drawing/2014/main" id="{6412F984-5518-D178-EB5A-724ECC6913AD}"/>
              </a:ext>
            </a:extLst>
          </p:cNvPr>
          <p:cNvSpPr/>
          <p:nvPr/>
        </p:nvSpPr>
        <p:spPr>
          <a:xfrm>
            <a:off x="3905731" y="2779655"/>
            <a:ext cx="512303" cy="238797"/>
          </a:xfrm>
          <a:prstGeom prst="rect">
            <a:avLst/>
          </a:prstGeom>
          <a:solidFill>
            <a:srgbClr val="FFFFFF"/>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90">
                <a:solidFill>
                  <a:srgbClr val="213047"/>
                </a:solidFill>
              </a:rPr>
              <a:t>7</a:t>
            </a:r>
            <a:endParaRPr lang="en-US" sz="790"/>
          </a:p>
        </p:txBody>
      </p:sp>
      <p:sp>
        <p:nvSpPr>
          <p:cNvPr id="88" name="Text 53">
            <a:extLst>
              <a:ext uri="{FF2B5EF4-FFF2-40B4-BE49-F238E27FC236}">
                <a16:creationId xmlns:a16="http://schemas.microsoft.com/office/drawing/2014/main" id="{599E8F89-4587-DA03-6D22-80AB44E094E5}"/>
              </a:ext>
            </a:extLst>
          </p:cNvPr>
          <p:cNvSpPr/>
          <p:nvPr/>
        </p:nvSpPr>
        <p:spPr>
          <a:xfrm>
            <a:off x="4391708" y="2779655"/>
            <a:ext cx="3488938" cy="238797"/>
          </a:xfrm>
          <a:prstGeom prst="rect">
            <a:avLst/>
          </a:prstGeom>
          <a:solidFill>
            <a:srgbClr val="FFFFFF"/>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790">
                <a:solidFill>
                  <a:srgbClr val="213047"/>
                </a:solidFill>
              </a:rPr>
              <a:t>BRD-K28907958</a:t>
            </a:r>
            <a:endParaRPr lang="en-US" sz="790"/>
          </a:p>
        </p:txBody>
      </p:sp>
      <p:sp>
        <p:nvSpPr>
          <p:cNvPr id="89" name="Text 54">
            <a:extLst>
              <a:ext uri="{FF2B5EF4-FFF2-40B4-BE49-F238E27FC236}">
                <a16:creationId xmlns:a16="http://schemas.microsoft.com/office/drawing/2014/main" id="{97060CFE-F77D-4D3A-12F8-9231B9DA9C9C}"/>
              </a:ext>
            </a:extLst>
          </p:cNvPr>
          <p:cNvSpPr/>
          <p:nvPr/>
        </p:nvSpPr>
        <p:spPr>
          <a:xfrm>
            <a:off x="6502627" y="2779655"/>
            <a:ext cx="512303" cy="238797"/>
          </a:xfrm>
          <a:prstGeom prst="rect">
            <a:avLst/>
          </a:prstGeom>
          <a:solidFill>
            <a:srgbClr val="FFFFFF"/>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90" b="1">
                <a:solidFill>
                  <a:srgbClr val="247845"/>
                </a:solidFill>
              </a:rPr>
              <a:t>A375</a:t>
            </a:r>
            <a:endParaRPr lang="en-US" sz="790"/>
          </a:p>
        </p:txBody>
      </p:sp>
      <p:sp>
        <p:nvSpPr>
          <p:cNvPr id="90" name="Text 55">
            <a:extLst>
              <a:ext uri="{FF2B5EF4-FFF2-40B4-BE49-F238E27FC236}">
                <a16:creationId xmlns:a16="http://schemas.microsoft.com/office/drawing/2014/main" id="{64B8DFFC-9ABB-8A70-AF98-EFF9096B16FB}"/>
              </a:ext>
            </a:extLst>
          </p:cNvPr>
          <p:cNvSpPr/>
          <p:nvPr/>
        </p:nvSpPr>
        <p:spPr>
          <a:xfrm>
            <a:off x="7799832" y="2779350"/>
            <a:ext cx="500918" cy="238797"/>
          </a:xfrm>
          <a:prstGeom prst="rect">
            <a:avLst/>
          </a:prstGeom>
          <a:solidFill>
            <a:srgbClr val="FFFFFF"/>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90">
                <a:solidFill>
                  <a:srgbClr val="213047"/>
                </a:solidFill>
              </a:rPr>
              <a:t>0.070</a:t>
            </a:r>
            <a:endParaRPr lang="en-US" sz="790"/>
          </a:p>
        </p:txBody>
      </p:sp>
      <p:sp>
        <p:nvSpPr>
          <p:cNvPr id="91" name="Text 56">
            <a:extLst>
              <a:ext uri="{FF2B5EF4-FFF2-40B4-BE49-F238E27FC236}">
                <a16:creationId xmlns:a16="http://schemas.microsoft.com/office/drawing/2014/main" id="{AC174C9F-12D5-214A-8DA5-A3AEAD6139C9}"/>
              </a:ext>
            </a:extLst>
          </p:cNvPr>
          <p:cNvSpPr/>
          <p:nvPr/>
        </p:nvSpPr>
        <p:spPr>
          <a:xfrm>
            <a:off x="3905731" y="3063119"/>
            <a:ext cx="512303" cy="238797"/>
          </a:xfrm>
          <a:prstGeom prst="rect">
            <a:avLst/>
          </a:prstGeom>
          <a:solidFill>
            <a:srgbClr val="F7FAFD"/>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90">
                <a:solidFill>
                  <a:srgbClr val="213047"/>
                </a:solidFill>
              </a:rPr>
              <a:t>10</a:t>
            </a:r>
            <a:endParaRPr lang="en-US" sz="790"/>
          </a:p>
        </p:txBody>
      </p:sp>
      <p:sp>
        <p:nvSpPr>
          <p:cNvPr id="92" name="Text 57">
            <a:extLst>
              <a:ext uri="{FF2B5EF4-FFF2-40B4-BE49-F238E27FC236}">
                <a16:creationId xmlns:a16="http://schemas.microsoft.com/office/drawing/2014/main" id="{265C0426-3F39-5112-1C06-71ECB3A4EB16}"/>
              </a:ext>
            </a:extLst>
          </p:cNvPr>
          <p:cNvSpPr/>
          <p:nvPr/>
        </p:nvSpPr>
        <p:spPr>
          <a:xfrm>
            <a:off x="4391708" y="3063119"/>
            <a:ext cx="3453844" cy="238797"/>
          </a:xfrm>
          <a:prstGeom prst="rect">
            <a:avLst/>
          </a:prstGeom>
          <a:solidFill>
            <a:srgbClr val="F7FAFD"/>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790">
                <a:solidFill>
                  <a:srgbClr val="213047"/>
                </a:solidFill>
              </a:rPr>
              <a:t>WZ-3105</a:t>
            </a:r>
            <a:endParaRPr lang="en-US" sz="790"/>
          </a:p>
        </p:txBody>
      </p:sp>
      <p:sp>
        <p:nvSpPr>
          <p:cNvPr id="93" name="Text 58">
            <a:extLst>
              <a:ext uri="{FF2B5EF4-FFF2-40B4-BE49-F238E27FC236}">
                <a16:creationId xmlns:a16="http://schemas.microsoft.com/office/drawing/2014/main" id="{37E486F4-F6E8-08D5-658E-9EA24B2CD9BE}"/>
              </a:ext>
            </a:extLst>
          </p:cNvPr>
          <p:cNvSpPr/>
          <p:nvPr/>
        </p:nvSpPr>
        <p:spPr>
          <a:xfrm>
            <a:off x="6502627" y="3063119"/>
            <a:ext cx="512303" cy="238797"/>
          </a:xfrm>
          <a:prstGeom prst="rect">
            <a:avLst/>
          </a:prstGeom>
          <a:solidFill>
            <a:srgbClr val="F7FAFD"/>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90" b="1">
                <a:solidFill>
                  <a:srgbClr val="247845"/>
                </a:solidFill>
              </a:rPr>
              <a:t>A375</a:t>
            </a:r>
            <a:endParaRPr lang="en-US" sz="790"/>
          </a:p>
        </p:txBody>
      </p:sp>
      <p:sp>
        <p:nvSpPr>
          <p:cNvPr id="94" name="Text 59">
            <a:extLst>
              <a:ext uri="{FF2B5EF4-FFF2-40B4-BE49-F238E27FC236}">
                <a16:creationId xmlns:a16="http://schemas.microsoft.com/office/drawing/2014/main" id="{52809FA2-D07E-E69D-3C43-652EEEA34772}"/>
              </a:ext>
            </a:extLst>
          </p:cNvPr>
          <p:cNvSpPr/>
          <p:nvPr/>
        </p:nvSpPr>
        <p:spPr>
          <a:xfrm>
            <a:off x="7799832" y="3062814"/>
            <a:ext cx="500918" cy="238797"/>
          </a:xfrm>
          <a:prstGeom prst="rect">
            <a:avLst/>
          </a:prstGeom>
          <a:solidFill>
            <a:srgbClr val="F7FAFD"/>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90">
                <a:solidFill>
                  <a:srgbClr val="213047"/>
                </a:solidFill>
              </a:rPr>
              <a:t>0.070</a:t>
            </a:r>
            <a:endParaRPr lang="en-US" sz="790"/>
          </a:p>
        </p:txBody>
      </p:sp>
      <p:sp>
        <p:nvSpPr>
          <p:cNvPr id="95" name="Text 60">
            <a:extLst>
              <a:ext uri="{FF2B5EF4-FFF2-40B4-BE49-F238E27FC236}">
                <a16:creationId xmlns:a16="http://schemas.microsoft.com/office/drawing/2014/main" id="{EF7F8FBF-5216-7E4C-D449-FBC7DF7B0CEA}"/>
              </a:ext>
            </a:extLst>
          </p:cNvPr>
          <p:cNvSpPr/>
          <p:nvPr/>
        </p:nvSpPr>
        <p:spPr>
          <a:xfrm>
            <a:off x="3905731" y="3346583"/>
            <a:ext cx="512303" cy="238797"/>
          </a:xfrm>
          <a:prstGeom prst="rect">
            <a:avLst/>
          </a:prstGeom>
          <a:solidFill>
            <a:srgbClr val="FFFFFF"/>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90">
                <a:solidFill>
                  <a:srgbClr val="213047"/>
                </a:solidFill>
              </a:rPr>
              <a:t>11</a:t>
            </a:r>
            <a:endParaRPr lang="en-US" sz="790"/>
          </a:p>
        </p:txBody>
      </p:sp>
      <p:sp>
        <p:nvSpPr>
          <p:cNvPr id="96" name="Text 61">
            <a:extLst>
              <a:ext uri="{FF2B5EF4-FFF2-40B4-BE49-F238E27FC236}">
                <a16:creationId xmlns:a16="http://schemas.microsoft.com/office/drawing/2014/main" id="{F223FDF0-C634-DAD1-27EC-0E20C8B79249}"/>
              </a:ext>
            </a:extLst>
          </p:cNvPr>
          <p:cNvSpPr/>
          <p:nvPr/>
        </p:nvSpPr>
        <p:spPr>
          <a:xfrm>
            <a:off x="4391708" y="3346583"/>
            <a:ext cx="3453844" cy="238797"/>
          </a:xfrm>
          <a:prstGeom prst="rect">
            <a:avLst/>
          </a:prstGeom>
          <a:solidFill>
            <a:srgbClr val="FFFFFF"/>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790">
                <a:solidFill>
                  <a:srgbClr val="213047"/>
                </a:solidFill>
              </a:rPr>
              <a:t>teniposide</a:t>
            </a:r>
            <a:endParaRPr lang="en-US" sz="790"/>
          </a:p>
        </p:txBody>
      </p:sp>
      <p:sp>
        <p:nvSpPr>
          <p:cNvPr id="97" name="Text 62">
            <a:extLst>
              <a:ext uri="{FF2B5EF4-FFF2-40B4-BE49-F238E27FC236}">
                <a16:creationId xmlns:a16="http://schemas.microsoft.com/office/drawing/2014/main" id="{0F3C15F5-BC5D-5235-F48B-34DA0A475BEA}"/>
              </a:ext>
            </a:extLst>
          </p:cNvPr>
          <p:cNvSpPr/>
          <p:nvPr/>
        </p:nvSpPr>
        <p:spPr>
          <a:xfrm>
            <a:off x="6502627" y="3346583"/>
            <a:ext cx="512303" cy="238797"/>
          </a:xfrm>
          <a:prstGeom prst="rect">
            <a:avLst/>
          </a:prstGeom>
          <a:solidFill>
            <a:srgbClr val="FFFFFF"/>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90" b="1">
                <a:solidFill>
                  <a:srgbClr val="247845"/>
                </a:solidFill>
              </a:rPr>
              <a:t>A375</a:t>
            </a:r>
            <a:endParaRPr lang="en-US" sz="790"/>
          </a:p>
        </p:txBody>
      </p:sp>
      <p:sp>
        <p:nvSpPr>
          <p:cNvPr id="98" name="Text 63">
            <a:extLst>
              <a:ext uri="{FF2B5EF4-FFF2-40B4-BE49-F238E27FC236}">
                <a16:creationId xmlns:a16="http://schemas.microsoft.com/office/drawing/2014/main" id="{5A4B45E1-B35C-EAC5-6846-9D4E705C8C6E}"/>
              </a:ext>
            </a:extLst>
          </p:cNvPr>
          <p:cNvSpPr/>
          <p:nvPr/>
        </p:nvSpPr>
        <p:spPr>
          <a:xfrm>
            <a:off x="7799832" y="3346278"/>
            <a:ext cx="500918" cy="238797"/>
          </a:xfrm>
          <a:prstGeom prst="rect">
            <a:avLst/>
          </a:prstGeom>
          <a:solidFill>
            <a:srgbClr val="FFFFFF"/>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90">
                <a:solidFill>
                  <a:srgbClr val="213047"/>
                </a:solidFill>
              </a:rPr>
              <a:t>0.065</a:t>
            </a:r>
            <a:endParaRPr lang="en-US" sz="790"/>
          </a:p>
        </p:txBody>
      </p:sp>
      <p:sp>
        <p:nvSpPr>
          <p:cNvPr id="99" name="Text 64">
            <a:extLst>
              <a:ext uri="{FF2B5EF4-FFF2-40B4-BE49-F238E27FC236}">
                <a16:creationId xmlns:a16="http://schemas.microsoft.com/office/drawing/2014/main" id="{2AC5249F-9878-36EA-E361-06D9C8FE62A8}"/>
              </a:ext>
            </a:extLst>
          </p:cNvPr>
          <p:cNvSpPr/>
          <p:nvPr/>
        </p:nvSpPr>
        <p:spPr>
          <a:xfrm>
            <a:off x="3905731" y="3630047"/>
            <a:ext cx="512303" cy="238797"/>
          </a:xfrm>
          <a:prstGeom prst="rect">
            <a:avLst/>
          </a:prstGeom>
          <a:solidFill>
            <a:srgbClr val="F7FAFD"/>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90">
                <a:solidFill>
                  <a:srgbClr val="213047"/>
                </a:solidFill>
              </a:rPr>
              <a:t>13</a:t>
            </a:r>
            <a:endParaRPr lang="en-US" sz="790"/>
          </a:p>
        </p:txBody>
      </p:sp>
      <p:sp>
        <p:nvSpPr>
          <p:cNvPr id="100" name="Text 65">
            <a:extLst>
              <a:ext uri="{FF2B5EF4-FFF2-40B4-BE49-F238E27FC236}">
                <a16:creationId xmlns:a16="http://schemas.microsoft.com/office/drawing/2014/main" id="{9BF18501-7144-9638-5999-F83A0E87C208}"/>
              </a:ext>
            </a:extLst>
          </p:cNvPr>
          <p:cNvSpPr/>
          <p:nvPr/>
        </p:nvSpPr>
        <p:spPr>
          <a:xfrm>
            <a:off x="4391708" y="3630047"/>
            <a:ext cx="3453844" cy="238797"/>
          </a:xfrm>
          <a:prstGeom prst="rect">
            <a:avLst/>
          </a:prstGeom>
          <a:solidFill>
            <a:srgbClr val="F7FAFD"/>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790">
                <a:solidFill>
                  <a:srgbClr val="213047"/>
                </a:solidFill>
              </a:rPr>
              <a:t>quinacrine</a:t>
            </a:r>
            <a:endParaRPr lang="en-US" sz="790"/>
          </a:p>
        </p:txBody>
      </p:sp>
      <p:sp>
        <p:nvSpPr>
          <p:cNvPr id="101" name="Text 66">
            <a:extLst>
              <a:ext uri="{FF2B5EF4-FFF2-40B4-BE49-F238E27FC236}">
                <a16:creationId xmlns:a16="http://schemas.microsoft.com/office/drawing/2014/main" id="{80DCB2E4-0D3F-253D-5C46-0AAF121A2F67}"/>
              </a:ext>
            </a:extLst>
          </p:cNvPr>
          <p:cNvSpPr/>
          <p:nvPr/>
        </p:nvSpPr>
        <p:spPr>
          <a:xfrm>
            <a:off x="6502627" y="3630047"/>
            <a:ext cx="512303" cy="238797"/>
          </a:xfrm>
          <a:prstGeom prst="rect">
            <a:avLst/>
          </a:prstGeom>
          <a:solidFill>
            <a:srgbClr val="F7FAFD"/>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90" b="1">
                <a:solidFill>
                  <a:srgbClr val="247845"/>
                </a:solidFill>
              </a:rPr>
              <a:t>A375</a:t>
            </a:r>
            <a:endParaRPr lang="en-US" sz="790"/>
          </a:p>
        </p:txBody>
      </p:sp>
      <p:sp>
        <p:nvSpPr>
          <p:cNvPr id="102" name="Text 67">
            <a:extLst>
              <a:ext uri="{FF2B5EF4-FFF2-40B4-BE49-F238E27FC236}">
                <a16:creationId xmlns:a16="http://schemas.microsoft.com/office/drawing/2014/main" id="{DC355D54-7AD1-34FD-43AA-3E9672E53C64}"/>
              </a:ext>
            </a:extLst>
          </p:cNvPr>
          <p:cNvSpPr/>
          <p:nvPr/>
        </p:nvSpPr>
        <p:spPr>
          <a:xfrm>
            <a:off x="7799832" y="3629742"/>
            <a:ext cx="500918" cy="238797"/>
          </a:xfrm>
          <a:prstGeom prst="rect">
            <a:avLst/>
          </a:prstGeom>
          <a:solidFill>
            <a:srgbClr val="F7FAFD"/>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90">
                <a:solidFill>
                  <a:srgbClr val="213047"/>
                </a:solidFill>
              </a:rPr>
              <a:t>0.065</a:t>
            </a:r>
            <a:endParaRPr lang="en-US" sz="790"/>
          </a:p>
        </p:txBody>
      </p:sp>
      <p:sp>
        <p:nvSpPr>
          <p:cNvPr id="103" name="Text 68">
            <a:extLst>
              <a:ext uri="{FF2B5EF4-FFF2-40B4-BE49-F238E27FC236}">
                <a16:creationId xmlns:a16="http://schemas.microsoft.com/office/drawing/2014/main" id="{9A7095FC-CDC2-AE3E-47F0-9934D77C346B}"/>
              </a:ext>
            </a:extLst>
          </p:cNvPr>
          <p:cNvSpPr/>
          <p:nvPr/>
        </p:nvSpPr>
        <p:spPr>
          <a:xfrm>
            <a:off x="3905731" y="3913511"/>
            <a:ext cx="512303" cy="238797"/>
          </a:xfrm>
          <a:prstGeom prst="rect">
            <a:avLst/>
          </a:prstGeom>
          <a:solidFill>
            <a:srgbClr val="FFFFFF"/>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90">
                <a:solidFill>
                  <a:srgbClr val="213047"/>
                </a:solidFill>
              </a:rPr>
              <a:t>14</a:t>
            </a:r>
            <a:endParaRPr lang="en-US" sz="790"/>
          </a:p>
        </p:txBody>
      </p:sp>
      <p:sp>
        <p:nvSpPr>
          <p:cNvPr id="104" name="Text 69">
            <a:extLst>
              <a:ext uri="{FF2B5EF4-FFF2-40B4-BE49-F238E27FC236}">
                <a16:creationId xmlns:a16="http://schemas.microsoft.com/office/drawing/2014/main" id="{10741728-0C6C-8E42-908C-655BC83F8F7B}"/>
              </a:ext>
            </a:extLst>
          </p:cNvPr>
          <p:cNvSpPr/>
          <p:nvPr/>
        </p:nvSpPr>
        <p:spPr>
          <a:xfrm>
            <a:off x="4391708" y="3913511"/>
            <a:ext cx="3488938" cy="238797"/>
          </a:xfrm>
          <a:prstGeom prst="rect">
            <a:avLst/>
          </a:prstGeom>
          <a:solidFill>
            <a:srgbClr val="FFFFFF"/>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790">
                <a:solidFill>
                  <a:srgbClr val="213047"/>
                </a:solidFill>
              </a:rPr>
              <a:t>mitoxantrone</a:t>
            </a:r>
            <a:endParaRPr lang="en-US" sz="790"/>
          </a:p>
        </p:txBody>
      </p:sp>
      <p:sp>
        <p:nvSpPr>
          <p:cNvPr id="105" name="Text 70">
            <a:extLst>
              <a:ext uri="{FF2B5EF4-FFF2-40B4-BE49-F238E27FC236}">
                <a16:creationId xmlns:a16="http://schemas.microsoft.com/office/drawing/2014/main" id="{94112C42-11B5-4CAB-0A70-8DF4AFF36FD4}"/>
              </a:ext>
            </a:extLst>
          </p:cNvPr>
          <p:cNvSpPr/>
          <p:nvPr/>
        </p:nvSpPr>
        <p:spPr>
          <a:xfrm>
            <a:off x="6502627" y="3913511"/>
            <a:ext cx="512303" cy="238797"/>
          </a:xfrm>
          <a:prstGeom prst="rect">
            <a:avLst/>
          </a:prstGeom>
          <a:solidFill>
            <a:srgbClr val="FFFFFF"/>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90" b="1">
                <a:solidFill>
                  <a:srgbClr val="247845"/>
                </a:solidFill>
              </a:rPr>
              <a:t>A375</a:t>
            </a:r>
            <a:endParaRPr lang="en-US" sz="790"/>
          </a:p>
        </p:txBody>
      </p:sp>
      <p:sp>
        <p:nvSpPr>
          <p:cNvPr id="106" name="Text 71">
            <a:extLst>
              <a:ext uri="{FF2B5EF4-FFF2-40B4-BE49-F238E27FC236}">
                <a16:creationId xmlns:a16="http://schemas.microsoft.com/office/drawing/2014/main" id="{00117067-91D5-E069-88F9-22A6EA396CCA}"/>
              </a:ext>
            </a:extLst>
          </p:cNvPr>
          <p:cNvSpPr/>
          <p:nvPr/>
        </p:nvSpPr>
        <p:spPr>
          <a:xfrm>
            <a:off x="7799832" y="3913206"/>
            <a:ext cx="500918" cy="238797"/>
          </a:xfrm>
          <a:prstGeom prst="rect">
            <a:avLst/>
          </a:prstGeom>
          <a:solidFill>
            <a:srgbClr val="FFFFFF"/>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90">
                <a:solidFill>
                  <a:srgbClr val="213047"/>
                </a:solidFill>
              </a:rPr>
              <a:t>0.065</a:t>
            </a:r>
            <a:endParaRPr lang="en-US" sz="790"/>
          </a:p>
        </p:txBody>
      </p:sp>
      <p:sp>
        <p:nvSpPr>
          <p:cNvPr id="107" name="Text 72">
            <a:extLst>
              <a:ext uri="{FF2B5EF4-FFF2-40B4-BE49-F238E27FC236}">
                <a16:creationId xmlns:a16="http://schemas.microsoft.com/office/drawing/2014/main" id="{110E7BE9-347E-A679-EA9D-EE6485406B8E}"/>
              </a:ext>
            </a:extLst>
          </p:cNvPr>
          <p:cNvSpPr/>
          <p:nvPr/>
        </p:nvSpPr>
        <p:spPr>
          <a:xfrm>
            <a:off x="3905731" y="4196975"/>
            <a:ext cx="512303" cy="238797"/>
          </a:xfrm>
          <a:prstGeom prst="rect">
            <a:avLst/>
          </a:prstGeom>
          <a:solidFill>
            <a:srgbClr val="F7FAFD"/>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90">
                <a:solidFill>
                  <a:srgbClr val="213047"/>
                </a:solidFill>
              </a:rPr>
              <a:t>20</a:t>
            </a:r>
            <a:endParaRPr lang="en-US" sz="790"/>
          </a:p>
        </p:txBody>
      </p:sp>
      <p:sp>
        <p:nvSpPr>
          <p:cNvPr id="108" name="Text 73">
            <a:extLst>
              <a:ext uri="{FF2B5EF4-FFF2-40B4-BE49-F238E27FC236}">
                <a16:creationId xmlns:a16="http://schemas.microsoft.com/office/drawing/2014/main" id="{92A14F14-AC9A-C02E-3AA4-CA0E46F4183B}"/>
              </a:ext>
            </a:extLst>
          </p:cNvPr>
          <p:cNvSpPr/>
          <p:nvPr/>
        </p:nvSpPr>
        <p:spPr>
          <a:xfrm>
            <a:off x="4391708" y="4196975"/>
            <a:ext cx="3453844" cy="238797"/>
          </a:xfrm>
          <a:prstGeom prst="rect">
            <a:avLst/>
          </a:prstGeom>
          <a:solidFill>
            <a:srgbClr val="F7FAFD"/>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790">
                <a:solidFill>
                  <a:srgbClr val="213047"/>
                </a:solidFill>
              </a:rPr>
              <a:t>vorinostat</a:t>
            </a:r>
            <a:endParaRPr lang="en-US" sz="790"/>
          </a:p>
        </p:txBody>
      </p:sp>
      <p:sp>
        <p:nvSpPr>
          <p:cNvPr id="109" name="Text 74">
            <a:extLst>
              <a:ext uri="{FF2B5EF4-FFF2-40B4-BE49-F238E27FC236}">
                <a16:creationId xmlns:a16="http://schemas.microsoft.com/office/drawing/2014/main" id="{3B90A656-C28F-33CD-39F5-7471DDAF480E}"/>
              </a:ext>
            </a:extLst>
          </p:cNvPr>
          <p:cNvSpPr/>
          <p:nvPr/>
        </p:nvSpPr>
        <p:spPr>
          <a:xfrm>
            <a:off x="6502627" y="4196975"/>
            <a:ext cx="512303" cy="238797"/>
          </a:xfrm>
          <a:prstGeom prst="rect">
            <a:avLst/>
          </a:prstGeom>
          <a:solidFill>
            <a:srgbClr val="F7FAFD"/>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90" b="1">
                <a:solidFill>
                  <a:srgbClr val="247845"/>
                </a:solidFill>
              </a:rPr>
              <a:t>A375</a:t>
            </a:r>
            <a:endParaRPr lang="en-US" sz="790"/>
          </a:p>
        </p:txBody>
      </p:sp>
      <p:sp>
        <p:nvSpPr>
          <p:cNvPr id="110" name="Text 75">
            <a:extLst>
              <a:ext uri="{FF2B5EF4-FFF2-40B4-BE49-F238E27FC236}">
                <a16:creationId xmlns:a16="http://schemas.microsoft.com/office/drawing/2014/main" id="{71A33BDB-8D23-82DB-FAB9-F65FD8F93EC3}"/>
              </a:ext>
            </a:extLst>
          </p:cNvPr>
          <p:cNvSpPr/>
          <p:nvPr/>
        </p:nvSpPr>
        <p:spPr>
          <a:xfrm>
            <a:off x="7799832" y="4196670"/>
            <a:ext cx="500918" cy="238797"/>
          </a:xfrm>
          <a:prstGeom prst="rect">
            <a:avLst/>
          </a:prstGeom>
          <a:solidFill>
            <a:srgbClr val="F7FAFD"/>
          </a:solidFill>
          <a:ln w="6350">
            <a:solidFill>
              <a:srgbClr val="E3EDF5"/>
            </a:solidFill>
          </a:ln>
        </p:spPr>
        <p:txBody>
          <a:bodyPr wrap="square" lIns="381" tIns="381" rIns="381" bIns="381"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790">
                <a:solidFill>
                  <a:srgbClr val="213047"/>
                </a:solidFill>
              </a:rPr>
              <a:t>0.065</a:t>
            </a:r>
            <a:endParaRPr lang="en-US" sz="790"/>
          </a:p>
        </p:txBody>
      </p:sp>
      <p:sp>
        <p:nvSpPr>
          <p:cNvPr id="111" name="Text 76">
            <a:extLst>
              <a:ext uri="{FF2B5EF4-FFF2-40B4-BE49-F238E27FC236}">
                <a16:creationId xmlns:a16="http://schemas.microsoft.com/office/drawing/2014/main" id="{EBA220AD-8C72-CA03-7FEC-8830B9B6BB8E}"/>
              </a:ext>
            </a:extLst>
          </p:cNvPr>
          <p:cNvSpPr/>
          <p:nvPr/>
        </p:nvSpPr>
        <p:spPr>
          <a:xfrm>
            <a:off x="3974818" y="4586381"/>
            <a:ext cx="3870734" cy="305659"/>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10" i="1">
                <a:solidFill>
                  <a:srgbClr val="8293AA"/>
                </a:solidFill>
              </a:rPr>
              <a:t>Top overall hits were mostly non-melanoma-cell signatures; the table highlights melanoma-line results.</a:t>
            </a:r>
            <a:endParaRPr lang="en-US" sz="810"/>
          </a:p>
        </p:txBody>
      </p:sp>
      <p:sp>
        <p:nvSpPr>
          <p:cNvPr id="112" name="Text 37">
            <a:extLst>
              <a:ext uri="{FF2B5EF4-FFF2-40B4-BE49-F238E27FC236}">
                <a16:creationId xmlns:a16="http://schemas.microsoft.com/office/drawing/2014/main" id="{39048BA0-3487-5D0B-4B5A-AFD702682939}"/>
              </a:ext>
            </a:extLst>
          </p:cNvPr>
          <p:cNvSpPr/>
          <p:nvPr/>
        </p:nvSpPr>
        <p:spPr>
          <a:xfrm>
            <a:off x="411480" y="2330140"/>
            <a:ext cx="3063240" cy="182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20" b="1">
                <a:solidFill>
                  <a:srgbClr val="15264B"/>
                </a:solidFill>
              </a:rPr>
              <a:t>SOX10 knockdown RNA-seq</a:t>
            </a:r>
            <a:endParaRPr lang="en-US" sz="1120"/>
          </a:p>
        </p:txBody>
      </p:sp>
      <p:sp>
        <p:nvSpPr>
          <p:cNvPr id="113" name="Text 38">
            <a:extLst>
              <a:ext uri="{FF2B5EF4-FFF2-40B4-BE49-F238E27FC236}">
                <a16:creationId xmlns:a16="http://schemas.microsoft.com/office/drawing/2014/main" id="{CB1C71C0-EB8A-C1FC-615D-F98248B7E398}"/>
              </a:ext>
            </a:extLst>
          </p:cNvPr>
          <p:cNvSpPr/>
          <p:nvPr/>
        </p:nvSpPr>
        <p:spPr>
          <a:xfrm>
            <a:off x="448056" y="2631892"/>
            <a:ext cx="2962656" cy="22860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900">
                <a:solidFill>
                  <a:srgbClr val="213047"/>
                </a:solidFill>
                <a:latin typeface="Trade Gothic Next Light"/>
                <a:ea typeface="Aptos" pitchFamily="34" charset="-122"/>
                <a:cs typeface="Aptos" pitchFamily="34" charset="-120"/>
              </a:rPr>
              <a:t>• Seven melanoma cell-line knockdown experiment</a:t>
            </a:r>
            <a:endParaRPr lang="en-US" sz="900">
              <a:latin typeface="Trade Gothic Next Light"/>
            </a:endParaRPr>
          </a:p>
        </p:txBody>
      </p:sp>
      <p:sp>
        <p:nvSpPr>
          <p:cNvPr id="114" name="Text 39">
            <a:extLst>
              <a:ext uri="{FF2B5EF4-FFF2-40B4-BE49-F238E27FC236}">
                <a16:creationId xmlns:a16="http://schemas.microsoft.com/office/drawing/2014/main" id="{479F39F9-0D9F-6821-822C-83EFE8A0EFBC}"/>
              </a:ext>
            </a:extLst>
          </p:cNvPr>
          <p:cNvSpPr/>
          <p:nvPr/>
        </p:nvSpPr>
        <p:spPr>
          <a:xfrm>
            <a:off x="448056" y="2933644"/>
            <a:ext cx="2962656" cy="22860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900">
                <a:solidFill>
                  <a:srgbClr val="213047"/>
                </a:solidFill>
                <a:latin typeface="Trade Gothic Next Light"/>
                <a:ea typeface="Aptos" pitchFamily="34" charset="-122"/>
                <a:cs typeface="Aptos" pitchFamily="34" charset="-120"/>
              </a:rPr>
              <a:t>• DE model controlled for cell-line baseline</a:t>
            </a:r>
            <a:endParaRPr lang="en-US" sz="900">
              <a:latin typeface="Trade Gothic Next Light"/>
            </a:endParaRPr>
          </a:p>
        </p:txBody>
      </p:sp>
      <p:sp>
        <p:nvSpPr>
          <p:cNvPr id="115" name="Text 40">
            <a:extLst>
              <a:ext uri="{FF2B5EF4-FFF2-40B4-BE49-F238E27FC236}">
                <a16:creationId xmlns:a16="http://schemas.microsoft.com/office/drawing/2014/main" id="{6E566893-BDBA-FD5D-D3BC-EC2A61D839A3}"/>
              </a:ext>
            </a:extLst>
          </p:cNvPr>
          <p:cNvSpPr/>
          <p:nvPr/>
        </p:nvSpPr>
        <p:spPr>
          <a:xfrm>
            <a:off x="448056" y="3235396"/>
            <a:ext cx="2962656" cy="22860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900">
                <a:solidFill>
                  <a:srgbClr val="213047"/>
                </a:solidFill>
                <a:latin typeface="Trade Gothic Next Light"/>
                <a:ea typeface="Aptos" pitchFamily="34" charset="-122"/>
                <a:cs typeface="Aptos" pitchFamily="34" charset="-120"/>
              </a:rPr>
              <a:t>• Strong QC: SOX10 and MITF both decrease</a:t>
            </a:r>
            <a:endParaRPr lang="en-US" sz="900">
              <a:latin typeface="Trade Gothic Next Light"/>
            </a:endParaRPr>
          </a:p>
        </p:txBody>
      </p:sp>
      <p:sp>
        <p:nvSpPr>
          <p:cNvPr id="116" name="Text 41">
            <a:extLst>
              <a:ext uri="{FF2B5EF4-FFF2-40B4-BE49-F238E27FC236}">
                <a16:creationId xmlns:a16="http://schemas.microsoft.com/office/drawing/2014/main" id="{BEC855D9-EAA5-7C65-A9CC-90F4350BE1C3}"/>
              </a:ext>
            </a:extLst>
          </p:cNvPr>
          <p:cNvSpPr/>
          <p:nvPr/>
        </p:nvSpPr>
        <p:spPr>
          <a:xfrm>
            <a:off x="411480" y="3683452"/>
            <a:ext cx="3063240" cy="182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20" b="1">
                <a:solidFill>
                  <a:srgbClr val="15264B"/>
                </a:solidFill>
              </a:rPr>
              <a:t>Mimic mode question</a:t>
            </a:r>
            <a:endParaRPr lang="en-US" sz="1120"/>
          </a:p>
        </p:txBody>
      </p:sp>
      <p:sp>
        <p:nvSpPr>
          <p:cNvPr id="117" name="Text 42">
            <a:extLst>
              <a:ext uri="{FF2B5EF4-FFF2-40B4-BE49-F238E27FC236}">
                <a16:creationId xmlns:a16="http://schemas.microsoft.com/office/drawing/2014/main" id="{C1E5568A-5C04-97E9-5927-0FF8DFEACEF7}"/>
              </a:ext>
            </a:extLst>
          </p:cNvPr>
          <p:cNvSpPr/>
          <p:nvPr/>
        </p:nvSpPr>
        <p:spPr>
          <a:xfrm>
            <a:off x="448056" y="3976060"/>
            <a:ext cx="2962656" cy="228600"/>
          </a:xfrm>
          <a:prstGeom prst="rect">
            <a:avLst/>
          </a:prstGeom>
          <a:noFill/>
          <a:ln/>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900">
                <a:solidFill>
                  <a:srgbClr val="213047"/>
                </a:solidFill>
                <a:latin typeface="Trade Gothic Next Light"/>
                <a:ea typeface="Aptos" pitchFamily="34" charset="-122"/>
                <a:cs typeface="Aptos" pitchFamily="34" charset="-120"/>
              </a:rPr>
              <a:t>Which compounds produce similar gene-expression changes?</a:t>
            </a:r>
            <a:endParaRPr lang="en-US" sz="900">
              <a:latin typeface="Trade Gothic Next Light"/>
            </a:endParaRPr>
          </a:p>
        </p:txBody>
      </p:sp>
      <p:sp>
        <p:nvSpPr>
          <p:cNvPr id="118" name="TextBox 117">
            <a:extLst>
              <a:ext uri="{FF2B5EF4-FFF2-40B4-BE49-F238E27FC236}">
                <a16:creationId xmlns:a16="http://schemas.microsoft.com/office/drawing/2014/main" id="{0B14A4B8-1DCC-3701-BDC2-649E53076B94}"/>
              </a:ext>
            </a:extLst>
          </p:cNvPr>
          <p:cNvSpPr txBox="1"/>
          <p:nvPr/>
        </p:nvSpPr>
        <p:spPr>
          <a:xfrm>
            <a:off x="640371" y="5738405"/>
            <a:ext cx="2743200" cy="5078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a:ea typeface="+mn-lt"/>
                <a:cs typeface="+mn-lt"/>
              </a:rPr>
              <a:t>Subramanian et al. (2017)</a:t>
            </a:r>
            <a:endParaRPr lang="en-US" sz="900" dirty="0"/>
          </a:p>
          <a:p>
            <a:r>
              <a:rPr lang="en-US" sz="900">
                <a:ea typeface="+mn-lt"/>
                <a:cs typeface="+mn-lt"/>
              </a:rPr>
              <a:t>Duan et al. (2016)</a:t>
            </a:r>
            <a:endParaRPr lang="en-US" sz="900" dirty="0"/>
          </a:p>
          <a:p>
            <a:pPr algn="l"/>
            <a:endParaRPr lang="en-US" sz="900" dirty="0"/>
          </a:p>
        </p:txBody>
      </p:sp>
    </p:spTree>
    <p:extLst>
      <p:ext uri="{BB962C8B-B14F-4D97-AF65-F5344CB8AC3E}">
        <p14:creationId xmlns:p14="http://schemas.microsoft.com/office/powerpoint/2010/main" val="8675469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F5BBD-6A66-F6A2-AB29-B2024998D8E9}"/>
              </a:ext>
            </a:extLst>
          </p:cNvPr>
          <p:cNvSpPr>
            <a:spLocks noGrp="1"/>
          </p:cNvSpPr>
          <p:nvPr>
            <p:ph type="title"/>
          </p:nvPr>
        </p:nvSpPr>
        <p:spPr>
          <a:xfrm>
            <a:off x="1339991" y="2623916"/>
            <a:ext cx="2084816" cy="668377"/>
          </a:xfrm>
        </p:spPr>
        <p:txBody>
          <a:bodyPr anchor="t">
            <a:normAutofit/>
          </a:bodyPr>
          <a:lstStyle/>
          <a:p>
            <a:r>
              <a:rPr lang="en-GB"/>
              <a:t>See it live</a:t>
            </a:r>
            <a:endParaRPr lang="en-US"/>
          </a:p>
        </p:txBody>
      </p:sp>
      <p:sp>
        <p:nvSpPr>
          <p:cNvPr id="4" name="Footer Placeholder 3">
            <a:extLst>
              <a:ext uri="{FF2B5EF4-FFF2-40B4-BE49-F238E27FC236}">
                <a16:creationId xmlns:a16="http://schemas.microsoft.com/office/drawing/2014/main" id="{0DB4E569-95A5-0F0E-93B7-137505EFE5CB}"/>
              </a:ext>
            </a:extLst>
          </p:cNvPr>
          <p:cNvSpPr>
            <a:spLocks noGrp="1"/>
          </p:cNvSpPr>
          <p:nvPr>
            <p:ph type="ftr" sz="quarter" idx="11"/>
          </p:nvPr>
        </p:nvSpPr>
        <p:spPr>
          <a:xfrm>
            <a:off x="317773" y="210312"/>
            <a:ext cx="2260057" cy="411480"/>
          </a:xfrm>
        </p:spPr>
        <p:txBody>
          <a:bodyPr anchor="ctr">
            <a:normAutofit/>
          </a:bodyPr>
          <a:lstStyle/>
          <a:p>
            <a:pPr>
              <a:lnSpc>
                <a:spcPct val="90000"/>
              </a:lnSpc>
              <a:spcAft>
                <a:spcPts val="600"/>
              </a:spcAft>
            </a:pPr>
            <a:r>
              <a:rPr lang="en-US"/>
              <a:t>
              </a:t>
            </a:r>
          </a:p>
        </p:txBody>
      </p:sp>
      <p:sp>
        <p:nvSpPr>
          <p:cNvPr id="5" name="Date Placeholder 4">
            <a:extLst>
              <a:ext uri="{FF2B5EF4-FFF2-40B4-BE49-F238E27FC236}">
                <a16:creationId xmlns:a16="http://schemas.microsoft.com/office/drawing/2014/main" id="{C0F8E5D5-8DC7-4BDB-1BE1-14C9E41F9581}"/>
              </a:ext>
            </a:extLst>
          </p:cNvPr>
          <p:cNvSpPr>
            <a:spLocks noGrp="1"/>
          </p:cNvSpPr>
          <p:nvPr>
            <p:ph type="dt" sz="half" idx="10"/>
          </p:nvPr>
        </p:nvSpPr>
        <p:spPr>
          <a:xfrm>
            <a:off x="3029329" y="210312"/>
            <a:ext cx="1058111" cy="411480"/>
          </a:xfrm>
        </p:spPr>
        <p:txBody>
          <a:bodyPr anchor="ctr">
            <a:normAutofit/>
          </a:bodyPr>
          <a:lstStyle/>
          <a:p>
            <a:pPr>
              <a:spcAft>
                <a:spcPts val="600"/>
              </a:spcAft>
            </a:pPr>
            <a:fld id="{D4310370-F23C-42E3-9B39-72A031D5CA8B}" type="datetime1">
              <a:pPr>
                <a:spcAft>
                  <a:spcPts val="600"/>
                </a:spcAft>
              </a:pPr>
              <a:t>8/9/2026</a:t>
            </a:fld>
            <a:endParaRPr lang="en-US"/>
          </a:p>
        </p:txBody>
      </p:sp>
      <p:sp>
        <p:nvSpPr>
          <p:cNvPr id="6" name="Slide Number Placeholder 5">
            <a:extLst>
              <a:ext uri="{FF2B5EF4-FFF2-40B4-BE49-F238E27FC236}">
                <a16:creationId xmlns:a16="http://schemas.microsoft.com/office/drawing/2014/main" id="{B0CEF522-2995-6945-5F09-661553D657D3}"/>
              </a:ext>
            </a:extLst>
          </p:cNvPr>
          <p:cNvSpPr>
            <a:spLocks noGrp="1"/>
          </p:cNvSpPr>
          <p:nvPr>
            <p:ph type="sldNum" sz="quarter" idx="12"/>
          </p:nvPr>
        </p:nvSpPr>
        <p:spPr>
          <a:xfrm>
            <a:off x="4010197" y="210312"/>
            <a:ext cx="440969" cy="413360"/>
          </a:xfrm>
        </p:spPr>
        <p:txBody>
          <a:bodyPr anchor="ctr">
            <a:normAutofit/>
          </a:bodyPr>
          <a:lstStyle/>
          <a:p>
            <a:pPr>
              <a:spcAft>
                <a:spcPts val="600"/>
              </a:spcAft>
            </a:pPr>
            <a:fld id="{753D0FD4-819D-4187-8797-C35567B41C78}" type="slidenum">
              <a:rPr lang="en-US" dirty="0"/>
              <a:pPr>
                <a:spcAft>
                  <a:spcPts val="600"/>
                </a:spcAft>
              </a:pPr>
              <a:t>35</a:t>
            </a:fld>
            <a:endParaRPr lang="en-US"/>
          </a:p>
        </p:txBody>
      </p:sp>
      <p:sp>
        <p:nvSpPr>
          <p:cNvPr id="12" name="Content Placeholder 5">
            <a:extLst>
              <a:ext uri="{FF2B5EF4-FFF2-40B4-BE49-F238E27FC236}">
                <a16:creationId xmlns:a16="http://schemas.microsoft.com/office/drawing/2014/main" id="{A2125BDC-1A26-C219-FDBC-0B43175EE4FA}"/>
              </a:ext>
            </a:extLst>
          </p:cNvPr>
          <p:cNvSpPr>
            <a:spLocks noGrp="1"/>
          </p:cNvSpPr>
          <p:nvPr>
            <p:ph idx="1"/>
          </p:nvPr>
        </p:nvSpPr>
        <p:spPr>
          <a:xfrm>
            <a:off x="896056" y="3598041"/>
            <a:ext cx="3116322" cy="685058"/>
          </a:xfrm>
        </p:spPr>
        <p:txBody>
          <a:bodyPr vert="horz" lIns="91440" tIns="45720" rIns="91440" bIns="45720" rtlCol="0" anchor="t">
            <a:normAutofit/>
          </a:bodyPr>
          <a:lstStyle/>
          <a:p>
            <a:pPr marL="0" indent="0">
              <a:buNone/>
            </a:pPr>
            <a:r>
              <a:rPr lang="en-US"/>
              <a:t>Scan to see the Live Demo</a:t>
            </a:r>
          </a:p>
        </p:txBody>
      </p:sp>
      <p:pic>
        <p:nvPicPr>
          <p:cNvPr id="7" name="Content Placeholder 6">
            <a:extLst>
              <a:ext uri="{FF2B5EF4-FFF2-40B4-BE49-F238E27FC236}">
                <a16:creationId xmlns:a16="http://schemas.microsoft.com/office/drawing/2014/main" id="{D314AD35-371F-A5CF-9051-84C73BBD3E41}"/>
              </a:ext>
            </a:extLst>
          </p:cNvPr>
          <p:cNvPicPr>
            <a:picLocks noGrp="1" noChangeAspect="1"/>
          </p:cNvPicPr>
          <p:nvPr>
            <p:ph type="pic" sz="quarter" idx="13"/>
          </p:nvPr>
        </p:nvPicPr>
        <p:blipFill>
          <a:blip r:embed="rId2"/>
          <a:stretch/>
        </p:blipFill>
        <p:spPr>
          <a:xfrm>
            <a:off x="5123328" y="0"/>
            <a:ext cx="6858000" cy="6858000"/>
          </a:xfrm>
          <a:prstGeom prst="rect">
            <a:avLst/>
          </a:prstGeom>
          <a:noFill/>
        </p:spPr>
      </p:pic>
    </p:spTree>
    <p:extLst>
      <p:ext uri="{BB962C8B-B14F-4D97-AF65-F5344CB8AC3E}">
        <p14:creationId xmlns:p14="http://schemas.microsoft.com/office/powerpoint/2010/main" val="18681015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0E39CF-8A6A-240F-F28F-B7FE597DF0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34786A5-DD0B-B23F-533E-83603C8DB406}"/>
              </a:ext>
            </a:extLst>
          </p:cNvPr>
          <p:cNvSpPr/>
          <p:nvPr/>
        </p:nvSpPr>
        <p:spPr>
          <a:xfrm>
            <a:off x="320040" y="91440"/>
            <a:ext cx="11521440" cy="54864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700" b="1">
                <a:solidFill>
                  <a:srgbClr val="1B2A4A"/>
                </a:solidFill>
                <a:latin typeface="Calibri" pitchFamily="34" charset="0"/>
                <a:cs typeface="Calibri" pitchFamily="34" charset="-120"/>
              </a:rPr>
              <a:t>Limitations</a:t>
            </a:r>
            <a:endParaRPr lang="en-US" sz="2700"/>
          </a:p>
        </p:txBody>
      </p:sp>
      <p:sp>
        <p:nvSpPr>
          <p:cNvPr id="3" name="Shape 1">
            <a:extLst>
              <a:ext uri="{FF2B5EF4-FFF2-40B4-BE49-F238E27FC236}">
                <a16:creationId xmlns:a16="http://schemas.microsoft.com/office/drawing/2014/main" id="{413AB849-0B3A-D9C4-1084-425D7D0F55B5}"/>
              </a:ext>
            </a:extLst>
          </p:cNvPr>
          <p:cNvSpPr/>
          <p:nvPr/>
        </p:nvSpPr>
        <p:spPr>
          <a:xfrm>
            <a:off x="320040" y="667512"/>
            <a:ext cx="1371600" cy="41148"/>
          </a:xfrm>
          <a:prstGeom prst="rect">
            <a:avLst/>
          </a:prstGeom>
          <a:solidFill>
            <a:srgbClr val="E07B39"/>
          </a:solidFill>
          <a:ln w="12700">
            <a:solidFill>
              <a:srgbClr val="E07B39"/>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 name="Text 10">
            <a:extLst>
              <a:ext uri="{FF2B5EF4-FFF2-40B4-BE49-F238E27FC236}">
                <a16:creationId xmlns:a16="http://schemas.microsoft.com/office/drawing/2014/main" id="{686D5F25-474B-1F27-7CAC-C08D403FB009}"/>
              </a:ext>
            </a:extLst>
          </p:cNvPr>
          <p:cNvSpPr/>
          <p:nvPr/>
        </p:nvSpPr>
        <p:spPr>
          <a:xfrm>
            <a:off x="2642616"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14" name="Text 11">
            <a:extLst>
              <a:ext uri="{FF2B5EF4-FFF2-40B4-BE49-F238E27FC236}">
                <a16:creationId xmlns:a16="http://schemas.microsoft.com/office/drawing/2014/main" id="{EFF75D6A-AA18-A29A-4C5E-CD97CBFD930C}"/>
              </a:ext>
            </a:extLst>
          </p:cNvPr>
          <p:cNvSpPr/>
          <p:nvPr/>
        </p:nvSpPr>
        <p:spPr>
          <a:xfrm>
            <a:off x="3063240" y="1060704"/>
            <a:ext cx="1682496" cy="219456"/>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800"/>
          </a:p>
        </p:txBody>
      </p:sp>
      <p:sp>
        <p:nvSpPr>
          <p:cNvPr id="15" name="Text 12">
            <a:extLst>
              <a:ext uri="{FF2B5EF4-FFF2-40B4-BE49-F238E27FC236}">
                <a16:creationId xmlns:a16="http://schemas.microsoft.com/office/drawing/2014/main" id="{5D5086FF-7A6C-46FE-66CD-343BFAEC4558}"/>
              </a:ext>
            </a:extLst>
          </p:cNvPr>
          <p:cNvSpPr/>
          <p:nvPr/>
        </p:nvSpPr>
        <p:spPr>
          <a:xfrm>
            <a:off x="3099816" y="1261872"/>
            <a:ext cx="1682496" cy="237744"/>
          </a:xfrm>
          <a:prstGeom prst="rect">
            <a:avLst/>
          </a:prstGeom>
          <a:noFill/>
          <a:ln/>
        </p:spPr>
        <p:txBody>
          <a:bodyPr wrap="square" lIns="0" tIns="0" rIns="0" bIns="0" rtlCol="0" anchor="t"/>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300" b="1">
              <a:solidFill>
                <a:srgbClr val="E07B39"/>
              </a:solidFill>
            </a:endParaRPr>
          </a:p>
        </p:txBody>
      </p:sp>
      <p:sp>
        <p:nvSpPr>
          <p:cNvPr id="18" name="Text 15">
            <a:extLst>
              <a:ext uri="{FF2B5EF4-FFF2-40B4-BE49-F238E27FC236}">
                <a16:creationId xmlns:a16="http://schemas.microsoft.com/office/drawing/2014/main" id="{16014260-70A3-412B-A403-EDF093F351AC}"/>
              </a:ext>
            </a:extLst>
          </p:cNvPr>
          <p:cNvSpPr/>
          <p:nvPr/>
        </p:nvSpPr>
        <p:spPr>
          <a:xfrm>
            <a:off x="4946904"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23" name="Text 20">
            <a:extLst>
              <a:ext uri="{FF2B5EF4-FFF2-40B4-BE49-F238E27FC236}">
                <a16:creationId xmlns:a16="http://schemas.microsoft.com/office/drawing/2014/main" id="{37F16815-F406-CBAB-8192-001CDC0EC8B3}"/>
              </a:ext>
            </a:extLst>
          </p:cNvPr>
          <p:cNvSpPr/>
          <p:nvPr/>
        </p:nvSpPr>
        <p:spPr>
          <a:xfrm>
            <a:off x="7251192"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29" name="Text 26">
            <a:extLst>
              <a:ext uri="{FF2B5EF4-FFF2-40B4-BE49-F238E27FC236}">
                <a16:creationId xmlns:a16="http://schemas.microsoft.com/office/drawing/2014/main" id="{4C59508E-6DB2-659E-E9F0-17C5F73F294F}"/>
              </a:ext>
            </a:extLst>
          </p:cNvPr>
          <p:cNvSpPr/>
          <p:nvPr/>
        </p:nvSpPr>
        <p:spPr>
          <a:xfrm>
            <a:off x="10012680" y="1060704"/>
            <a:ext cx="1682496" cy="219456"/>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800"/>
          </a:p>
        </p:txBody>
      </p:sp>
      <p:sp>
        <p:nvSpPr>
          <p:cNvPr id="35" name="Text 32">
            <a:extLst>
              <a:ext uri="{FF2B5EF4-FFF2-40B4-BE49-F238E27FC236}">
                <a16:creationId xmlns:a16="http://schemas.microsoft.com/office/drawing/2014/main" id="{F5A89E35-A750-8C7D-D56D-71520B66AAA7}"/>
              </a:ext>
            </a:extLst>
          </p:cNvPr>
          <p:cNvSpPr/>
          <p:nvPr/>
        </p:nvSpPr>
        <p:spPr>
          <a:xfrm>
            <a:off x="411480" y="2176272"/>
            <a:ext cx="370332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38" name="Text 35">
            <a:extLst>
              <a:ext uri="{FF2B5EF4-FFF2-40B4-BE49-F238E27FC236}">
                <a16:creationId xmlns:a16="http://schemas.microsoft.com/office/drawing/2014/main" id="{A2CCA8A8-7C9A-9489-5335-67036735C68B}"/>
              </a:ext>
            </a:extLst>
          </p:cNvPr>
          <p:cNvSpPr/>
          <p:nvPr/>
        </p:nvSpPr>
        <p:spPr>
          <a:xfrm>
            <a:off x="4434840" y="2176272"/>
            <a:ext cx="411480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41" name="Text 38">
            <a:extLst>
              <a:ext uri="{FF2B5EF4-FFF2-40B4-BE49-F238E27FC236}">
                <a16:creationId xmlns:a16="http://schemas.microsoft.com/office/drawing/2014/main" id="{B209B3F3-3C20-FCBF-DFFC-EAD294F3EE3B}"/>
              </a:ext>
            </a:extLst>
          </p:cNvPr>
          <p:cNvSpPr/>
          <p:nvPr/>
        </p:nvSpPr>
        <p:spPr>
          <a:xfrm>
            <a:off x="8869680" y="2176272"/>
            <a:ext cx="288036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44" name="Text 41">
            <a:extLst>
              <a:ext uri="{FF2B5EF4-FFF2-40B4-BE49-F238E27FC236}">
                <a16:creationId xmlns:a16="http://schemas.microsoft.com/office/drawing/2014/main" id="{60E60437-2DE9-102E-081A-26CCABC6D796}"/>
              </a:ext>
            </a:extLst>
          </p:cNvPr>
          <p:cNvSpPr/>
          <p:nvPr/>
        </p:nvSpPr>
        <p:spPr>
          <a:xfrm>
            <a:off x="8878824" y="4745736"/>
            <a:ext cx="292608" cy="292608"/>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50" name="Shape 47">
            <a:extLst>
              <a:ext uri="{FF2B5EF4-FFF2-40B4-BE49-F238E27FC236}">
                <a16:creationId xmlns:a16="http://schemas.microsoft.com/office/drawing/2014/main" id="{0E8F6AED-C775-EE34-2B68-6C85C9A91FC0}"/>
              </a:ext>
            </a:extLst>
          </p:cNvPr>
          <p:cNvSpPr/>
          <p:nvPr/>
        </p:nvSpPr>
        <p:spPr>
          <a:xfrm>
            <a:off x="-22860" y="6336792"/>
            <a:ext cx="12161520" cy="521208"/>
          </a:xfrm>
          <a:prstGeom prst="rect">
            <a:avLst/>
          </a:prstGeom>
          <a:solidFill>
            <a:srgbClr val="1B2A4A"/>
          </a:solidFill>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 name="Text 49">
            <a:extLst>
              <a:ext uri="{FF2B5EF4-FFF2-40B4-BE49-F238E27FC236}">
                <a16:creationId xmlns:a16="http://schemas.microsoft.com/office/drawing/2014/main" id="{6AC84ECB-4DAD-B8A3-2FD2-1257E57CDAD2}"/>
              </a:ext>
            </a:extLst>
          </p:cNvPr>
          <p:cNvSpPr/>
          <p:nvPr/>
        </p:nvSpPr>
        <p:spPr>
          <a:xfrm>
            <a:off x="228600" y="6441948"/>
            <a:ext cx="310896" cy="310896"/>
          </a:xfrm>
          <a:prstGeom prst="rect">
            <a:avLst/>
          </a:prstGeom>
          <a:noFill/>
          <a:ln/>
        </p:spPr>
        <p:txBody>
          <a:bodyPr wrap="square"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400"/>
          </a:p>
        </p:txBody>
      </p:sp>
      <p:sp>
        <p:nvSpPr>
          <p:cNvPr id="53" name="Text 50">
            <a:extLst>
              <a:ext uri="{FF2B5EF4-FFF2-40B4-BE49-F238E27FC236}">
                <a16:creationId xmlns:a16="http://schemas.microsoft.com/office/drawing/2014/main" id="{AEDB3417-66C2-2771-75B3-30DF9E6870EC}"/>
              </a:ext>
            </a:extLst>
          </p:cNvPr>
          <p:cNvSpPr/>
          <p:nvPr/>
        </p:nvSpPr>
        <p:spPr>
          <a:xfrm>
            <a:off x="658368" y="6336792"/>
            <a:ext cx="11356848" cy="521208"/>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400" b="1"/>
          </a:p>
        </p:txBody>
      </p:sp>
      <p:sp>
        <p:nvSpPr>
          <p:cNvPr id="54" name="Text 51">
            <a:extLst>
              <a:ext uri="{FF2B5EF4-FFF2-40B4-BE49-F238E27FC236}">
                <a16:creationId xmlns:a16="http://schemas.microsoft.com/office/drawing/2014/main" id="{BF883919-02A5-B784-F661-E33A7363DD7F}"/>
              </a:ext>
            </a:extLst>
          </p:cNvPr>
          <p:cNvSpPr/>
          <p:nvPr/>
        </p:nvSpPr>
        <p:spPr>
          <a:xfrm>
            <a:off x="658368" y="6336792"/>
            <a:ext cx="1371600" cy="521208"/>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50" b="1">
              <a:solidFill>
                <a:srgbClr val="FFFFFF"/>
              </a:solidFill>
            </a:endParaRPr>
          </a:p>
        </p:txBody>
      </p:sp>
      <p:sp>
        <p:nvSpPr>
          <p:cNvPr id="6" name="Content Placeholder 2">
            <a:extLst>
              <a:ext uri="{FF2B5EF4-FFF2-40B4-BE49-F238E27FC236}">
                <a16:creationId xmlns:a16="http://schemas.microsoft.com/office/drawing/2014/main" id="{E6E3F700-3F86-8A64-FDC0-D931FFE1E8B5}"/>
              </a:ext>
            </a:extLst>
          </p:cNvPr>
          <p:cNvSpPr txBox="1">
            <a:spLocks/>
          </p:cNvSpPr>
          <p:nvPr/>
        </p:nvSpPr>
        <p:spPr>
          <a:xfrm>
            <a:off x="228600" y="1004833"/>
            <a:ext cx="11253668" cy="4848333"/>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sz="2500">
                <a:solidFill>
                  <a:srgbClr val="000000"/>
                </a:solidFill>
                <a:ea typeface="+mn-lt"/>
                <a:cs typeface="+mn-lt"/>
              </a:rPr>
              <a:t>ODE only models BRAF-driven MAPK inhibition (vemurafenib/</a:t>
            </a:r>
            <a:r>
              <a:rPr lang="en-US" sz="2500" err="1">
                <a:solidFill>
                  <a:srgbClr val="000000"/>
                </a:solidFill>
                <a:ea typeface="+mn-lt"/>
                <a:cs typeface="+mn-lt"/>
              </a:rPr>
              <a:t>encorafenib</a:t>
            </a:r>
            <a:r>
              <a:rPr lang="en-US" sz="2500">
                <a:solidFill>
                  <a:srgbClr val="000000"/>
                </a:solidFill>
                <a:ea typeface="+mn-lt"/>
                <a:cs typeface="+mn-lt"/>
              </a:rPr>
              <a:t> + trametinib/</a:t>
            </a:r>
            <a:r>
              <a:rPr lang="en-US" sz="2500" err="1">
                <a:solidFill>
                  <a:srgbClr val="000000"/>
                </a:solidFill>
                <a:ea typeface="+mn-lt"/>
                <a:cs typeface="+mn-lt"/>
              </a:rPr>
              <a:t>binimetinib</a:t>
            </a:r>
            <a:r>
              <a:rPr lang="en-US" sz="2500">
                <a:solidFill>
                  <a:srgbClr val="000000"/>
                </a:solidFill>
                <a:ea typeface="+mn-lt"/>
                <a:cs typeface="+mn-lt"/>
              </a:rPr>
              <a:t>) . No NRAS-targeted arm, so NRAS-mutant patients aren't mechanistically covered by targeted therapy.</a:t>
            </a:r>
            <a:endParaRPr lang="en-US" sz="2500">
              <a:solidFill>
                <a:srgbClr val="000000"/>
              </a:solidFill>
              <a:latin typeface="Aptos" panose="020B0004020202020204" pitchFamily="34" charset="0"/>
            </a:endParaRPr>
          </a:p>
          <a:p>
            <a:r>
              <a:rPr lang="en-US" sz="2500">
                <a:solidFill>
                  <a:srgbClr val="000000"/>
                </a:solidFill>
                <a:ea typeface="+mn-lt"/>
                <a:cs typeface="+mn-lt"/>
              </a:rPr>
              <a:t>ODE immunotherapy checkpoint arm has no direct quantitative validation. TCGA-SKCM contains no direct anti-PD-1 treatment or response data.</a:t>
            </a:r>
          </a:p>
          <a:p>
            <a:r>
              <a:rPr lang="en-US" sz="2500">
                <a:solidFill>
                  <a:srgbClr val="000000"/>
                </a:solidFill>
                <a:ea typeface="+mn-lt"/>
                <a:cs typeface="+mn-lt"/>
              </a:rPr>
              <a:t>The integrated recommendation's combination weights (statistical + mechanistic + molecular) are hand-set for interpretability, not fitted or validated against real outcomes.</a:t>
            </a:r>
            <a:endParaRPr lang="en-US"/>
          </a:p>
          <a:p>
            <a:pPr algn="l" rtl="0" fontAlgn="base">
              <a:buFont typeface="Arial" panose="020B0604020202020204" pitchFamily="34" charset="0"/>
              <a:buChar char="•"/>
            </a:pPr>
            <a:endParaRPr lang="en-US" sz="2500" b="0" i="0">
              <a:solidFill>
                <a:srgbClr val="000000"/>
              </a:solidFill>
              <a:effectLst/>
              <a:latin typeface="Aptos" panose="020B0004020202020204" pitchFamily="34" charset="0"/>
            </a:endParaRPr>
          </a:p>
          <a:p>
            <a:pPr fontAlgn="base"/>
            <a:endParaRPr lang="en-IE" sz="2500" b="0" i="0">
              <a:solidFill>
                <a:srgbClr val="000000"/>
              </a:solidFill>
              <a:effectLst/>
              <a:latin typeface="Aptos" panose="020B0004020202020204" pitchFamily="34" charset="0"/>
            </a:endParaRPr>
          </a:p>
          <a:p>
            <a:pPr algn="l" rtl="0" fontAlgn="base">
              <a:buFont typeface="Arial" panose="020B0604020202020204" pitchFamily="34" charset="0"/>
              <a:buChar char="•"/>
            </a:pPr>
            <a:endParaRPr lang="en-IE" sz="2500" b="0" i="0">
              <a:solidFill>
                <a:srgbClr val="000000"/>
              </a:solidFill>
              <a:effectLst/>
              <a:latin typeface="Aptos" panose="020B0004020202020204" pitchFamily="34" charset="0"/>
            </a:endParaRPr>
          </a:p>
          <a:p>
            <a:pPr>
              <a:lnSpc>
                <a:spcPct val="150000"/>
              </a:lnSpc>
            </a:pPr>
            <a:endParaRPr lang="en-IE" sz="1200"/>
          </a:p>
        </p:txBody>
      </p:sp>
    </p:spTree>
    <p:extLst>
      <p:ext uri="{BB962C8B-B14F-4D97-AF65-F5344CB8AC3E}">
        <p14:creationId xmlns:p14="http://schemas.microsoft.com/office/powerpoint/2010/main" val="40493129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0E39CF-8A6A-240F-F28F-B7FE597DF0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34786A5-DD0B-B23F-533E-83603C8DB406}"/>
              </a:ext>
            </a:extLst>
          </p:cNvPr>
          <p:cNvSpPr/>
          <p:nvPr/>
        </p:nvSpPr>
        <p:spPr>
          <a:xfrm>
            <a:off x="320040" y="91440"/>
            <a:ext cx="11521440" cy="54864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700" b="1">
                <a:solidFill>
                  <a:srgbClr val="1B2A4A"/>
                </a:solidFill>
                <a:latin typeface="Calibri" pitchFamily="34" charset="0"/>
                <a:cs typeface="Calibri" pitchFamily="34" charset="-120"/>
              </a:rPr>
              <a:t>Future Directions</a:t>
            </a:r>
            <a:endParaRPr lang="en-US" sz="2700"/>
          </a:p>
        </p:txBody>
      </p:sp>
      <p:sp>
        <p:nvSpPr>
          <p:cNvPr id="3" name="Shape 1">
            <a:extLst>
              <a:ext uri="{FF2B5EF4-FFF2-40B4-BE49-F238E27FC236}">
                <a16:creationId xmlns:a16="http://schemas.microsoft.com/office/drawing/2014/main" id="{413AB849-0B3A-D9C4-1084-425D7D0F55B5}"/>
              </a:ext>
            </a:extLst>
          </p:cNvPr>
          <p:cNvSpPr/>
          <p:nvPr/>
        </p:nvSpPr>
        <p:spPr>
          <a:xfrm>
            <a:off x="320040" y="667512"/>
            <a:ext cx="1371600" cy="41148"/>
          </a:xfrm>
          <a:prstGeom prst="rect">
            <a:avLst/>
          </a:prstGeom>
          <a:solidFill>
            <a:srgbClr val="E07B39"/>
          </a:solidFill>
          <a:ln w="12700">
            <a:solidFill>
              <a:srgbClr val="E07B39"/>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 name="Text 10">
            <a:extLst>
              <a:ext uri="{FF2B5EF4-FFF2-40B4-BE49-F238E27FC236}">
                <a16:creationId xmlns:a16="http://schemas.microsoft.com/office/drawing/2014/main" id="{686D5F25-474B-1F27-7CAC-C08D403FB009}"/>
              </a:ext>
            </a:extLst>
          </p:cNvPr>
          <p:cNvSpPr/>
          <p:nvPr/>
        </p:nvSpPr>
        <p:spPr>
          <a:xfrm>
            <a:off x="2642616"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14" name="Text 11">
            <a:extLst>
              <a:ext uri="{FF2B5EF4-FFF2-40B4-BE49-F238E27FC236}">
                <a16:creationId xmlns:a16="http://schemas.microsoft.com/office/drawing/2014/main" id="{EFF75D6A-AA18-A29A-4C5E-CD97CBFD930C}"/>
              </a:ext>
            </a:extLst>
          </p:cNvPr>
          <p:cNvSpPr/>
          <p:nvPr/>
        </p:nvSpPr>
        <p:spPr>
          <a:xfrm>
            <a:off x="3063240" y="1060704"/>
            <a:ext cx="1682496" cy="219456"/>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800"/>
          </a:p>
        </p:txBody>
      </p:sp>
      <p:sp>
        <p:nvSpPr>
          <p:cNvPr id="15" name="Text 12">
            <a:extLst>
              <a:ext uri="{FF2B5EF4-FFF2-40B4-BE49-F238E27FC236}">
                <a16:creationId xmlns:a16="http://schemas.microsoft.com/office/drawing/2014/main" id="{5D5086FF-7A6C-46FE-66CD-343BFAEC4558}"/>
              </a:ext>
            </a:extLst>
          </p:cNvPr>
          <p:cNvSpPr/>
          <p:nvPr/>
        </p:nvSpPr>
        <p:spPr>
          <a:xfrm>
            <a:off x="3099816" y="1261872"/>
            <a:ext cx="1682496" cy="237744"/>
          </a:xfrm>
          <a:prstGeom prst="rect">
            <a:avLst/>
          </a:prstGeom>
          <a:noFill/>
          <a:ln/>
        </p:spPr>
        <p:txBody>
          <a:bodyPr wrap="square" lIns="0" tIns="0" rIns="0" bIns="0" rtlCol="0" anchor="t"/>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300" b="1">
              <a:solidFill>
                <a:srgbClr val="E07B39"/>
              </a:solidFill>
            </a:endParaRPr>
          </a:p>
        </p:txBody>
      </p:sp>
      <p:sp>
        <p:nvSpPr>
          <p:cNvPr id="18" name="Text 15">
            <a:extLst>
              <a:ext uri="{FF2B5EF4-FFF2-40B4-BE49-F238E27FC236}">
                <a16:creationId xmlns:a16="http://schemas.microsoft.com/office/drawing/2014/main" id="{16014260-70A3-412B-A403-EDF093F351AC}"/>
              </a:ext>
            </a:extLst>
          </p:cNvPr>
          <p:cNvSpPr/>
          <p:nvPr/>
        </p:nvSpPr>
        <p:spPr>
          <a:xfrm>
            <a:off x="4946904"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23" name="Text 20">
            <a:extLst>
              <a:ext uri="{FF2B5EF4-FFF2-40B4-BE49-F238E27FC236}">
                <a16:creationId xmlns:a16="http://schemas.microsoft.com/office/drawing/2014/main" id="{37F16815-F406-CBAB-8192-001CDC0EC8B3}"/>
              </a:ext>
            </a:extLst>
          </p:cNvPr>
          <p:cNvSpPr/>
          <p:nvPr/>
        </p:nvSpPr>
        <p:spPr>
          <a:xfrm>
            <a:off x="7251192"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29" name="Text 26">
            <a:extLst>
              <a:ext uri="{FF2B5EF4-FFF2-40B4-BE49-F238E27FC236}">
                <a16:creationId xmlns:a16="http://schemas.microsoft.com/office/drawing/2014/main" id="{4C59508E-6DB2-659E-E9F0-17C5F73F294F}"/>
              </a:ext>
            </a:extLst>
          </p:cNvPr>
          <p:cNvSpPr/>
          <p:nvPr/>
        </p:nvSpPr>
        <p:spPr>
          <a:xfrm>
            <a:off x="10012680" y="1060704"/>
            <a:ext cx="1682496" cy="219456"/>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800"/>
          </a:p>
        </p:txBody>
      </p:sp>
      <p:sp>
        <p:nvSpPr>
          <p:cNvPr id="35" name="Text 32">
            <a:extLst>
              <a:ext uri="{FF2B5EF4-FFF2-40B4-BE49-F238E27FC236}">
                <a16:creationId xmlns:a16="http://schemas.microsoft.com/office/drawing/2014/main" id="{F5A89E35-A750-8C7D-D56D-71520B66AAA7}"/>
              </a:ext>
            </a:extLst>
          </p:cNvPr>
          <p:cNvSpPr/>
          <p:nvPr/>
        </p:nvSpPr>
        <p:spPr>
          <a:xfrm>
            <a:off x="411480" y="2176272"/>
            <a:ext cx="370332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38" name="Text 35">
            <a:extLst>
              <a:ext uri="{FF2B5EF4-FFF2-40B4-BE49-F238E27FC236}">
                <a16:creationId xmlns:a16="http://schemas.microsoft.com/office/drawing/2014/main" id="{A2CCA8A8-7C9A-9489-5335-67036735C68B}"/>
              </a:ext>
            </a:extLst>
          </p:cNvPr>
          <p:cNvSpPr/>
          <p:nvPr/>
        </p:nvSpPr>
        <p:spPr>
          <a:xfrm>
            <a:off x="4434840" y="2176272"/>
            <a:ext cx="411480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41" name="Text 38">
            <a:extLst>
              <a:ext uri="{FF2B5EF4-FFF2-40B4-BE49-F238E27FC236}">
                <a16:creationId xmlns:a16="http://schemas.microsoft.com/office/drawing/2014/main" id="{B209B3F3-3C20-FCBF-DFFC-EAD294F3EE3B}"/>
              </a:ext>
            </a:extLst>
          </p:cNvPr>
          <p:cNvSpPr/>
          <p:nvPr/>
        </p:nvSpPr>
        <p:spPr>
          <a:xfrm>
            <a:off x="8869680" y="2176272"/>
            <a:ext cx="288036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44" name="Text 41">
            <a:extLst>
              <a:ext uri="{FF2B5EF4-FFF2-40B4-BE49-F238E27FC236}">
                <a16:creationId xmlns:a16="http://schemas.microsoft.com/office/drawing/2014/main" id="{60E60437-2DE9-102E-081A-26CCABC6D796}"/>
              </a:ext>
            </a:extLst>
          </p:cNvPr>
          <p:cNvSpPr/>
          <p:nvPr/>
        </p:nvSpPr>
        <p:spPr>
          <a:xfrm>
            <a:off x="8878824" y="4745736"/>
            <a:ext cx="292608" cy="292608"/>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50" name="Shape 47">
            <a:extLst>
              <a:ext uri="{FF2B5EF4-FFF2-40B4-BE49-F238E27FC236}">
                <a16:creationId xmlns:a16="http://schemas.microsoft.com/office/drawing/2014/main" id="{0E8F6AED-C775-EE34-2B68-6C85C9A91FC0}"/>
              </a:ext>
            </a:extLst>
          </p:cNvPr>
          <p:cNvSpPr/>
          <p:nvPr/>
        </p:nvSpPr>
        <p:spPr>
          <a:xfrm>
            <a:off x="-22860" y="6336792"/>
            <a:ext cx="12161520" cy="521208"/>
          </a:xfrm>
          <a:prstGeom prst="rect">
            <a:avLst/>
          </a:prstGeom>
          <a:solidFill>
            <a:srgbClr val="1B2A4A"/>
          </a:solidFill>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 name="Text 49">
            <a:extLst>
              <a:ext uri="{FF2B5EF4-FFF2-40B4-BE49-F238E27FC236}">
                <a16:creationId xmlns:a16="http://schemas.microsoft.com/office/drawing/2014/main" id="{6AC84ECB-4DAD-B8A3-2FD2-1257E57CDAD2}"/>
              </a:ext>
            </a:extLst>
          </p:cNvPr>
          <p:cNvSpPr/>
          <p:nvPr/>
        </p:nvSpPr>
        <p:spPr>
          <a:xfrm>
            <a:off x="228600" y="6441948"/>
            <a:ext cx="310896" cy="310896"/>
          </a:xfrm>
          <a:prstGeom prst="rect">
            <a:avLst/>
          </a:prstGeom>
          <a:noFill/>
          <a:ln/>
        </p:spPr>
        <p:txBody>
          <a:bodyPr wrap="square"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400"/>
          </a:p>
        </p:txBody>
      </p:sp>
      <p:sp>
        <p:nvSpPr>
          <p:cNvPr id="53" name="Text 50">
            <a:extLst>
              <a:ext uri="{FF2B5EF4-FFF2-40B4-BE49-F238E27FC236}">
                <a16:creationId xmlns:a16="http://schemas.microsoft.com/office/drawing/2014/main" id="{AEDB3417-66C2-2771-75B3-30DF9E6870EC}"/>
              </a:ext>
            </a:extLst>
          </p:cNvPr>
          <p:cNvSpPr/>
          <p:nvPr/>
        </p:nvSpPr>
        <p:spPr>
          <a:xfrm>
            <a:off x="658368" y="6336792"/>
            <a:ext cx="11356848" cy="521208"/>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400" b="1"/>
          </a:p>
        </p:txBody>
      </p:sp>
      <p:sp>
        <p:nvSpPr>
          <p:cNvPr id="54" name="Text 51">
            <a:extLst>
              <a:ext uri="{FF2B5EF4-FFF2-40B4-BE49-F238E27FC236}">
                <a16:creationId xmlns:a16="http://schemas.microsoft.com/office/drawing/2014/main" id="{BF883919-02A5-B784-F661-E33A7363DD7F}"/>
              </a:ext>
            </a:extLst>
          </p:cNvPr>
          <p:cNvSpPr/>
          <p:nvPr/>
        </p:nvSpPr>
        <p:spPr>
          <a:xfrm>
            <a:off x="658368" y="6336792"/>
            <a:ext cx="1371600" cy="521208"/>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50" b="1">
              <a:solidFill>
                <a:srgbClr val="FFFFFF"/>
              </a:solidFill>
            </a:endParaRPr>
          </a:p>
        </p:txBody>
      </p:sp>
      <p:sp>
        <p:nvSpPr>
          <p:cNvPr id="6" name="Content Placeholder 2">
            <a:extLst>
              <a:ext uri="{FF2B5EF4-FFF2-40B4-BE49-F238E27FC236}">
                <a16:creationId xmlns:a16="http://schemas.microsoft.com/office/drawing/2014/main" id="{E6E3F700-3F86-8A64-FDC0-D931FFE1E8B5}"/>
              </a:ext>
            </a:extLst>
          </p:cNvPr>
          <p:cNvSpPr txBox="1">
            <a:spLocks/>
          </p:cNvSpPr>
          <p:nvPr/>
        </p:nvSpPr>
        <p:spPr>
          <a:xfrm>
            <a:off x="228600" y="1004833"/>
            <a:ext cx="11253668" cy="4848333"/>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sz="2500">
                <a:solidFill>
                  <a:srgbClr val="000000"/>
                </a:solidFill>
                <a:ea typeface="+mn-lt"/>
                <a:cs typeface="+mn-lt"/>
              </a:rPr>
              <a:t>Add an NRAS-targeted or combination-therapy arm to the ODE model.</a:t>
            </a:r>
            <a:endParaRPr lang="en-US" sz="2500">
              <a:solidFill>
                <a:srgbClr val="000000"/>
              </a:solidFill>
              <a:latin typeface="Aptos" panose="020B0004020202020204" pitchFamily="34" charset="0"/>
            </a:endParaRPr>
          </a:p>
          <a:p>
            <a:r>
              <a:rPr lang="en-US" sz="2500" dirty="0">
                <a:solidFill>
                  <a:srgbClr val="000000"/>
                </a:solidFill>
                <a:ea typeface="+mn-lt"/>
                <a:cs typeface="+mn-lt"/>
              </a:rPr>
              <a:t>Differentiate between BRAF V600E mutants and other BRAF </a:t>
            </a:r>
            <a:r>
              <a:rPr lang="en-US" sz="2500">
                <a:solidFill>
                  <a:srgbClr val="000000"/>
                </a:solidFill>
                <a:ea typeface="+mn-lt"/>
                <a:cs typeface="+mn-lt"/>
              </a:rPr>
              <a:t>mutants</a:t>
            </a:r>
            <a:endParaRPr lang="en-US" sz="2500" dirty="0">
              <a:solidFill>
                <a:srgbClr val="000000"/>
              </a:solidFill>
              <a:ea typeface="+mn-lt"/>
              <a:cs typeface="+mn-lt"/>
            </a:endParaRPr>
          </a:p>
          <a:p>
            <a:r>
              <a:rPr lang="en-US" sz="2500" dirty="0">
                <a:solidFill>
                  <a:srgbClr val="000000"/>
                </a:solidFill>
                <a:ea typeface="+mn-lt"/>
                <a:cs typeface="+mn-lt"/>
              </a:rPr>
              <a:t>Additional datasets to improve ML model training (see </a:t>
            </a:r>
            <a:r>
              <a:rPr lang="en-US" sz="2500" b="1" i="1" dirty="0">
                <a:solidFill>
                  <a:srgbClr val="000000"/>
                </a:solidFill>
                <a:ea typeface="+mn-lt"/>
                <a:cs typeface="+mn-lt"/>
              </a:rPr>
              <a:t>additional-datasets</a:t>
            </a:r>
            <a:r>
              <a:rPr lang="en-US" sz="2500" dirty="0">
                <a:solidFill>
                  <a:srgbClr val="000000"/>
                </a:solidFill>
                <a:ea typeface="+mn-lt"/>
                <a:cs typeface="+mn-lt"/>
              </a:rPr>
              <a:t> branch on </a:t>
            </a:r>
            <a:r>
              <a:rPr lang="en-US" sz="2500" dirty="0" err="1">
                <a:solidFill>
                  <a:srgbClr val="000000"/>
                </a:solidFill>
                <a:ea typeface="+mn-lt"/>
                <a:cs typeface="+mn-lt"/>
              </a:rPr>
              <a:t>github</a:t>
            </a:r>
            <a:r>
              <a:rPr lang="en-US" sz="2500" dirty="0">
                <a:solidFill>
                  <a:srgbClr val="000000"/>
                </a:solidFill>
                <a:ea typeface="+mn-lt"/>
                <a:cs typeface="+mn-lt"/>
              </a:rPr>
              <a:t>)</a:t>
            </a:r>
          </a:p>
          <a:p>
            <a:r>
              <a:rPr lang="en-US" sz="2500">
                <a:solidFill>
                  <a:srgbClr val="000000"/>
                </a:solidFill>
                <a:ea typeface="+mn-lt"/>
                <a:cs typeface="+mn-lt"/>
              </a:rPr>
              <a:t>Fit/calibrate the integrated recommendation weights against real outcome data instead of hand-setting them.</a:t>
            </a:r>
            <a:endParaRPr lang="en-US"/>
          </a:p>
          <a:p>
            <a:pPr algn="l" rtl="0" fontAlgn="base">
              <a:buFont typeface="Arial" panose="020B0604020202020204" pitchFamily="34" charset="0"/>
              <a:buChar char="•"/>
            </a:pPr>
            <a:endParaRPr lang="en-US" sz="2500" b="0" i="0">
              <a:solidFill>
                <a:srgbClr val="000000"/>
              </a:solidFill>
              <a:effectLst/>
              <a:latin typeface="Aptos" panose="020B0004020202020204" pitchFamily="34" charset="0"/>
            </a:endParaRPr>
          </a:p>
          <a:p>
            <a:pPr fontAlgn="base"/>
            <a:endParaRPr lang="en-IE" sz="2500" b="0" i="0">
              <a:solidFill>
                <a:srgbClr val="000000"/>
              </a:solidFill>
              <a:effectLst/>
              <a:latin typeface="Aptos" panose="020B0004020202020204" pitchFamily="34" charset="0"/>
            </a:endParaRPr>
          </a:p>
          <a:p>
            <a:pPr lvl="1" algn="l" rtl="0" fontAlgn="base">
              <a:buFont typeface="Courier New" panose="020B0604020202020204" pitchFamily="34" charset="0"/>
              <a:buChar char="o"/>
            </a:pPr>
            <a:endParaRPr lang="en-IE" sz="2300" b="0" i="0">
              <a:solidFill>
                <a:srgbClr val="000000"/>
              </a:solidFill>
              <a:effectLst/>
              <a:latin typeface="Aptos" panose="020B0004020202020204" pitchFamily="34" charset="0"/>
            </a:endParaRPr>
          </a:p>
          <a:p>
            <a:pPr>
              <a:lnSpc>
                <a:spcPct val="150000"/>
              </a:lnSpc>
            </a:pPr>
            <a:endParaRPr lang="en-IE" sz="1200"/>
          </a:p>
        </p:txBody>
      </p:sp>
    </p:spTree>
    <p:extLst>
      <p:ext uri="{BB962C8B-B14F-4D97-AF65-F5344CB8AC3E}">
        <p14:creationId xmlns:p14="http://schemas.microsoft.com/office/powerpoint/2010/main" val="9322057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0E39CF-8A6A-240F-F28F-B7FE597DF0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34786A5-DD0B-B23F-533E-83603C8DB406}"/>
              </a:ext>
            </a:extLst>
          </p:cNvPr>
          <p:cNvSpPr/>
          <p:nvPr/>
        </p:nvSpPr>
        <p:spPr>
          <a:xfrm>
            <a:off x="320040" y="91440"/>
            <a:ext cx="11521440" cy="54864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700" b="1">
                <a:solidFill>
                  <a:srgbClr val="1B2A4A"/>
                </a:solidFill>
                <a:latin typeface="Calibri" pitchFamily="34" charset="0"/>
                <a:cs typeface="Calibri" pitchFamily="34" charset="-120"/>
              </a:rPr>
              <a:t>References</a:t>
            </a:r>
            <a:endParaRPr lang="en-US" sz="2700"/>
          </a:p>
        </p:txBody>
      </p:sp>
      <p:sp>
        <p:nvSpPr>
          <p:cNvPr id="3" name="Shape 1">
            <a:extLst>
              <a:ext uri="{FF2B5EF4-FFF2-40B4-BE49-F238E27FC236}">
                <a16:creationId xmlns:a16="http://schemas.microsoft.com/office/drawing/2014/main" id="{413AB849-0B3A-D9C4-1084-425D7D0F55B5}"/>
              </a:ext>
            </a:extLst>
          </p:cNvPr>
          <p:cNvSpPr/>
          <p:nvPr/>
        </p:nvSpPr>
        <p:spPr>
          <a:xfrm>
            <a:off x="320040" y="667512"/>
            <a:ext cx="1371600" cy="41148"/>
          </a:xfrm>
          <a:prstGeom prst="rect">
            <a:avLst/>
          </a:prstGeom>
          <a:solidFill>
            <a:srgbClr val="E07B39"/>
          </a:solidFill>
          <a:ln w="12700">
            <a:solidFill>
              <a:srgbClr val="E07B39"/>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 name="Text 10">
            <a:extLst>
              <a:ext uri="{FF2B5EF4-FFF2-40B4-BE49-F238E27FC236}">
                <a16:creationId xmlns:a16="http://schemas.microsoft.com/office/drawing/2014/main" id="{686D5F25-474B-1F27-7CAC-C08D403FB009}"/>
              </a:ext>
            </a:extLst>
          </p:cNvPr>
          <p:cNvSpPr/>
          <p:nvPr/>
        </p:nvSpPr>
        <p:spPr>
          <a:xfrm>
            <a:off x="2642616"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14" name="Text 11">
            <a:extLst>
              <a:ext uri="{FF2B5EF4-FFF2-40B4-BE49-F238E27FC236}">
                <a16:creationId xmlns:a16="http://schemas.microsoft.com/office/drawing/2014/main" id="{EFF75D6A-AA18-A29A-4C5E-CD97CBFD930C}"/>
              </a:ext>
            </a:extLst>
          </p:cNvPr>
          <p:cNvSpPr/>
          <p:nvPr/>
        </p:nvSpPr>
        <p:spPr>
          <a:xfrm>
            <a:off x="3063240" y="1060704"/>
            <a:ext cx="1682496" cy="219456"/>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800"/>
          </a:p>
        </p:txBody>
      </p:sp>
      <p:sp>
        <p:nvSpPr>
          <p:cNvPr id="15" name="Text 12">
            <a:extLst>
              <a:ext uri="{FF2B5EF4-FFF2-40B4-BE49-F238E27FC236}">
                <a16:creationId xmlns:a16="http://schemas.microsoft.com/office/drawing/2014/main" id="{5D5086FF-7A6C-46FE-66CD-343BFAEC4558}"/>
              </a:ext>
            </a:extLst>
          </p:cNvPr>
          <p:cNvSpPr/>
          <p:nvPr/>
        </p:nvSpPr>
        <p:spPr>
          <a:xfrm>
            <a:off x="3099816" y="1261872"/>
            <a:ext cx="1682496" cy="237744"/>
          </a:xfrm>
          <a:prstGeom prst="rect">
            <a:avLst/>
          </a:prstGeom>
          <a:noFill/>
          <a:ln/>
        </p:spPr>
        <p:txBody>
          <a:bodyPr wrap="square" lIns="0" tIns="0" rIns="0" bIns="0" rtlCol="0" anchor="t"/>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300" b="1">
              <a:solidFill>
                <a:srgbClr val="E07B39"/>
              </a:solidFill>
            </a:endParaRPr>
          </a:p>
        </p:txBody>
      </p:sp>
      <p:sp>
        <p:nvSpPr>
          <p:cNvPr id="18" name="Text 15">
            <a:extLst>
              <a:ext uri="{FF2B5EF4-FFF2-40B4-BE49-F238E27FC236}">
                <a16:creationId xmlns:a16="http://schemas.microsoft.com/office/drawing/2014/main" id="{16014260-70A3-412B-A403-EDF093F351AC}"/>
              </a:ext>
            </a:extLst>
          </p:cNvPr>
          <p:cNvSpPr/>
          <p:nvPr/>
        </p:nvSpPr>
        <p:spPr>
          <a:xfrm>
            <a:off x="4946904"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23" name="Text 20">
            <a:extLst>
              <a:ext uri="{FF2B5EF4-FFF2-40B4-BE49-F238E27FC236}">
                <a16:creationId xmlns:a16="http://schemas.microsoft.com/office/drawing/2014/main" id="{37F16815-F406-CBAB-8192-001CDC0EC8B3}"/>
              </a:ext>
            </a:extLst>
          </p:cNvPr>
          <p:cNvSpPr/>
          <p:nvPr/>
        </p:nvSpPr>
        <p:spPr>
          <a:xfrm>
            <a:off x="7251192"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29" name="Text 26">
            <a:extLst>
              <a:ext uri="{FF2B5EF4-FFF2-40B4-BE49-F238E27FC236}">
                <a16:creationId xmlns:a16="http://schemas.microsoft.com/office/drawing/2014/main" id="{4C59508E-6DB2-659E-E9F0-17C5F73F294F}"/>
              </a:ext>
            </a:extLst>
          </p:cNvPr>
          <p:cNvSpPr/>
          <p:nvPr/>
        </p:nvSpPr>
        <p:spPr>
          <a:xfrm>
            <a:off x="10012680" y="1060704"/>
            <a:ext cx="1682496" cy="219456"/>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800"/>
          </a:p>
        </p:txBody>
      </p:sp>
      <p:sp>
        <p:nvSpPr>
          <p:cNvPr id="35" name="Text 32">
            <a:extLst>
              <a:ext uri="{FF2B5EF4-FFF2-40B4-BE49-F238E27FC236}">
                <a16:creationId xmlns:a16="http://schemas.microsoft.com/office/drawing/2014/main" id="{F5A89E35-A750-8C7D-D56D-71520B66AAA7}"/>
              </a:ext>
            </a:extLst>
          </p:cNvPr>
          <p:cNvSpPr/>
          <p:nvPr/>
        </p:nvSpPr>
        <p:spPr>
          <a:xfrm>
            <a:off x="411480" y="2176272"/>
            <a:ext cx="370332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38" name="Text 35">
            <a:extLst>
              <a:ext uri="{FF2B5EF4-FFF2-40B4-BE49-F238E27FC236}">
                <a16:creationId xmlns:a16="http://schemas.microsoft.com/office/drawing/2014/main" id="{A2CCA8A8-7C9A-9489-5335-67036735C68B}"/>
              </a:ext>
            </a:extLst>
          </p:cNvPr>
          <p:cNvSpPr/>
          <p:nvPr/>
        </p:nvSpPr>
        <p:spPr>
          <a:xfrm>
            <a:off x="4434840" y="2176272"/>
            <a:ext cx="411480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41" name="Text 38">
            <a:extLst>
              <a:ext uri="{FF2B5EF4-FFF2-40B4-BE49-F238E27FC236}">
                <a16:creationId xmlns:a16="http://schemas.microsoft.com/office/drawing/2014/main" id="{B209B3F3-3C20-FCBF-DFFC-EAD294F3EE3B}"/>
              </a:ext>
            </a:extLst>
          </p:cNvPr>
          <p:cNvSpPr/>
          <p:nvPr/>
        </p:nvSpPr>
        <p:spPr>
          <a:xfrm>
            <a:off x="8869680" y="2176272"/>
            <a:ext cx="288036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44" name="Text 41">
            <a:extLst>
              <a:ext uri="{FF2B5EF4-FFF2-40B4-BE49-F238E27FC236}">
                <a16:creationId xmlns:a16="http://schemas.microsoft.com/office/drawing/2014/main" id="{60E60437-2DE9-102E-081A-26CCABC6D796}"/>
              </a:ext>
            </a:extLst>
          </p:cNvPr>
          <p:cNvSpPr/>
          <p:nvPr/>
        </p:nvSpPr>
        <p:spPr>
          <a:xfrm>
            <a:off x="8878824" y="4745736"/>
            <a:ext cx="292608" cy="292608"/>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52" name="Text 49">
            <a:extLst>
              <a:ext uri="{FF2B5EF4-FFF2-40B4-BE49-F238E27FC236}">
                <a16:creationId xmlns:a16="http://schemas.microsoft.com/office/drawing/2014/main" id="{6AC84ECB-4DAD-B8A3-2FD2-1257E57CDAD2}"/>
              </a:ext>
            </a:extLst>
          </p:cNvPr>
          <p:cNvSpPr/>
          <p:nvPr/>
        </p:nvSpPr>
        <p:spPr>
          <a:xfrm>
            <a:off x="228600" y="6441948"/>
            <a:ext cx="310896" cy="310896"/>
          </a:xfrm>
          <a:prstGeom prst="rect">
            <a:avLst/>
          </a:prstGeom>
          <a:noFill/>
          <a:ln/>
        </p:spPr>
        <p:txBody>
          <a:bodyPr wrap="square"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400"/>
          </a:p>
        </p:txBody>
      </p:sp>
      <p:sp>
        <p:nvSpPr>
          <p:cNvPr id="53" name="Text 50">
            <a:extLst>
              <a:ext uri="{FF2B5EF4-FFF2-40B4-BE49-F238E27FC236}">
                <a16:creationId xmlns:a16="http://schemas.microsoft.com/office/drawing/2014/main" id="{AEDB3417-66C2-2771-75B3-30DF9E6870EC}"/>
              </a:ext>
            </a:extLst>
          </p:cNvPr>
          <p:cNvSpPr/>
          <p:nvPr/>
        </p:nvSpPr>
        <p:spPr>
          <a:xfrm>
            <a:off x="658368" y="6336792"/>
            <a:ext cx="11356848" cy="521208"/>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400" b="1"/>
          </a:p>
        </p:txBody>
      </p:sp>
      <p:sp>
        <p:nvSpPr>
          <p:cNvPr id="54" name="Text 51">
            <a:extLst>
              <a:ext uri="{FF2B5EF4-FFF2-40B4-BE49-F238E27FC236}">
                <a16:creationId xmlns:a16="http://schemas.microsoft.com/office/drawing/2014/main" id="{BF883919-02A5-B784-F661-E33A7363DD7F}"/>
              </a:ext>
            </a:extLst>
          </p:cNvPr>
          <p:cNvSpPr/>
          <p:nvPr/>
        </p:nvSpPr>
        <p:spPr>
          <a:xfrm>
            <a:off x="658368" y="6336792"/>
            <a:ext cx="1371600" cy="521208"/>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50" b="1">
              <a:solidFill>
                <a:srgbClr val="FFFFFF"/>
              </a:solidFill>
            </a:endParaRPr>
          </a:p>
        </p:txBody>
      </p:sp>
      <p:sp>
        <p:nvSpPr>
          <p:cNvPr id="6" name="Content Placeholder 2">
            <a:extLst>
              <a:ext uri="{FF2B5EF4-FFF2-40B4-BE49-F238E27FC236}">
                <a16:creationId xmlns:a16="http://schemas.microsoft.com/office/drawing/2014/main" id="{E6E3F700-3F86-8A64-FDC0-D931FFE1E8B5}"/>
              </a:ext>
            </a:extLst>
          </p:cNvPr>
          <p:cNvSpPr txBox="1">
            <a:spLocks/>
          </p:cNvSpPr>
          <p:nvPr/>
        </p:nvSpPr>
        <p:spPr>
          <a:xfrm>
            <a:off x="228600" y="731564"/>
            <a:ext cx="11253668" cy="6033523"/>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IE" sz="600"/>
              <a:t>Auslander N, Zhang G, Lee JS, Frederick DT, Miao B, Moll T, et al. Robust prediction of response to immune checkpoint blockade therapy in metastatic melanoma. Nat Med. 2018 Oct;24(10):1545–9. doi:10.1038/s41591-018-0157-9</a:t>
            </a:r>
            <a:endParaRPr lang="en-US" sz="600" dirty="0"/>
          </a:p>
          <a:p>
            <a:pPr>
              <a:lnSpc>
                <a:spcPct val="100000"/>
              </a:lnSpc>
            </a:pPr>
            <a:r>
              <a:rPr lang="en-IE" sz="600" dirty="0"/>
              <a:t>Ayers M, Lunceford J, </a:t>
            </a:r>
            <a:r>
              <a:rPr lang="en-IE" sz="600" dirty="0" err="1"/>
              <a:t>Nebozhyn</a:t>
            </a:r>
            <a:r>
              <a:rPr lang="en-IE" sz="600" dirty="0"/>
              <a:t> M, Murphy E, Loboda A, Kaufman DR, et al. IFN-γ-related mRNA profile predicts clinical response to PD-1 blockade. J Clin Invest. 2017 Aug 1;127(8):2930–40. doi:10.1172/JCI91190​</a:t>
            </a:r>
            <a:endParaRPr lang="en-IE" sz="600"/>
          </a:p>
          <a:p>
            <a:pPr>
              <a:lnSpc>
                <a:spcPct val="100000"/>
              </a:lnSpc>
            </a:pPr>
            <a:r>
              <a:rPr lang="en-IE" sz="600" dirty="0"/>
              <a:t>Boutros A, Croce E, Ferrari M, Gili R, Massaro G, Marconcini R, et al. The treatment of advanced melanoma: current approaches and new challenges. Crit Rev Oncol </a:t>
            </a:r>
            <a:r>
              <a:rPr lang="en-IE" sz="600" dirty="0" err="1"/>
              <a:t>Hematol</a:t>
            </a:r>
            <a:r>
              <a:rPr lang="en-IE" sz="600" dirty="0"/>
              <a:t>. 2024;196:104276. doi:10.1016/j.critrevonc.2024.104276.</a:t>
            </a:r>
            <a:r>
              <a:rPr lang="en-US" sz="600" dirty="0"/>
              <a:t>​</a:t>
            </a:r>
            <a:endParaRPr lang="en-IE" sz="600"/>
          </a:p>
          <a:p>
            <a:pPr>
              <a:lnSpc>
                <a:spcPct val="100000"/>
              </a:lnSpc>
            </a:pPr>
            <a:r>
              <a:rPr lang="en-IE" sz="600" dirty="0" err="1"/>
              <a:t>Caraviello</a:t>
            </a:r>
            <a:r>
              <a:rPr lang="en-IE" sz="600" dirty="0"/>
              <a:t> C, Nazzaro G, Tavoletti G, Boggio F, Denaro N, Murgia G, et al. Melanoma skin cancer: a comprehensive review of current knowledge. Cancers (Basel). 2025;17(17):2920. doi:10.3390/cancers17172920.</a:t>
            </a:r>
            <a:endParaRPr lang="en-IE" sz="600"/>
          </a:p>
          <a:p>
            <a:pPr>
              <a:lnSpc>
                <a:spcPct val="100000"/>
              </a:lnSpc>
            </a:pPr>
            <a:r>
              <a:rPr lang="en-IE" sz="600" dirty="0" err="1"/>
              <a:t>Charoentong</a:t>
            </a:r>
            <a:r>
              <a:rPr lang="en-IE" sz="600" dirty="0"/>
              <a:t> P, </a:t>
            </a:r>
            <a:r>
              <a:rPr lang="en-IE" sz="600" dirty="0" err="1"/>
              <a:t>Finotello</a:t>
            </a:r>
            <a:r>
              <a:rPr lang="en-IE" sz="600" dirty="0"/>
              <a:t> F, Angelova M, Mayer C, Efremova M, Rieder D, et al. Pan-cancer immunogenomic analyses reveal genotype-immunophenotype relationships and predictors of response to checkpoint blockade. Cell Reports. 2017 Jan 3;18(1):248–62. doi:10.1016/j.celrep.2016.12.019</a:t>
            </a:r>
            <a:endParaRPr lang="en-IE" sz="600"/>
          </a:p>
          <a:p>
            <a:pPr>
              <a:lnSpc>
                <a:spcPct val="100000"/>
              </a:lnSpc>
            </a:pPr>
            <a:r>
              <a:rPr lang="en-IE" sz="600"/>
              <a:t>Dempster JM, Boyle I, Vazquez F, Root DE, Boehm JS, Hahn WC, et al. Chronos: a cell population dynamics model of CRISPR experiments that improves inference of gene fitness effects. Genome Biol. 2021 Dec 20;22(1):343. doi:10.1186/s13059-021-02540-7</a:t>
            </a:r>
            <a:endParaRPr lang="en-IE" sz="600" dirty="0"/>
          </a:p>
          <a:p>
            <a:pPr>
              <a:lnSpc>
                <a:spcPct val="100000"/>
              </a:lnSpc>
            </a:pPr>
            <a:r>
              <a:rPr lang="en-IE" sz="600" dirty="0"/>
              <a:t>Duan Q, Reid SP, Clark NR, Wang Z, Fernandez NF, Rouillard AD, et al. L1000CDS²: LINCS L1000 characteristic direction signatures search engine. </a:t>
            </a:r>
            <a:r>
              <a:rPr lang="en-IE" sz="600" dirty="0" err="1"/>
              <a:t>npj</a:t>
            </a:r>
            <a:r>
              <a:rPr lang="en-IE" sz="600" dirty="0"/>
              <a:t> </a:t>
            </a:r>
            <a:r>
              <a:rPr lang="en-IE" sz="600" dirty="0" err="1"/>
              <a:t>Syst</a:t>
            </a:r>
            <a:r>
              <a:rPr lang="en-IE" sz="600" dirty="0"/>
              <a:t> </a:t>
            </a:r>
            <a:r>
              <a:rPr lang="en-IE" sz="600" dirty="0" err="1"/>
              <a:t>Biol</a:t>
            </a:r>
            <a:r>
              <a:rPr lang="en-IE" sz="600" dirty="0"/>
              <a:t> Appl. 2016 Aug 4;2:16015. doi:10.1038/npjsba.2016.15</a:t>
            </a:r>
            <a:endParaRPr lang="en-IE" sz="600"/>
          </a:p>
          <a:p>
            <a:pPr>
              <a:lnSpc>
                <a:spcPct val="100000"/>
              </a:lnSpc>
            </a:pPr>
            <a:r>
              <a:rPr lang="en-IE" sz="600" dirty="0" err="1"/>
              <a:t>DepMap</a:t>
            </a:r>
            <a:r>
              <a:rPr lang="en-IE" sz="600" dirty="0"/>
              <a:t> Consortium. </a:t>
            </a:r>
            <a:r>
              <a:rPr lang="en-IE" sz="600" dirty="0" err="1"/>
              <a:t>DepMap</a:t>
            </a:r>
            <a:r>
              <a:rPr lang="en-IE" sz="600" dirty="0"/>
              <a:t> 24Q2 Public [Dataset]. Broad Institute of MIT and Harvard; 2024. doi:10.6084/m9.figshare.25880521</a:t>
            </a:r>
            <a:endParaRPr lang="en-IE" sz="600"/>
          </a:p>
          <a:p>
            <a:pPr>
              <a:lnSpc>
                <a:spcPct val="100000"/>
              </a:lnSpc>
            </a:pPr>
            <a:r>
              <a:rPr lang="en-IE" sz="600" dirty="0"/>
              <a:t>Cirillo N. Global epidemiological trends in the incidence and mortality for melanoma. Skin Health Dis. 2025;5(1):84-86. doi:10.1093/</a:t>
            </a:r>
            <a:r>
              <a:rPr lang="en-IE" sz="600" dirty="0" err="1"/>
              <a:t>skinhd</a:t>
            </a:r>
            <a:r>
              <a:rPr lang="en-IE" sz="600" dirty="0"/>
              <a:t>/vzae013.​</a:t>
            </a:r>
            <a:endParaRPr lang="en-IE" sz="600"/>
          </a:p>
          <a:p>
            <a:pPr>
              <a:lnSpc>
                <a:spcPct val="100000"/>
              </a:lnSpc>
            </a:pPr>
            <a:r>
              <a:rPr lang="en-IE" sz="600" dirty="0"/>
              <a:t>Hugo W, Zaretsky JM, Sun L, Song C, Moreno BH, Hu-</a:t>
            </a:r>
            <a:r>
              <a:rPr lang="en-IE" sz="600" dirty="0" err="1"/>
              <a:t>Lieskovan</a:t>
            </a:r>
            <a:r>
              <a:rPr lang="en-IE" sz="600" dirty="0"/>
              <a:t> S, et al. Genomic and transcriptomic features of response to anti-PD-1 therapy in metastatic melanoma. Cell. 2016 Mar 24;165(1):35–44. doi:10.1016/j.cell.2016.02.065​</a:t>
            </a:r>
            <a:endParaRPr lang="en-IE" sz="600"/>
          </a:p>
          <a:p>
            <a:pPr>
              <a:lnSpc>
                <a:spcPct val="100000"/>
              </a:lnSpc>
            </a:pPr>
            <a:r>
              <a:rPr lang="en-IE" sz="600"/>
              <a:t>International Agency for Research on Cancer. Melanoma of skin fact sheet [Internet]. Lyon (FR): World Health Organization; 2024 [cited 2026 Aug 2]. Available from: </a:t>
            </a:r>
            <a:r>
              <a:rPr lang="en-IE" sz="600" dirty="0">
                <a:hlinkClick r:id="rId3"/>
              </a:rPr>
              <a:t>https://gco.iarc.who.int/media/globocan/factsheets/cancers/16-melanoma-of-skin-fact-sheet.pdf</a:t>
            </a:r>
            <a:r>
              <a:rPr lang="en-IE" sz="600" dirty="0"/>
              <a:t>​</a:t>
            </a:r>
            <a:endParaRPr lang="en-IE" sz="600"/>
          </a:p>
          <a:p>
            <a:pPr>
              <a:lnSpc>
                <a:spcPct val="100000"/>
              </a:lnSpc>
            </a:pPr>
            <a:r>
              <a:rPr lang="en-US" sz="600" dirty="0"/>
              <a:t>Kholodenko BN. Negative feedback and </a:t>
            </a:r>
            <a:r>
              <a:rPr lang="en-US" sz="600" dirty="0" err="1"/>
              <a:t>ultrasensitivity</a:t>
            </a:r>
            <a:r>
              <a:rPr lang="en-US" sz="600" dirty="0"/>
              <a:t> can bring about oscillations in the mitogen-activated protein kinase cascades. </a:t>
            </a:r>
            <a:r>
              <a:rPr lang="en-US" sz="600" dirty="0" err="1"/>
              <a:t>Eur</a:t>
            </a:r>
            <a:r>
              <a:rPr lang="en-US" sz="600" dirty="0"/>
              <a:t> J </a:t>
            </a:r>
            <a:r>
              <a:rPr lang="en-US" sz="600" dirty="0" err="1"/>
              <a:t>Biochem</a:t>
            </a:r>
            <a:r>
              <a:rPr lang="en-US" sz="600" dirty="0"/>
              <a:t>. 2000 Mar;267(6):1583–8. doi:10.1046/j.1432-1327.2000.01197.x</a:t>
            </a:r>
            <a:endParaRPr lang="en-IE" sz="600" dirty="0"/>
          </a:p>
          <a:p>
            <a:pPr>
              <a:lnSpc>
                <a:spcPct val="100000"/>
              </a:lnSpc>
            </a:pPr>
            <a:r>
              <a:rPr lang="en-US" sz="600"/>
              <a:t>Lai X, Friedman A. Combination therapy for melanoma with BRAF/MEK inhibitor and immune checkpoint inhibitor: a mathematical model. BMC Syst Biol. 2017 Jul 19;11(1):70. doi:10.1186/s12918-017-0446-9</a:t>
            </a:r>
            <a:endParaRPr lang="en-IE" sz="600" dirty="0"/>
          </a:p>
          <a:p>
            <a:pPr>
              <a:lnSpc>
                <a:spcPct val="100000"/>
              </a:lnSpc>
            </a:pPr>
            <a:r>
              <a:rPr lang="en-IE" sz="600" dirty="0"/>
              <a:t>Lazic T, Medeiros LJ. Molecular diagnosis of melanoma. In: </a:t>
            </a:r>
            <a:r>
              <a:rPr lang="en-IE" sz="600" dirty="0" err="1"/>
              <a:t>Lomberk</a:t>
            </a:r>
            <a:r>
              <a:rPr lang="en-IE" sz="600" dirty="0"/>
              <a:t> G, Urrutia R, editors. Molecular Diagnostics in Cancer Patients. Cham: Springer; 2024. p. 17-35. doi:10.1007/978-3-031-59128-0_2.</a:t>
            </a:r>
            <a:endParaRPr lang="en-IE" sz="600"/>
          </a:p>
          <a:p>
            <a:pPr>
              <a:lnSpc>
                <a:spcPct val="100000"/>
              </a:lnSpc>
            </a:pPr>
            <a:r>
              <a:rPr lang="en-IE" sz="600" dirty="0"/>
              <a:t>Liu J, Lichtenberg T, Hoadley KA, Poisson LM, Lazar AJ, </a:t>
            </a:r>
            <a:r>
              <a:rPr lang="en-IE" sz="600" dirty="0" err="1"/>
              <a:t>Cherniack</a:t>
            </a:r>
            <a:r>
              <a:rPr lang="en-IE" sz="600" dirty="0"/>
              <a:t> AD, et al. An integrated TCGA pan-cancer clinical data resource to drive high-quality survival outcome analytics. Cell. 2018 Apr 5;173(2):400-416.e11. doi:10.1016/j.cell.2018.02.052 </a:t>
            </a:r>
            <a:r>
              <a:rPr lang="en-US" sz="600" dirty="0"/>
              <a:t>​</a:t>
            </a:r>
            <a:endParaRPr lang="en-IE" sz="600"/>
          </a:p>
          <a:p>
            <a:pPr>
              <a:lnSpc>
                <a:spcPct val="100000"/>
              </a:lnSpc>
            </a:pPr>
            <a:r>
              <a:rPr lang="en-IE" sz="600" dirty="0"/>
              <a:t>Liu D, Schilling B, Liu D, Sucker A, Livingstone E, Jerby-Arnon L, et al. Integrative molecular and clinical </a:t>
            </a:r>
            <a:r>
              <a:rPr lang="en-IE" sz="600" dirty="0" err="1"/>
              <a:t>modeling</a:t>
            </a:r>
            <a:r>
              <a:rPr lang="en-IE" sz="600" dirty="0"/>
              <a:t> of clinical outcomes to PD1 blockade in patients with metastatic melanoma. Nat Med. 2019 Dec;25(12):1916–27. doi:10.1038/s41591-019-0654-5 ​</a:t>
            </a:r>
            <a:endParaRPr lang="en-IE" sz="600"/>
          </a:p>
          <a:p>
            <a:pPr>
              <a:lnSpc>
                <a:spcPct val="100000"/>
              </a:lnSpc>
            </a:pPr>
            <a:r>
              <a:rPr lang="en-IE" sz="600" dirty="0"/>
              <a:t>Mroz EA, Rocco JW. Intratumor and </a:t>
            </a:r>
            <a:r>
              <a:rPr lang="en-IE" sz="600" dirty="0" err="1"/>
              <a:t>intertumor</a:t>
            </a:r>
            <a:r>
              <a:rPr lang="en-IE" sz="600" dirty="0"/>
              <a:t> heterogeneity in melanoma. J Invest Dermatol. 2017;137(11):2397-2400. doi:10.1016/j.jid.2017.06.024.​</a:t>
            </a:r>
            <a:endParaRPr lang="en-IE" sz="600"/>
          </a:p>
          <a:p>
            <a:pPr>
              <a:lnSpc>
                <a:spcPct val="100000"/>
              </a:lnSpc>
            </a:pPr>
            <a:r>
              <a:rPr lang="en-IE" sz="600"/>
              <a:t>National Cancer Registry Ireland. Cancer Trends No. 42: Skin Cancer [Internet]. Cork: National Cancer Registry Ireland; 2025 Mar [cited 2026 Aug 1]. Available from: </a:t>
            </a:r>
            <a:r>
              <a:rPr lang="en-IE" sz="600" dirty="0">
                <a:hlinkClick r:id="rId4"/>
              </a:rPr>
              <a:t>https://www.ncri.ie/en/reports-publications/reports/cancer-trends-no-42-skin-cancer</a:t>
            </a:r>
            <a:r>
              <a:rPr lang="en-IE" sz="600" dirty="0"/>
              <a:t>​</a:t>
            </a:r>
            <a:endParaRPr lang="en-IE" sz="600"/>
          </a:p>
          <a:p>
            <a:pPr>
              <a:lnSpc>
                <a:spcPct val="100000"/>
              </a:lnSpc>
            </a:pPr>
            <a:r>
              <a:rPr lang="en-US" sz="600" dirty="0"/>
              <a:t>Nave O, </a:t>
            </a:r>
            <a:r>
              <a:rPr lang="en-US" sz="600" dirty="0" err="1"/>
              <a:t>Sigron</a:t>
            </a:r>
            <a:r>
              <a:rPr lang="en-US" sz="600" dirty="0"/>
              <a:t> M. A Mathematical Model for the Treatment of Melanoma with the BRAF/MEK Inhibitor and Anti-PD-1. Appl Sci. 2022 Dec 6;12(23):12474. doi:10.3390/app122312474</a:t>
            </a:r>
            <a:endParaRPr lang="en-IE" sz="600" dirty="0"/>
          </a:p>
          <a:p>
            <a:pPr>
              <a:lnSpc>
                <a:spcPct val="100000"/>
              </a:lnSpc>
            </a:pPr>
            <a:r>
              <a:rPr lang="en-IE" sz="600" dirty="0"/>
              <a:t>Pasquali S, </a:t>
            </a:r>
            <a:r>
              <a:rPr lang="en-IE" sz="600" dirty="0" err="1"/>
              <a:t>Hadjinicolaou</a:t>
            </a:r>
            <a:r>
              <a:rPr lang="en-IE" sz="600" dirty="0"/>
              <a:t> AV, </a:t>
            </a:r>
            <a:r>
              <a:rPr lang="en-IE" sz="600" dirty="0" err="1"/>
              <a:t>Chiarion</a:t>
            </a:r>
            <a:r>
              <a:rPr lang="en-IE" sz="600" dirty="0"/>
              <a:t> </a:t>
            </a:r>
            <a:r>
              <a:rPr lang="en-IE" sz="600" dirty="0" err="1"/>
              <a:t>Sileni</a:t>
            </a:r>
            <a:r>
              <a:rPr lang="en-IE" sz="600" dirty="0"/>
              <a:t> V, Rossi CR, </a:t>
            </a:r>
            <a:r>
              <a:rPr lang="en-IE" sz="600" dirty="0" err="1"/>
              <a:t>Mocellin</a:t>
            </a:r>
            <a:r>
              <a:rPr lang="en-IE" sz="600" dirty="0"/>
              <a:t> S. Overcoming immune evasion in melanoma. Int J Mol Sci. 2020;21(23):8984. doi:10.3390/ijms21238984.​</a:t>
            </a:r>
            <a:endParaRPr lang="en-IE" sz="600"/>
          </a:p>
          <a:p>
            <a:pPr>
              <a:lnSpc>
                <a:spcPct val="100000"/>
              </a:lnSpc>
            </a:pPr>
            <a:r>
              <a:rPr lang="en-IE" sz="600" dirty="0"/>
              <a:t>Pelosi E, Castelli G, Testa U. </a:t>
            </a:r>
            <a:r>
              <a:rPr lang="en-IE" sz="600" dirty="0" err="1"/>
              <a:t>Braf</a:t>
            </a:r>
            <a:r>
              <a:rPr lang="en-IE" sz="600" dirty="0"/>
              <a:t>-mutant melanomas: biology and therapy. Curr Oncol. 2024;31(12):7711-7737. doi:10.3390/curroncol31120568.​</a:t>
            </a:r>
            <a:endParaRPr lang="en-IE" sz="600"/>
          </a:p>
          <a:p>
            <a:pPr>
              <a:lnSpc>
                <a:spcPct val="100000"/>
              </a:lnSpc>
            </a:pPr>
            <a:r>
              <a:rPr lang="en-US" sz="600" dirty="0" err="1"/>
              <a:t>Poulikakos</a:t>
            </a:r>
            <a:r>
              <a:rPr lang="en-US" sz="600" dirty="0"/>
              <a:t> PI, Zhang C, </a:t>
            </a:r>
            <a:r>
              <a:rPr lang="en-US" sz="600" dirty="0" err="1"/>
              <a:t>Bollag</a:t>
            </a:r>
            <a:r>
              <a:rPr lang="en-US" sz="600" dirty="0"/>
              <a:t> G, Shokat KM, Rosen N. RAF inhibitors transactivate RAF dimers and ERK </a:t>
            </a:r>
            <a:r>
              <a:rPr lang="en-US" sz="600" dirty="0" err="1"/>
              <a:t>signalling</a:t>
            </a:r>
            <a:r>
              <a:rPr lang="en-US" sz="600" dirty="0"/>
              <a:t> in cells with wild-type BRAF. Nature. 2010 Mar 18;464(7287):427–30. doi:10.1038/nature08902</a:t>
            </a:r>
            <a:endParaRPr lang="en-IE" sz="600" dirty="0"/>
          </a:p>
          <a:p>
            <a:pPr>
              <a:lnSpc>
                <a:spcPct val="100000"/>
              </a:lnSpc>
            </a:pPr>
            <a:r>
              <a:rPr lang="en-IE" sz="600" dirty="0"/>
              <a:t>Riaz N, Havel JJ, Makarov V, </a:t>
            </a:r>
            <a:r>
              <a:rPr lang="en-IE" sz="600" dirty="0" err="1"/>
              <a:t>Desrichard</a:t>
            </a:r>
            <a:r>
              <a:rPr lang="en-IE" sz="600" dirty="0"/>
              <a:t> A, Urba WJ, Sims JS, et al. </a:t>
            </a:r>
            <a:r>
              <a:rPr lang="en-IE" sz="600" dirty="0" err="1"/>
              <a:t>Tumor</a:t>
            </a:r>
            <a:r>
              <a:rPr lang="en-IE" sz="600" dirty="0"/>
              <a:t> and microenvironment evolution during immunotherapy with nivolumab. Cell. 2017 Nov 2;171(4):934-949.e16. doi:10.1016/j.cell.2017.09.028​</a:t>
            </a:r>
            <a:endParaRPr lang="en-IE" sz="600"/>
          </a:p>
          <a:p>
            <a:pPr>
              <a:lnSpc>
                <a:spcPct val="100000"/>
              </a:lnSpc>
            </a:pPr>
            <a:r>
              <a:rPr lang="en-IE" sz="600" dirty="0"/>
              <a:t>Rooney MS, Shukla SA, Wu CJ, Getz G, Hacohen N. Molecular and genetic properties of </a:t>
            </a:r>
            <a:r>
              <a:rPr lang="en-IE" sz="600" dirty="0" err="1"/>
              <a:t>tumors</a:t>
            </a:r>
            <a:r>
              <a:rPr lang="en-IE" sz="600" dirty="0"/>
              <a:t> associated with local immune cytolytic activity. Cell. 2015 Jan 15;160(1–2):48–61. doi:10.1016/j.cell.2014.12.033 </a:t>
            </a:r>
            <a:r>
              <a:rPr lang="en-US" sz="600" dirty="0"/>
              <a:t>​</a:t>
            </a:r>
            <a:endParaRPr lang="en-IE" sz="600"/>
          </a:p>
          <a:p>
            <a:pPr>
              <a:lnSpc>
                <a:spcPct val="100000"/>
              </a:lnSpc>
            </a:pPr>
            <a:r>
              <a:rPr lang="en-US" sz="600" dirty="0" err="1"/>
              <a:t>Rukhlenko</a:t>
            </a:r>
            <a:r>
              <a:rPr lang="en-US" sz="600" dirty="0"/>
              <a:t> OS, Khorsand F, Krstic A, </a:t>
            </a:r>
            <a:r>
              <a:rPr lang="en-US" sz="600" dirty="0" err="1"/>
              <a:t>Rozanc</a:t>
            </a:r>
            <a:r>
              <a:rPr lang="en-US" sz="600" dirty="0"/>
              <a:t> J, Alexopoulos LG, Rauch N, et al. Dissecting RAF Inhibitor Resistance by Structure-based Modeling Reveals Ways to Overcome Oncogenic RAS Signaling. Cell Syst. 2018 Aug 22;7(2):161–179.e14. doi:10.1016/j.cels.2018.06.002</a:t>
            </a:r>
            <a:endParaRPr lang="en-IE" sz="600"/>
          </a:p>
          <a:p>
            <a:pPr>
              <a:lnSpc>
                <a:spcPct val="100000"/>
              </a:lnSpc>
            </a:pPr>
            <a:r>
              <a:rPr lang="en-IE" sz="600"/>
              <a:t>Sade-Feldman M, Jiao YJ, Chen JH, Rooney MS, Barzily-Rokni M, Eliane JP, et al. Defining T cell states associated with response to checkpoint immunotherapy in melanoma. Cell. 2018;175(4):998-1013.e20. doi:10.1016/j.cell.2018.10.038.</a:t>
            </a:r>
            <a:r>
              <a:rPr lang="en-US" sz="600"/>
              <a:t>​</a:t>
            </a:r>
            <a:endParaRPr lang="en-US" sz="600" dirty="0"/>
          </a:p>
          <a:p>
            <a:pPr>
              <a:lnSpc>
                <a:spcPct val="100000"/>
              </a:lnSpc>
            </a:pPr>
            <a:r>
              <a:rPr lang="en-US" sz="600"/>
              <a:t>Subramanian A, Narayan R, Corsello SM, Peck DD, Natoli TE, Lu X, et al. A next generation connectivity map: L1000 platform and the first 1,000,000 profiles. Cell. 2017 Nov 30;171(6):1437–1452.e17. doi:10.1016/j.cell.2017.10.049</a:t>
            </a:r>
            <a:endParaRPr lang="en-IE" sz="600"/>
          </a:p>
          <a:p>
            <a:pPr>
              <a:lnSpc>
                <a:spcPct val="100000"/>
              </a:lnSpc>
            </a:pPr>
            <a:r>
              <a:rPr lang="en-US" sz="600"/>
              <a:t>Takahashi M, Chong HB, Zhang S, Yang TY, Lazarov MJ, Harry S, et al. Dual adeno-associated virus-based bi-functional CRISPR-Cas9 genome editing in the mouse brain. Cell. 2024 May 9;187(10):2536–2556.e30. doi:10.1016/j.cell.2024.03.027</a:t>
            </a:r>
            <a:br>
              <a:rPr lang="en-US" sz="600" dirty="0"/>
            </a:br>
            <a:endParaRPr lang="en-US" sz="600" dirty="0"/>
          </a:p>
          <a:p>
            <a:pPr>
              <a:lnSpc>
                <a:spcPct val="100000"/>
              </a:lnSpc>
            </a:pPr>
            <a:endParaRPr lang="en-IE" sz="600" dirty="0"/>
          </a:p>
          <a:p>
            <a:pPr>
              <a:lnSpc>
                <a:spcPct val="100000"/>
              </a:lnSpc>
            </a:pPr>
            <a:endParaRPr lang="en-IE" sz="600" dirty="0"/>
          </a:p>
          <a:p>
            <a:pPr>
              <a:lnSpc>
                <a:spcPct val="100000"/>
              </a:lnSpc>
            </a:pPr>
            <a:endParaRPr lang="en-IE" sz="600" dirty="0"/>
          </a:p>
        </p:txBody>
      </p:sp>
      <p:sp>
        <p:nvSpPr>
          <p:cNvPr id="5" name="Shape 47">
            <a:extLst>
              <a:ext uri="{FF2B5EF4-FFF2-40B4-BE49-F238E27FC236}">
                <a16:creationId xmlns:a16="http://schemas.microsoft.com/office/drawing/2014/main" id="{63FB335D-0DD8-9568-3132-85E9CE5D6B4F}"/>
              </a:ext>
            </a:extLst>
          </p:cNvPr>
          <p:cNvSpPr/>
          <p:nvPr/>
        </p:nvSpPr>
        <p:spPr>
          <a:xfrm>
            <a:off x="-12350" y="6772971"/>
            <a:ext cx="12177285" cy="85029"/>
          </a:xfrm>
          <a:prstGeom prst="rect">
            <a:avLst/>
          </a:prstGeom>
          <a:solidFill>
            <a:srgbClr val="1B2A4A"/>
          </a:solidFill>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25247362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AE628C-A9C7-455D-2E2F-4ED88B085CB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D80270A-DAB4-16D6-5909-35658406124E}"/>
              </a:ext>
            </a:extLst>
          </p:cNvPr>
          <p:cNvSpPr/>
          <p:nvPr/>
        </p:nvSpPr>
        <p:spPr>
          <a:xfrm>
            <a:off x="320040" y="91440"/>
            <a:ext cx="11521440" cy="54864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700" b="1">
                <a:solidFill>
                  <a:srgbClr val="1B2A4A"/>
                </a:solidFill>
                <a:latin typeface="Calibri"/>
                <a:ea typeface="Calibri"/>
                <a:cs typeface="Calibri"/>
              </a:rPr>
              <a:t>Appendix 1: Immune Signatures used in Q1</a:t>
            </a:r>
          </a:p>
        </p:txBody>
      </p:sp>
      <p:sp>
        <p:nvSpPr>
          <p:cNvPr id="3" name="Shape 1">
            <a:extLst>
              <a:ext uri="{FF2B5EF4-FFF2-40B4-BE49-F238E27FC236}">
                <a16:creationId xmlns:a16="http://schemas.microsoft.com/office/drawing/2014/main" id="{567EDA57-291E-9287-3B1E-E14A9FD0A2A5}"/>
              </a:ext>
            </a:extLst>
          </p:cNvPr>
          <p:cNvSpPr/>
          <p:nvPr/>
        </p:nvSpPr>
        <p:spPr>
          <a:xfrm>
            <a:off x="320040" y="667512"/>
            <a:ext cx="1371600" cy="41148"/>
          </a:xfrm>
          <a:prstGeom prst="rect">
            <a:avLst/>
          </a:prstGeom>
          <a:solidFill>
            <a:srgbClr val="E07B39"/>
          </a:solidFill>
          <a:ln w="12700">
            <a:solidFill>
              <a:srgbClr val="E07B39"/>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 name="Text 10">
            <a:extLst>
              <a:ext uri="{FF2B5EF4-FFF2-40B4-BE49-F238E27FC236}">
                <a16:creationId xmlns:a16="http://schemas.microsoft.com/office/drawing/2014/main" id="{19961592-BE56-763A-CC85-C054DE9A46FC}"/>
              </a:ext>
            </a:extLst>
          </p:cNvPr>
          <p:cNvSpPr/>
          <p:nvPr/>
        </p:nvSpPr>
        <p:spPr>
          <a:xfrm>
            <a:off x="2642616"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14" name="Text 11">
            <a:extLst>
              <a:ext uri="{FF2B5EF4-FFF2-40B4-BE49-F238E27FC236}">
                <a16:creationId xmlns:a16="http://schemas.microsoft.com/office/drawing/2014/main" id="{36F7689A-5AA1-1BB0-E430-22DBBC9E9E4F}"/>
              </a:ext>
            </a:extLst>
          </p:cNvPr>
          <p:cNvSpPr/>
          <p:nvPr/>
        </p:nvSpPr>
        <p:spPr>
          <a:xfrm>
            <a:off x="3063240" y="1060704"/>
            <a:ext cx="1682496" cy="219456"/>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800"/>
          </a:p>
        </p:txBody>
      </p:sp>
      <p:sp>
        <p:nvSpPr>
          <p:cNvPr id="15" name="Text 12">
            <a:extLst>
              <a:ext uri="{FF2B5EF4-FFF2-40B4-BE49-F238E27FC236}">
                <a16:creationId xmlns:a16="http://schemas.microsoft.com/office/drawing/2014/main" id="{2C436085-9248-2F51-7EDB-EEE6484F8C0B}"/>
              </a:ext>
            </a:extLst>
          </p:cNvPr>
          <p:cNvSpPr/>
          <p:nvPr/>
        </p:nvSpPr>
        <p:spPr>
          <a:xfrm>
            <a:off x="3099816" y="1261872"/>
            <a:ext cx="1682496" cy="237744"/>
          </a:xfrm>
          <a:prstGeom prst="rect">
            <a:avLst/>
          </a:prstGeom>
          <a:noFill/>
          <a:ln/>
        </p:spPr>
        <p:txBody>
          <a:bodyPr wrap="square" lIns="0" tIns="0" rIns="0" bIns="0" rtlCol="0" anchor="t"/>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300" b="1">
              <a:solidFill>
                <a:srgbClr val="E07B39"/>
              </a:solidFill>
            </a:endParaRPr>
          </a:p>
        </p:txBody>
      </p:sp>
      <p:sp>
        <p:nvSpPr>
          <p:cNvPr id="18" name="Text 15">
            <a:extLst>
              <a:ext uri="{FF2B5EF4-FFF2-40B4-BE49-F238E27FC236}">
                <a16:creationId xmlns:a16="http://schemas.microsoft.com/office/drawing/2014/main" id="{5E3F2C2C-AF8E-8BCF-2A44-7B5CB62B5A8C}"/>
              </a:ext>
            </a:extLst>
          </p:cNvPr>
          <p:cNvSpPr/>
          <p:nvPr/>
        </p:nvSpPr>
        <p:spPr>
          <a:xfrm>
            <a:off x="4946904"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23" name="Text 20">
            <a:extLst>
              <a:ext uri="{FF2B5EF4-FFF2-40B4-BE49-F238E27FC236}">
                <a16:creationId xmlns:a16="http://schemas.microsoft.com/office/drawing/2014/main" id="{89F817A5-2704-7B32-6202-9E3615754000}"/>
              </a:ext>
            </a:extLst>
          </p:cNvPr>
          <p:cNvSpPr/>
          <p:nvPr/>
        </p:nvSpPr>
        <p:spPr>
          <a:xfrm>
            <a:off x="7251192"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29" name="Text 26">
            <a:extLst>
              <a:ext uri="{FF2B5EF4-FFF2-40B4-BE49-F238E27FC236}">
                <a16:creationId xmlns:a16="http://schemas.microsoft.com/office/drawing/2014/main" id="{DD9DA2E9-D674-82D8-4A49-27C39D678075}"/>
              </a:ext>
            </a:extLst>
          </p:cNvPr>
          <p:cNvSpPr/>
          <p:nvPr/>
        </p:nvSpPr>
        <p:spPr>
          <a:xfrm>
            <a:off x="10012680" y="1060704"/>
            <a:ext cx="1682496" cy="219456"/>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800"/>
          </a:p>
        </p:txBody>
      </p:sp>
      <p:sp>
        <p:nvSpPr>
          <p:cNvPr id="35" name="Text 32">
            <a:extLst>
              <a:ext uri="{FF2B5EF4-FFF2-40B4-BE49-F238E27FC236}">
                <a16:creationId xmlns:a16="http://schemas.microsoft.com/office/drawing/2014/main" id="{67B37727-3433-0454-24F8-286AD424774E}"/>
              </a:ext>
            </a:extLst>
          </p:cNvPr>
          <p:cNvSpPr/>
          <p:nvPr/>
        </p:nvSpPr>
        <p:spPr>
          <a:xfrm>
            <a:off x="411480" y="2176272"/>
            <a:ext cx="370332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38" name="Text 35">
            <a:extLst>
              <a:ext uri="{FF2B5EF4-FFF2-40B4-BE49-F238E27FC236}">
                <a16:creationId xmlns:a16="http://schemas.microsoft.com/office/drawing/2014/main" id="{79108B5C-828E-151E-9485-B7427E19EBFA}"/>
              </a:ext>
            </a:extLst>
          </p:cNvPr>
          <p:cNvSpPr/>
          <p:nvPr/>
        </p:nvSpPr>
        <p:spPr>
          <a:xfrm>
            <a:off x="4434840" y="2176272"/>
            <a:ext cx="411480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41" name="Text 38">
            <a:extLst>
              <a:ext uri="{FF2B5EF4-FFF2-40B4-BE49-F238E27FC236}">
                <a16:creationId xmlns:a16="http://schemas.microsoft.com/office/drawing/2014/main" id="{99874B14-171B-320A-D1FF-61CB43C916FA}"/>
              </a:ext>
            </a:extLst>
          </p:cNvPr>
          <p:cNvSpPr/>
          <p:nvPr/>
        </p:nvSpPr>
        <p:spPr>
          <a:xfrm>
            <a:off x="8869680" y="2176272"/>
            <a:ext cx="288036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44" name="Text 41">
            <a:extLst>
              <a:ext uri="{FF2B5EF4-FFF2-40B4-BE49-F238E27FC236}">
                <a16:creationId xmlns:a16="http://schemas.microsoft.com/office/drawing/2014/main" id="{990FF45D-F20F-448C-C40E-6954FFD78AB9}"/>
              </a:ext>
            </a:extLst>
          </p:cNvPr>
          <p:cNvSpPr/>
          <p:nvPr/>
        </p:nvSpPr>
        <p:spPr>
          <a:xfrm>
            <a:off x="8878824" y="4745736"/>
            <a:ext cx="292608" cy="292608"/>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50" name="Shape 47">
            <a:extLst>
              <a:ext uri="{FF2B5EF4-FFF2-40B4-BE49-F238E27FC236}">
                <a16:creationId xmlns:a16="http://schemas.microsoft.com/office/drawing/2014/main" id="{17E2F728-9808-5705-4AF8-BBD35BD509E1}"/>
              </a:ext>
            </a:extLst>
          </p:cNvPr>
          <p:cNvSpPr/>
          <p:nvPr/>
        </p:nvSpPr>
        <p:spPr>
          <a:xfrm>
            <a:off x="-22860" y="6336792"/>
            <a:ext cx="12161520" cy="521208"/>
          </a:xfrm>
          <a:prstGeom prst="rect">
            <a:avLst/>
          </a:prstGeom>
          <a:solidFill>
            <a:srgbClr val="1B2A4A"/>
          </a:solidFill>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 name="Text 49">
            <a:extLst>
              <a:ext uri="{FF2B5EF4-FFF2-40B4-BE49-F238E27FC236}">
                <a16:creationId xmlns:a16="http://schemas.microsoft.com/office/drawing/2014/main" id="{9FE27ABE-6100-3701-DDAA-F302A3834CF2}"/>
              </a:ext>
            </a:extLst>
          </p:cNvPr>
          <p:cNvSpPr/>
          <p:nvPr/>
        </p:nvSpPr>
        <p:spPr>
          <a:xfrm>
            <a:off x="228600" y="6441948"/>
            <a:ext cx="310896" cy="310896"/>
          </a:xfrm>
          <a:prstGeom prst="rect">
            <a:avLst/>
          </a:prstGeom>
          <a:noFill/>
          <a:ln/>
        </p:spPr>
        <p:txBody>
          <a:bodyPr wrap="square"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400"/>
          </a:p>
        </p:txBody>
      </p:sp>
      <p:sp>
        <p:nvSpPr>
          <p:cNvPr id="53" name="Text 50">
            <a:extLst>
              <a:ext uri="{FF2B5EF4-FFF2-40B4-BE49-F238E27FC236}">
                <a16:creationId xmlns:a16="http://schemas.microsoft.com/office/drawing/2014/main" id="{9394ED16-E39A-0866-2DF9-4FF5AE138D1B}"/>
              </a:ext>
            </a:extLst>
          </p:cNvPr>
          <p:cNvSpPr/>
          <p:nvPr/>
        </p:nvSpPr>
        <p:spPr>
          <a:xfrm>
            <a:off x="658368" y="6336792"/>
            <a:ext cx="11356848" cy="521208"/>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400" b="1"/>
          </a:p>
        </p:txBody>
      </p:sp>
      <p:sp>
        <p:nvSpPr>
          <p:cNvPr id="54" name="Text 51">
            <a:extLst>
              <a:ext uri="{FF2B5EF4-FFF2-40B4-BE49-F238E27FC236}">
                <a16:creationId xmlns:a16="http://schemas.microsoft.com/office/drawing/2014/main" id="{C5160E6A-A94B-CB44-43BD-4F8C2AFF57C0}"/>
              </a:ext>
            </a:extLst>
          </p:cNvPr>
          <p:cNvSpPr/>
          <p:nvPr/>
        </p:nvSpPr>
        <p:spPr>
          <a:xfrm>
            <a:off x="658368" y="6336792"/>
            <a:ext cx="1371600" cy="521208"/>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50" b="1">
              <a:solidFill>
                <a:srgbClr val="FFFFFF"/>
              </a:solidFill>
            </a:endParaRPr>
          </a:p>
        </p:txBody>
      </p:sp>
      <p:pic>
        <p:nvPicPr>
          <p:cNvPr id="4" name="Picture 3">
            <a:extLst>
              <a:ext uri="{FF2B5EF4-FFF2-40B4-BE49-F238E27FC236}">
                <a16:creationId xmlns:a16="http://schemas.microsoft.com/office/drawing/2014/main" id="{9DBB589B-23A8-97F1-60CF-977B0B3A11B5}"/>
              </a:ext>
            </a:extLst>
          </p:cNvPr>
          <p:cNvPicPr>
            <a:picLocks noChangeAspect="1"/>
          </p:cNvPicPr>
          <p:nvPr/>
        </p:nvPicPr>
        <p:blipFill>
          <a:blip r:embed="rId3"/>
          <a:stretch>
            <a:fillRect/>
          </a:stretch>
        </p:blipFill>
        <p:spPr>
          <a:xfrm>
            <a:off x="501358" y="861867"/>
            <a:ext cx="11185585" cy="5464944"/>
          </a:xfrm>
          <a:prstGeom prst="rect">
            <a:avLst/>
          </a:prstGeom>
        </p:spPr>
      </p:pic>
    </p:spTree>
    <p:extLst>
      <p:ext uri="{BB962C8B-B14F-4D97-AF65-F5344CB8AC3E}">
        <p14:creationId xmlns:p14="http://schemas.microsoft.com/office/powerpoint/2010/main" val="38016997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7DCECC7-4F87-E66E-F64F-BC94FB30A5A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2F43591-E50F-26DE-5F48-F3A858FDD86A}"/>
              </a:ext>
            </a:extLst>
          </p:cNvPr>
          <p:cNvSpPr/>
          <p:nvPr/>
        </p:nvSpPr>
        <p:spPr>
          <a:xfrm>
            <a:off x="320040" y="91440"/>
            <a:ext cx="11521440" cy="54864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700" b="1">
                <a:solidFill>
                  <a:srgbClr val="1B2A4A"/>
                </a:solidFill>
                <a:latin typeface="Calibri"/>
                <a:ea typeface="Calibri"/>
                <a:cs typeface="Calibri"/>
              </a:rPr>
              <a:t>Appendix 2: GitHub Reference</a:t>
            </a:r>
          </a:p>
        </p:txBody>
      </p:sp>
      <p:sp>
        <p:nvSpPr>
          <p:cNvPr id="3" name="Shape 1">
            <a:extLst>
              <a:ext uri="{FF2B5EF4-FFF2-40B4-BE49-F238E27FC236}">
                <a16:creationId xmlns:a16="http://schemas.microsoft.com/office/drawing/2014/main" id="{74A98CCD-233E-25A1-970E-44829898F74D}"/>
              </a:ext>
            </a:extLst>
          </p:cNvPr>
          <p:cNvSpPr/>
          <p:nvPr/>
        </p:nvSpPr>
        <p:spPr>
          <a:xfrm>
            <a:off x="320040" y="667512"/>
            <a:ext cx="1371600" cy="41148"/>
          </a:xfrm>
          <a:prstGeom prst="rect">
            <a:avLst/>
          </a:prstGeom>
          <a:solidFill>
            <a:srgbClr val="E07B39"/>
          </a:solidFill>
          <a:ln w="12700">
            <a:solidFill>
              <a:srgbClr val="E07B39"/>
            </a:solidFill>
            <a:prstDash val="solid"/>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 name="Text 10">
            <a:extLst>
              <a:ext uri="{FF2B5EF4-FFF2-40B4-BE49-F238E27FC236}">
                <a16:creationId xmlns:a16="http://schemas.microsoft.com/office/drawing/2014/main" id="{431CF2E6-7A96-700B-44FB-5C90823FFAB6}"/>
              </a:ext>
            </a:extLst>
          </p:cNvPr>
          <p:cNvSpPr/>
          <p:nvPr/>
        </p:nvSpPr>
        <p:spPr>
          <a:xfrm>
            <a:off x="2642616"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14" name="Text 11">
            <a:extLst>
              <a:ext uri="{FF2B5EF4-FFF2-40B4-BE49-F238E27FC236}">
                <a16:creationId xmlns:a16="http://schemas.microsoft.com/office/drawing/2014/main" id="{7F092118-7A22-9B29-EDF3-75FB09226D4E}"/>
              </a:ext>
            </a:extLst>
          </p:cNvPr>
          <p:cNvSpPr/>
          <p:nvPr/>
        </p:nvSpPr>
        <p:spPr>
          <a:xfrm>
            <a:off x="3063240" y="1060704"/>
            <a:ext cx="1682496" cy="219456"/>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800"/>
          </a:p>
        </p:txBody>
      </p:sp>
      <p:sp>
        <p:nvSpPr>
          <p:cNvPr id="15" name="Text 12">
            <a:extLst>
              <a:ext uri="{FF2B5EF4-FFF2-40B4-BE49-F238E27FC236}">
                <a16:creationId xmlns:a16="http://schemas.microsoft.com/office/drawing/2014/main" id="{83AD8037-1A5C-B469-88FD-AA7F792A0296}"/>
              </a:ext>
            </a:extLst>
          </p:cNvPr>
          <p:cNvSpPr/>
          <p:nvPr/>
        </p:nvSpPr>
        <p:spPr>
          <a:xfrm>
            <a:off x="3099816" y="1261872"/>
            <a:ext cx="1682496" cy="237744"/>
          </a:xfrm>
          <a:prstGeom prst="rect">
            <a:avLst/>
          </a:prstGeom>
          <a:noFill/>
          <a:ln/>
        </p:spPr>
        <p:txBody>
          <a:bodyPr wrap="square" lIns="0" tIns="0" rIns="0" bIns="0" rtlCol="0" anchor="t"/>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300" b="1">
              <a:solidFill>
                <a:srgbClr val="E07B39"/>
              </a:solidFill>
            </a:endParaRPr>
          </a:p>
        </p:txBody>
      </p:sp>
      <p:sp>
        <p:nvSpPr>
          <p:cNvPr id="18" name="Text 15">
            <a:extLst>
              <a:ext uri="{FF2B5EF4-FFF2-40B4-BE49-F238E27FC236}">
                <a16:creationId xmlns:a16="http://schemas.microsoft.com/office/drawing/2014/main" id="{7D87330C-0C3C-AF22-0589-01CE44BC2644}"/>
              </a:ext>
            </a:extLst>
          </p:cNvPr>
          <p:cNvSpPr/>
          <p:nvPr/>
        </p:nvSpPr>
        <p:spPr>
          <a:xfrm>
            <a:off x="4946904"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23" name="Text 20">
            <a:extLst>
              <a:ext uri="{FF2B5EF4-FFF2-40B4-BE49-F238E27FC236}">
                <a16:creationId xmlns:a16="http://schemas.microsoft.com/office/drawing/2014/main" id="{142B61B6-101D-EE00-352E-603C8CA4DB1E}"/>
              </a:ext>
            </a:extLst>
          </p:cNvPr>
          <p:cNvSpPr/>
          <p:nvPr/>
        </p:nvSpPr>
        <p:spPr>
          <a:xfrm>
            <a:off x="7251192" y="1097280"/>
            <a:ext cx="365760" cy="365760"/>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29" name="Text 26">
            <a:extLst>
              <a:ext uri="{FF2B5EF4-FFF2-40B4-BE49-F238E27FC236}">
                <a16:creationId xmlns:a16="http://schemas.microsoft.com/office/drawing/2014/main" id="{A27C1568-9550-EBCC-1012-CD78620E3BD5}"/>
              </a:ext>
            </a:extLst>
          </p:cNvPr>
          <p:cNvSpPr/>
          <p:nvPr/>
        </p:nvSpPr>
        <p:spPr>
          <a:xfrm>
            <a:off x="10012680" y="1060704"/>
            <a:ext cx="1682496" cy="219456"/>
          </a:xfrm>
          <a:prstGeom prst="rect">
            <a:avLst/>
          </a:prstGeom>
          <a:noFill/>
          <a:ln/>
        </p:spPr>
        <p:txBody>
          <a:bodyPr wrap="square" lIns="0" tIns="0" rIns="0" bIns="0" rtlCol="0" anchor="b"/>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800"/>
          </a:p>
        </p:txBody>
      </p:sp>
      <p:sp>
        <p:nvSpPr>
          <p:cNvPr id="35" name="Text 32">
            <a:extLst>
              <a:ext uri="{FF2B5EF4-FFF2-40B4-BE49-F238E27FC236}">
                <a16:creationId xmlns:a16="http://schemas.microsoft.com/office/drawing/2014/main" id="{35FAAB44-E928-5948-C0F6-2C3E337193B9}"/>
              </a:ext>
            </a:extLst>
          </p:cNvPr>
          <p:cNvSpPr/>
          <p:nvPr/>
        </p:nvSpPr>
        <p:spPr>
          <a:xfrm>
            <a:off x="411480" y="2176272"/>
            <a:ext cx="370332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38" name="Text 35">
            <a:extLst>
              <a:ext uri="{FF2B5EF4-FFF2-40B4-BE49-F238E27FC236}">
                <a16:creationId xmlns:a16="http://schemas.microsoft.com/office/drawing/2014/main" id="{74993342-FC9F-B1B9-FE2B-A40552E8354B}"/>
              </a:ext>
            </a:extLst>
          </p:cNvPr>
          <p:cNvSpPr/>
          <p:nvPr/>
        </p:nvSpPr>
        <p:spPr>
          <a:xfrm>
            <a:off x="4434840" y="2176272"/>
            <a:ext cx="411480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41" name="Text 38">
            <a:extLst>
              <a:ext uri="{FF2B5EF4-FFF2-40B4-BE49-F238E27FC236}">
                <a16:creationId xmlns:a16="http://schemas.microsoft.com/office/drawing/2014/main" id="{046A1044-021A-F34F-31F0-C565F7FBF0F6}"/>
              </a:ext>
            </a:extLst>
          </p:cNvPr>
          <p:cNvSpPr/>
          <p:nvPr/>
        </p:nvSpPr>
        <p:spPr>
          <a:xfrm>
            <a:off x="8869680" y="2176272"/>
            <a:ext cx="2880360" cy="274320"/>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900"/>
          </a:p>
        </p:txBody>
      </p:sp>
      <p:sp>
        <p:nvSpPr>
          <p:cNvPr id="44" name="Text 41">
            <a:extLst>
              <a:ext uri="{FF2B5EF4-FFF2-40B4-BE49-F238E27FC236}">
                <a16:creationId xmlns:a16="http://schemas.microsoft.com/office/drawing/2014/main" id="{CC89ECCD-5544-9261-1B57-C51E1FAA2F65}"/>
              </a:ext>
            </a:extLst>
          </p:cNvPr>
          <p:cNvSpPr/>
          <p:nvPr/>
        </p:nvSpPr>
        <p:spPr>
          <a:xfrm>
            <a:off x="8878824" y="4745736"/>
            <a:ext cx="292608" cy="292608"/>
          </a:xfrm>
          <a:prstGeom prst="rect">
            <a:avLst/>
          </a:prstGeom>
          <a:noFill/>
          <a:ln/>
        </p:spPr>
        <p:txBody>
          <a:bodyPr wrap="square" lIns="91440" tIns="45720" rIns="91440" bIns="4572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000"/>
          </a:p>
        </p:txBody>
      </p:sp>
      <p:sp>
        <p:nvSpPr>
          <p:cNvPr id="50" name="Shape 47">
            <a:extLst>
              <a:ext uri="{FF2B5EF4-FFF2-40B4-BE49-F238E27FC236}">
                <a16:creationId xmlns:a16="http://schemas.microsoft.com/office/drawing/2014/main" id="{7A2EE763-044C-8DAF-216D-DA3E70D5B8EE}"/>
              </a:ext>
            </a:extLst>
          </p:cNvPr>
          <p:cNvSpPr/>
          <p:nvPr/>
        </p:nvSpPr>
        <p:spPr>
          <a:xfrm>
            <a:off x="-22860" y="6336792"/>
            <a:ext cx="12161520" cy="521208"/>
          </a:xfrm>
          <a:prstGeom prst="rect">
            <a:avLst/>
          </a:prstGeom>
          <a:solidFill>
            <a:srgbClr val="1B2A4A"/>
          </a:solidFill>
          <a:ln/>
        </p:spPr>
        <p:txBody>
          <a:bodyP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 name="Text 49">
            <a:extLst>
              <a:ext uri="{FF2B5EF4-FFF2-40B4-BE49-F238E27FC236}">
                <a16:creationId xmlns:a16="http://schemas.microsoft.com/office/drawing/2014/main" id="{FF6C3E92-C810-670A-CBA9-1633F147B150}"/>
              </a:ext>
            </a:extLst>
          </p:cNvPr>
          <p:cNvSpPr/>
          <p:nvPr/>
        </p:nvSpPr>
        <p:spPr>
          <a:xfrm>
            <a:off x="228600" y="6441948"/>
            <a:ext cx="310896" cy="310896"/>
          </a:xfrm>
          <a:prstGeom prst="rect">
            <a:avLst/>
          </a:prstGeom>
          <a:noFill/>
          <a:ln/>
        </p:spPr>
        <p:txBody>
          <a:bodyPr wrap="square"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400"/>
          </a:p>
        </p:txBody>
      </p:sp>
      <p:sp>
        <p:nvSpPr>
          <p:cNvPr id="53" name="Text 50">
            <a:extLst>
              <a:ext uri="{FF2B5EF4-FFF2-40B4-BE49-F238E27FC236}">
                <a16:creationId xmlns:a16="http://schemas.microsoft.com/office/drawing/2014/main" id="{025E67D3-0531-A212-FD2A-C929C29F2DFB}"/>
              </a:ext>
            </a:extLst>
          </p:cNvPr>
          <p:cNvSpPr/>
          <p:nvPr/>
        </p:nvSpPr>
        <p:spPr>
          <a:xfrm>
            <a:off x="658368" y="6336792"/>
            <a:ext cx="11356848" cy="521208"/>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400" b="1"/>
          </a:p>
        </p:txBody>
      </p:sp>
      <p:sp>
        <p:nvSpPr>
          <p:cNvPr id="54" name="Text 51">
            <a:extLst>
              <a:ext uri="{FF2B5EF4-FFF2-40B4-BE49-F238E27FC236}">
                <a16:creationId xmlns:a16="http://schemas.microsoft.com/office/drawing/2014/main" id="{AC885D9A-77D7-B63F-C361-B6BB3E0351A9}"/>
              </a:ext>
            </a:extLst>
          </p:cNvPr>
          <p:cNvSpPr/>
          <p:nvPr/>
        </p:nvSpPr>
        <p:spPr>
          <a:xfrm>
            <a:off x="658368" y="6336792"/>
            <a:ext cx="1371600" cy="521208"/>
          </a:xfrm>
          <a:prstGeom prst="rect">
            <a:avLst/>
          </a:prstGeom>
          <a:noFill/>
          <a:ln/>
        </p:spPr>
        <p:txBody>
          <a:bodyPr wrap="square" lIns="0" tIns="0" rIns="0" bIns="0" rtlCol="0" anchor="ctr"/>
          <a:ls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50" b="1">
              <a:solidFill>
                <a:srgbClr val="FFFFFF"/>
              </a:solidFill>
            </a:endParaRPr>
          </a:p>
        </p:txBody>
      </p:sp>
      <p:sp>
        <p:nvSpPr>
          <p:cNvPr id="4" name="TextBox 3">
            <a:extLst>
              <a:ext uri="{FF2B5EF4-FFF2-40B4-BE49-F238E27FC236}">
                <a16:creationId xmlns:a16="http://schemas.microsoft.com/office/drawing/2014/main" id="{8C2A3B98-23B5-2DED-FA43-7ABB413FDD8F}"/>
              </a:ext>
            </a:extLst>
          </p:cNvPr>
          <p:cNvSpPr txBox="1"/>
          <p:nvPr/>
        </p:nvSpPr>
        <p:spPr>
          <a:xfrm>
            <a:off x="84510" y="3049850"/>
            <a:ext cx="1201928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a:latin typeface="Calibri"/>
                <a:ea typeface="Calibri"/>
                <a:cs typeface="Calibri"/>
              </a:rPr>
              <a:t>https://github.com/gillespieza/melanoma-assignment-3.git</a:t>
            </a:r>
          </a:p>
          <a:p>
            <a:pPr algn="ctr"/>
            <a:endParaRPr lang="en-GB" sz="3200">
              <a:latin typeface="Calibri"/>
              <a:ea typeface="Calibri"/>
              <a:cs typeface="Calibri"/>
            </a:endParaRPr>
          </a:p>
        </p:txBody>
      </p:sp>
    </p:spTree>
    <p:extLst>
      <p:ext uri="{BB962C8B-B14F-4D97-AF65-F5344CB8AC3E}">
        <p14:creationId xmlns:p14="http://schemas.microsoft.com/office/powerpoint/2010/main" val="3065021512"/>
      </p:ext>
    </p:extLst>
  </p:cSld>
  <p:clrMapOvr>
    <a:masterClrMapping/>
  </p:clrMapOvr>
</p:sld>
</file>

<file path=ppt/theme/theme1.xml><?xml version="1.0" encoding="utf-8"?>
<a:theme xmlns:a="http://schemas.openxmlformats.org/drawingml/2006/main" name="Editorial">
  <a:themeElements>
    <a:clrScheme name="E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Editorial">
      <a:majorFont>
        <a:latin typeface="Haettenschweiler" panose="020B0706040902060204"/>
        <a:ea typeface=""/>
        <a:cs typeface=""/>
      </a:majorFont>
      <a:minorFont>
        <a:latin typeface="Trade Gothic Next Light"/>
        <a:ea typeface=""/>
        <a:cs typeface=""/>
      </a:minorFont>
    </a:fontScheme>
    <a:fmtScheme name="Editorial">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itorial" id="{2F21523F-1450-4BBE-8D19-3F14BB3ECA64}" vid="{44B8AA04-B608-4B8B-B4C4-CA5F4F453F5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05DF0AF3ECE7C459200BE431CDFA895" ma:contentTypeVersion="6" ma:contentTypeDescription="Create a new document." ma:contentTypeScope="" ma:versionID="51c5f45e25e3844ace6932bd24561d3c">
  <xsd:schema xmlns:xsd="http://www.w3.org/2001/XMLSchema" xmlns:xs="http://www.w3.org/2001/XMLSchema" xmlns:p="http://schemas.microsoft.com/office/2006/metadata/properties" xmlns:ns2="22bbd702-0a6d-4127-b0d4-1c5cbb16bbb8" targetNamespace="http://schemas.microsoft.com/office/2006/metadata/properties" ma:root="true" ma:fieldsID="b3bad41e272898522043f2f17f1a549c" ns2:_="">
    <xsd:import namespace="22bbd702-0a6d-4127-b0d4-1c5cbb16bbb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bbd702-0a6d-4127-b0d4-1c5cbb16bb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01D1220-85C8-46EF-8A27-D6941CC4BF12}">
  <ds:schemaRefs>
    <ds:schemaRef ds:uri="http://schemas.microsoft.com/sharepoint/v3/contenttype/forms"/>
  </ds:schemaRefs>
</ds:datastoreItem>
</file>

<file path=customXml/itemProps2.xml><?xml version="1.0" encoding="utf-8"?>
<ds:datastoreItem xmlns:ds="http://schemas.openxmlformats.org/officeDocument/2006/customXml" ds:itemID="{C71EC6DD-B2F3-4773-85F8-7F3535219FCE}">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77A5FF18-69A2-4E22-A5D1-746A7372515F}">
  <ds:schemaRefs>
    <ds:schemaRef ds:uri="22bbd702-0a6d-4127-b0d4-1c5cbb16bbb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40</Slides>
  <Notes>35</Notes>
  <HiddenSlides>0</HiddenSlide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Editorial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Predicting drug response from gene expression  </vt:lpstr>
      <vt:lpstr>Results: The highest number is not the best result</vt:lpstr>
      <vt:lpstr>Does it agree with the immunotherapy predictor?”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See it live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65</cp:revision>
  <dcterms:created xsi:type="dcterms:W3CDTF">2026-08-01T11:08:46Z</dcterms:created>
  <dcterms:modified xsi:type="dcterms:W3CDTF">2026-08-09T20:41:22Z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0x010100605DF0AF3ECE7C459200BE431CDFA895</vt:lpwstr>
  </property>
</Properties>
</file>