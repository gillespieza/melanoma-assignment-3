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831AD-0BC9-85A8-DBE3-1C46DB45D13B}" v="669" dt="2026-07-18T16:47:10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354EC-73F6-4ED3-9592-8D8B9DC18758}" type="datetimeFigureOut"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F151C-8A5A-42F5-AC84-7F5484E781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9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title of our </a:t>
            </a:r>
            <a:r>
              <a:rPr lang="en-US"/>
              <a:t>work/story is ????</a:t>
            </a:r>
          </a:p>
          <a:p>
            <a:endParaRPr lang="en-US"/>
          </a:p>
          <a:p>
            <a:r>
              <a:rPr lang="en-US" dirty="0"/>
              <a:t>Although melanoma accounts for a relatively small proportion of skin cancers, it is responsible for the majority of skin cancer-related deaths because of its high metastatic potential.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6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Melanoma arises from melanocytes, the pigment-producing cells in the skin.</a:t>
            </a:r>
          </a:p>
          <a:p>
            <a:r>
              <a:rPr lang="en-US" dirty="0"/>
              <a:t>It is considered the most aggressive form of skin cancer and its incidence continues to increase globally. Ultraviolet radiation remains the major environmental risk factor.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 positive news is that survival outcomes have improved significantly over the last decade, mainly due to developments in immunotherapy and targeted therapy.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Melanoma development is driven by a number of genetic mutations.</a:t>
            </a:r>
          </a:p>
          <a:p>
            <a:r>
              <a:rPr lang="en-US"/>
              <a:t>The most common is a mutation in the BRAF gene, which is found in approximately half of melanomas. Other important mutations include NRAS and NF1.</a:t>
            </a:r>
          </a:p>
          <a:p>
            <a:r>
              <a:rPr lang="en-US" dirty="0"/>
              <a:t>These mutations activate the MAPK </a:t>
            </a:r>
            <a:r>
              <a:rPr lang="en-US" dirty="0" err="1"/>
              <a:t>signalling</a:t>
            </a:r>
            <a:r>
              <a:rPr lang="en-US" dirty="0"/>
              <a:t> pathway shown here, resulting in uncontrolled cell growth and </a:t>
            </a:r>
            <a:r>
              <a:rPr lang="en-US" dirty="0" err="1"/>
              <a:t>tumour</a:t>
            </a:r>
            <a:r>
              <a:rPr lang="en-US" dirty="0"/>
              <a:t> progression.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Understanding these molecular drivers has been extremely important because they form the basis for many of the targeted therapies used in melanoma treatment today.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35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Treatment largely depends on disease stage.</a:t>
            </a:r>
          </a:p>
          <a:p>
            <a:r>
              <a:rPr lang="en-US" dirty="0"/>
              <a:t>For </a:t>
            </a:r>
            <a:r>
              <a:rPr lang="en-US" dirty="0" err="1"/>
              <a:t>localised</a:t>
            </a:r>
            <a:r>
              <a:rPr lang="en-US" dirty="0"/>
              <a:t> melanoma, surgery remains the mainstay of treatment and can often be curative.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For advanced disease, treatment options have changed dramatically over the last decade.</a:t>
            </a:r>
          </a:p>
          <a:p>
            <a:r>
              <a:rPr lang="en-US"/>
              <a:t>Immunotherapies, particularly immune checkpoint inhibitors targeting PD-1 and CTLA-4, have significantly improved survival outcomes.</a:t>
            </a:r>
          </a:p>
          <a:p>
            <a:r>
              <a:rPr lang="en-US" dirty="0"/>
              <a:t>In patients with BRAF mutations, targeted therapies such as BRAF and MEK inhibitors can produce rapid </a:t>
            </a:r>
            <a:r>
              <a:rPr lang="en-US" dirty="0" err="1"/>
              <a:t>tumour</a:t>
            </a:r>
            <a:r>
              <a:rPr lang="en-US" dirty="0"/>
              <a:t> responses.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These treatments have transformed the management of advanced melanoma and have allowed many patients to achieve long-term disease control.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19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Despite these advances, melanoma remains challenging.</a:t>
            </a:r>
          </a:p>
          <a:p>
            <a:r>
              <a:rPr lang="en-US"/>
              <a:t>Not all patients respond to treatment, and many who initially respond eventually develop resistance.</a:t>
            </a:r>
          </a:p>
          <a:p>
            <a:r>
              <a:rPr lang="en-US" dirty="0"/>
              <a:t>One reason is </a:t>
            </a:r>
            <a:r>
              <a:rPr lang="en-US" dirty="0" err="1"/>
              <a:t>tumour</a:t>
            </a:r>
            <a:r>
              <a:rPr lang="en-US" dirty="0"/>
              <a:t> heterogeneity, meaning different </a:t>
            </a:r>
            <a:r>
              <a:rPr lang="en-US" dirty="0" err="1"/>
              <a:t>tumours</a:t>
            </a:r>
            <a:r>
              <a:rPr lang="en-US" dirty="0"/>
              <a:t> can behave very differently at a molecular level.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 addition, the </a:t>
            </a:r>
            <a:r>
              <a:rPr lang="en-US" dirty="0" err="1"/>
              <a:t>tumour</a:t>
            </a:r>
            <a:r>
              <a:rPr lang="en-US" dirty="0"/>
              <a:t> microenvironment plays an important role.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Research by Sade-Feldman and colleagues demonstrated that the immune cells present within the </a:t>
            </a:r>
            <a:r>
              <a:rPr lang="en-US" dirty="0" err="1"/>
              <a:t>tumour</a:t>
            </a:r>
            <a:r>
              <a:rPr lang="en-US" dirty="0"/>
              <a:t> can influence response to immunotherapy, helping to explain why some patients benefit while others do not.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Because of this, a major area of current research is the identification of biomarkers that can help predict treatment response more accurately.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0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ahead, several areas of research appear particularly promising.</a:t>
            </a:r>
          </a:p>
          <a:p>
            <a:r>
              <a:rPr lang="en-US" dirty="0"/>
              <a:t>Firstly, there is increasing interest in predicting which patients are most likely to respond to treatment and which patients are at higher risk of developing resistance.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Secondly, precision medicine approaches are becoming more important, with researchers investigating biomarkers that may help guide treatment decisions on an individual basis.</a:t>
            </a:r>
          </a:p>
          <a:p>
            <a:r>
              <a:rPr lang="en-US"/>
              <a:t>Finally, several emerging therapies are showing encouraging results.</a:t>
            </a:r>
          </a:p>
          <a:p>
            <a:r>
              <a:rPr lang="en-US" dirty="0"/>
              <a:t>These include </a:t>
            </a:r>
            <a:r>
              <a:rPr lang="en-US" dirty="0" err="1"/>
              <a:t>tumour</a:t>
            </a:r>
            <a:r>
              <a:rPr lang="en-US" dirty="0"/>
              <a:t>-infiltrating lymphocyte, or TIL, therapy, </a:t>
            </a:r>
            <a:r>
              <a:rPr lang="en-US" dirty="0" err="1"/>
              <a:t>personalised</a:t>
            </a:r>
            <a:r>
              <a:rPr lang="en-US" dirty="0"/>
              <a:t> mRNA vaccines, and oncolytic virus therapies.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Together, these developments aim to move melanoma treatment towards a more </a:t>
            </a:r>
            <a:r>
              <a:rPr lang="en-US" dirty="0" err="1"/>
              <a:t>personalised</a:t>
            </a:r>
            <a:r>
              <a:rPr lang="en-US" dirty="0"/>
              <a:t> approach and hopefully further improve long-term patient outcomes.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In this project, we..........................................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F151C-8A5A-42F5-AC84-7F5484E7819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5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Melanoma: Biology, Treatment and Future Directions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This is first draft – needs 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D204-9CBE-2046-5A61-F858A10F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9CE8-8C41-7AEA-20CA-F6B55CC4B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Most aggressive skin cancer</a:t>
            </a:r>
          </a:p>
          <a:p>
            <a:r>
              <a:rPr lang="en-US" dirty="0"/>
              <a:t>Increasing incidence </a:t>
            </a:r>
            <a:r>
              <a:rPr lang="en-US"/>
              <a:t>worldwide (add data)</a:t>
            </a:r>
          </a:p>
          <a:p>
            <a:r>
              <a:rPr lang="en-US"/>
              <a:t>Strongly linked to UV exposure</a:t>
            </a:r>
            <a:endParaRPr lang="en-US" dirty="0"/>
          </a:p>
          <a:p>
            <a:r>
              <a:rPr lang="en-US"/>
              <a:t>Survival improving due to modern therapies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7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5446-B522-E163-4A15-17D5C263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Molecular Drivers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6021-C43B-BD7D-4F20-E57921583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BRAF (~ 50%)</a:t>
            </a:r>
          </a:p>
          <a:p>
            <a:r>
              <a:rPr lang="en-US"/>
              <a:t>NRAS</a:t>
            </a:r>
          </a:p>
          <a:p>
            <a:r>
              <a:rPr lang="en-US"/>
              <a:t>NF1</a:t>
            </a:r>
          </a:p>
          <a:p>
            <a:r>
              <a:rPr lang="en-US"/>
              <a:t>MAPK pathway activation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Add diagram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6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AB7E-C004-9998-257B-574FBFA6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40F6-B2B7-88AF-0FC9-6D5BE0FC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Localised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Surgery</a:t>
            </a:r>
          </a:p>
          <a:p>
            <a:r>
              <a:rPr lang="en-US"/>
              <a:t>Advanced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Immunotherapy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Targeted therapy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7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C186-F841-BBF9-1437-933CE0B9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6" y="365125"/>
            <a:ext cx="10515600" cy="1325563"/>
          </a:xfrm>
        </p:spPr>
        <p:txBody>
          <a:bodyPr/>
          <a:lstStyle/>
          <a:p>
            <a:r>
              <a:rPr lang="en-US" dirty="0"/>
              <a:t>Why is melanoma still </a:t>
            </a:r>
            <a:r>
              <a:rPr lang="en-US"/>
              <a:t>difficult to treat?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9EA4-7A47-F7DA-CE1E-2BB013D6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Variable treatment </a:t>
            </a:r>
            <a:r>
              <a:rPr lang="en-US"/>
              <a:t>response</a:t>
            </a:r>
          </a:p>
          <a:p>
            <a:r>
              <a:rPr lang="en-US"/>
              <a:t>Acquired resistance</a:t>
            </a:r>
          </a:p>
          <a:p>
            <a:r>
              <a:rPr lang="en-US" dirty="0" err="1"/>
              <a:t>Tumour</a:t>
            </a:r>
            <a:r>
              <a:rPr lang="en-US" dirty="0"/>
              <a:t> heterogeneity</a:t>
            </a:r>
          </a:p>
          <a:p>
            <a:r>
              <a:rPr lang="en-US" dirty="0"/>
              <a:t>Immune </a:t>
            </a:r>
            <a:r>
              <a:rPr lang="en-US"/>
              <a:t>microenvironment</a:t>
            </a:r>
          </a:p>
          <a:p>
            <a:r>
              <a:rPr lang="en-US" dirty="0"/>
              <a:t>Need for predictive </a:t>
            </a:r>
            <a:r>
              <a:rPr lang="en-US"/>
              <a:t>biomarkers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2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0BC0-CE29-4A6C-96C7-E085AB97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4F737-9482-B265-9ACF-0ECE2955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Better Prediction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Treatment response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Resistance prediction</a:t>
            </a:r>
          </a:p>
          <a:p>
            <a:r>
              <a:rPr lang="en-US" dirty="0" err="1"/>
              <a:t>Personalised</a:t>
            </a:r>
            <a:r>
              <a:rPr lang="en-US" dirty="0"/>
              <a:t> Medicine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Biomarker-guided therapy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Multi-omics </a:t>
            </a:r>
            <a:r>
              <a:rPr lang="en-US"/>
              <a:t>research</a:t>
            </a:r>
            <a:endParaRPr lang="en-US" dirty="0"/>
          </a:p>
          <a:p>
            <a:r>
              <a:rPr lang="en-US"/>
              <a:t>New Therapies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TIL therapy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mRNA vaccines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Oncolytic viruses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5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B81E-2EB4-83E3-D98D-4DF75127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D9C8-C7E7-061D-A194-C803B5607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Sade-Feldman et al. Cell. 2018.</a:t>
            </a:r>
          </a:p>
          <a:p>
            <a:pPr marL="514350" indent="-514350">
              <a:buAutoNum type="arabicPeriod"/>
            </a:pPr>
            <a:r>
              <a:rPr lang="en-US"/>
              <a:t>Natarelli et al. Pharmaceuticals. 2024.</a:t>
            </a:r>
          </a:p>
          <a:p>
            <a:pPr marL="514350" indent="-514350">
              <a:buAutoNum type="arabicPeriod"/>
            </a:pPr>
            <a:r>
              <a:rPr lang="en-US"/>
              <a:t>Boutros et al. Critical Reviews in Oncology/Hematology. 2024.</a:t>
            </a:r>
          </a:p>
          <a:p>
            <a:pPr marL="514350" indent="-514350">
              <a:buAutoNum type="arabicPeriod"/>
            </a:pPr>
            <a:r>
              <a:rPr lang="en-US"/>
              <a:t>Caraviello et al. Cancers. 2025.</a:t>
            </a:r>
          </a:p>
          <a:p>
            <a:pPr marL="514350" indent="-514350">
              <a:buAutoNum type="arabicPeriod"/>
            </a:pPr>
            <a:r>
              <a:rPr lang="en-US"/>
              <a:t>Liaqat &amp; Khattak. Internal Medicine Journal. 2025.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5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Melanoma: Biology, Treatment and Future Directions</vt:lpstr>
      <vt:lpstr>Introduction </vt:lpstr>
      <vt:lpstr>Key Molecular Drivers </vt:lpstr>
      <vt:lpstr>Current Treatments</vt:lpstr>
      <vt:lpstr>Why is melanoma still difficult to treat? </vt:lpstr>
      <vt:lpstr>Future Directions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143</cp:revision>
  <dcterms:created xsi:type="dcterms:W3CDTF">2026-07-18T16:09:50Z</dcterms:created>
  <dcterms:modified xsi:type="dcterms:W3CDTF">2026-07-18T16:47:45Z</dcterms:modified>
</cp:coreProperties>
</file>