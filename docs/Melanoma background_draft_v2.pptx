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83" d="100"/>
          <a:sy n="83" d="100"/>
        </p:scale>
        <p:origin x="46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20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1354EC-73F6-4ED3-9592-8D8B9DC18758}" type="datetimeFigureOut"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F151C-8A5A-42F5-AC84-7F5484E781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095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image" Target="../media/image2.png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title of our </a:t>
            </a:r>
            <a:r>
              <a:rPr lang="en-US"/>
              <a:t>work/story is ????</a:t>
            </a:r>
          </a:p>
          <a:p>
            <a:endParaRPr lang="en-US"/>
          </a:p>
          <a:p>
            <a:r>
              <a:rPr lang="en-US" dirty="0"/>
              <a:t>Although melanoma accounts for a relatively small proportion of skin cancers, it is responsible for the majority of skin cancer-related deaths because of its high metastatic potential.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F151C-8A5A-42F5-AC84-7F5484E7819F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618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Melanoma arises from melanocytes, the pigment-producing cells in the skin.</a:t>
            </a:r>
          </a:p>
          <a:p>
            <a:r>
              <a:rPr lang="en-US" dirty="0"/>
              <a:t>It is considered the most aggressive form of skin cancer and its incidence continues to increase globally. Ultraviolet radiation remains the major environmental risk factor.</a:t>
            </a:r>
            <a:endParaRPr lang="en-US" dirty="0">
              <a:ea typeface="Calibri"/>
              <a:cs typeface="Calibri"/>
            </a:endParaRPr>
          </a:p>
          <a:p>
            <a:r>
              <a:rPr lang="en-US"/>
              <a:t>The positive news is that survival outcomes have improved significantly over the last decade, mainly due to developments in immunotherapy and targeted therapy.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F151C-8A5A-42F5-AC84-7F5484E7819F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39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Melanoma development is driven by a number of genetic mutations.</a:t>
            </a:r>
          </a:p>
          <a:p>
            <a:r>
              <a:rPr lang="en-US"/>
              <a:t>The most common is a mutation in the BRAF gene, which is found in approximately half of melanomas. Other important mutations include NRAS and NF1.</a:t>
            </a:r>
          </a:p>
          <a:p>
            <a:r>
              <a:rPr lang="en-US" dirty="0"/>
              <a:t>These mutations activate the MAPK </a:t>
            </a:r>
            <a:r>
              <a:rPr lang="en-US" dirty="0" err="1"/>
              <a:t>signalling</a:t>
            </a:r>
            <a:r>
              <a:rPr lang="en-US" dirty="0"/>
              <a:t> pathway shown here, resulting in uncontrolled cell growth and </a:t>
            </a:r>
            <a:r>
              <a:rPr lang="en-US" dirty="0" err="1"/>
              <a:t>tumour</a:t>
            </a:r>
            <a:r>
              <a:rPr lang="en-US" dirty="0"/>
              <a:t> progression.</a:t>
            </a:r>
            <a:endParaRPr lang="en-US" dirty="0">
              <a:ea typeface="Calibri"/>
              <a:cs typeface="Calibri"/>
            </a:endParaRPr>
          </a:p>
          <a:p>
            <a:r>
              <a:rPr lang="en-US"/>
              <a:t>Understanding these molecular drivers has been extremely important because they form the basis for many of the targeted therapies used in melanoma treatment today.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F151C-8A5A-42F5-AC84-7F5484E7819F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235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Treatment largely depends on disease stage.</a:t>
            </a:r>
          </a:p>
          <a:p>
            <a:r>
              <a:rPr lang="en-US" dirty="0"/>
              <a:t>For </a:t>
            </a:r>
            <a:r>
              <a:rPr lang="en-US" dirty="0" err="1"/>
              <a:t>localised</a:t>
            </a:r>
            <a:r>
              <a:rPr lang="en-US" dirty="0"/>
              <a:t> melanoma, surgery remains the mainstay of treatment and can often be curative.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For advanced disease, treatment options have changed dramatically over the last decade.</a:t>
            </a:r>
          </a:p>
          <a:p>
            <a:r>
              <a:rPr lang="en-US" dirty="0"/>
              <a:t>Immunotherapies, particularly immune checkpoint inhibitors (ICIs) targeting PD-1 (Nivolumab) and CTLA-4 (Ipilimumab), have significantly improved survival outcomes.</a:t>
            </a:r>
          </a:p>
          <a:p>
            <a:r>
              <a:rPr lang="en-US" dirty="0"/>
              <a:t>In patients with BRAF mutations, targeted therapies such as BRAF and MEK inhibitors (e.g. Dabrafenib and Trametinib, </a:t>
            </a:r>
            <a:r>
              <a:rPr lang="en-US" dirty="0" err="1"/>
              <a:t>Encorafenib</a:t>
            </a:r>
            <a:r>
              <a:rPr lang="en-US" dirty="0"/>
              <a:t> and </a:t>
            </a:r>
            <a:r>
              <a:rPr lang="en-US" dirty="0" err="1"/>
              <a:t>Binimetinib</a:t>
            </a:r>
            <a:r>
              <a:rPr lang="en-US" dirty="0"/>
              <a:t>, Vemurafenib and </a:t>
            </a:r>
            <a:r>
              <a:rPr lang="en-US" dirty="0" err="1"/>
              <a:t>Cobimetinib</a:t>
            </a:r>
            <a:r>
              <a:rPr lang="en-US" dirty="0"/>
              <a:t>) can produce rapid </a:t>
            </a:r>
            <a:r>
              <a:rPr lang="en-US" dirty="0" err="1"/>
              <a:t>tumour</a:t>
            </a:r>
            <a:r>
              <a:rPr lang="en-US" dirty="0"/>
              <a:t> responses.</a:t>
            </a:r>
            <a:br>
              <a:rPr lang="en-US" dirty="0"/>
            </a:br>
            <a:r>
              <a:rPr lang="en-IE" dirty="0"/>
              <a:t>Evidence from major clinical trials has demonstrated substantial improvements in survival with both immune checkpoint inhibitors and BRAF/MEK targeted therapies, with more recent sequencing studies supporting immunotherapy-first approaches in many BRAF-mutant patients.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These treatments have transformed the management of advanced melanoma and have allowed many patients to achieve long-term disease control.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F151C-8A5A-42F5-AC84-7F5484E7819F}" type="slidenum"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493A63-31D3-64B0-B971-265E11EDD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51" y="7412026"/>
            <a:ext cx="3186747" cy="15208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855BA5-4CC0-5293-5C92-C44172541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2098" y="7412026"/>
            <a:ext cx="3283649" cy="152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719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Despite these advances, melanoma remains challenging.</a:t>
            </a:r>
          </a:p>
          <a:p>
            <a:r>
              <a:rPr lang="en-US"/>
              <a:t>Not all patients respond to treatment, and many who initially respond eventually develop resistance.</a:t>
            </a:r>
          </a:p>
          <a:p>
            <a:r>
              <a:rPr lang="en-US" dirty="0"/>
              <a:t>One reason is </a:t>
            </a:r>
            <a:r>
              <a:rPr lang="en-US" dirty="0" err="1"/>
              <a:t>tumour</a:t>
            </a:r>
            <a:r>
              <a:rPr lang="en-US" dirty="0"/>
              <a:t> heterogeneity, meaning different </a:t>
            </a:r>
            <a:r>
              <a:rPr lang="en-US" dirty="0" err="1"/>
              <a:t>tumours</a:t>
            </a:r>
            <a:r>
              <a:rPr lang="en-US" dirty="0"/>
              <a:t> can behave very differently at a molecular level.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In addition, the </a:t>
            </a:r>
            <a:r>
              <a:rPr lang="en-US" dirty="0" err="1"/>
              <a:t>tumour</a:t>
            </a:r>
            <a:r>
              <a:rPr lang="en-US" dirty="0"/>
              <a:t> microenvironment plays an important role.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Research by Sade-Feldman and colleagues demonstrated that the immune cells present within the </a:t>
            </a:r>
            <a:r>
              <a:rPr lang="en-US" dirty="0" err="1"/>
              <a:t>tumour</a:t>
            </a:r>
            <a:r>
              <a:rPr lang="en-US" dirty="0"/>
              <a:t> can influence response to immunotherapy, helping to explain why some patients benefit while others do not.</a:t>
            </a:r>
            <a:endParaRPr lang="en-US" dirty="0">
              <a:ea typeface="Calibri"/>
              <a:cs typeface="Calibri"/>
            </a:endParaRPr>
          </a:p>
          <a:p>
            <a:r>
              <a:rPr lang="en-US"/>
              <a:t>Because of this, a major area of current research is the identification of biomarkers that can help predict treatment response more accurately.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F151C-8A5A-42F5-AC84-7F5484E7819F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02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Looking ahead, several areas of research appear particularly promising.</a:t>
            </a:r>
          </a:p>
          <a:p>
            <a:r>
              <a:rPr lang="en-US" dirty="0"/>
              <a:t>Firstly, there is increasing interest in predicting which patients are most likely to respond to treatment and which patients are at higher risk of developing resistance.</a:t>
            </a:r>
            <a:endParaRPr lang="en-US" dirty="0">
              <a:ea typeface="Calibri"/>
              <a:cs typeface="Calibri"/>
            </a:endParaRPr>
          </a:p>
          <a:p>
            <a:r>
              <a:rPr lang="en-US"/>
              <a:t>Secondly, precision medicine approaches are becoming more important, with researchers investigating biomarkers that may help guide treatment decisions on an individual basis.</a:t>
            </a:r>
          </a:p>
          <a:p>
            <a:r>
              <a:rPr lang="en-US"/>
              <a:t>Finally, several emerging therapies are showing encouraging results.</a:t>
            </a:r>
          </a:p>
          <a:p>
            <a:r>
              <a:rPr lang="en-US" dirty="0"/>
              <a:t>These include </a:t>
            </a:r>
            <a:r>
              <a:rPr lang="en-US" dirty="0" err="1"/>
              <a:t>tumour</a:t>
            </a:r>
            <a:r>
              <a:rPr lang="en-US" dirty="0"/>
              <a:t>-infiltrating lymphocyte, or TIL therapy, which uses a patient's own immune cells, </a:t>
            </a:r>
            <a:r>
              <a:rPr lang="en-US" dirty="0" err="1"/>
              <a:t>personalised</a:t>
            </a:r>
            <a:r>
              <a:rPr lang="en-US" dirty="0"/>
              <a:t> mRNA vaccines, which train the immune system to target </a:t>
            </a:r>
            <a:r>
              <a:rPr lang="en-US" dirty="0" err="1"/>
              <a:t>tumour</a:t>
            </a:r>
            <a:r>
              <a:rPr lang="en-US" dirty="0"/>
              <a:t> antigens, and oncolytic viruses, which directly kill </a:t>
            </a:r>
            <a:r>
              <a:rPr lang="en-US" dirty="0" err="1"/>
              <a:t>tumour</a:t>
            </a:r>
            <a:r>
              <a:rPr lang="en-US" dirty="0"/>
              <a:t> cells while also activating immune responses, the best-known example is T-VEC, a modified herpes virus that is already approved for use in melanoma.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/>
              <a:t>Together, these developments aim to move melanoma treatment towards a more </a:t>
            </a:r>
            <a:r>
              <a:rPr lang="en-US" dirty="0" err="1"/>
              <a:t>personalised</a:t>
            </a:r>
            <a:r>
              <a:rPr lang="en-US" dirty="0"/>
              <a:t> approach and hopefully further improve long-term patient outcomes.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In this project, we..........................................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F151C-8A5A-42F5-AC84-7F5484E7819F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550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F151C-8A5A-42F5-AC84-7F5484E7819F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23731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/>
              <a:t>Melanoma: Biology, Treatment and Future Directions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r>
              <a:rPr lang="en-US"/>
              <a:t>This is first draft – needs refs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D204-9CBE-2046-5A61-F858A10FF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D9CE8-8C41-7AEA-20CA-F6B55CC4B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Most aggressive skin cancer</a:t>
            </a:r>
          </a:p>
          <a:p>
            <a:r>
              <a:rPr lang="en-US" dirty="0"/>
              <a:t>Increasing incidence </a:t>
            </a:r>
            <a:r>
              <a:rPr lang="en-US"/>
              <a:t>worldwide (add data)</a:t>
            </a:r>
          </a:p>
          <a:p>
            <a:r>
              <a:rPr lang="en-US"/>
              <a:t>Strongly linked to UV exposure</a:t>
            </a:r>
            <a:endParaRPr lang="en-US" dirty="0"/>
          </a:p>
          <a:p>
            <a:r>
              <a:rPr lang="en-US"/>
              <a:t>Survival improving due to modern therapies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472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15446-B522-E163-4A15-17D5C263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Molecular Drivers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A6021-C43B-BD7D-4F20-E57921583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BRAF (~ 50%)</a:t>
            </a:r>
          </a:p>
          <a:p>
            <a:r>
              <a:rPr lang="en-US"/>
              <a:t>NRAS</a:t>
            </a:r>
          </a:p>
          <a:p>
            <a:r>
              <a:rPr lang="en-US"/>
              <a:t>NF1</a:t>
            </a:r>
          </a:p>
          <a:p>
            <a:r>
              <a:rPr lang="en-US"/>
              <a:t>MAPK pathway activation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Add diagram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163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CAB7E-C004-9998-257B-574FBFA68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Current Treatments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240F6-B2B7-88AF-0FC9-6D5BE0FC0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Localised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Surgery</a:t>
            </a:r>
          </a:p>
          <a:p>
            <a:r>
              <a:rPr lang="en-US" dirty="0"/>
              <a:t>Advanced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Immunotherapy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Targeted therapy</a:t>
            </a:r>
          </a:p>
          <a:p>
            <a:r>
              <a:rPr lang="en-US" dirty="0"/>
              <a:t>Landmark trials include: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CheckMate</a:t>
            </a:r>
            <a:r>
              <a:rPr lang="en-US" dirty="0"/>
              <a:t> 067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DREAMseq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SECOMBIT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COLUMBUS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379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0C186-F841-BBF9-1437-933CE0B94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686" y="365125"/>
            <a:ext cx="10515600" cy="1325563"/>
          </a:xfrm>
        </p:spPr>
        <p:txBody>
          <a:bodyPr/>
          <a:lstStyle/>
          <a:p>
            <a:r>
              <a:rPr lang="en-US" dirty="0"/>
              <a:t>Why is melanoma still </a:t>
            </a:r>
            <a:r>
              <a:rPr lang="en-US"/>
              <a:t>difficult to treat?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59EA4-7A47-F7DA-CE1E-2BB013D63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Variable treatment </a:t>
            </a:r>
            <a:r>
              <a:rPr lang="en-US"/>
              <a:t>response</a:t>
            </a:r>
          </a:p>
          <a:p>
            <a:r>
              <a:rPr lang="en-US"/>
              <a:t>Acquired resistance</a:t>
            </a:r>
          </a:p>
          <a:p>
            <a:r>
              <a:rPr lang="en-US" dirty="0" err="1"/>
              <a:t>Tumour</a:t>
            </a:r>
            <a:r>
              <a:rPr lang="en-US" dirty="0"/>
              <a:t> heterogeneity</a:t>
            </a:r>
          </a:p>
          <a:p>
            <a:r>
              <a:rPr lang="en-US" dirty="0"/>
              <a:t>Immune </a:t>
            </a:r>
            <a:r>
              <a:rPr lang="en-US"/>
              <a:t>microenvironment</a:t>
            </a:r>
          </a:p>
          <a:p>
            <a:r>
              <a:rPr lang="en-US" dirty="0"/>
              <a:t>Need for predictive </a:t>
            </a:r>
            <a:r>
              <a:rPr lang="en-US"/>
              <a:t>biomarkers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825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D0BC0-CE29-4A6C-96C7-E085AB979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4F737-9482-B265-9ACF-0ECE29557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Better Prediction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Treatment response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Resistance prediction</a:t>
            </a:r>
          </a:p>
          <a:p>
            <a:r>
              <a:rPr lang="en-US" dirty="0" err="1"/>
              <a:t>Personalised</a:t>
            </a:r>
            <a:r>
              <a:rPr lang="en-US" dirty="0"/>
              <a:t> Medicine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Biomarker-guided therapy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Multi-omics </a:t>
            </a:r>
            <a:r>
              <a:rPr lang="en-US"/>
              <a:t>research</a:t>
            </a:r>
            <a:endParaRPr lang="en-US" dirty="0"/>
          </a:p>
          <a:p>
            <a:r>
              <a:rPr lang="en-US"/>
              <a:t>New Therapies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TIL therapy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mRNA vaccines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Oncolytic viruses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159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3B81E-2EB4-83E3-D98D-4DF751278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8D9C8-C7E7-061D-A194-C803B5607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dirty="0"/>
              <a:t>Sade-Feldman et al. Cell. 2018.</a:t>
            </a:r>
          </a:p>
          <a:p>
            <a:pPr marL="514350" indent="-514350">
              <a:buAutoNum type="arabicPeriod"/>
            </a:pPr>
            <a:r>
              <a:rPr lang="en-US" dirty="0" err="1"/>
              <a:t>Natarelli</a:t>
            </a:r>
            <a:r>
              <a:rPr lang="en-US" dirty="0"/>
              <a:t> et al. Pharmaceuticals. 2024.</a:t>
            </a:r>
          </a:p>
          <a:p>
            <a:pPr marL="514350" indent="-514350">
              <a:buAutoNum type="arabicPeriod"/>
            </a:pPr>
            <a:r>
              <a:rPr lang="en-US" dirty="0"/>
              <a:t>Boutros et al. Critical Reviews in Oncology/Hematology. 2024.</a:t>
            </a:r>
          </a:p>
          <a:p>
            <a:pPr marL="514350" indent="-514350">
              <a:buAutoNum type="arabicPeriod"/>
            </a:pPr>
            <a:r>
              <a:rPr lang="en-US" dirty="0" err="1"/>
              <a:t>Caraviello</a:t>
            </a:r>
            <a:r>
              <a:rPr lang="en-US" dirty="0"/>
              <a:t> et al. Cancers. 2025.</a:t>
            </a:r>
          </a:p>
          <a:p>
            <a:pPr marL="514350" indent="-514350">
              <a:buAutoNum type="arabicPeriod"/>
            </a:pPr>
            <a:r>
              <a:rPr lang="en-US" dirty="0"/>
              <a:t>Liaqat &amp; Khattak. Internal Medicine Journal. 2025.</a:t>
            </a:r>
          </a:p>
          <a:p>
            <a:pPr marL="514350" indent="-514350">
              <a:buAutoNum type="arabicPeriod"/>
            </a:pPr>
            <a:r>
              <a:rPr lang="en-US" dirty="0"/>
              <a:t>Larkin et al. NEJM. 2019.</a:t>
            </a:r>
          </a:p>
          <a:p>
            <a:pPr marL="514350" indent="-514350">
              <a:buAutoNum type="arabicPeriod"/>
            </a:pPr>
            <a:r>
              <a:rPr lang="en-US" dirty="0"/>
              <a:t>Atkins et al. J Clin Oncol. 2023.</a:t>
            </a:r>
          </a:p>
          <a:p>
            <a:pPr marL="514350" indent="-514350">
              <a:buAutoNum type="arabicPeriod"/>
            </a:pPr>
            <a:r>
              <a:rPr lang="en-US" dirty="0" err="1"/>
              <a:t>Ascierto</a:t>
            </a:r>
            <a:r>
              <a:rPr lang="en-US" dirty="0"/>
              <a:t> et al. Nature Comms. 2024.</a:t>
            </a:r>
          </a:p>
          <a:p>
            <a:pPr marL="514350" indent="-514350">
              <a:buAutoNum type="arabicPeriod"/>
            </a:pPr>
            <a:r>
              <a:rPr lang="en-US" dirty="0"/>
              <a:t>Dummer et al. Lancet. 2018.</a:t>
            </a:r>
          </a:p>
          <a:p>
            <a:pPr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054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819</Words>
  <Application>Microsoft Office PowerPoint</Application>
  <PresentationFormat>Widescreen</PresentationFormat>
  <Paragraphs>94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Courier New</vt:lpstr>
      <vt:lpstr>office theme</vt:lpstr>
      <vt:lpstr>Melanoma: Biology, Treatment and Future Directions</vt:lpstr>
      <vt:lpstr>Introduction </vt:lpstr>
      <vt:lpstr>Key Molecular Drivers </vt:lpstr>
      <vt:lpstr>Current Treatments</vt:lpstr>
      <vt:lpstr>Why is melanoma still difficult to treat? </vt:lpstr>
      <vt:lpstr>Future Directions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Meave Graham</dc:creator>
  <cp:lastModifiedBy>Meave Graham</cp:lastModifiedBy>
  <cp:revision>152</cp:revision>
  <dcterms:created xsi:type="dcterms:W3CDTF">2026-07-18T16:09:50Z</dcterms:created>
  <dcterms:modified xsi:type="dcterms:W3CDTF">2026-07-28T19:32:03Z</dcterms:modified>
</cp:coreProperties>
</file>